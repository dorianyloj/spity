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7.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9697ca5d5ae42e1" /><Relationship Type="http://schemas.openxmlformats.org/officeDocument/2006/relationships/extended-properties" Target="/docProps/app.xml" Id="Rd7708425319e45f3" /><Relationship Type="http://schemas.openxmlformats.org/officeDocument/2006/relationships/officeDocument" Target="/ppt/presentation.xml" Id="Rf3b800182e2349ab" /></Relationships>
</file>

<file path=ppt/presentation.xml><?xml version="1.0" encoding="utf-8"?>
<p:presentation xmlns:p="http://schemas.openxmlformats.org/presentationml/2006/main">
  <p:sldMasterIdLst>
    <p:sldMasterId xmlns:r="http://schemas.openxmlformats.org/officeDocument/2006/relationships" id="2147483648" r:id="R369a40e130944789"/>
  </p:sldMasterIdLst>
  <p:notesMasterIdLst>
    <p:notesMasterId xmlns:r="http://schemas.openxmlformats.org/officeDocument/2006/relationships" r:id="Rb7d3e1f2736b4bad"/>
  </p:notesMasterIdLst>
  <p:sldIdLst>
    <p:sldId xmlns:r="http://schemas.openxmlformats.org/officeDocument/2006/relationships" id="256" r:id="R82cfa0c18b1648e3"/>
    <p:sldId xmlns:r="http://schemas.openxmlformats.org/officeDocument/2006/relationships" id="257" r:id="Ra802e37de29c49f8"/>
    <p:sldId xmlns:r="http://schemas.openxmlformats.org/officeDocument/2006/relationships" id="258" r:id="Rc808aa20c8894ba7"/>
    <p:sldId xmlns:r="http://schemas.openxmlformats.org/officeDocument/2006/relationships" id="259" r:id="Rd837ffac10684311"/>
    <p:sldId xmlns:r="http://schemas.openxmlformats.org/officeDocument/2006/relationships" id="260" r:id="R696638606fcc4c38"/>
    <p:sldId xmlns:r="http://schemas.openxmlformats.org/officeDocument/2006/relationships" id="261" r:id="R4bdc1ec2d3f045c5"/>
    <p:sldId xmlns:r="http://schemas.openxmlformats.org/officeDocument/2006/relationships" id="262" r:id="R3477487765404170"/>
    <p:sldId xmlns:r="http://schemas.openxmlformats.org/officeDocument/2006/relationships" id="263" r:id="R6e89f07a28214c9c"/>
    <p:sldId xmlns:r="http://schemas.openxmlformats.org/officeDocument/2006/relationships" id="264" r:id="R1a7a344d51b94229"/>
    <p:sldId xmlns:r="http://schemas.openxmlformats.org/officeDocument/2006/relationships" id="265" r:id="Rc258c212851e4852"/>
    <p:sldId xmlns:r="http://schemas.openxmlformats.org/officeDocument/2006/relationships" id="266" r:id="Ra340c629204542dd"/>
    <p:sldId xmlns:r="http://schemas.openxmlformats.org/officeDocument/2006/relationships" id="267" r:id="R138f5c65f00940b0"/>
    <p:sldId xmlns:r="http://schemas.openxmlformats.org/officeDocument/2006/relationships" id="268" r:id="R75ca0f8b16c44ece"/>
    <p:sldId xmlns:r="http://schemas.openxmlformats.org/officeDocument/2006/relationships" id="269" r:id="R53fea64c958c4cfa"/>
    <p:sldId xmlns:r="http://schemas.openxmlformats.org/officeDocument/2006/relationships" id="270" r:id="R1116b15a909b4271"/>
    <p:sldId xmlns:r="http://schemas.openxmlformats.org/officeDocument/2006/relationships" id="271" r:id="Rd52dcca6c5a44e03"/>
    <p:sldId xmlns:r="http://schemas.openxmlformats.org/officeDocument/2006/relationships" id="272" r:id="Rfd56857c9c1a48d6"/>
    <p:sldId xmlns:r="http://schemas.openxmlformats.org/officeDocument/2006/relationships" id="273" r:id="R8dd229124a414e86"/>
    <p:sldId xmlns:r="http://schemas.openxmlformats.org/officeDocument/2006/relationships" id="274" r:id="Rf07dbbcfbec24294"/>
    <p:sldId xmlns:r="http://schemas.openxmlformats.org/officeDocument/2006/relationships" id="275" r:id="R5ed2024c34564f60"/>
    <p:sldId xmlns:r="http://schemas.openxmlformats.org/officeDocument/2006/relationships" id="276" r:id="R11659c81709b430f"/>
    <p:sldId xmlns:r="http://schemas.openxmlformats.org/officeDocument/2006/relationships" id="277" r:id="R5139308e890b4b4a"/>
    <p:sldId xmlns:r="http://schemas.openxmlformats.org/officeDocument/2006/relationships" id="278" r:id="R3d8248d759af495a"/>
    <p:sldId xmlns:r="http://schemas.openxmlformats.org/officeDocument/2006/relationships" id="279" r:id="Rf7f8908887084b5c"/>
    <p:sldId xmlns:r="http://schemas.openxmlformats.org/officeDocument/2006/relationships" id="280" r:id="R2657e47d1ec04a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301bee8eb60490f" /><Relationship Type="http://schemas.openxmlformats.org/officeDocument/2006/relationships/slideMaster" Target="/ppt/slideMasters/slideMaster1.xml" Id="R369a40e130944789" /><Relationship Type="http://schemas.openxmlformats.org/officeDocument/2006/relationships/notesMaster" Target="/ppt/notesMasters/notesMaster1.xml" Id="Rb7d3e1f2736b4bad" /><Relationship Type="http://schemas.openxmlformats.org/officeDocument/2006/relationships/presProps" Target="/ppt/presProps.xml" Id="Rf22f020f605c4ae8" /><Relationship Type="http://schemas.openxmlformats.org/officeDocument/2006/relationships/tableStyles" Target="/ppt/tableStyles.xml" Id="R959bb86a7164498c" /><Relationship Type="http://schemas.openxmlformats.org/officeDocument/2006/relationships/slide" Target="/ppt/slides/slide1.xml" Id="R82cfa0c18b1648e3" /><Relationship Type="http://schemas.openxmlformats.org/officeDocument/2006/relationships/slide" Target="/ppt/slides/slide2.xml" Id="Ra802e37de29c49f8" /><Relationship Type="http://schemas.openxmlformats.org/officeDocument/2006/relationships/slide" Target="/ppt/slides/slide3.xml" Id="Rc808aa20c8894ba7" /><Relationship Type="http://schemas.openxmlformats.org/officeDocument/2006/relationships/slide" Target="/ppt/slides/slide4.xml" Id="Rd837ffac10684311" /><Relationship Type="http://schemas.openxmlformats.org/officeDocument/2006/relationships/slide" Target="/ppt/slides/slide5.xml" Id="R696638606fcc4c38" /><Relationship Type="http://schemas.openxmlformats.org/officeDocument/2006/relationships/slide" Target="/ppt/slides/slide6.xml" Id="R4bdc1ec2d3f045c5" /><Relationship Type="http://schemas.openxmlformats.org/officeDocument/2006/relationships/slide" Target="/ppt/slides/slide7.xml" Id="R3477487765404170" /><Relationship Type="http://schemas.openxmlformats.org/officeDocument/2006/relationships/slide" Target="/ppt/slides/slide8.xml" Id="R6e89f07a28214c9c" /><Relationship Type="http://schemas.openxmlformats.org/officeDocument/2006/relationships/slide" Target="/ppt/slides/slide9.xml" Id="R1a7a344d51b94229" /><Relationship Type="http://schemas.openxmlformats.org/officeDocument/2006/relationships/slide" Target="/ppt/slides/slide10.xml" Id="Rc258c212851e4852" /><Relationship Type="http://schemas.openxmlformats.org/officeDocument/2006/relationships/slide" Target="/ppt/slides/slide11.xml" Id="Ra340c629204542dd" /><Relationship Type="http://schemas.openxmlformats.org/officeDocument/2006/relationships/slide" Target="/ppt/slides/slide12.xml" Id="R138f5c65f00940b0" /><Relationship Type="http://schemas.openxmlformats.org/officeDocument/2006/relationships/slide" Target="/ppt/slides/slide13.xml" Id="R75ca0f8b16c44ece" /><Relationship Type="http://schemas.openxmlformats.org/officeDocument/2006/relationships/slide" Target="/ppt/slides/slide14.xml" Id="R53fea64c958c4cfa" /><Relationship Type="http://schemas.openxmlformats.org/officeDocument/2006/relationships/slide" Target="/ppt/slides/slide15.xml" Id="R1116b15a909b4271" /><Relationship Type="http://schemas.openxmlformats.org/officeDocument/2006/relationships/slide" Target="/ppt/slides/slide16.xml" Id="Rd52dcca6c5a44e03" /><Relationship Type="http://schemas.openxmlformats.org/officeDocument/2006/relationships/slide" Target="/ppt/slides/slide17.xml" Id="Rfd56857c9c1a48d6" /><Relationship Type="http://schemas.openxmlformats.org/officeDocument/2006/relationships/slide" Target="/ppt/slides/slide18.xml" Id="R8dd229124a414e86" /><Relationship Type="http://schemas.openxmlformats.org/officeDocument/2006/relationships/slide" Target="/ppt/slides/slide19.xml" Id="Rf07dbbcfbec24294" /><Relationship Type="http://schemas.openxmlformats.org/officeDocument/2006/relationships/slide" Target="/ppt/slides/slide20.xml" Id="R5ed2024c34564f60" /><Relationship Type="http://schemas.openxmlformats.org/officeDocument/2006/relationships/slide" Target="/ppt/slides/slide21.xml" Id="R11659c81709b430f" /><Relationship Type="http://schemas.openxmlformats.org/officeDocument/2006/relationships/slide" Target="/ppt/slides/slide22.xml" Id="R5139308e890b4b4a" /><Relationship Type="http://schemas.openxmlformats.org/officeDocument/2006/relationships/slide" Target="/ppt/slides/slide23.xml" Id="R3d8248d759af495a" /><Relationship Type="http://schemas.openxmlformats.org/officeDocument/2006/relationships/slide" Target="/ppt/slides/slide24.xml" Id="Rf7f8908887084b5c" /><Relationship Type="http://schemas.openxmlformats.org/officeDocument/2006/relationships/slide" Target="/ppt/slides/slide25.xml" Id="R2657e47d1ec04a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4061ba6ed94d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d1a583ae3b4d1a" /><Relationship Type="http://schemas.openxmlformats.org/officeDocument/2006/relationships/notesMaster" Target="/ppt/notesMasters/notesMaster1.xml" Id="Rdcd274cfa12341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e3cfed33fa4806" /><Relationship Type="http://schemas.openxmlformats.org/officeDocument/2006/relationships/notesMaster" Target="/ppt/notesMasters/notesMaster1.xml" Id="R5220aaedabc249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9f1a5b9badd4b71" /><Relationship Type="http://schemas.openxmlformats.org/officeDocument/2006/relationships/notesMaster" Target="/ppt/notesMasters/notesMaster1.xml" Id="R1f164ce0bd0d4a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45e450f1c641da" /><Relationship Type="http://schemas.openxmlformats.org/officeDocument/2006/relationships/notesMaster" Target="/ppt/notesMasters/notesMaster1.xml" Id="R6ea61ca7ba8149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e5b70bad344882" /><Relationship Type="http://schemas.openxmlformats.org/officeDocument/2006/relationships/notesMaster" Target="/ppt/notesMasters/notesMaster1.xml" Id="Rdc663d78468642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028dd7a1d046e1" /><Relationship Type="http://schemas.openxmlformats.org/officeDocument/2006/relationships/notesMaster" Target="/ppt/notesMasters/notesMaster1.xml" Id="Rf247d3799dab48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69b291e13e4224" /><Relationship Type="http://schemas.openxmlformats.org/officeDocument/2006/relationships/notesMaster" Target="/ppt/notesMasters/notesMaster1.xml" Id="Rdc1597b8aac84f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d411a635e04915" /><Relationship Type="http://schemas.openxmlformats.org/officeDocument/2006/relationships/notesMaster" Target="/ppt/notesMasters/notesMaster1.xml" Id="R4e83dc6b7d934c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8029d40a2f4c94" /><Relationship Type="http://schemas.openxmlformats.org/officeDocument/2006/relationships/notesMaster" Target="/ppt/notesMasters/notesMaster1.xml" Id="Re0a688a8a5a74a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2f745b60a04901" /><Relationship Type="http://schemas.openxmlformats.org/officeDocument/2006/relationships/notesMaster" Target="/ppt/notesMasters/notesMaster1.xml" Id="R4b8c8401cd6d49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c9d9d0c0eb43cc" /><Relationship Type="http://schemas.openxmlformats.org/officeDocument/2006/relationships/notesMaster" Target="/ppt/notesMasters/notesMaster1.xml" Id="Re30ee2b3457a4b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727d53a2ed4010" /><Relationship Type="http://schemas.openxmlformats.org/officeDocument/2006/relationships/notesMaster" Target="/ppt/notesMasters/notesMaster1.xml" Id="R00dc84f8991046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44274622354fe7" /><Relationship Type="http://schemas.openxmlformats.org/officeDocument/2006/relationships/notesMaster" Target="/ppt/notesMasters/notesMaster1.xml" Id="R9f0719d2bb3b43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a650add0294064" /><Relationship Type="http://schemas.openxmlformats.org/officeDocument/2006/relationships/notesMaster" Target="/ppt/notesMasters/notesMaster1.xml" Id="Rf3b9b78b54ea42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c130c2d6dd4f0c" /><Relationship Type="http://schemas.openxmlformats.org/officeDocument/2006/relationships/notesMaster" Target="/ppt/notesMasters/notesMaster1.xml" Id="Rc289b5d52ae0411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d019f4ad3df4c72" /><Relationship Type="http://schemas.openxmlformats.org/officeDocument/2006/relationships/notesMaster" Target="/ppt/notesMasters/notesMaster1.xml" Id="R289a8844f6e647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f7805350cbe4c3c" /><Relationship Type="http://schemas.openxmlformats.org/officeDocument/2006/relationships/notesMaster" Target="/ppt/notesMasters/notesMaster1.xml" Id="R6f692b64c2fd420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424f14e5c504c0a" /><Relationship Type="http://schemas.openxmlformats.org/officeDocument/2006/relationships/notesMaster" Target="/ppt/notesMasters/notesMaster1.xml" Id="R5882cc6879b6422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403781baf0b41c9" /><Relationship Type="http://schemas.openxmlformats.org/officeDocument/2006/relationships/notesMaster" Target="/ppt/notesMasters/notesMaster1.xml" Id="Rb08b85eac0ef401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533d14fca7c4bbe" /><Relationship Type="http://schemas.openxmlformats.org/officeDocument/2006/relationships/notesMaster" Target="/ppt/notesMasters/notesMaster1.xml" Id="Raf539242a5724bc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4ce49305e6d443e" /><Relationship Type="http://schemas.openxmlformats.org/officeDocument/2006/relationships/notesMaster" Target="/ppt/notesMasters/notesMaster1.xml" Id="R2b143c3b9882453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45423c36f924cb4" /><Relationship Type="http://schemas.openxmlformats.org/officeDocument/2006/relationships/notesMaster" Target="/ppt/notesMasters/notesMaster1.xml" Id="Ra155be448eed4a1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85480376bba4271" /><Relationship Type="http://schemas.openxmlformats.org/officeDocument/2006/relationships/notesMaster" Target="/ppt/notesMasters/notesMaster1.xml" Id="R77579225ed81432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b96b79ea37c4c6c" /><Relationship Type="http://schemas.openxmlformats.org/officeDocument/2006/relationships/notesMaster" Target="/ppt/notesMasters/notesMaster1.xml" Id="R9c60353aa12e420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f4d087c9f3a4437" /><Relationship Type="http://schemas.openxmlformats.org/officeDocument/2006/relationships/notesMaster" Target="/ppt/notesMasters/notesMaster1.xml" Id="Rbd101e82571b45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00:00 à 00:30. Durée prévue : 00:30.</a:t>
            </a:r>
          </a:p>
          <a:p xmlns:a="http://schemas.openxmlformats.org/drawingml/2006/main">
            <a:r>
              <a:t/>
            </a:r>
          </a:p>
          <a:p xmlns:a="http://schemas.openxmlformats.org/drawingml/2006/main">
            <a:r>
              <a:t>TEXTE ORAL</a:t>
            </a:r>
          </a:p>
          <a:p xmlns:a="http://schemas.openxmlformats.org/drawingml/2006/main">
            <a:r>
              <a:t>Bonjour, je suis Dorian Joly. Je vais présenter le pilotage de Spity, une application destinée à la communauté de l'escalade. Mon fil conducteur est la préparation d'une sortie, depuis la recherche d'un partenaire jusqu'à l'inscription à un événement. Je présenterai l'organisation du projet, les décisions de pilotage, puis une démonstration du logiciel.</a:t>
            </a:r>
          </a:p>
          <a:p xmlns:a="http://schemas.openxmlformats.org/drawingml/2006/main">
            <a:r>
              <a:t/>
            </a:r>
          </a:p>
          <a:p xmlns:a="http://schemas.openxmlformats.org/drawingml/2006/main">
            <a:r>
              <a:t>TRANSITION</a:t>
            </a:r>
          </a:p>
          <a:p xmlns:a="http://schemas.openxmlformats.org/drawingml/2006/main">
            <a:r>
              <a:t>Je commence par le besoin auquel répond le produit.</a:t>
            </a:r>
          </a:p>
          <a:p xmlns:a="http://schemas.openxmlformats.org/drawingml/2006/main">
            <a:r>
              <a:t/>
            </a:r>
          </a:p>
          <a:p xmlns:a="http://schemas.openxmlformats.org/drawingml/2006/main">
            <a:r>
              <a:t>SOURCE ET NATURE</a:t>
            </a:r>
          </a:p>
          <a:p xmlns:a="http://schemas.openxmlformats.org/drawingml/2006/main">
            <a:r>
              <a:t>RNCP39583, Bloc 3. Référentiel RNCP39583, p. 11 à 14. Photo de marque du dépôt, illustration sans lien avec une équipe réelle.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00:30 à 01:30. Durée prévue : 01:00.</a:t>
            </a:r>
          </a:p>
          <a:p xmlns:a="http://schemas.openxmlformats.org/drawingml/2006/main">
            <a:r>
              <a:t/>
            </a:r>
          </a:p>
          <a:p xmlns:a="http://schemas.openxmlformats.org/drawingml/2006/main">
            <a:r>
              <a:t>TEXTE ORAL</a:t>
            </a:r>
          </a:p>
          <a:p xmlns:a="http://schemas.openxmlformats.org/drawingml/2006/main">
            <a:r>
              <a:t>Le besoin retenu pour cette présentation est concret : préparer une sortie avec des personnes compatibles avec sa pratique. Un grimpeur doit pouvoir comprendre les profils proposés, consulter les informations d'un événement et savoir si son inscription a abouti. Le club a un autre besoin : organiser la sortie et retrouver les participants autorisés.</a:t>
            </a:r>
          </a:p>
          <a:p xmlns:a="http://schemas.openxmlformats.org/drawingml/2006/main">
            <a:r>
              <a:t/>
            </a:r>
          </a:p>
          <a:p xmlns:a="http://schemas.openxmlformats.org/drawingml/2006/main">
            <a:r>
              <a:t>Ces deux points de vue déterminent ce que je vais montrer. Une page qui s'affiche correctement reste insuffisante si l'utilisateur ne comprend pas l'état de sa demande ou le nombre de places disponibles. Je retiens donc des critères observables sur le parcours complet. La capture présente le répertoire de lieux, qui apporte le contexte géographique de la pratique.</a:t>
            </a:r>
          </a:p>
          <a:p xmlns:a="http://schemas.openxmlformats.org/drawingml/2006/main">
            <a:r>
              <a:t/>
            </a:r>
          </a:p>
          <a:p xmlns:a="http://schemas.openxmlformats.org/drawingml/2006/main">
            <a:r>
              <a:t>TRANSITION</a:t>
            </a:r>
          </a:p>
          <a:p xmlns:a="http://schemas.openxmlformats.org/drawingml/2006/main">
            <a:r>
              <a:t>Il faut ensuite préciser sur quelles preuves repose cette présentation.</a:t>
            </a:r>
          </a:p>
          <a:p xmlns:a="http://schemas.openxmlformats.org/drawingml/2006/main">
            <a:r>
              <a:t/>
            </a:r>
          </a:p>
          <a:p xmlns:a="http://schemas.openxmlformats.org/drawingml/2006/main">
            <a:r>
              <a:t>SOURCE ET NATURE</a:t>
            </a:r>
          </a:p>
          <a:p xmlns:a="http://schemas.openxmlformats.org/drawingml/2006/main">
            <a:r>
              <a:t>Produit Spity. DOSSIER_BLOC_03 §1-2. Capture locale du 14 septembre 2026, données de démonstration.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01:30 à 02:30. Durée prévue : 01:00.</a:t>
            </a:r>
          </a:p>
          <a:p xmlns:a="http://schemas.openxmlformats.org/drawingml/2006/main">
            <a:r>
              <a:t/>
            </a:r>
          </a:p>
          <a:p xmlns:a="http://schemas.openxmlformats.org/drawingml/2006/main">
            <a:r>
              <a:t>TEXTE ORAL</a:t>
            </a:r>
          </a:p>
          <a:p xmlns:a="http://schemas.openxmlformats.org/drawingml/2006/main">
            <a:r>
              <a:t>Cette présentation combine deux ensembles que je distingue clairement. D'un côté, le logiciel existe. Le dépôt contient le code, des modifications datées et des résultats de vérification. Je peux montrer ces éléments et préciser leur portée.</a:t>
            </a:r>
          </a:p>
          <a:p xmlns:a="http://schemas.openxmlformats.org/drawingml/2006/main">
            <a:r>
              <a:t/>
            </a:r>
          </a:p>
          <a:p xmlns:a="http://schemas.openxmlformats.org/drawingml/2006/main">
            <a:r>
              <a:t>De l'autre, j'utilise un cas professionnel fictif pour expliquer le pilotage d'une petite équipe. Les rôles, les charges, les coûts et les réunions client de ce cas sont des hypothèses pédagogiques. Le référentiel autorise une mise en situation réelle ou fictive. Je présente donc ces éléments comme un scénario. Les comptes de démonstration ne correspondent pas à des personnes interrogées. Cette distinction permet au jury de comprendre exactement ce qui est observé et ce qui relève de mon raisonnement de pilotage.</a:t>
            </a:r>
          </a:p>
          <a:p xmlns:a="http://schemas.openxmlformats.org/drawingml/2006/main">
            <a:r>
              <a:t/>
            </a:r>
          </a:p>
          <a:p xmlns:a="http://schemas.openxmlformats.org/drawingml/2006/main">
            <a:r>
              <a:t>TRANSITION</a:t>
            </a:r>
          </a:p>
          <a:p xmlns:a="http://schemas.openxmlformats.org/drawingml/2006/main">
            <a:r>
              <a:t>Dans ce cadre, je retiens une organisation simple, adaptée au lot.</a:t>
            </a:r>
          </a:p>
          <a:p xmlns:a="http://schemas.openxmlformats.org/drawingml/2006/main">
            <a:r>
              <a:t/>
            </a:r>
          </a:p>
          <a:p xmlns:a="http://schemas.openxmlformats.org/drawingml/2006/main">
            <a:r>
              <a:t>SOURCE ET NATURE</a:t>
            </a:r>
          </a:p>
          <a:p xmlns:a="http://schemas.openxmlformats.org/drawingml/2006/main">
            <a:r>
              <a:t>Produit réel et mise en situation fictive. Référentiel p. 11. DOSSIER_BLOC_03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02:30 à 04:00. Durée prévue : 01:30.</a:t>
            </a:r>
          </a:p>
          <a:p xmlns:a="http://schemas.openxmlformats.org/drawingml/2006/main">
            <a:r>
              <a:t/>
            </a:r>
          </a:p>
          <a:p xmlns:a="http://schemas.openxmlformats.org/drawingml/2006/main">
            <a:r>
              <a:t>TEXTE ORAL</a:t>
            </a:r>
          </a:p>
          <a:p xmlns:a="http://schemas.openxmlformats.org/drawingml/2006/main">
            <a:r>
              <a:t>Pour ce cas, je retiens Kanban, avec des jalons de validation. Le lot est court, l'effectif réduit et les priorités peuvent évoluer. L'objectif est de rendre le travail visible et d'éviter de commencer trop de fonctions avant de terminer leur vérification.</a:t>
            </a:r>
          </a:p>
          <a:p xmlns:a="http://schemas.openxmlformats.org/drawingml/2006/main">
            <a:r>
              <a:t/>
            </a:r>
          </a:p>
          <a:p xmlns:a="http://schemas.openxmlformats.org/drawingml/2006/main">
            <a:r>
              <a:t>Une tâche entre dans le tableau lorsque son besoin et ses critères sont compréhensibles. Elle passe en cours lorsqu'un responsable dispose de la capacité nécessaire. Elle rejoint ensuite la colonne à vérifier, puis terminé après la recette. Je limite à deux le nombre de tâches de réalisation simultanées. Si une tâche reste bloquée, la priorité est de traiter ce blocage avant d'ouvrir un nouveau chantier.</a:t>
            </a:r>
          </a:p>
          <a:p xmlns:a="http://schemas.openxmlformats.org/drawingml/2006/main">
            <a:r>
              <a:t/>
            </a:r>
          </a:p>
          <a:p xmlns:a="http://schemas.openxmlformats.org/drawingml/2006/main">
            <a:r>
              <a:t>Je conserve des jalons pour le périmètre, les écarts et la réception. Linear sert au suivi des tâches, Git à la traçabilité des changements, et le classeur aux charges et aux coûts. Je n'affirme pas que toutes les cérémonies Scrum ont été pratiquées sur le projet. Le choix présenté ici répond aux contraintes du scénario et reste contrôlable par des critères simples.</a:t>
            </a:r>
          </a:p>
          <a:p xmlns:a="http://schemas.openxmlformats.org/drawingml/2006/main">
            <a:r>
              <a:t/>
            </a:r>
          </a:p>
          <a:p xmlns:a="http://schemas.openxmlformats.org/drawingml/2006/main">
            <a:r>
              <a:t>GESTE OU MANIPULATION</a:t>
            </a:r>
          </a:p>
          <a:p xmlns:a="http://schemas.openxmlformats.org/drawingml/2006/main">
            <a:r>
              <a:t>Montrer le flux des quatre états et expliquer la limite de deux tâches en cours.</a:t>
            </a:r>
          </a:p>
          <a:p xmlns:a="http://schemas.openxmlformats.org/drawingml/2006/main">
            <a:r>
              <a:t/>
            </a:r>
          </a:p>
          <a:p xmlns:a="http://schemas.openxmlformats.org/drawingml/2006/main">
            <a:r>
              <a:t>TRANSITION</a:t>
            </a:r>
          </a:p>
          <a:p xmlns:a="http://schemas.openxmlformats.org/drawingml/2006/main">
            <a:r>
              <a:t>Ces règles de travail se placent dans un planning de quinze jours ouvrés.</a:t>
            </a:r>
          </a:p>
          <a:p xmlns:a="http://schemas.openxmlformats.org/drawingml/2006/main">
            <a:r>
              <a:t/>
            </a:r>
          </a:p>
          <a:p xmlns:a="http://schemas.openxmlformats.org/drawingml/2006/main">
            <a:r>
              <a:t>SOURCE ET NATURE</a:t>
            </a:r>
          </a:p>
          <a:p xmlns:a="http://schemas.openxmlformats.org/drawingml/2006/main">
            <a:r>
              <a:t>C.3.1, simulation pédagogique. DOSSIER_BLOC_03 §3. A01 et A03.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04:00 à 05:30. Durée prévue : 01:30.</a:t>
            </a:r>
          </a:p>
          <a:p xmlns:a="http://schemas.openxmlformats.org/drawingml/2006/main">
            <a:r>
              <a:t/>
            </a:r>
          </a:p>
          <a:p xmlns:a="http://schemas.openxmlformats.org/drawingml/2006/main">
            <a:r>
              <a:t>TEXTE ORAL</a:t>
            </a:r>
          </a:p>
          <a:p xmlns:a="http://schemas.openxmlformats.org/drawingml/2006/main">
            <a:r>
              <a:t>Le planning couvre quinze jours ouvrés relatifs. J1 à J15 désignent les jours du cas, pas des dates historiques du développement de Spity. Je conserve la référence initiale pour pouvoir expliquer les changements au lieu d'effacer les retards.</a:t>
            </a:r>
          </a:p>
          <a:p xmlns:a="http://schemas.openxmlformats.org/drawingml/2006/main">
            <a:r>
              <a:t/>
            </a:r>
          </a:p>
          <a:p xmlns:a="http://schemas.openxmlformats.org/drawingml/2006/main">
            <a:r>
              <a:t>Le travail commence par l'étude du besoin et la mesure des critères attendus. Il comprend ensuite la conception de l'organisation, la réalisation des parcours, leur recette et la restitution. À J3, le client fictif valide le périmètre. À J8, le parcours partenaire doit être vérifié. J10 sert à examiner les écarts et à arbitrer les demandes nouvelles. La recette se clôt à J14 avant la démonstration de J15.</a:t>
            </a:r>
          </a:p>
          <a:p xmlns:a="http://schemas.openxmlformats.org/drawingml/2006/main">
            <a:r>
              <a:t/>
            </a:r>
          </a:p>
          <a:p xmlns:a="http://schemas.openxmlformats.org/drawingml/2006/main">
            <a:r>
              <a:t>Les dépendances sont essentielles. La recette peut commencer sur les fonctions déjà prêtes, mais sa clôture attend la vérification des événements et des corrections. La préparation des slides peut avancer en parallèle. En revanche, la démonstration finale exige un parcours stabilisé. Le planning relie donc des résultats attendus, des responsabilités et des conditions de passage, plutôt qu'une simple succession de dates.</a:t>
            </a:r>
          </a:p>
          <a:p xmlns:a="http://schemas.openxmlformats.org/drawingml/2006/main">
            <a:r>
              <a:t/>
            </a:r>
          </a:p>
          <a:p xmlns:a="http://schemas.openxmlformats.org/drawingml/2006/main">
            <a:r>
              <a:t>GESTE OU MANIPULATION</a:t>
            </a:r>
          </a:p>
          <a:p xmlns:a="http://schemas.openxmlformats.org/drawingml/2006/main">
            <a:r>
              <a:t>Lire les phases du planning, puis montrer la recette à J14 avant la démonstration J15.</a:t>
            </a:r>
          </a:p>
          <a:p xmlns:a="http://schemas.openxmlformats.org/drawingml/2006/main">
            <a:r>
              <a:t/>
            </a:r>
          </a:p>
          <a:p xmlns:a="http://schemas.openxmlformats.org/drawingml/2006/main">
            <a:r>
              <a:t>TRANSITION</a:t>
            </a:r>
          </a:p>
          <a:p xmlns:a="http://schemas.openxmlformats.org/drawingml/2006/main">
            <a:r>
              <a:t>Pour tenir ces jalons, chacun doit connaître sa responsabilité.</a:t>
            </a:r>
          </a:p>
          <a:p xmlns:a="http://schemas.openxmlformats.org/drawingml/2006/main">
            <a:r>
              <a:t/>
            </a:r>
          </a:p>
          <a:p xmlns:a="http://schemas.openxmlformats.org/drawingml/2006/main">
            <a:r>
              <a:t>SOURCE ET NATURE</a:t>
            </a:r>
          </a:p>
          <a:p xmlns:a="http://schemas.openxmlformats.org/drawingml/2006/main">
            <a:r>
              <a:t>C.3.1, simulation sur quinze jours ouvrés. A01. donnees/pilotage.json. Graphique des intervalles de phases à J10, entre les jours relatifs indiqués. Les jalons complets restent dans A01.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05:30 à 06:30. Durée prévue : 01:00.</a:t>
            </a:r>
          </a:p>
          <a:p xmlns:a="http://schemas.openxmlformats.org/drawingml/2006/main">
            <a:r>
              <a:t/>
            </a:r>
          </a:p>
          <a:p xmlns:a="http://schemas.openxmlformats.org/drawingml/2006/main">
            <a:r>
              <a:t>TEXTE ORAL</a:t>
            </a:r>
          </a:p>
          <a:p xmlns:a="http://schemas.openxmlformats.org/drawingml/2006/main">
            <a:r>
              <a:t>Le scénario distingue un chef de projet, un développeur et un testeur UX. Leurs capacités représentent respectivement trente, soixante-douze et trente heures sur le lot. Le client intervient aux points de validation.</a:t>
            </a:r>
          </a:p>
          <a:p xmlns:a="http://schemas.openxmlformats.org/drawingml/2006/main">
            <a:r>
              <a:t/>
            </a:r>
          </a:p>
          <a:p xmlns:a="http://schemas.openxmlformats.org/drawingml/2006/main">
            <a:r>
              <a:t>La matrice RACI précise qui réalise, qui décide, qui doit être consulté et qui doit être informé. Une seule autorité de décision est désignée pour chaque activité. Par exemple, le développeur corrige une fonction, QA vérifie le résultat et le chef de projet suit la clôture. Le client reste responsable de l'acceptation du périmètre.</a:t>
            </a:r>
          </a:p>
          <a:p xmlns:a="http://schemas.openxmlformats.org/drawingml/2006/main">
            <a:r>
              <a:t/>
            </a:r>
          </a:p>
          <a:p xmlns:a="http://schemas.openxmlformats.org/drawingml/2006/main">
            <a:r>
              <a:t>Cette organisation évite les tâches sans responsable et les validations implicites. Les capacités restent des hypothèses du cas. Elles ne correspondent pas à des feuilles de temps réellement renseignées par des collaborateurs.</a:t>
            </a:r>
          </a:p>
          <a:p xmlns:a="http://schemas.openxmlformats.org/drawingml/2006/main">
            <a:r>
              <a:t/>
            </a:r>
          </a:p>
          <a:p xmlns:a="http://schemas.openxmlformats.org/drawingml/2006/main">
            <a:r>
              <a:t>TRANSITION</a:t>
            </a:r>
          </a:p>
          <a:p xmlns:a="http://schemas.openxmlformats.org/drawingml/2006/main">
            <a:r>
              <a:t>Une fois le travail réparti, je peux comparer le prévu et la prévision.</a:t>
            </a:r>
          </a:p>
          <a:p xmlns:a="http://schemas.openxmlformats.org/drawingml/2006/main">
            <a:r>
              <a:t/>
            </a:r>
          </a:p>
          <a:p xmlns:a="http://schemas.openxmlformats.org/drawingml/2006/main">
            <a:r>
              <a:t>SOURCE ET NATURE</a:t>
            </a:r>
          </a:p>
          <a:p xmlns:a="http://schemas.openxmlformats.org/drawingml/2006/main">
            <a:r>
              <a:t>C.3.1, équipe fictive du cas. A02 et A03.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06:30 à 08:00. Durée prévue : 01:30.</a:t>
            </a:r>
          </a:p>
          <a:p xmlns:a="http://schemas.openxmlformats.org/drawingml/2006/main">
            <a:r>
              <a:t/>
            </a:r>
          </a:p>
          <a:p xmlns:a="http://schemas.openxmlformats.org/drawingml/2006/main">
            <a:r>
              <a:t>TEXTE ORAL</a:t>
            </a:r>
          </a:p>
          <a:p xmlns:a="http://schemas.openxmlformats.org/drawingml/2006/main">
            <a:r>
              <a:t>Le tableau de bord est arrêté à J10. La charge initiale du lot est de cent douze heures. Soixante-dix-sept heures sont consommées dans le scénario et le reste à faire est estimé à quarante heures. La prévision à terminaison atteint donc cent dix-sept heures, soit cinq heures de plus que la référence.</a:t>
            </a:r>
          </a:p>
          <a:p xmlns:a="http://schemas.openxmlformats.org/drawingml/2006/main">
            <a:r>
              <a:t/>
            </a:r>
          </a:p>
          <a:p xmlns:a="http://schemas.openxmlformats.org/drawingml/2006/main">
            <a:r>
              <a:t>Je distingue trois notions. Le consommé indique l'effort déjà mobilisé. Le reste à faire exprime l'effort encore nécessaire. Le statut terminé indique qu'un résultat a été vérifié. Cinq tâches sur dix sont terminées, mais ce ratio ne signifie pas que la moitié de la valeur du produit est livrée. Les tâches n'ont pas toutes la même taille.</a:t>
            </a:r>
          </a:p>
          <a:p xmlns:a="http://schemas.openxmlformats.org/drawingml/2006/main">
            <a:r>
              <a:t/>
            </a:r>
          </a:p>
          <a:p xmlns:a="http://schemas.openxmlformats.org/drawingml/2006/main">
            <a:r>
              <a:t>Chaque rôle actualise ses estimations. Deux fois par semaine, le chef de projet vérifie les écarts et leur effet sur les jalons. Par exemple, si une fonction semble presque codée mais que sa recette reste importante, le reste à faire doit encore intégrer ce travail. Je préfère constater cet écart avant la démonstration pour pouvoir décider tant qu'une marge existe.</a:t>
            </a:r>
          </a:p>
          <a:p xmlns:a="http://schemas.openxmlformats.org/drawingml/2006/main">
            <a:r>
              <a:t/>
            </a:r>
          </a:p>
          <a:p xmlns:a="http://schemas.openxmlformats.org/drawingml/2006/main">
            <a:r>
              <a:t>GESTE OU MANIPULATION</a:t>
            </a:r>
          </a:p>
          <a:p xmlns:a="http://schemas.openxmlformats.org/drawingml/2006/main">
            <a:r>
              <a:t>Montrer le calcul 77 + 40 = 117, puis distinguer les heures du taux de tâches terminées.</a:t>
            </a:r>
          </a:p>
          <a:p xmlns:a="http://schemas.openxmlformats.org/drawingml/2006/main">
            <a:r>
              <a:t/>
            </a:r>
          </a:p>
          <a:p xmlns:a="http://schemas.openxmlformats.org/drawingml/2006/main">
            <a:r>
              <a:t>TRANSITION</a:t>
            </a:r>
          </a:p>
          <a:p xmlns:a="http://schemas.openxmlformats.org/drawingml/2006/main">
            <a:r>
              <a:t>La même prévision permet de réévaluer le coût du lot.</a:t>
            </a:r>
          </a:p>
          <a:p xmlns:a="http://schemas.openxmlformats.org/drawingml/2006/main">
            <a:r>
              <a:t/>
            </a:r>
          </a:p>
          <a:p xmlns:a="http://schemas.openxmlformats.org/drawingml/2006/main">
            <a:r>
              <a:t>SOURCE ET NATURE</a:t>
            </a:r>
          </a:p>
          <a:p xmlns:a="http://schemas.openxmlformats.org/drawingml/2006/main">
            <a:r>
              <a:t>C3.2.1, simulation pédagogique. A03. Classeur Pilotage et Planning. Données simulées à J10.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08:00 à 09:30. Durée prévue : 01:30.</a:t>
            </a:r>
          </a:p>
          <a:p xmlns:a="http://schemas.openxmlformats.org/drawingml/2006/main">
            <a:r>
              <a:t/>
            </a:r>
          </a:p>
          <a:p xmlns:a="http://schemas.openxmlformats.org/drawingml/2006/main">
            <a:r>
              <a:t>TEXTE ORAL</a:t>
            </a:r>
          </a:p>
          <a:p xmlns:a="http://schemas.openxmlformats.org/drawingml/2006/main">
            <a:r>
              <a:t>Le budget valorise le travail à partir de taux horaires fictifs. Il ne représente pas des salaires versés ni des factures. La référence initiale comprend quatre mille quatre-vingt-dix euros de travail et cent quatre-vingts euros de frais, soit quatre mille deux cent soixante-dix euros.</a:t>
            </a:r>
          </a:p>
          <a:p xmlns:a="http://schemas.openxmlformats.org/drawingml/2006/main">
            <a:r>
              <a:t/>
            </a:r>
          </a:p>
          <a:p xmlns:a="http://schemas.openxmlformats.org/drawingml/2006/main">
            <a:r>
              <a:t>Avec les charges revues à J10, le travail atteint quatre mille deux cent soixante-cinq euros. Les frais prévisionnels sont de deux cents euros. Le total à terminaison est donc de quatre mille quatre cent soixante-cinq euros. L'écart est de cent quatre-vingt-quinze euros, soit environ quatre virgule six pour cent.</a:t>
            </a:r>
          </a:p>
          <a:p xmlns:a="http://schemas.openxmlformats.org/drawingml/2006/main">
            <a:r>
              <a:t/>
            </a:r>
          </a:p>
          <a:p xmlns:a="http://schemas.openxmlformats.org/drawingml/2006/main">
            <a:r>
              <a:t>La réserve initiale de dix pour cent représente quatre cent vingt-sept euros. Elle porte le plafond à quatre mille six cent quatre-vingt-dix-sept euros. Il reste deux cent trente-deux euros de marge. La réserve n'efface pas le dépassement de la référence. Elle indique seulement que le scénario peut encore l'absorber. Une nouvelle demande doit être comparée à cette marge et à la capacité de l'équipe avant tout engagement.</a:t>
            </a:r>
          </a:p>
          <a:p xmlns:a="http://schemas.openxmlformats.org/drawingml/2006/main">
            <a:r>
              <a:t/>
            </a:r>
          </a:p>
          <a:p xmlns:a="http://schemas.openxmlformats.org/drawingml/2006/main">
            <a:r>
              <a:t>GESTE OU MANIPULATION</a:t>
            </a:r>
          </a:p>
          <a:p xmlns:a="http://schemas.openxmlformats.org/drawingml/2006/main">
            <a:r>
              <a:t>Comparer les barres du budget initial, de la prévision et du plafond. Expliquer les 232 euros de marge.</a:t>
            </a:r>
          </a:p>
          <a:p xmlns:a="http://schemas.openxmlformats.org/drawingml/2006/main">
            <a:r>
              <a:t/>
            </a:r>
          </a:p>
          <a:p xmlns:a="http://schemas.openxmlformats.org/drawingml/2006/main">
            <a:r>
              <a:t>TRANSITION</a:t>
            </a:r>
          </a:p>
          <a:p xmlns:a="http://schemas.openxmlformats.org/drawingml/2006/main">
            <a:r>
              <a:t>La marge financière doit être lue avec la disponibilité de chaque rôle.</a:t>
            </a:r>
          </a:p>
          <a:p xmlns:a="http://schemas.openxmlformats.org/drawingml/2006/main">
            <a:r>
              <a:t/>
            </a:r>
          </a:p>
          <a:p xmlns:a="http://schemas.openxmlformats.org/drawingml/2006/main">
            <a:r>
              <a:t>SOURCE ET NATURE</a:t>
            </a:r>
          </a:p>
          <a:p xmlns:a="http://schemas.openxmlformats.org/drawingml/2006/main">
            <a:r>
              <a:t>C3.2.1, montants fictifs en euros. A03. Classeur Pilotage. Taux et charges du cas fictif.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09:30 à 10:30. Durée prévue : 01:00.</a:t>
            </a:r>
          </a:p>
          <a:p xmlns:a="http://schemas.openxmlformats.org/drawingml/2006/main">
            <a:r>
              <a:t/>
            </a:r>
          </a:p>
          <a:p xmlns:a="http://schemas.openxmlformats.org/drawingml/2006/main">
            <a:r>
              <a:t>TEXTE ORAL</a:t>
            </a:r>
          </a:p>
          <a:p xmlns:a="http://schemas.openxmlformats.org/drawingml/2006/main">
            <a:r>
              <a:t>La charge totale reste inférieure à la capacité globale, mais cette somme peut masquer une tension sur un rôle. Le chef de projet est à vingt-neuf heures pour trente disponibles. Il ne conserve qu'une heure de marge. Le développeur dispose de huit heures et QA de six heures.</a:t>
            </a:r>
          </a:p>
          <a:p xmlns:a="http://schemas.openxmlformats.org/drawingml/2006/main">
            <a:r>
              <a:t/>
            </a:r>
          </a:p>
          <a:p xmlns:a="http://schemas.openxmlformats.org/drawingml/2006/main">
            <a:r>
              <a:t>Ces heures ne sont pas librement interchangeables. Transférer une tâche suppose de vérifier la compétence de la personne et l'effet sur la qualité. Le développeur doit pouvoir corriger son travail, tandis que QA conserve un regard sur sa validation. Je protège donc le temps d'arbitrage du chef de projet et je limite les demandes supplémentaires. Le suivi par rôle rend cette décision plus précise qu'un simple total d'heures disponibles.</a:t>
            </a:r>
          </a:p>
          <a:p xmlns:a="http://schemas.openxmlformats.org/drawingml/2006/main">
            <a:r>
              <a:t/>
            </a:r>
          </a:p>
          <a:p xmlns:a="http://schemas.openxmlformats.org/drawingml/2006/main">
            <a:r>
              <a:t>TRANSITION</a:t>
            </a:r>
          </a:p>
          <a:p xmlns:a="http://schemas.openxmlformats.org/drawingml/2006/main">
            <a:r>
              <a:t>Je relie ensuite ces points de vigilance à un registre des risques.</a:t>
            </a:r>
          </a:p>
          <a:p xmlns:a="http://schemas.openxmlformats.org/drawingml/2006/main">
            <a:r>
              <a:t/>
            </a:r>
          </a:p>
          <a:p xmlns:a="http://schemas.openxmlformats.org/drawingml/2006/main">
            <a:r>
              <a:t>SOURCE ET NATURE</a:t>
            </a:r>
          </a:p>
          <a:p xmlns:a="http://schemas.openxmlformats.org/drawingml/2006/main">
            <a:r>
              <a:t>C3.2.1, simulation pédagogique. A03. Classeur Pilotage, charges à terminaison.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10:30 à 11:30. Durée prévue : 01:00.</a:t>
            </a:r>
          </a:p>
          <a:p xmlns:a="http://schemas.openxmlformats.org/drawingml/2006/main">
            <a:r>
              <a:t/>
            </a:r>
          </a:p>
          <a:p xmlns:a="http://schemas.openxmlformats.org/drawingml/2006/main">
            <a:r>
              <a:t>TEXTE ORAL</a:t>
            </a:r>
          </a:p>
          <a:p xmlns:a="http://schemas.openxmlformats.org/drawingml/2006/main">
            <a:r>
              <a:t>Le registre complet contient cinq risques. Je présente ici ceux qui influencent directement la restitution. Le premier concerne la disponibilité de la démonstration. La réponse consiste à vérifier l'environnement avant l'oral et à conserver des captures datées.</a:t>
            </a:r>
          </a:p>
          <a:p xmlns:a="http://schemas.openxmlformats.org/drawingml/2006/main">
            <a:r>
              <a:t/>
            </a:r>
          </a:p>
          <a:p xmlns:a="http://schemas.openxmlformats.org/drawingml/2006/main">
            <a:r>
              <a:t>Le deuxième concerne la surcharge du chef de projet. Le seuil de quatre-vingt-dix pour cent déclenche une revue de la charge. Le troisième concerne une demande nouvelle qui dépasse la capacité ou le budget. Elle impose un arbitrage avant engagement.</a:t>
            </a:r>
          </a:p>
          <a:p xmlns:a="http://schemas.openxmlformats.org/drawingml/2006/main">
            <a:r>
              <a:t/>
            </a:r>
          </a:p>
          <a:p xmlns:a="http://schemas.openxmlformats.org/drawingml/2006/main">
            <a:r>
              <a:t>Chaque risque possède un responsable, un déclencheur et une réponse. Le score de probabilité et d'impact aide à prioriser, mais la décision doit aussi examiner la conséquence concrète pour le projet. Une couleur seule ne dit pas ce que l'équipe doit faire.</a:t>
            </a:r>
          </a:p>
          <a:p xmlns:a="http://schemas.openxmlformats.org/drawingml/2006/main">
            <a:r>
              <a:t/>
            </a:r>
          </a:p>
          <a:p xmlns:a="http://schemas.openxmlformats.org/drawingml/2006/main">
            <a:r>
              <a:t>TRANSITION</a:t>
            </a:r>
          </a:p>
          <a:p xmlns:a="http://schemas.openxmlformats.org/drawingml/2006/main">
            <a:r>
              <a:t>Je vais illustrer cette logique de décision avec un changement réel du projet.</a:t>
            </a:r>
          </a:p>
          <a:p xmlns:a="http://schemas.openxmlformats.org/drawingml/2006/main">
            <a:r>
              <a:t/>
            </a:r>
          </a:p>
          <a:p xmlns:a="http://schemas.openxmlformats.org/drawingml/2006/main">
            <a:r>
              <a:t>SOURCE ET NATURE</a:t>
            </a:r>
          </a:p>
          <a:p xmlns:a="http://schemas.openxmlformats.org/drawingml/2006/main">
            <a:r>
              <a:t>C3.2.1, extrait du registre fictif. A03, registre des cinq risques.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11:30 à 13:30. Durée prévue : 02:00.</a:t>
            </a:r>
          </a:p>
          <a:p xmlns:a="http://schemas.openxmlformats.org/drawingml/2006/main">
            <a:r>
              <a:t/>
            </a:r>
          </a:p>
          <a:p xmlns:a="http://schemas.openxmlformats.org/drawingml/2006/main">
            <a:r>
              <a:t>TEXTE ORAL</a:t>
            </a:r>
          </a:p>
          <a:p xmlns:a="http://schemas.openxmlformats.org/drawingml/2006/main">
            <a:r>
              <a:t>Un arbitrage réel du dépôt concerne la recette navigateur. Le dossier historique de juillet rapporte un échec pendant l'utilisation du serveur de développement, avec des compilations à froid au cours des scénarios. Cela créait un écart entre l'environnement de recette et l'artefact destiné à être livré.</a:t>
            </a:r>
          </a:p>
          <a:p xmlns:a="http://schemas.openxmlformats.org/drawingml/2006/main">
            <a:r>
              <a:t/>
            </a:r>
          </a:p>
          <a:p xmlns:a="http://schemas.openxmlformats.org/drawingml/2006/main">
            <a:r>
              <a:t>J'ai comparé rétrospectivement trois options pour expliquer le raisonnement. La première consiste à augmenter les délais ou à ajouter des tentatives. Elle est rapide à mettre en place, mais peut masquer la cause. La deuxième consiste à préchauffer le serveur de développement. Elle réduit certaines compilations pendant la recette, à condition d'avoir préparé toutes les routes utiles. La troisième consiste à tester le serveur standalone issu du build. Elle ajoute un temps de construction, mais rapproche la recette du livrable.</a:t>
            </a:r>
          </a:p>
          <a:p xmlns:a="http://schemas.openxmlformats.org/drawingml/2006/main">
            <a:r>
              <a:t/>
            </a:r>
          </a:p>
          <a:p xmlns:a="http://schemas.openxmlformats.org/drawingml/2006/main">
            <a:r>
              <a:t>Le commit visible dans Git retient cette troisième option et ajuste aussi l'utilisation de localhost pour les sessions. Le dossier historique rapporte une exécution réussie après consolidation. Je précise la portée de la preuve : la modification est vérifiable dans Git. Les résultats distants sont rapportés par le dossier de l'époque. La comparaison présentée ici est une analyse rétrospective, pas un procès-verbal rédigé le jour de la décision.</a:t>
            </a:r>
          </a:p>
          <a:p xmlns:a="http://schemas.openxmlformats.org/drawingml/2006/main">
            <a:r>
              <a:t/>
            </a:r>
          </a:p>
          <a:p xmlns:a="http://schemas.openxmlformats.org/drawingml/2006/main">
            <a:r>
              <a:t>Ce cas montre l'intérêt de rechercher la cause avant de modifier un seuil. Une recette utile doit rester reproductible et suffisamment proche des conditions de livraison pour éclairer une décision.</a:t>
            </a:r>
          </a:p>
          <a:p xmlns:a="http://schemas.openxmlformats.org/drawingml/2006/main">
            <a:r>
              <a:t/>
            </a:r>
          </a:p>
          <a:p xmlns:a="http://schemas.openxmlformats.org/drawingml/2006/main">
            <a:r>
              <a:t>GESTE OU MANIPULATION</a:t>
            </a:r>
          </a:p>
          <a:p xmlns:a="http://schemas.openxmlformats.org/drawingml/2006/main">
            <a:r>
              <a:t>Comparer oralement les trois options. Mettre en avant le standalone et le commit qui atteste le choix.</a:t>
            </a:r>
          </a:p>
          <a:p xmlns:a="http://schemas.openxmlformats.org/drawingml/2006/main">
            <a:r>
              <a:t/>
            </a:r>
          </a:p>
          <a:p xmlns:a="http://schemas.openxmlformats.org/drawingml/2006/main">
            <a:r>
              <a:t>TRANSITION</a:t>
            </a:r>
          </a:p>
          <a:p xmlns:a="http://schemas.openxmlformats.org/drawingml/2006/main">
            <a:r>
              <a:t>Un arbitrage peut aussi porter sur le périmètre plutôt que sur un choix technique.</a:t>
            </a:r>
          </a:p>
          <a:p xmlns:a="http://schemas.openxmlformats.org/drawingml/2006/main">
            <a:r>
              <a:t/>
            </a:r>
          </a:p>
          <a:p xmlns:a="http://schemas.openxmlformats.org/drawingml/2006/main">
            <a:r>
              <a:t>SOURCE ET NATURE</a:t>
            </a:r>
          </a:p>
          <a:p xmlns:a="http://schemas.openxmlformats.org/drawingml/2006/main">
            <a:r>
              <a:t>C3.2.2, fait Git et analyse rétrospective. A04. git show 689e59d. Cahier de recettes Bloc 2, consolidation standalone.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13:30 à 15:00. Durée prévue : 01:30.</a:t>
            </a:r>
          </a:p>
          <a:p xmlns:a="http://schemas.openxmlformats.org/drawingml/2006/main">
            <a:r>
              <a:t/>
            </a:r>
          </a:p>
          <a:p xmlns:a="http://schemas.openxmlformats.org/drawingml/2006/main">
            <a:r>
              <a:t>TEXTE ORAL</a:t>
            </a:r>
          </a:p>
          <a:p xmlns:a="http://schemas.openxmlformats.org/drawingml/2006/main">
            <a:r>
              <a:t>À J10, le client fictif demande un lot supplémentaire de contributions aux topos. Il s'agit d'une demande pédagogique, distincte de l'état actuel du code. Son estimation est de douze heures de développement et de quatre heures de recette, soit cinq cent quarante euros.</a:t>
            </a:r>
          </a:p>
          <a:p xmlns:a="http://schemas.openxmlformats.org/drawingml/2006/main">
            <a:r>
              <a:t/>
            </a:r>
          </a:p>
          <a:p xmlns:a="http://schemas.openxmlformats.org/drawingml/2006/main">
            <a:r>
              <a:t>L'ajout porterait la prévision à cinq mille cinq euros, au-dessus du plafond de trois cent huit euros. Il porterait également la charge du développeur à soixante-seize heures pour soixante-douze disponibles. La difficulté concerne donc à la fois le budget et la capacité.</a:t>
            </a:r>
          </a:p>
          <a:p xmlns:a="http://schemas.openxmlformats.org/drawingml/2006/main">
            <a:r>
              <a:t/>
            </a:r>
          </a:p>
          <a:p xmlns:a="http://schemas.openxmlformats.org/drawingml/2006/main">
            <a:r>
              <a:t>Je compare l'ajout, le retrait d'une partie de la recette et le report. Réduire la recette ferait perdre des contrôles sur le périmètre déjà engagé. Le scénario retient le report du lot supplémentaire. Le client fictif valide cette décision dans le compte rendu J10. Les critères restent dans le backlog pour une estimation ultérieure. Cette réponse explique ce qui peut être livré, à quel moment, et pourquoi la demande ne peut pas simplement être ajoutée sans conséquence.</a:t>
            </a:r>
          </a:p>
          <a:p xmlns:a="http://schemas.openxmlformats.org/drawingml/2006/main">
            <a:r>
              <a:t/>
            </a:r>
          </a:p>
          <a:p xmlns:a="http://schemas.openxmlformats.org/drawingml/2006/main">
            <a:r>
              <a:t>GESTE OU MANIPULATION</a:t>
            </a:r>
          </a:p>
          <a:p xmlns:a="http://schemas.openxmlformats.org/drawingml/2006/main">
            <a:r>
              <a:t>Faire lire les deux dépassements, puis exposer le report.</a:t>
            </a:r>
          </a:p>
          <a:p xmlns:a="http://schemas.openxmlformats.org/drawingml/2006/main">
            <a:r>
              <a:t/>
            </a:r>
          </a:p>
          <a:p xmlns:a="http://schemas.openxmlformats.org/drawingml/2006/main">
            <a:r>
              <a:t>TRANSITION</a:t>
            </a:r>
          </a:p>
          <a:p xmlns:a="http://schemas.openxmlformats.org/drawingml/2006/main">
            <a:r>
              <a:t>Pour appliquer cette décision, je dois aussi la faire comprendre à l’équipe.</a:t>
            </a:r>
          </a:p>
          <a:p xmlns:a="http://schemas.openxmlformats.org/drawingml/2006/main">
            <a:r>
              <a:t/>
            </a:r>
          </a:p>
          <a:p xmlns:a="http://schemas.openxmlformats.org/drawingml/2006/main">
            <a:r>
              <a:t>SOURCE ET NATURE</a:t>
            </a:r>
          </a:p>
          <a:p xmlns:a="http://schemas.openxmlformats.org/drawingml/2006/main">
            <a:r>
              <a:t>C3.2.2, demande fictive à J10. A04 et CR02 dans A07. Simulation explicitement distincte du code actuel.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15:00 à 16:30. Durée prévue : 01:30.</a:t>
            </a:r>
          </a:p>
          <a:p xmlns:a="http://schemas.openxmlformats.org/drawingml/2006/main">
            <a:r>
              <a:t/>
            </a:r>
          </a:p>
          <a:p xmlns:a="http://schemas.openxmlformats.org/drawingml/2006/main">
            <a:r>
              <a:t>TEXTE ORAL</a:t>
            </a:r>
          </a:p>
          <a:p xmlns:a="http://schemas.openxmlformats.org/drawingml/2006/main">
            <a:r>
              <a:t>Dans la situation fictive, le développeur souhaite avancer sur une nouvelle fonction alors que QA attend une version stable pour terminer la recette. Le désaccord exprime deux besoins légitimes : faire évoluer le produit et sécuriser ce qui doit être présenté.</a:t>
            </a:r>
          </a:p>
          <a:p xmlns:a="http://schemas.openxmlformats.org/drawingml/2006/main">
            <a:r>
              <a:t/>
            </a:r>
          </a:p>
          <a:p xmlns:a="http://schemas.openxmlformats.org/drawingml/2006/main">
            <a:r>
              <a:t>Je commence par demander les faits, les impacts et l'aide nécessaire, sans attribuer une faute personnelle. J'utilise une posture participative pour comparer les estimations. J'adopte ensuite une posture persuasive pour expliquer les conséquences du report au client. Je reste directif sur les critères critiques de livraison, par exemple le contrôle de la capacité d'un événement.</a:t>
            </a:r>
          </a:p>
          <a:p xmlns:a="http://schemas.openxmlformats.org/drawingml/2006/main">
            <a:r>
              <a:t/>
            </a:r>
          </a:p>
          <a:p xmlns:a="http://schemas.openxmlformats.org/drawingml/2006/main">
            <a:r>
              <a:t>La délégation conserve un résultat attendu et un point de contrôle. DEV traite les corrections et QA choisit les cas permettant de les vérifier. La décision rejoint le compte rendu et les tâches concernées.</a:t>
            </a:r>
          </a:p>
          <a:p xmlns:a="http://schemas.openxmlformats.org/drawingml/2006/main">
            <a:r>
              <a:t/>
            </a:r>
          </a:p>
          <a:p xmlns:a="http://schemas.openxmlformats.org/drawingml/2006/main">
            <a:r>
              <a:t>Avec du recul, une réponse uniquement directive aurait pu faire taire le désaccord sans traiter la surcharge. À l'inverse, une discussion sans échéance aurait retardé le lot. Je retiens donc un échange court, préparé avec des faits, puis une décision explicite dont je vérifie l'application.</a:t>
            </a:r>
          </a:p>
          <a:p xmlns:a="http://schemas.openxmlformats.org/drawingml/2006/main">
            <a:r>
              <a:t/>
            </a:r>
          </a:p>
          <a:p xmlns:a="http://schemas.openxmlformats.org/drawingml/2006/main">
            <a:r>
              <a:t>GESTE OU MANIPULATION</a:t>
            </a:r>
          </a:p>
          <a:p xmlns:a="http://schemas.openxmlformats.org/drawingml/2006/main">
            <a:r>
              <a:t>Présenter les deux besoins DEV et QA. L’illustration représente une équipe fictive.</a:t>
            </a:r>
          </a:p>
          <a:p xmlns:a="http://schemas.openxmlformats.org/drawingml/2006/main">
            <a:r>
              <a:t/>
            </a:r>
          </a:p>
          <a:p xmlns:a="http://schemas.openxmlformats.org/drawingml/2006/main">
            <a:r>
              <a:t>TRANSITION</a:t>
            </a:r>
          </a:p>
          <a:p xmlns:a="http://schemas.openxmlformats.org/drawingml/2006/main">
            <a:r>
              <a:t>Cette organisation doit permettre à chacun de comprendre et de contribuer.</a:t>
            </a:r>
          </a:p>
          <a:p xmlns:a="http://schemas.openxmlformats.org/drawingml/2006/main">
            <a:r>
              <a:t/>
            </a:r>
          </a:p>
          <a:p xmlns:a="http://schemas.openxmlformats.org/drawingml/2006/main">
            <a:r>
              <a:t>SOURCE ET NATURE</a:t>
            </a:r>
          </a:p>
          <a:p xmlns:a="http://schemas.openxmlformats.org/drawingml/2006/main">
            <a:r>
              <a:t>C3.3.1, situation managériale fictive. A05, situation analysée et analyse critique. Illustration fictive générée avec ImageGen, visuels/equipe-illustration.png. Aucune personne réelle représentée.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16:30 à 18:00. Durée prévue : 01:30.</a:t>
            </a:r>
          </a:p>
          <a:p xmlns:a="http://schemas.openxmlformats.org/drawingml/2006/main">
            <a:r>
              <a:t/>
            </a:r>
          </a:p>
          <a:p xmlns:a="http://schemas.openxmlformats.org/drawingml/2006/main">
            <a:r>
              <a:t>TEXTE ORAL</a:t>
            </a:r>
          </a:p>
          <a:p xmlns:a="http://schemas.openxmlformats.org/drawingml/2006/main">
            <a:r>
              <a:t>Les outils doivent aider l'équipe à retrouver une décision et à agir. Dans le cas présenté, Linear porte les tâches et les blocages. Git conserve les modifications. Les documents partagés regroupent les décisions et les comptes rendus. La visioconférence sert lorsqu'un échange direct est nécessaire.</a:t>
            </a:r>
          </a:p>
          <a:p xmlns:a="http://schemas.openxmlformats.org/drawingml/2006/main">
            <a:r>
              <a:t/>
            </a:r>
          </a:p>
          <a:p xmlns:a="http://schemas.openxmlformats.org/drawingml/2006/main">
            <a:r>
              <a:t>J'envoie l'ordre du jour avant la réunion et je diffuse une synthèse qui précise l'action, son responsable et son échéance. Une personne absente doit pouvoir comprendre la décision sans reconstituer toute une conversation.</a:t>
            </a:r>
          </a:p>
          <a:p xmlns:a="http://schemas.openxmlformats.org/drawingml/2006/main">
            <a:r>
              <a:t/>
            </a:r>
          </a:p>
          <a:p xmlns:a="http://schemas.openxmlformats.org/drawingml/2006/main">
            <a:r>
              <a:t>Les adaptations se discutent avec la personne concernée. Elles peuvent inclure un support structuré, du sous-titrage, des pauses ou davantage de temps pour un exercice. Je n'attribue pas de situation de handicap à une personne sans information. Le scénario prévoit une organisation adaptable.</a:t>
            </a:r>
          </a:p>
          <a:p xmlns:a="http://schemas.openxmlformats.org/drawingml/2006/main">
            <a:r>
              <a:t/>
            </a:r>
          </a:p>
          <a:p xmlns:a="http://schemas.openxmlformats.org/drawingml/2006/main">
            <a:r>
              <a:t>Dans un contexte international, j'indique le fuseau des rendez-vous, j'explique les acronymes et je permets une préparation asynchrone. Je vérifie la compréhension par reformulation. L'absence de question ou le silence en réunion ne suffisent pas à établir que chacun a compris la priorité ou le résultat attendu.</a:t>
            </a:r>
          </a:p>
          <a:p xmlns:a="http://schemas.openxmlformats.org/drawingml/2006/main">
            <a:r>
              <a:t/>
            </a:r>
          </a:p>
          <a:p xmlns:a="http://schemas.openxmlformats.org/drawingml/2006/main">
            <a:r>
              <a:t>GESTE OU MANIPULATION</a:t>
            </a:r>
          </a:p>
          <a:p xmlns:a="http://schemas.openxmlformats.org/drawingml/2006/main">
            <a:r>
              <a:t>Donner un exemple d’action datée puis un exemple d’adaptation convenue.</a:t>
            </a:r>
          </a:p>
          <a:p xmlns:a="http://schemas.openxmlformats.org/drawingml/2006/main">
            <a:r>
              <a:t/>
            </a:r>
          </a:p>
          <a:p xmlns:a="http://schemas.openxmlformats.org/drawingml/2006/main">
            <a:r>
              <a:t>TRANSITION</a:t>
            </a:r>
          </a:p>
          <a:p xmlns:a="http://schemas.openxmlformats.org/drawingml/2006/main">
            <a:r>
              <a:t>La répartition du travail suppose également de connaître les compétences disponibles.</a:t>
            </a:r>
          </a:p>
          <a:p xmlns:a="http://schemas.openxmlformats.org/drawingml/2006/main">
            <a:r>
              <a:t/>
            </a:r>
          </a:p>
          <a:p xmlns:a="http://schemas.openxmlformats.org/drawingml/2006/main">
            <a:r>
              <a:t>SOURCE ET NATURE</a:t>
            </a:r>
          </a:p>
          <a:p xmlns:a="http://schemas.openxmlformats.org/drawingml/2006/main">
            <a:r>
              <a:t>C3.3.1, dispositions du scénario. A02 et A05, inclusion et contexte international fictif.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18:00 à 19:00. Durée prévue : 01:00.</a:t>
            </a:r>
          </a:p>
          <a:p xmlns:a="http://schemas.openxmlformats.org/drawingml/2006/main">
            <a:r>
              <a:t/>
            </a:r>
          </a:p>
          <a:p xmlns:a="http://schemas.openxmlformats.org/drawingml/2006/main">
            <a:r>
              <a:t>TEXTE ORAL</a:t>
            </a:r>
          </a:p>
          <a:p xmlns:a="http://schemas.openxmlformats.org/drawingml/2006/main">
            <a:r>
              <a:t>J'évalue les besoins avant de choisir une formation. La grille utilise quatre niveaux : non abordé, réalisé avec accompagnement, autonome sur un cas courant, puis capable de traiter des cas complexes et d'accompagner une autre personne.</a:t>
            </a:r>
          </a:p>
          <a:p xmlns:a="http://schemas.openxmlformats.org/drawingml/2006/main">
            <a:r>
              <a:t/>
            </a:r>
          </a:p>
          <a:p xmlns:a="http://schemas.openxmlformats.org/drawingml/2006/main">
            <a:r>
              <a:t>Les niveaux affichés sont hypothétiques. Ils ne constituent pas une évaluation réelle de collaborateurs. Le chef de projet doit progresser sur le suivi des écarts. Le développeur doit maîtriser les inscriptions concurrentes. QA doit pouvoir rejouer la recette et contrôler le parcours au clavier.</a:t>
            </a:r>
          </a:p>
          <a:p xmlns:a="http://schemas.openxmlformats.org/drawingml/2006/main">
            <a:r>
              <a:t/>
            </a:r>
          </a:p>
          <a:p xmlns:a="http://schemas.openxmlformats.org/drawingml/2006/main">
            <a:r>
              <a:t>La cible est l'autonomie sur un cas courant. Elle reste reliée à un résultat utile pour le lot. Cette grille évite de proposer une formation générale sans pouvoir expliquer quel risque ou quelle difficulté elle doit résoudre.</a:t>
            </a:r>
          </a:p>
          <a:p xmlns:a="http://schemas.openxmlformats.org/drawingml/2006/main">
            <a:r>
              <a:t/>
            </a:r>
          </a:p>
          <a:p xmlns:a="http://schemas.openxmlformats.org/drawingml/2006/main">
            <a:r>
              <a:t>TRANSITION</a:t>
            </a:r>
          </a:p>
          <a:p xmlns:a="http://schemas.openxmlformats.org/drawingml/2006/main">
            <a:r>
              <a:t>Je transforme ces écarts en actions courtes, avec une vérification du résultat.</a:t>
            </a:r>
          </a:p>
          <a:p xmlns:a="http://schemas.openxmlformats.org/drawingml/2006/main">
            <a:r>
              <a:t/>
            </a:r>
          </a:p>
          <a:p xmlns:a="http://schemas.openxmlformats.org/drawingml/2006/main">
            <a:r>
              <a:t>SOURCE ET NATURE</a:t>
            </a:r>
          </a:p>
          <a:p xmlns:a="http://schemas.openxmlformats.org/drawingml/2006/main">
            <a:r>
              <a:t>C3.3.2, niveaux hypothétiques du cas. A06, grille de compétences du scénario.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19:00 à 20:30. Durée prévue : 01:30.</a:t>
            </a:r>
          </a:p>
          <a:p xmlns:a="http://schemas.openxmlformats.org/drawingml/2006/main">
            <a:r>
              <a:t/>
            </a:r>
          </a:p>
          <a:p xmlns:a="http://schemas.openxmlformats.org/drawingml/2006/main">
            <a:r>
              <a:t>TEXTE ORAL</a:t>
            </a:r>
          </a:p>
          <a:p xmlns:a="http://schemas.openxmlformats.org/drawingml/2006/main">
            <a:r>
              <a:t>Le plan prévoit une heure pour la lecture du tableau de bord par le chef de projet, deux heures sur la concurrence pour le développeur et trois heures sur la recette et le clavier pour QA. Ces six heures sont déjà incluses dans les tâches du planning. Les ajouter à nouveau créerait un double comptage de la charge.</a:t>
            </a:r>
          </a:p>
          <a:p xmlns:a="http://schemas.openxmlformats.org/drawingml/2006/main">
            <a:r>
              <a:t/>
            </a:r>
          </a:p>
          <a:p xmlns:a="http://schemas.openxmlformats.org/drawingml/2006/main">
            <a:r>
              <a:t>Je définis une preuve de réussite pour chaque action. Le chef de projet modifie le reste à faire et explique le nouvel écart. Le développeur explique pourquoi une seule inscription peut être acceptée sur une dernière place. QA exécute un scénario de manière autonome et décrit un contrôle au clavier.</a:t>
            </a:r>
          </a:p>
          <a:p xmlns:a="http://schemas.openxmlformats.org/drawingml/2006/main">
            <a:r>
              <a:t/>
            </a:r>
          </a:p>
          <a:p xmlns:a="http://schemas.openxmlformats.org/drawingml/2006/main">
            <a:r>
              <a:t>La consultation d'un support ne suffit pas à démontrer l'acquisition. Je prévois une pratique, puis un second cas réalisé avec davantage d'autonomie. Si l'écart persiste, je réévalue l'accompagnement et sa charge.</a:t>
            </a:r>
          </a:p>
          <a:p xmlns:a="http://schemas.openxmlformats.org/drawingml/2006/main">
            <a:r>
              <a:t/>
            </a:r>
          </a:p>
          <a:p xmlns:a="http://schemas.openxmlformats.org/drawingml/2006/main">
            <a:r>
              <a:t>Le cas ne retient pas de recrutement permanent. Si une compétence critique reste indisponible, la demande de renfort aux RH doit préciser la mission, la durée, le budget et le résultat attendu. Cette fiche reste une proposition, sans envoi ni recrutement réellement effectué.</a:t>
            </a:r>
          </a:p>
          <a:p xmlns:a="http://schemas.openxmlformats.org/drawingml/2006/main">
            <a:r>
              <a:t/>
            </a:r>
          </a:p>
          <a:p xmlns:a="http://schemas.openxmlformats.org/drawingml/2006/main">
            <a:r>
              <a:t>GESTE OU MANIPULATION</a:t>
            </a:r>
          </a:p>
          <a:p xmlns:a="http://schemas.openxmlformats.org/drawingml/2006/main">
            <a:r>
              <a:t>Relier une heure de formation à un résultat observable, puis expliquer le non-double-comptage.</a:t>
            </a:r>
          </a:p>
          <a:p xmlns:a="http://schemas.openxmlformats.org/drawingml/2006/main">
            <a:r>
              <a:t/>
            </a:r>
          </a:p>
          <a:p xmlns:a="http://schemas.openxmlformats.org/drawingml/2006/main">
            <a:r>
              <a:t>TRANSITION</a:t>
            </a:r>
          </a:p>
          <a:p xmlns:a="http://schemas.openxmlformats.org/drawingml/2006/main">
            <a:r>
              <a:t>Les résultats du lot doivent enfin être partagés et validés avec le client.</a:t>
            </a:r>
          </a:p>
          <a:p xmlns:a="http://schemas.openxmlformats.org/drawingml/2006/main">
            <a:r>
              <a:t/>
            </a:r>
          </a:p>
          <a:p xmlns:a="http://schemas.openxmlformats.org/drawingml/2006/main">
            <a:r>
              <a:t>SOURCE ET NATURE</a:t>
            </a:r>
          </a:p>
          <a:p xmlns:a="http://schemas.openxmlformats.org/drawingml/2006/main">
            <a:r>
              <a:t>C3.3.2, actions fictives intégrées au lot. A06, plan de développement et fiche RH fictive.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20:30 à 22:00. Durée prévue : 01:30.</a:t>
            </a:r>
          </a:p>
          <a:p xmlns:a="http://schemas.openxmlformats.org/drawingml/2006/main">
            <a:r>
              <a:t/>
            </a:r>
          </a:p>
          <a:p xmlns:a="http://schemas.openxmlformats.org/drawingml/2006/main">
            <a:r>
              <a:t>TEXTE ORAL</a:t>
            </a:r>
          </a:p>
          <a:p xmlns:a="http://schemas.openxmlformats.org/drawingml/2006/main">
            <a:r>
              <a:t>Le suivi client repose sur trois points dans le scénario. Le premier valide le périmètre et les critères attendus. Le deuxième présente l'avancement, les écarts et la décision sur la demande supplémentaire. Le troisième porte sur le parcours démontré et ses réserves.</a:t>
            </a:r>
          </a:p>
          <a:p xmlns:a="http://schemas.openxmlformats.org/drawingml/2006/main">
            <a:r>
              <a:t/>
            </a:r>
          </a:p>
          <a:p xmlns:a="http://schemas.openxmlformats.org/drawingml/2006/main">
            <a:r>
              <a:t>Les trois comptes rendus sont fictifs et aucun accord réel n'est attesté. Leur structure montre toutefois comment préparer un échange utile : ce qui a été présenté, ce qui reste à faire, la difficulté rencontrée et la décision attendue. Une action comprend un responsable et une échéance. Le prochain point de suivi est identifié.</a:t>
            </a:r>
          </a:p>
          <a:p xmlns:a="http://schemas.openxmlformats.org/drawingml/2006/main">
            <a:r>
              <a:t/>
            </a:r>
          </a:p>
          <a:p xmlns:a="http://schemas.openxmlformats.org/drawingml/2006/main">
            <a:r>
              <a:t>Par exemple, le compte rendu J10 reprend la prévision de quatre mille quatre cent soixante-cinq euros et le report du lot supplémentaire. Il conserve le lien entre une donnée de pilotage et une décision de périmètre.</a:t>
            </a:r>
          </a:p>
          <a:p xmlns:a="http://schemas.openxmlformats.org/drawingml/2006/main">
            <a:r>
              <a:t/>
            </a:r>
          </a:p>
          <a:p xmlns:a="http://schemas.openxmlformats.org/drawingml/2006/main">
            <a:r>
              <a:t>La validation se fait par critère, avec les statuts accepté, accepté avec réserve ou refusé. Une réserve devient une action suivie. Ce dispositif permet de rechercher une confirmation explicite, au lieu de déduire l'acceptation du seul fait que le logiciel a été montré.</a:t>
            </a:r>
          </a:p>
          <a:p xmlns:a="http://schemas.openxmlformats.org/drawingml/2006/main">
            <a:r>
              <a:t/>
            </a:r>
          </a:p>
          <a:p xmlns:a="http://schemas.openxmlformats.org/drawingml/2006/main">
            <a:r>
              <a:t>GESTE OU MANIPULATION</a:t>
            </a:r>
          </a:p>
          <a:p xmlns:a="http://schemas.openxmlformats.org/drawingml/2006/main">
            <a:r>
              <a:t>Décrire le compte rendu J10 : écart, décision, responsable et échéance.</a:t>
            </a:r>
          </a:p>
          <a:p xmlns:a="http://schemas.openxmlformats.org/drawingml/2006/main">
            <a:r>
              <a:t/>
            </a:r>
          </a:p>
          <a:p xmlns:a="http://schemas.openxmlformats.org/drawingml/2006/main">
            <a:r>
              <a:t>TRANSITION</a:t>
            </a:r>
          </a:p>
          <a:p xmlns:a="http://schemas.openxmlformats.org/drawingml/2006/main">
            <a:r>
              <a:t>La validation du périmètre et la satisfaction méritent chacune une mesure explicite.</a:t>
            </a:r>
          </a:p>
          <a:p xmlns:a="http://schemas.openxmlformats.org/drawingml/2006/main">
            <a:r>
              <a:t/>
            </a:r>
          </a:p>
          <a:p xmlns:a="http://schemas.openxmlformats.org/drawingml/2006/main">
            <a:r>
              <a:t>SOURCE ET NATURE</a:t>
            </a:r>
          </a:p>
          <a:p xmlns:a="http://schemas.openxmlformats.org/drawingml/2006/main">
            <a:r>
              <a:t>C3.4.1, comptes rendus simulés. A07, CR01 à CR03. Référentiel p. 13-14.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22:00 à 23:00. Durée prévue : 01:00.</a:t>
            </a:r>
          </a:p>
          <a:p xmlns:a="http://schemas.openxmlformats.org/drawingml/2006/main">
            <a:r>
              <a:t/>
            </a:r>
          </a:p>
          <a:p xmlns:a="http://schemas.openxmlformats.org/drawingml/2006/main">
            <a:r>
              <a:t>TEXTE ORAL</a:t>
            </a:r>
          </a:p>
          <a:p xmlns:a="http://schemas.openxmlformats.org/drawingml/2006/main">
            <a:r>
              <a:t>Je propose quatre indicateurs complémentaires : la part des critères acceptés, la réussite des parcours sans aide, une note d'utilité et les blocages critiques signalés. Chaque résultat doit être accompagné de la date et du nombre de participants.</a:t>
            </a:r>
          </a:p>
          <a:p xmlns:a="http://schemas.openxmlformats.org/drawingml/2006/main">
            <a:r>
              <a:t/>
            </a:r>
          </a:p>
          <a:p xmlns:a="http://schemas.openxmlformats.org/drawingml/2006/main">
            <a:r>
              <a:t>À ce stade, aucun retour de client réel n'est disponible dans les éléments du dossier. La mesure reste donc non réalisée. Elle ne vaut ni zéro ni cent pour cent. Les résultats des tests techniques ne remplacent pas une appréciation du besoin par un utilisateur.</a:t>
            </a:r>
          </a:p>
          <a:p xmlns:a="http://schemas.openxmlformats.org/drawingml/2006/main">
            <a:r>
              <a:t/>
            </a:r>
          </a:p>
          <a:p xmlns:a="http://schemas.openxmlformats.org/drawingml/2006/main">
            <a:r>
              <a:t>Pendant une session pilote, je demanderais la tâche recherchée, le résultat obtenu et l'obstacle rencontré. Une réserve ou une difficulté doit ensuite rejoindre le suivi du projet avec une action identifiable, puis être vérifiée lors d'un nouveau passage.</a:t>
            </a:r>
          </a:p>
          <a:p xmlns:a="http://schemas.openxmlformats.org/drawingml/2006/main">
            <a:r>
              <a:t/>
            </a:r>
          </a:p>
          <a:p xmlns:a="http://schemas.openxmlformats.org/drawingml/2006/main">
            <a:r>
              <a:t>TRANSITION</a:t>
            </a:r>
          </a:p>
          <a:p xmlns:a="http://schemas.openxmlformats.org/drawingml/2006/main">
            <a:r>
              <a:t>Je vais maintenant montrer le parcours sur lequel portent ces critères.</a:t>
            </a:r>
          </a:p>
          <a:p xmlns:a="http://schemas.openxmlformats.org/drawingml/2006/main">
            <a:r>
              <a:t/>
            </a:r>
          </a:p>
          <a:p xmlns:a="http://schemas.openxmlformats.org/drawingml/2006/main">
            <a:r>
              <a:t>SOURCE ET NATURE</a:t>
            </a:r>
          </a:p>
          <a:p xmlns:a="http://schemas.openxmlformats.org/drawingml/2006/main">
            <a:r>
              <a:t>C3.4.1, aucun résultat client réel disponible. A07, indicateurs et questionnaire proposés.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23:00 à 23:30. Durée prévue : 00:30.</a:t>
            </a:r>
          </a:p>
          <a:p xmlns:a="http://schemas.openxmlformats.org/drawingml/2006/main">
            <a:r>
              <a:t/>
            </a:r>
          </a:p>
          <a:p xmlns:a="http://schemas.openxmlformats.org/drawingml/2006/main">
            <a:r>
              <a:t>TEXTE ORAL</a:t>
            </a:r>
          </a:p>
          <a:p xmlns:a="http://schemas.openxmlformats.org/drawingml/2006/main">
            <a:r>
              <a:t>Je passe maintenant au logiciel. La démonstration utilise des comptes locaux et des données de test. Je vais d'abord suivre le point de vue du grimpeur, puis celui du club. Les critères que je garde en tête sont la compréhension des états, la cohérence de l'inscription et la visibilité du participant pour le bon rôle.</a:t>
            </a:r>
          </a:p>
          <a:p xmlns:a="http://schemas.openxmlformats.org/drawingml/2006/main">
            <a:r>
              <a:t/>
            </a:r>
          </a:p>
          <a:p xmlns:a="http://schemas.openxmlformats.org/drawingml/2006/main">
            <a:r>
              <a:t>GESTE OU MANIPULATION</a:t>
            </a:r>
          </a:p>
          <a:p xmlns:a="http://schemas.openxmlformats.org/drawingml/2006/main">
            <a:r>
              <a:t>Ouvrir les deux sessions déjà connectées. Lancer le chronomètre de démonstration.</a:t>
            </a:r>
          </a:p>
          <a:p xmlns:a="http://schemas.openxmlformats.org/drawingml/2006/main">
            <a:r>
              <a:t/>
            </a:r>
          </a:p>
          <a:p xmlns:a="http://schemas.openxmlformats.org/drawingml/2006/main">
            <a:r>
              <a:t>TRANSITION</a:t>
            </a:r>
          </a:p>
          <a:p xmlns:a="http://schemas.openxmlformats.org/drawingml/2006/main">
            <a:r>
              <a:t>Je commence avec le compte grimpeur.</a:t>
            </a:r>
          </a:p>
          <a:p xmlns:a="http://schemas.openxmlformats.org/drawingml/2006/main">
            <a:r>
              <a:t/>
            </a:r>
          </a:p>
          <a:p xmlns:a="http://schemas.openxmlformats.org/drawingml/2006/main">
            <a:r>
              <a:t>SOURCE ET NATURE</a:t>
            </a:r>
          </a:p>
          <a:p xmlns:a="http://schemas.openxmlformats.org/drawingml/2006/main">
            <a:r>
              <a:t>C3.4.2, séquence de six minutes. A08 et preuves/verification.json. Photo de marque existante escalade-falaise-gros-plan.jpeg, illustration de la pratique.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23:30 à 26:30. Durée prévue : 03:00.</a:t>
            </a:r>
          </a:p>
          <a:p xmlns:a="http://schemas.openxmlformats.org/drawingml/2006/main">
            <a:r>
              <a:t/>
            </a:r>
          </a:p>
          <a:p xmlns:a="http://schemas.openxmlformats.org/drawingml/2006/main">
            <a:r>
              <a:t>TEXTE ORAL</a:t>
            </a:r>
          </a:p>
          <a:p xmlns:a="http://schemas.openxmlformats.org/drawingml/2006/main">
            <a:r>
              <a:t>Je suis connecté en tant que grimpeur. Le profil donne les informations utiles pour ma pratique. Dans la recherche de partenaires, les filtres permettent de réduire les résultats. Je montre un filtre et j'explique ce qui change dans la liste. L'état de la demande permet ensuite de savoir si un échange est déjà engagé.</a:t>
            </a:r>
          </a:p>
          <a:p xmlns:a="http://schemas.openxmlformats.org/drawingml/2006/main">
            <a:r>
              <a:t/>
            </a:r>
          </a:p>
          <a:p xmlns:a="http://schemas.openxmlformats.org/drawingml/2006/main">
            <a:r>
              <a:t>Je rejoins maintenant la page des événements. Je lis la date, le lieu et la capacité avant de m'inscrire. Je vérifie que l'interface confirme l'inscription et que l'état affiché reste cohérent. Si le compte était déjà inscrit, je l'annonce et j'utilise l'événement préparé pour la répétition.</a:t>
            </a:r>
          </a:p>
          <a:p xmlns:a="http://schemas.openxmlformats.org/drawingml/2006/main">
            <a:r>
              <a:t/>
            </a:r>
          </a:p>
          <a:p xmlns:a="http://schemas.openxmlformats.org/drawingml/2006/main">
            <a:r>
              <a:t>Je décris le résultat du point de vue de l'utilisateur : il sait quelle sortie il rejoint et peut retrouver son inscription. Je vais vérifier ce même résultat depuis le rôle club.</a:t>
            </a:r>
          </a:p>
          <a:p xmlns:a="http://schemas.openxmlformats.org/drawingml/2006/main">
            <a:r>
              <a:t/>
            </a:r>
          </a:p>
          <a:p xmlns:a="http://schemas.openxmlformats.org/drawingml/2006/main">
            <a:r>
              <a:t>GESTE OU MANIPULATION</a:t>
            </a:r>
          </a:p>
          <a:p xmlns:a="http://schemas.openxmlformats.org/drawingml/2006/main">
            <a:r>
              <a:t>0:00–0:40 : profil. 0:40–1:35 : filtre et demande. 1:35–2:40 : événement et inscription. 2:40–3:00 : confirmation. Laisser le navigateur affiché pendant les manipulations. La capture sert de secours.</a:t>
            </a:r>
          </a:p>
          <a:p xmlns:a="http://schemas.openxmlformats.org/drawingml/2006/main">
            <a:r>
              <a:t/>
            </a:r>
          </a:p>
          <a:p xmlns:a="http://schemas.openxmlformats.org/drawingml/2006/main">
            <a:r>
              <a:t>TRANSITION</a:t>
            </a:r>
          </a:p>
          <a:p xmlns:a="http://schemas.openxmlformats.org/drawingml/2006/main">
            <a:r>
              <a:t>Je bascule sur la session du club organisateur.</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14 septembre 2026. A08, recette navigateur datée.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26:30 à 29:00. Durée prévue : 02:30.</a:t>
            </a:r>
          </a:p>
          <a:p xmlns:a="http://schemas.openxmlformats.org/drawingml/2006/main">
            <a:r>
              <a:t/>
            </a:r>
          </a:p>
          <a:p xmlns:a="http://schemas.openxmlformats.org/drawingml/2006/main">
            <a:r>
              <a:t>TEXTE ORAL</a:t>
            </a:r>
          </a:p>
          <a:p xmlns:a="http://schemas.openxmlformats.org/drawingml/2006/main">
            <a:r>
              <a:t>Je suis maintenant connecté avec le rôle club. Je retrouve l'événement et je consulte les participants. L'inscription effectuée côté grimpeur doit apparaître de façon cohérente. Les commandes de gestion correspondent au rôle de l'organisateur.</a:t>
            </a:r>
          </a:p>
          <a:p xmlns:a="http://schemas.openxmlformats.org/drawingml/2006/main">
            <a:r>
              <a:t/>
            </a:r>
          </a:p>
          <a:p xmlns:a="http://schemas.openxmlformats.org/drawingml/2006/main">
            <a:r>
              <a:t>Je montre aussi un passage au clavier sur les commandes utiles. Les règles de capacité et les refus d'accès disposent de scénarios de recette identifiés. Si je ne reproduis pas un contrôle en direct, je précise la preuve de test utilisée et sa date.</a:t>
            </a:r>
          </a:p>
          <a:p xmlns:a="http://schemas.openxmlformats.org/drawingml/2006/main">
            <a:r>
              <a:t/>
            </a:r>
          </a:p>
          <a:p xmlns:a="http://schemas.openxmlformats.org/drawingml/2006/main">
            <a:r>
              <a:t>Je termine en reprenant les critères annoncés : un partenaire recherché, un état de demande compréhensible, une inscription cohérente et un participant visible pour le club. Je distingue les critères vérifiés de ceux qui restent hors du parcours. La validation attendue porte sur ce périmètre explicite, avec ses réserves éventuelles.</a:t>
            </a:r>
          </a:p>
          <a:p xmlns:a="http://schemas.openxmlformats.org/drawingml/2006/main">
            <a:r>
              <a:t/>
            </a:r>
          </a:p>
          <a:p xmlns:a="http://schemas.openxmlformats.org/drawingml/2006/main">
            <a:r>
              <a:t>GESTE OU MANIPULATION</a:t>
            </a:r>
          </a:p>
          <a:p xmlns:a="http://schemas.openxmlformats.org/drawingml/2006/main">
            <a:r>
              <a:t>0:00–1:15 : événement, commandes et participants. 1:15–2:00 : clavier et portée des preuves de capacité. 2:00–2:30 : critères et réserves. En cas d’incident, annoncer le contrôle non revalidé et utiliser la capture datée.</a:t>
            </a:r>
          </a:p>
          <a:p xmlns:a="http://schemas.openxmlformats.org/drawingml/2006/main">
            <a:r>
              <a:t/>
            </a:r>
          </a:p>
          <a:p xmlns:a="http://schemas.openxmlformats.org/drawingml/2006/main">
            <a:r>
              <a:t>TRANSITION</a:t>
            </a:r>
          </a:p>
          <a:p xmlns:a="http://schemas.openxmlformats.org/drawingml/2006/main">
            <a:r>
              <a:t>Je reviens au bilan du pilotage.</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14 septembre 2026. A08 et preuves/verification.json.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29:00 à 30:00. Durée prévue : 01:00.</a:t>
            </a:r>
          </a:p>
          <a:p xmlns:a="http://schemas.openxmlformats.org/drawingml/2006/main">
            <a:r>
              <a:t/>
            </a:r>
          </a:p>
          <a:p xmlns:a="http://schemas.openxmlformats.org/drawingml/2006/main">
            <a:r>
              <a:t>TEXTE ORAL</a:t>
            </a:r>
          </a:p>
          <a:p xmlns:a="http://schemas.openxmlformats.org/drawingml/2006/main">
            <a:r>
              <a:t>Cette présentation relie le besoin utilisateur à l'organisation du travail, puis aux décisions et à la validation. Le planning rend les dépendances visibles. Le tableau de bord permet d'anticiper les écarts. L'arbitrage tient compte de la capacité et des critères déjà engagés.</a:t>
            </a:r>
          </a:p>
          <a:p xmlns:a="http://schemas.openxmlformats.org/drawingml/2006/main">
            <a:r>
              <a:t/>
            </a:r>
          </a:p>
          <a:p xmlns:a="http://schemas.openxmlformats.org/drawingml/2006/main">
            <a:r>
              <a:t>Je distingue les preuves techniques observables du cas pédagogique utilisé pour le management, le budget et les échanges client. La satisfaction réelle reste à mesurer et les contributions personnelles doivent correspondre aux faits disponibles.</a:t>
            </a:r>
          </a:p>
          <a:p xmlns:a="http://schemas.openxmlformats.org/drawingml/2006/main">
            <a:r>
              <a:t/>
            </a:r>
          </a:p>
          <a:p xmlns:a="http://schemas.openxmlformats.org/drawingml/2006/main">
            <a:r>
              <a:t>L'amélioration prioritaire serait de recueillir des retours utilisateurs structurés et d'alimenter le suivi avec ces résultats. Je peux maintenant revenir sur une hypothèse du classeur, le choix d'un arbitrage ou l'un des critères de démonstration. Merci pour votre attention.</a:t>
            </a:r>
          </a:p>
          <a:p xmlns:a="http://schemas.openxmlformats.org/drawingml/2006/main">
            <a:r>
              <a:t/>
            </a:r>
          </a:p>
          <a:p xmlns:a="http://schemas.openxmlformats.org/drawingml/2006/main">
            <a:r>
              <a:t>GESTE OU MANIPULATION</a:t>
            </a:r>
          </a:p>
          <a:p xmlns:a="http://schemas.openxmlformats.org/drawingml/2006/main">
            <a:r>
              <a:t>Terminer à 30:00. Les annexes restent disponibles uniquement pour les questions.</a:t>
            </a:r>
          </a:p>
          <a:p xmlns:a="http://schemas.openxmlformats.org/drawingml/2006/main">
            <a:r>
              <a:t/>
            </a:r>
          </a:p>
          <a:p xmlns:a="http://schemas.openxmlformats.org/drawingml/2006/main">
            <a:r>
              <a:t>TRANSITION</a:t>
            </a:r>
          </a:p>
          <a:p xmlns:a="http://schemas.openxmlformats.org/drawingml/2006/main">
            <a:r>
              <a:t>Je suis prêt à répondre à vos questions.</a:t>
            </a:r>
          </a:p>
          <a:p xmlns:a="http://schemas.openxmlformats.org/drawingml/2006/main">
            <a:r>
              <a:t/>
            </a:r>
          </a:p>
          <a:p xmlns:a="http://schemas.openxmlformats.org/drawingml/2006/main">
            <a:r>
              <a:t>SOURCE ET NATURE</a:t>
            </a:r>
          </a:p>
          <a:p xmlns:a="http://schemas.openxmlformats.org/drawingml/2006/main">
            <a:r>
              <a:t>Bilan et ouverture des quinze minutes de questions. MATRICE_PREUVES, VERIFICATION et A01 à A08.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Cette annexe sert à retrouver rapidement une pièce. La matrice du dossier détaille la nature de chaque preuve et les limites des situations fictives. La mention Acquis relève du jury.</a:t>
            </a:r>
          </a:p>
          <a:p xmlns:a="http://schemas.openxmlformats.org/drawingml/2006/main">
            <a:r>
              <a:t/>
            </a:r>
          </a:p>
          <a:p xmlns:a="http://schemas.openxmlformats.org/drawingml/2006/main">
            <a:r>
              <a:t>SOURCE ET NATURE</a:t>
            </a:r>
          </a:p>
          <a:p xmlns:a="http://schemas.openxmlformats.org/drawingml/2006/main">
            <a:r>
              <a:t>Annexe pour les questions. MATRICE_PREUVES. Référentiel p. 11-14 et grille BC03.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Les charges incluent les temps de formation. Les quatre postes totalisent 4 465 euros. Les taux sont fictifs et le montant est une valorisation économique du cas, sans facture réelle correspondante.</a:t>
            </a:r>
          </a:p>
          <a:p xmlns:a="http://schemas.openxmlformats.org/drawingml/2006/main">
            <a:r>
              <a:t/>
            </a:r>
          </a:p>
          <a:p xmlns:a="http://schemas.openxmlformats.org/drawingml/2006/main">
            <a:r>
              <a:t>SOURCE ET NATURE</a:t>
            </a:r>
          </a:p>
          <a:p xmlns:a="http://schemas.openxmlformats.org/drawingml/2006/main">
            <a:r>
              <a:t>Annexe, données fictives en euros. A03 et classeur Pilotage.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Le règlement spécial n’a pas été fourni. Les contrôles datés ne prouvent pas le fonctionnement d’une autre version. La recette locale et le cas standalone historique correspondent à deux contextes explicitement séparés.</a:t>
            </a:r>
          </a:p>
          <a:p xmlns:a="http://schemas.openxmlformats.org/drawingml/2006/main">
            <a:r>
              <a:t/>
            </a:r>
          </a:p>
          <a:p xmlns:a="http://schemas.openxmlformats.org/drawingml/2006/main">
            <a:r>
              <a:t>SOURCE ET NATURE</a:t>
            </a:r>
          </a:p>
          <a:p xmlns:a="http://schemas.openxmlformats.org/drawingml/2006/main">
            <a:r>
              <a:t>Annexe documentaire. Trois PDF fournis par le candidat. VERIFICATION et preuves/verification.json.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3a001af11b48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1421cabdc048e6" /><Relationship Type="http://schemas.openxmlformats.org/officeDocument/2006/relationships/slideLayout" Target="/ppt/slideLayouts/slideLayout1.xml" Id="R991fa04b2db541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1fa04b2db541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c59af574a1493a" /><Relationship Type="http://schemas.openxmlformats.org/officeDocument/2006/relationships/image" Target="/ppt/media/image.jpeg" Id="R65d716705bac422b" /><Relationship Type="http://schemas.openxmlformats.org/officeDocument/2006/relationships/notesSlide" Target="/ppt/notesSlides/notesSlide1.xml" Id="Re3822d6b255242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59056047fc4046" /><Relationship Type="http://schemas.openxmlformats.org/officeDocument/2006/relationships/image" Target="/ppt/media/image.png" Id="Ref532c71a6ec46e9" /><Relationship Type="http://schemas.openxmlformats.org/officeDocument/2006/relationships/notesSlide" Target="/ppt/notesSlides/notesSlide2.xml" Id="R29cc234d60a140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7a30242acba475b" /><Relationship Type="http://schemas.openxmlformats.org/officeDocument/2006/relationships/notesSlide" Target="/ppt/notesSlides/notesSlide3.xml" Id="R5e318ab4777440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d51b879d4f415f" /><Relationship Type="http://schemas.openxmlformats.org/officeDocument/2006/relationships/notesSlide" Target="/ppt/notesSlides/notesSlide4.xml" Id="R3bd8f4c4610741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c9684bb2d149a7" /><Relationship Type="http://schemas.openxmlformats.org/officeDocument/2006/relationships/chart" Target="/ppt/slides/charts/chart1.xml" Id="R3323c043741e484b" /><Relationship Type="http://schemas.openxmlformats.org/officeDocument/2006/relationships/notesSlide" Target="/ppt/notesSlides/notesSlide5.xml" Id="Re35d7c733a614d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66e702e902d437b" /><Relationship Type="http://schemas.openxmlformats.org/officeDocument/2006/relationships/notesSlide" Target="/ppt/notesSlides/notesSlide6.xml" Id="R53068ec188854c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39edc48138745e6" /><Relationship Type="http://schemas.openxmlformats.org/officeDocument/2006/relationships/chart" Target="/ppt/slides/charts/chart2.xml" Id="R3a1a38fd894549b0" /><Relationship Type="http://schemas.openxmlformats.org/officeDocument/2006/relationships/notesSlide" Target="/ppt/notesSlides/notesSlide7.xml" Id="R8ad9914fbefa4d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ae8256a9884681" /><Relationship Type="http://schemas.openxmlformats.org/officeDocument/2006/relationships/chart" Target="/ppt/slides/charts/chart3.xml" Id="R2284caaa18c64366" /><Relationship Type="http://schemas.openxmlformats.org/officeDocument/2006/relationships/notesSlide" Target="/ppt/notesSlides/notesSlide8.xml" Id="R9450cd1a5ca64a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d8e9ba5425847bd" /><Relationship Type="http://schemas.openxmlformats.org/officeDocument/2006/relationships/chart" Target="/ppt/slides/charts/chart4.xml" Id="Rd7cc81f3b93048b9" /><Relationship Type="http://schemas.openxmlformats.org/officeDocument/2006/relationships/notesSlide" Target="/ppt/notesSlides/notesSlide9.xml" Id="R1c9bd8a827d548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585a6a4a4ab4c32" /><Relationship Type="http://schemas.openxmlformats.org/officeDocument/2006/relationships/notesSlide" Target="/ppt/notesSlides/notesSlide10.xml" Id="Rf2888831afd84a2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3abf87c081432b" /><Relationship Type="http://schemas.openxmlformats.org/officeDocument/2006/relationships/notesSlide" Target="/ppt/notesSlides/notesSlide11.xml" Id="R9eef2822aa4a4a0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2978cab6f74b36" /><Relationship Type="http://schemas.openxmlformats.org/officeDocument/2006/relationships/chart" Target="/ppt/slides/charts/chart5.xml" Id="R402e0113acd44227" /><Relationship Type="http://schemas.openxmlformats.org/officeDocument/2006/relationships/notesSlide" Target="/ppt/notesSlides/notesSlide12.xml" Id="R5982f1ec4a404d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9f07de6e4364f07" /><Relationship Type="http://schemas.openxmlformats.org/officeDocument/2006/relationships/image" Target="/ppt/media/image2.png" Id="R02afca47ecb540d6" /><Relationship Type="http://schemas.openxmlformats.org/officeDocument/2006/relationships/notesSlide" Target="/ppt/notesSlides/notesSlide13.xml" Id="R2ea35a812a0543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9a07c21dd9448e3" /><Relationship Type="http://schemas.openxmlformats.org/officeDocument/2006/relationships/notesSlide" Target="/ppt/notesSlides/notesSlide14.xml" Id="R382e3356f3aa4a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7005ba79fd24532" /><Relationship Type="http://schemas.openxmlformats.org/officeDocument/2006/relationships/chart" Target="/ppt/slides/charts/chart6.xml" Id="R50fd32d0f5894c5c" /><Relationship Type="http://schemas.openxmlformats.org/officeDocument/2006/relationships/notesSlide" Target="/ppt/notesSlides/notesSlide15.xml" Id="Raaaa3ca6b63b419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5f07e3c20024215" /><Relationship Type="http://schemas.openxmlformats.org/officeDocument/2006/relationships/chart" Target="/ppt/slides/charts/chart7.xml" Id="R0c5e07d1df734368" /><Relationship Type="http://schemas.openxmlformats.org/officeDocument/2006/relationships/notesSlide" Target="/ppt/notesSlides/notesSlide16.xml" Id="Rf0d86b00020b487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f7faaa9615c4712" /><Relationship Type="http://schemas.openxmlformats.org/officeDocument/2006/relationships/notesSlide" Target="/ppt/notesSlides/notesSlide17.xml" Id="R65fef49d6d8e4de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36beff52a4a4a80" /><Relationship Type="http://schemas.openxmlformats.org/officeDocument/2006/relationships/notesSlide" Target="/ppt/notesSlides/notesSlide18.xml" Id="Ra5950d5d9e59474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a58495ac79740c1" /><Relationship Type="http://schemas.openxmlformats.org/officeDocument/2006/relationships/image" Target="/ppt/media/image2.jpeg" Id="Rd20f5e6dd39c41e8" /><Relationship Type="http://schemas.openxmlformats.org/officeDocument/2006/relationships/notesSlide" Target="/ppt/notesSlides/notesSlide19.xml" Id="R734df02111f449f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5c2fb49df1f4305" /><Relationship Type="http://schemas.openxmlformats.org/officeDocument/2006/relationships/image" Target="/ppt/media/image3.png" Id="Rc973ce09434742a4" /><Relationship Type="http://schemas.openxmlformats.org/officeDocument/2006/relationships/notesSlide" Target="/ppt/notesSlides/notesSlide20.xml" Id="R1be8b540c6844f1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ef2e7110b8a492d" /><Relationship Type="http://schemas.openxmlformats.org/officeDocument/2006/relationships/image" Target="/ppt/media/image4.png" Id="Rb4b572d364544283" /><Relationship Type="http://schemas.openxmlformats.org/officeDocument/2006/relationships/notesSlide" Target="/ppt/notesSlides/notesSlide21.xml" Id="R570edd51186c45b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dc614e204404bf6" /><Relationship Type="http://schemas.openxmlformats.org/officeDocument/2006/relationships/notesSlide" Target="/ppt/notesSlides/notesSlide22.xml" Id="Rc3605713b39d415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ad0d6cec7c442b7" /><Relationship Type="http://schemas.openxmlformats.org/officeDocument/2006/relationships/notesSlide" Target="/ppt/notesSlides/notesSlide23.xml" Id="Re6c5bcdf7c6846d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6d0390aab8b474e" /><Relationship Type="http://schemas.openxmlformats.org/officeDocument/2006/relationships/notesSlide" Target="/ppt/notesSlides/notesSlide24.xml" Id="R04397f76d1714e8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5b8cbe149404580" /><Relationship Type="http://schemas.openxmlformats.org/officeDocument/2006/relationships/notesSlide" Target="/ppt/notesSlides/notesSlide25.xml" Id="Re0b3743c7eaf494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Début</c:v>
          </c:tx>
          <c:spPr>
            <a:noFill xmlns:a="http://schemas.openxmlformats.org/drawingml/2006/main"/>
            <a:ln xmlns:a="http://schemas.openxmlformats.org/drawingml/2006/main" w="0">
              <a:noFill/>
            </a:ln>
          </c:spPr>
          <c:dLbls>
            <c:dLbl>
              <c:idx val="0"/>
              <c:showLegendKey val="0"/>
              <c:showVal val="0"/>
              <c:showCatName val="0"/>
              <c:showSerName val="0"/>
              <c:showPercent val="0"/>
              <c:showBubbleSize val="0"/>
            </c:dLbl>
            <c:dLbl>
              <c:idx val="1"/>
              <c:showLegendKey val="0"/>
              <c:showVal val="0"/>
              <c:showCatName val="0"/>
              <c:showSerName val="0"/>
              <c:showPercent val="0"/>
              <c:showBubbleSize val="0"/>
            </c:dLbl>
            <c:dLbl>
              <c:idx val="2"/>
              <c:showLegendKey val="0"/>
              <c:showVal val="0"/>
              <c:showCatName val="0"/>
              <c:showSerName val="0"/>
              <c:showPercent val="0"/>
              <c:showBubbleSize val="0"/>
            </c:dLbl>
            <c:dLbl>
              <c:idx val="3"/>
              <c:showLegendKey val="0"/>
              <c:showVal val="0"/>
              <c:showCatName val="0"/>
              <c:showSerName val="0"/>
              <c:showPercent val="0"/>
              <c:showBubbleSize val="0"/>
            </c:dLbl>
            <c:dLbl>
              <c:idx val="4"/>
              <c:showLegendKey val="0"/>
              <c:showVal val="0"/>
              <c:showCatName val="0"/>
              <c:showSerName val="0"/>
              <c:showPercent val="0"/>
              <c:showBubbleSize val="0"/>
            </c:dLbl>
          </c:dLbls>
          <c:cat>
            <c:strRef>
              <c:f>'Chart Data'!$A$2:$A$6</c:f>
              <c:strCache>
                <c:ptCount val="5"/>
                <c:pt idx="0">
                  <c:v>Restitution</c:v>
                </c:pt>
                <c:pt idx="1">
                  <c:v>Recette</c:v>
                </c:pt>
                <c:pt idx="2">
                  <c:v>Réalisation</c:v>
                </c:pt>
                <c:pt idx="3">
                  <c:v>Conception</c:v>
                </c:pt>
                <c:pt idx="4">
                  <c:v>Étude</c:v>
                </c:pt>
              </c:strCache>
            </c:strRef>
          </c:cat>
          <c:val>
            <c:numRef>
              <c:f>'Chart Data'!$B$2:$B$6</c:f>
              <c:numCache>
                <c:formatCode>"J"0</c:formatCode>
                <c:ptCount val="5"/>
                <c:pt idx="0">
                  <c:v>14</c:v>
                </c:pt>
                <c:pt idx="1">
                  <c:v>10</c:v>
                </c:pt>
                <c:pt idx="2">
                  <c:v>3</c:v>
                </c:pt>
                <c:pt idx="3">
                  <c:v>2</c:v>
                </c:pt>
                <c:pt idx="4">
                  <c:v>1</c:v>
                </c:pt>
              </c:numCache>
            </c:numRef>
          </c:val>
        </c:ser>
        <c:ser>
          <c:idx val="1"/>
          <c:order val="1"/>
          <c:tx>
            <c:v>Intervalle</c:v>
          </c:tx>
          <c:spPr>
            <a:solidFill xmlns:a="http://schemas.openxmlformats.org/drawingml/2006/main">
              <a:srgbClr val="28725F"/>
            </a:solidFill>
            <a:ln xmlns:a="http://schemas.openxmlformats.org/drawingml/2006/main" w="0">
              <a:noFill/>
            </a:ln>
          </c:spPr>
          <c:cat>
            <c:strRef>
              <c:f>'Chart Data'!$C$2:$C$6</c:f>
              <c:strCache>
                <c:ptCount val="5"/>
                <c:pt idx="0">
                  <c:v>Restitution</c:v>
                </c:pt>
                <c:pt idx="1">
                  <c:v>Recette</c:v>
                </c:pt>
                <c:pt idx="2">
                  <c:v>Réalisation</c:v>
                </c:pt>
                <c:pt idx="3">
                  <c:v>Conception</c:v>
                </c:pt>
                <c:pt idx="4">
                  <c:v>Étude</c:v>
                </c:pt>
              </c:strCache>
            </c:strRef>
          </c:cat>
          <c:val>
            <c:numRef>
              <c:f>'Chart Data'!$D$2:$D$6</c:f>
              <c:numCache>
                <c:formatCode>"J"0</c:formatCode>
                <c:ptCount val="5"/>
                <c:pt idx="0">
                  <c:v>1</c:v>
                </c:pt>
                <c:pt idx="1">
                  <c:v>4</c:v>
                </c:pt>
                <c:pt idx="2">
                  <c:v>9</c:v>
                </c:pt>
                <c:pt idx="3">
                  <c:v>2</c:v>
                </c:pt>
                <c:pt idx="4">
                  <c:v>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15"/>
          <c:min val="1"/>
        </c:scaling>
        <c:delete val="0"/>
        <c:axPos val="b"/>
        <c:majorGridlines>
          <c:spPr>
            <a:ln xmlns:a="http://schemas.openxmlformats.org/drawingml/2006/main" w="9525">
              <a:solidFill>
                <a:srgbClr val="DBDFD5"/>
              </a:solidFill>
            </a:ln>
          </c:spPr>
        </c:majorGridlines>
        <c:numFmt formatCode="&quot;J&quot;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2"/>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Heures</c:v>
          </c:tx>
          <c:spPr>
            <a:solidFill xmlns:a="http://schemas.openxmlformats.org/drawingml/2006/main">
              <a:srgbClr val="28725F"/>
            </a:solidFill>
          </c:spPr>
          <c:dPt>
            <c:idx val="0"/>
            <c:invertIfNegative val="0"/>
            <c:spPr>
              <a:solidFill xmlns:a="http://schemas.openxmlformats.org/drawingml/2006/main">
                <a:srgbClr val="91AE91"/>
              </a:solidFill>
            </c:spPr>
          </c:dPt>
          <c:dPt>
            <c:idx val="1"/>
            <c:invertIfNegative val="0"/>
            <c:spPr>
              <a:solidFill xmlns:a="http://schemas.openxmlformats.org/drawingml/2006/main">
                <a:srgbClr val="28725F"/>
              </a:solidFill>
            </c:spPr>
          </c:dPt>
          <c:cat>
            <c:strRef>
              <c:f>'Chart Data'!$A$2:$A$3</c:f>
              <c:strCache>
                <c:ptCount val="2"/>
                <c:pt idx="0">
                  <c:v>Référence</c:v>
                </c:pt>
                <c:pt idx="1">
                  <c:v>Prévision</c:v>
                </c:pt>
              </c:strCache>
            </c:strRef>
          </c:cat>
          <c:val>
            <c:numRef>
              <c:f>'Chart Data'!$B$2:$B$3</c:f>
              <c:numCache>
                <c:formatCode>0" h"</c:formatCode>
                <c:ptCount val="2"/>
                <c:pt idx="0">
                  <c:v>112</c:v>
                </c:pt>
                <c:pt idx="1">
                  <c:v>117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91AE91"/>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28725F"/>
              </a:solidFill>
            </c:spPr>
          </c:dPt>
          <c:cat>
            <c:strRef>
              <c:f>'Chart Data'!$A$2:$A$4</c:f>
              <c:strCache>
                <c:ptCount val="3"/>
                <c:pt idx="0">
                  <c:v>Initial</c:v>
                </c:pt>
                <c:pt idx="1">
                  <c:v>Prévision</c:v>
                </c:pt>
                <c:pt idx="2">
                  <c:v>Plafond</c:v>
                </c:pt>
              </c:strCache>
            </c:strRef>
          </c:cat>
          <c:val>
            <c:numRef>
              <c:f>'Chart Data'!$B$2:$B$4</c:f>
              <c:numCache>
                <c:formatCode>0" €"</c:formatCode>
                <c:ptCount val="3"/>
                <c:pt idx="0">
                  <c:v>4270</c:v>
                </c:pt>
                <c:pt idx="1">
                  <c:v>4465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Charge</c:v>
          </c:tx>
          <c:spPr>
            <a:solidFill xmlns:a="http://schemas.openxmlformats.org/drawingml/2006/main">
              <a:srgbClr val="28725F"/>
            </a:solidFill>
          </c:spPr>
          <c:dLbls>
            <c:dLbl>
              <c:idx val="0"/>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Data'!$A$2:$A$4</c:f>
              <c:strCache>
                <c:ptCount val="3"/>
                <c:pt idx="0">
                  <c:v>QA</c:v>
                </c:pt>
                <c:pt idx="1">
                  <c:v>DEV</c:v>
                </c:pt>
                <c:pt idx="2">
                  <c:v>CP</c:v>
                </c:pt>
              </c:strCache>
            </c:strRef>
          </c:cat>
          <c:val>
            <c:numRef>
              <c:f>'Chart Data'!$B$2:$B$4</c:f>
              <c:numCache>
                <c:formatCode>0" h"</c:formatCode>
                <c:ptCount val="3"/>
                <c:pt idx="0">
                  <c:v>24</c:v>
                </c:pt>
                <c:pt idx="1">
                  <c:v>64</c:v>
                </c:pt>
                <c:pt idx="2">
                  <c:v>29</c:v>
                </c:pt>
              </c:numCache>
            </c:numRef>
          </c:val>
        </c:ser>
        <c:ser>
          <c:idx val="1"/>
          <c:order val="1"/>
          <c:tx>
            <c:v>Marge</c:v>
          </c:tx>
          <c:spPr>
            <a:solidFill xmlns:a="http://schemas.openxmlformats.org/drawingml/2006/main">
              <a:srgbClr val="DADFD4"/>
            </a:solidFill>
          </c:spPr>
          <c:dLbls>
            <c:dLbl>
              <c:idx val="0"/>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0"/>
              <c:showCatName val="0"/>
              <c:showSerName val="0"/>
              <c:showPercent val="0"/>
              <c:showBubbleSize val="0"/>
            </c:dLbl>
          </c:dLbls>
          <c:cat>
            <c:strRef>
              <c:f>'Chart Data'!$C$2:$C$4</c:f>
              <c:strCache>
                <c:ptCount val="3"/>
                <c:pt idx="0">
                  <c:v>QA</c:v>
                </c:pt>
                <c:pt idx="1">
                  <c:v>DEV</c:v>
                </c:pt>
                <c:pt idx="2">
                  <c:v>CP</c:v>
                </c:pt>
              </c:strCache>
            </c:strRef>
          </c:cat>
          <c:val>
            <c:numRef>
              <c:f>'Chart Data'!$D$2:$D$4</c:f>
              <c:numCache>
                <c:formatCode>0" h"</c:formatCode>
                <c:ptCount val="3"/>
                <c:pt idx="0">
                  <c:v>6</c:v>
                </c:pt>
                <c:pt idx="1">
                  <c:v>8</c:v>
                </c:pt>
                <c:pt idx="2">
                  <c:v>1</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28725F"/>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91AE91"/>
              </a:solidFill>
            </c:spPr>
          </c:dPt>
          <c:cat>
            <c:strRef>
              <c:f>'Chart Data'!$A$2:$A$4</c:f>
              <c:strCache>
                <c:ptCount val="3"/>
                <c:pt idx="0">
                  <c:v>Lot engagé</c:v>
                </c:pt>
                <c:pt idx="1">
                  <c:v>Avec demande</c:v>
                </c:pt>
                <c:pt idx="2">
                  <c:v>Plafond</c:v>
                </c:pt>
              </c:strCache>
            </c:strRef>
          </c:cat>
          <c:val>
            <c:numRef>
              <c:f>'Chart Data'!$B$2:$B$4</c:f>
              <c:numCache>
                <c:formatCode>0" €"</c:formatCode>
                <c:ptCount val="3"/>
                <c:pt idx="0">
                  <c:v>4465</c:v>
                </c:pt>
                <c:pt idx="1">
                  <c:v>5005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Niveau du cas</c:v>
          </c:tx>
          <c:spPr>
            <a:solidFill xmlns:a="http://schemas.openxmlformats.org/drawingml/2006/main">
              <a:srgbClr val="91AE91"/>
            </a:solidFill>
          </c:spPr>
          <c:cat>
            <c:strRef>
              <c:f>'Chart Data'!$A$2:$A$4</c:f>
              <c:strCache>
                <c:ptCount val="3"/>
                <c:pt idx="0">
                  <c:v>CP</c:v>
                </c:pt>
                <c:pt idx="1">
                  <c:v>DEV</c:v>
                </c:pt>
                <c:pt idx="2">
                  <c:v>QA</c:v>
                </c:pt>
              </c:strCache>
            </c:strRef>
          </c:cat>
          <c:val>
            <c:numRef>
              <c:f>'Chart Data'!$B$2:$B$4</c:f>
              <c:numCache>
                <c:formatCode>General</c:formatCode>
                <c:ptCount val="3"/>
                <c:pt idx="0">
                  <c:v>1</c:v>
                </c:pt>
                <c:pt idx="1">
                  <c:v>1</c:v>
                </c:pt>
                <c:pt idx="2">
                  <c:v>1</c:v>
                </c:pt>
              </c:numCache>
            </c:numRef>
          </c:val>
        </c:ser>
        <c:ser>
          <c:idx val="1"/>
          <c:order val="1"/>
          <c:tx>
            <c:v>Cible</c:v>
          </c:tx>
          <c:spPr>
            <a:solidFill xmlns:a="http://schemas.openxmlformats.org/drawingml/2006/main">
              <a:srgbClr val="28725F"/>
            </a:solidFill>
          </c:spPr>
          <c:cat>
            <c:strRef>
              <c:f>'Chart Data'!$C$2:$C$4</c:f>
              <c:strCache>
                <c:ptCount val="3"/>
                <c:pt idx="0">
                  <c:v>CP</c:v>
                </c:pt>
                <c:pt idx="1">
                  <c:v>DEV</c:v>
                </c:pt>
                <c:pt idx="2">
                  <c:v>QA</c:v>
                </c:pt>
              </c:strCache>
            </c:strRef>
          </c:cat>
          <c:val>
            <c:numRef>
              <c:f>'Chart Data'!$D$2:$D$4</c:f>
              <c:numCache>
                <c:formatCode>General</c:formatCode>
                <c:ptCount val="3"/>
                <c:pt idx="0">
                  <c:v>2</c:v>
                </c:pt>
                <c:pt idx="1">
                  <c:v>2</c:v>
                </c:pt>
                <c:pt idx="2">
                  <c:v>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ax val="3"/>
          <c:min val="0"/>
        </c:scaling>
        <c:delete val="0"/>
        <c:axPos val="l"/>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312D"/>
                </a:solidFill>
                <a:latin typeface="Arial"/>
                <a:ea typeface="Arial"/>
                <a:cs typeface="Arial"/>
              </a:defRPr>
            </a:pPr>
          </a:p>
        </c:txPr>
        <c:crossAx val="48650112"/>
        <c:crossBetween val="between"/>
        <c:majorUnit val="1"/>
      </c:valAx>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doughnutChart>
        <c:ser>
          <c:idx val="0"/>
          <c:order val="0"/>
          <c:tx>
            <c:v>Formation</c:v>
          </c:tx>
          <c:dPt>
            <c:idx val="0"/>
            <c:spPr>
              <a:solidFill xmlns:a="http://schemas.openxmlformats.org/drawingml/2006/main">
                <a:srgbClr val="C77952"/>
              </a:solidFill>
            </c:spPr>
          </c:dPt>
          <c:dPt>
            <c:idx val="1"/>
            <c:spPr>
              <a:solidFill xmlns:a="http://schemas.openxmlformats.org/drawingml/2006/main">
                <a:srgbClr val="91AE91"/>
              </a:solidFill>
            </c:spPr>
          </c:dPt>
          <c:dPt>
            <c:idx val="2"/>
            <c:spPr>
              <a:solidFill xmlns:a="http://schemas.openxmlformats.org/drawingml/2006/main">
                <a:srgbClr val="28725F"/>
              </a:solidFill>
            </c:spPr>
          </c:dPt>
          <c:dLbls>
            <c:dLbl>
              <c:idx val="0"/>
              <c:txPr>
                <a:bodyPr xmlns:a="http://schemas.openxmlformats.org/drawingml/2006/main" anchorCtr="1"/>
                <a:lstStyle xmlns:a="http://schemas.openxmlformats.org/drawingml/2006/main"/>
                <a:p xmlns:a="http://schemas.openxmlformats.org/drawingml/2006/main">
                  <a:pPr>
                    <a:defRPr sz="2100" b="1">
                      <a:solidFill>
                        <a:srgbClr val="18312D"/>
                      </a:solidFill>
                      <a:latin typeface="Arial"/>
                      <a:ea typeface="Arial"/>
                      <a:cs typeface="Arial"/>
                    </a:defRPr>
                  </a:pPr>
                </a:p>
              </c:txP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2100" b="1">
                      <a:solidFill>
                        <a:srgbClr val="18312D"/>
                      </a:solidFill>
                      <a:latin typeface="Arial"/>
                      <a:ea typeface="Arial"/>
                      <a:cs typeface="Arial"/>
                    </a:defRPr>
                  </a:pPr>
                </a:p>
              </c:txP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2100" b="1">
                      <a:solidFill>
                        <a:srgbClr val="FFFFFF"/>
                      </a:solidFill>
                      <a:latin typeface="Arial"/>
                      <a:ea typeface="Arial"/>
                      <a:cs typeface="Arial"/>
                    </a:defRPr>
                  </a:pPr>
                </a:p>
              </c:txPr>
              <c:showLegendKey val="0"/>
              <c:showVal val="1"/>
              <c:showCatName val="0"/>
              <c:showSerName val="0"/>
              <c:showPercent val="0"/>
              <c:showBubbleSize val="0"/>
            </c:dLbl>
          </c:dLbls>
          <c:cat>
            <c:strRef>
              <c:f>'Chart Data'!$A$2:$A$4</c:f>
              <c:strCache>
                <c:ptCount val="3"/>
                <c:pt idx="0">
                  <c:v>CP</c:v>
                </c:pt>
                <c:pt idx="1">
                  <c:v>DEV</c:v>
                </c:pt>
                <c:pt idx="2">
                  <c:v>QA</c:v>
                </c:pt>
              </c:strCache>
            </c:strRef>
          </c:cat>
          <c:val>
            <c:numRef>
              <c:f>'Chart Data'!$B$2:$B$4</c:f>
              <c:numCache>
                <c:formatCode>0" h"</c:formatCode>
                <c:ptCount val="3"/>
                <c:pt idx="0">
                  <c:v>1</c:v>
                </c:pt>
                <c:pt idx="1">
                  <c:v>2</c:v>
                </c:pt>
                <c:pt idx="2">
                  <c:v>3</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8312D"/>
                  </a:solidFill>
                  <a:latin typeface="Arial"/>
                  <a:ea typeface="Arial"/>
                  <a:cs typeface="Arial"/>
                </a:defRPr>
              </a:pPr>
            </a:p>
          </c:txPr>
          <c:showLegendKey val="0"/>
          <c:showVal val="1"/>
          <c:showCatName val="0"/>
          <c:showSerName val="0"/>
          <c:showPercent val="0"/>
          <c:showBubbleSize val="0"/>
          <c:showLeaderLines val="0"/>
        </c:dLbls>
        <c:holeSize val="65"/>
      </c:doughnutChart>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1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65d716705bac422b"/>
          <a:srcRect xmlns:a="http://schemas.openxmlformats.org/drawingml/2006/main" l="0" t="3448" r="0" b="3448"/>
          <a:stretch xmlns:a="http://schemas.openxmlformats.org/drawingml/2006/main">
            <a:fillRect l="0" t="0" r="0" b="0"/>
          </a:stretch>
        </p:blipFill>
        <p:spPr>
          <a:xfrm xmlns:a="http://schemas.openxmlformats.org/drawingml/2006/main">
            <a:off x="6667500" y="0"/>
            <a:ext cx="5524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93C9E22-3EFA-4F40-8AB5-5895CAE40C3C}"/>
              </a:ext>
            </a:extLst>
          </p:cNvPr>
          <p:cNvSpPr>
            <a:spLocks xmlns:a="http://schemas.openxmlformats.org/drawingml/2006/main" noGrp="1"/>
          </p:cNvSpPr>
          <p:nvPr/>
        </p:nvSpPr>
        <p:spPr>
          <a:xfrm xmlns:a="http://schemas.openxmlformats.org/drawingml/2006/main">
            <a:off x="609600" y="904875"/>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SPITY</a:t>
            </a:r>
          </a:p>
        </p:txBody>
      </p:sp>
      <p:sp>
        <p:nvSpPr>
          <p:cNvPr id="3" name="">
            <a:extLst xmlns:a="http://schemas.openxmlformats.org/drawingml/2006/main">
              <a:ext uri="{FF2B5EF4-FFF2-40B4-BE49-F238E27FC236}">
                <a16:creationId xmlns:a16="http://schemas.microsoft.com/office/drawing/2014/main" id="{F1197591-BE12-4A65-A0BD-0D6AA53FF40C}"/>
              </a:ext>
            </a:extLst>
          </p:cNvPr>
          <p:cNvSpPr>
            <a:spLocks xmlns:a="http://schemas.openxmlformats.org/drawingml/2006/main" noGrp="1"/>
          </p:cNvSpPr>
          <p:nvPr/>
        </p:nvSpPr>
        <p:spPr>
          <a:xfrm xmlns:a="http://schemas.openxmlformats.org/drawingml/2006/main">
            <a:off x="609600" y="2638425"/>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Piloter le projet</a:t>
            </a:r>
          </a:p>
        </p:txBody>
      </p:sp>
      <p:sp>
        <p:nvSpPr>
          <p:cNvPr id="4" name="">
            <a:extLst xmlns:a="http://schemas.openxmlformats.org/drawingml/2006/main">
              <a:ext uri="{FF2B5EF4-FFF2-40B4-BE49-F238E27FC236}">
                <a16:creationId xmlns:a16="http://schemas.microsoft.com/office/drawing/2014/main" id="{8152DCE6-898B-478F-84FD-CE4D4144AFED}"/>
              </a:ext>
            </a:extLst>
          </p:cNvPr>
          <p:cNvSpPr>
            <a:spLocks xmlns:a="http://schemas.openxmlformats.org/drawingml/2006/main" noGrp="1"/>
          </p:cNvSpPr>
          <p:nvPr/>
        </p:nvSpPr>
        <p:spPr>
          <a:xfrm xmlns:a="http://schemas.openxmlformats.org/drawingml/2006/main">
            <a:off x="609600" y="4743450"/>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Dorian Joly</a:t>
            </a:r>
          </a:p>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RNCP39583, Bloc 3</a:t>
            </a:r>
          </a:p>
        </p:txBody>
      </p:sp>
      <p:sp>
        <p:nvSpPr>
          <p:cNvPr id="5" name="">
            <a:extLst xmlns:a="http://schemas.openxmlformats.org/drawingml/2006/main">
              <a:ext uri="{FF2B5EF4-FFF2-40B4-BE49-F238E27FC236}">
                <a16:creationId xmlns:a16="http://schemas.microsoft.com/office/drawing/2014/main" id="{28DD1282-A78B-4202-98A2-CA458B6CE44B}"/>
              </a:ext>
            </a:extLst>
          </p:cNvPr>
          <p:cNvSpPr>
            <a:spLocks xmlns:a="http://schemas.openxmlformats.org/drawingml/2006/main" noGrp="1"/>
          </p:cNvSpPr>
          <p:nvPr/>
        </p:nvSpPr>
        <p:spPr>
          <a:xfrm xmlns:a="http://schemas.openxmlformats.org/drawingml/2006/main">
            <a:off x="609600" y="611505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AF1E6"/>
                </a:solidFill>
                <a:latin typeface="Arial"/>
                <a:ea typeface="Arial"/>
                <a:cs typeface="Arial"/>
              </a:defRPr>
            </a:pPr>
            <a:r>
              <a:rPr sz="1800" b="0">
                <a:solidFill>
                  <a:srgbClr val="EAF1E6"/>
                </a:solidFill>
                <a:latin typeface="Arial"/>
                <a:ea typeface="Arial"/>
                <a:cs typeface="Arial"/>
              </a:rPr>
              <a:t>30 minutes, démonstration incluse</a:t>
            </a:r>
          </a:p>
        </p:txBody>
      </p:sp>
    </p:spTree>
    <p:extLst>
      <p:ext uri="{BB962C8B-B14F-4D97-AF65-F5344CB8AC3E}">
        <p14:creationId xmlns:p14="http://schemas.microsoft.com/office/powerpoint/2010/main" val="71619497"/>
      </p:ext>
    </p:extLst>
  </p:cSld>
</p:sld>
</file>

<file path=ppt/slides/slide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648D88-B13E-4D20-94A1-EB4C99E7A78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Une sortie, deux points de vue</a:t>
            </a:r>
          </a:p>
        </p:txBody>
      </p:sp>
      <p:sp>
        <p:nvSpPr>
          <p:cNvPr id="2" name="">
            <a:extLst xmlns:a="http://schemas.openxmlformats.org/drawingml/2006/main">
              <a:ext uri="{FF2B5EF4-FFF2-40B4-BE49-F238E27FC236}">
                <a16:creationId xmlns:a16="http://schemas.microsoft.com/office/drawing/2014/main" id="{B63026C8-67F6-4DF0-8F33-CB43CAAE617C}"/>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Produit Spity    00:30 à 01:30    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f532c71a6ec46e9"/>
          <a:stretch xmlns:a="http://schemas.openxmlformats.org/drawingml/2006/main"/>
        </p:blipFill>
        <p:spPr>
          <a:xfrm xmlns:a="http://schemas.openxmlformats.org/drawingml/2006/main">
            <a:off x="4460748" y="1600200"/>
            <a:ext cx="6432804" cy="4467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C40ADEA-AFB7-4EA9-B6BA-BFD9D9507C88}"/>
              </a:ext>
            </a:extLst>
          </p:cNvPr>
          <p:cNvSpPr>
            <a:spLocks xmlns:a="http://schemas.openxmlformats.org/drawingml/2006/main" noGrp="1"/>
          </p:cNvSpPr>
          <p:nvPr/>
        </p:nvSpPr>
        <p:spPr>
          <a:xfrm xmlns:a="http://schemas.openxmlformats.org/drawingml/2006/main">
            <a:off x="685800" y="212407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Grimpeur</a:t>
            </a:r>
          </a:p>
        </p:txBody>
      </p:sp>
      <p:sp>
        <p:nvSpPr>
          <p:cNvPr id="5" name="">
            <a:extLst xmlns:a="http://schemas.openxmlformats.org/drawingml/2006/main">
              <a:ext uri="{FF2B5EF4-FFF2-40B4-BE49-F238E27FC236}">
                <a16:creationId xmlns:a16="http://schemas.microsoft.com/office/drawing/2014/main" id="{05133410-FDEC-4AB3-9A2D-C46957A5F597}"/>
              </a:ext>
            </a:extLst>
          </p:cNvPr>
          <p:cNvSpPr>
            <a:spLocks xmlns:a="http://schemas.openxmlformats.org/drawingml/2006/main" noGrp="1"/>
          </p:cNvSpPr>
          <p:nvPr/>
        </p:nvSpPr>
        <p:spPr>
          <a:xfrm xmlns:a="http://schemas.openxmlformats.org/drawingml/2006/main">
            <a:off x="685800" y="29241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Trouver</a:t>
            </a:r>
          </a:p>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un partenaire</a:t>
            </a:r>
          </a:p>
        </p:txBody>
      </p:sp>
      <p:sp>
        <p:nvSpPr>
          <p:cNvPr id="6" name="">
            <a:extLst xmlns:a="http://schemas.openxmlformats.org/drawingml/2006/main">
              <a:ext uri="{FF2B5EF4-FFF2-40B4-BE49-F238E27FC236}">
                <a16:creationId xmlns:a16="http://schemas.microsoft.com/office/drawing/2014/main" id="{FC5DE6C0-1AF0-4951-BB27-50045262574E}"/>
              </a:ext>
            </a:extLst>
          </p:cNvPr>
          <p:cNvSpPr>
            <a:spLocks xmlns:a="http://schemas.openxmlformats.org/drawingml/2006/main" noGrp="1"/>
          </p:cNvSpPr>
          <p:nvPr/>
        </p:nvSpPr>
        <p:spPr>
          <a:xfrm xmlns:a="http://schemas.openxmlformats.org/drawingml/2006/main">
            <a:off x="685800" y="454342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Club</a:t>
            </a:r>
          </a:p>
        </p:txBody>
      </p:sp>
      <p:sp>
        <p:nvSpPr>
          <p:cNvPr id="7" name="">
            <a:extLst xmlns:a="http://schemas.openxmlformats.org/drawingml/2006/main">
              <a:ext uri="{FF2B5EF4-FFF2-40B4-BE49-F238E27FC236}">
                <a16:creationId xmlns:a16="http://schemas.microsoft.com/office/drawing/2014/main" id="{AB88EE22-2FDA-4D57-B010-D402DDB809E1}"/>
              </a:ext>
            </a:extLst>
          </p:cNvPr>
          <p:cNvSpPr>
            <a:spLocks xmlns:a="http://schemas.openxmlformats.org/drawingml/2006/main" noGrp="1"/>
          </p:cNvSpPr>
          <p:nvPr/>
        </p:nvSpPr>
        <p:spPr>
          <a:xfrm xmlns:a="http://schemas.openxmlformats.org/drawingml/2006/main">
            <a:off x="685800" y="53054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Organiser</a:t>
            </a:r>
          </a:p>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une sortie</a:t>
            </a:r>
          </a:p>
        </p:txBody>
      </p:sp>
    </p:spTree>
    <p:extLst>
      <p:ext uri="{BB962C8B-B14F-4D97-AF65-F5344CB8AC3E}">
        <p14:creationId xmlns:p14="http://schemas.microsoft.com/office/powerpoint/2010/main" val="2012983026"/>
      </p:ext>
    </p:extLst>
  </p:cSld>
</p:sld>
</file>

<file path=ppt/slides/slide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6A1A37-3D9E-4EBF-8B07-3C32448433B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preuves réelles, un cas explicite</a:t>
            </a:r>
          </a:p>
        </p:txBody>
      </p:sp>
      <p:sp>
        <p:nvSpPr>
          <p:cNvPr id="2" name="">
            <a:extLst xmlns:a="http://schemas.openxmlformats.org/drawingml/2006/main">
              <a:ext uri="{FF2B5EF4-FFF2-40B4-BE49-F238E27FC236}">
                <a16:creationId xmlns:a16="http://schemas.microsoft.com/office/drawing/2014/main" id="{CCBFF257-AA74-4788-8772-8E144300F46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Produit réel et mise en situation fictive    01:30 à 02:30    3</a:t>
            </a:r>
          </a:p>
        </p:txBody>
      </p:sp>
      <p:sp>
        <p:nvSpPr>
          <p:cNvPr id="3" name="">
            <a:extLst xmlns:a="http://schemas.openxmlformats.org/drawingml/2006/main">
              <a:ext uri="{FF2B5EF4-FFF2-40B4-BE49-F238E27FC236}">
                <a16:creationId xmlns:a16="http://schemas.microsoft.com/office/drawing/2014/main" id="{F605DE90-2E15-4E25-8E7A-B15BA7981C28}"/>
              </a:ext>
            </a:extLst>
          </p:cNvPr>
          <p:cNvSpPr>
            <a:spLocks xmlns:a="http://schemas.openxmlformats.org/drawingml/2006/main" noGrp="1"/>
          </p:cNvSpPr>
          <p:nvPr/>
        </p:nvSpPr>
        <p:spPr>
          <a:xfrm xmlns:a="http://schemas.openxmlformats.org/drawingml/2006/main">
            <a:off x="685800" y="2000250"/>
            <a:ext cx="50673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Réel</a:t>
            </a:r>
          </a:p>
        </p:txBody>
      </p:sp>
      <p:sp>
        <p:nvSpPr>
          <p:cNvPr id="4" name="">
            <a:extLst xmlns:a="http://schemas.openxmlformats.org/drawingml/2006/main">
              <a:ext uri="{FF2B5EF4-FFF2-40B4-BE49-F238E27FC236}">
                <a16:creationId xmlns:a16="http://schemas.microsoft.com/office/drawing/2014/main" id="{E79E3692-F393-419B-9667-347A85408CE5}"/>
              </a:ext>
            </a:extLst>
          </p:cNvPr>
          <p:cNvSpPr>
            <a:spLocks xmlns:a="http://schemas.openxmlformats.org/drawingml/2006/main" noGrp="1"/>
          </p:cNvSpPr>
          <p:nvPr/>
        </p:nvSpPr>
        <p:spPr>
          <a:xfrm xmlns:a="http://schemas.openxmlformats.org/drawingml/2006/main">
            <a:off x="685800" y="3276600"/>
            <a:ext cx="5067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Logiciel et traces</a:t>
            </a:r>
          </a:p>
        </p:txBody>
      </p:sp>
      <p:sp>
        <p:nvSpPr>
          <p:cNvPr id="5" name="">
            <a:extLst xmlns:a="http://schemas.openxmlformats.org/drawingml/2006/main">
              <a:ext uri="{FF2B5EF4-FFF2-40B4-BE49-F238E27FC236}">
                <a16:creationId xmlns:a16="http://schemas.microsoft.com/office/drawing/2014/main" id="{749C0619-6E06-42C0-B947-1B6126AB0877}"/>
              </a:ext>
            </a:extLst>
          </p:cNvPr>
          <p:cNvSpPr>
            <a:spLocks xmlns:a="http://schemas.openxmlformats.org/drawingml/2006/main" noGrp="1"/>
          </p:cNvSpPr>
          <p:nvPr/>
        </p:nvSpPr>
        <p:spPr>
          <a:xfrm xmlns:a="http://schemas.openxmlformats.org/drawingml/2006/main">
            <a:off x="685800" y="4400550"/>
            <a:ext cx="5067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Code, Git, tests datés.</a:t>
            </a:r>
          </a:p>
        </p:txBody>
      </p:sp>
      <p:sp>
        <p:nvSpPr>
          <p:cNvPr id="6" name="">
            <a:extLst xmlns:a="http://schemas.openxmlformats.org/drawingml/2006/main">
              <a:ext uri="{FF2B5EF4-FFF2-40B4-BE49-F238E27FC236}">
                <a16:creationId xmlns:a16="http://schemas.microsoft.com/office/drawing/2014/main" id="{2C1BEB65-039D-42FB-949A-7B39F770CE2B}"/>
              </a:ext>
            </a:extLst>
          </p:cNvPr>
          <p:cNvSpPr>
            <a:spLocks xmlns:a="http://schemas.openxmlformats.org/drawingml/2006/main" noGrp="1"/>
          </p:cNvSpPr>
          <p:nvPr/>
        </p:nvSpPr>
        <p:spPr>
          <a:xfrm xmlns:a="http://schemas.openxmlformats.org/drawingml/2006/main">
            <a:off x="6096000" y="2000250"/>
            <a:ext cx="50673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Simulé</a:t>
            </a:r>
          </a:p>
        </p:txBody>
      </p:sp>
      <p:sp>
        <p:nvSpPr>
          <p:cNvPr id="7" name="">
            <a:extLst xmlns:a="http://schemas.openxmlformats.org/drawingml/2006/main">
              <a:ext uri="{FF2B5EF4-FFF2-40B4-BE49-F238E27FC236}">
                <a16:creationId xmlns:a16="http://schemas.microsoft.com/office/drawing/2014/main" id="{ED3718E8-861B-4A59-AE64-DD2E90AA3B4D}"/>
              </a:ext>
            </a:extLst>
          </p:cNvPr>
          <p:cNvSpPr>
            <a:spLocks xmlns:a="http://schemas.openxmlformats.org/drawingml/2006/main" noGrp="1"/>
          </p:cNvSpPr>
          <p:nvPr/>
        </p:nvSpPr>
        <p:spPr>
          <a:xfrm xmlns:a="http://schemas.openxmlformats.org/drawingml/2006/main">
            <a:off x="6096000" y="3276600"/>
            <a:ext cx="5067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Cas de pilotage</a:t>
            </a:r>
          </a:p>
        </p:txBody>
      </p:sp>
      <p:sp>
        <p:nvSpPr>
          <p:cNvPr id="8" name="">
            <a:extLst xmlns:a="http://schemas.openxmlformats.org/drawingml/2006/main">
              <a:ext uri="{FF2B5EF4-FFF2-40B4-BE49-F238E27FC236}">
                <a16:creationId xmlns:a16="http://schemas.microsoft.com/office/drawing/2014/main" id="{3010932D-A5E4-469E-B6C1-663821B47811}"/>
              </a:ext>
            </a:extLst>
          </p:cNvPr>
          <p:cNvSpPr>
            <a:spLocks xmlns:a="http://schemas.openxmlformats.org/drawingml/2006/main" noGrp="1"/>
          </p:cNvSpPr>
          <p:nvPr/>
        </p:nvSpPr>
        <p:spPr>
          <a:xfrm xmlns:a="http://schemas.openxmlformats.org/drawingml/2006/main">
            <a:off x="6096000" y="4400550"/>
            <a:ext cx="5067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Équipe, budget et réunions.</a:t>
            </a:r>
          </a:p>
        </p:txBody>
      </p:sp>
    </p:spTree>
    <p:extLst>
      <p:ext uri="{BB962C8B-B14F-4D97-AF65-F5344CB8AC3E}">
        <p14:creationId xmlns:p14="http://schemas.microsoft.com/office/powerpoint/2010/main" val="1203654247"/>
      </p:ext>
    </p:extLst>
  </p:cSld>
</p:sld>
</file>

<file path=ppt/slides/slide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842BBA-0C27-4184-A9F8-1515F5353C8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travail avance jusqu’à la recette</a:t>
            </a:r>
          </a:p>
        </p:txBody>
      </p:sp>
      <p:sp>
        <p:nvSpPr>
          <p:cNvPr id="2" name="">
            <a:extLst xmlns:a="http://schemas.openxmlformats.org/drawingml/2006/main">
              <a:ext uri="{FF2B5EF4-FFF2-40B4-BE49-F238E27FC236}">
                <a16:creationId xmlns:a16="http://schemas.microsoft.com/office/drawing/2014/main" id="{B52CB6A2-9548-4CBF-9441-95F6270B850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simulation pédagogique    02:30 à 04:00    4</a:t>
            </a:r>
          </a:p>
        </p:txBody>
      </p:sp>
      <p:graphicFrame>
        <p:nvGraphicFramePr>
          <p:cNvPr id="7" name=""/>
          <p:cNvGraphicFramePr/>
          <p:nvPr/>
        </p:nvGraphicFramePr>
        <p:xfrm>
          <a:off xmlns:a="http://schemas.openxmlformats.org/drawingml/2006/main" x="609600" y="2095500"/>
          <a:ext xmlns:a="http://schemas.openxmlformats.org/drawingml/2006/main" cx="10972800" cy="2571750"/>
        </p:xfrm>
        <a:graphic xmlns:a="http://schemas.openxmlformats.org/drawingml/2006/main">
          <a:graphicData uri="http://schemas.openxmlformats.org/drawingml/2006/table">
            <a:tbl>
              <a:tblPr/>
              <a:tblGrid>
                <a:gridCol w="2743200"/>
                <a:gridCol w="2743200"/>
                <a:gridCol w="2743200"/>
                <a:gridCol w="2743200"/>
              </a:tblGrid>
              <a:tr h="1285875">
                <a:tc>
                  <a:txBody>
                    <a:bodyPr/>
                    <a:lstStyle/>
                    <a:p>
                      <a:r>
                        <a:rPr sz="2550" b="1">
                          <a:solidFill>
                            <a:srgbClr val="FFFFFF"/>
                          </a:solidFill>
                          <a:latin typeface="Arial"/>
                          <a:ea typeface="Arial"/>
                          <a:cs typeface="Arial"/>
                        </a:rPr>
                        <a:t>À faire</a:t>
                      </a:r>
                    </a:p>
                  </a:txBody>
                  <a:tcPr marL="91440" marR="91440" marT="45720" marB="45720">
                    <a:solidFill>
                      <a:srgbClr val="738E7E"/>
                    </a:solidFill>
                  </a:tcPr>
                </a:tc>
                <a:tc>
                  <a:txBody>
                    <a:bodyPr/>
                    <a:lstStyle/>
                    <a:p>
                      <a:r>
                        <a:rPr sz="2550" b="1">
                          <a:solidFill>
                            <a:srgbClr val="FFFFFF"/>
                          </a:solidFill>
                          <a:latin typeface="Arial"/>
                          <a:ea typeface="Arial"/>
                          <a:cs typeface="Arial"/>
                        </a:rPr>
                        <a:t>En cours</a:t>
                      </a:r>
                    </a:p>
                  </a:txBody>
                  <a:tcPr marL="91440" marR="91440" marT="45720" marB="45720">
                    <a:solidFill>
                      <a:srgbClr val="28725F"/>
                    </a:solidFill>
                  </a:tcPr>
                </a:tc>
                <a:tc>
                  <a:txBody>
                    <a:bodyPr/>
                    <a:lstStyle/>
                    <a:p>
                      <a:r>
                        <a:rPr sz="2550" b="1">
                          <a:solidFill>
                            <a:srgbClr val="FFFFFF"/>
                          </a:solidFill>
                          <a:latin typeface="Arial"/>
                          <a:ea typeface="Arial"/>
                          <a:cs typeface="Arial"/>
                        </a:rPr>
                        <a:t>À vérifier</a:t>
                      </a:r>
                    </a:p>
                  </a:txBody>
                  <a:tcPr marL="91440" marR="91440" marT="45720" marB="45720">
                    <a:solidFill>
                      <a:srgbClr val="578577"/>
                    </a:solidFill>
                  </a:tcPr>
                </a:tc>
                <a:tc>
                  <a:txBody>
                    <a:bodyPr/>
                    <a:lstStyle/>
                    <a:p>
                      <a:r>
                        <a:rPr sz="2550" b="1">
                          <a:solidFill>
                            <a:srgbClr val="FFFFFF"/>
                          </a:solidFill>
                          <a:latin typeface="Arial"/>
                          <a:ea typeface="Arial"/>
                          <a:cs typeface="Arial"/>
                        </a:rPr>
                        <a:t>Terminé</a:t>
                      </a:r>
                    </a:p>
                  </a:txBody>
                  <a:tcPr marL="91440" marR="91440" marT="45720" marB="45720">
                    <a:solidFill>
                      <a:srgbClr val="18312D"/>
                    </a:solidFill>
                  </a:tcPr>
                </a:tc>
              </a:tr>
              <a:tr h="1285875">
                <a:tc>
                  <a:txBody>
                    <a:bodyPr/>
                    <a:lstStyle/>
                    <a:p>
                      <a:r>
                        <a:rPr sz="2100" b="0">
                          <a:solidFill>
                            <a:srgbClr val="18312D"/>
                          </a:solidFill>
                          <a:latin typeface="Arial"/>
                          <a:ea typeface="Arial"/>
                          <a:cs typeface="Arial"/>
                        </a:rPr>
                        <a:t>Besoin clair</a:t>
                      </a:r>
                    </a:p>
                  </a:txBody>
                  <a:tcPr marL="91440" marR="91440" marT="45720" marB="45720">
                    <a:solidFill>
                      <a:srgbClr val="E9EEE4"/>
                    </a:solidFill>
                  </a:tcPr>
                </a:tc>
                <a:tc>
                  <a:txBody>
                    <a:bodyPr/>
                    <a:lstStyle/>
                    <a:p>
                      <a:r>
                        <a:rPr sz="2100" b="0">
                          <a:solidFill>
                            <a:srgbClr val="18312D"/>
                          </a:solidFill>
                          <a:latin typeface="Arial"/>
                          <a:ea typeface="Arial"/>
                          <a:cs typeface="Arial"/>
                        </a:rPr>
                        <a:t>Capacité libre</a:t>
                      </a:r>
                    </a:p>
                  </a:txBody>
                  <a:tcPr marL="91440" marR="91440" marT="45720" marB="45720">
                    <a:solidFill>
                      <a:srgbClr val="E9EEE4"/>
                    </a:solidFill>
                  </a:tcPr>
                </a:tc>
                <a:tc>
                  <a:txBody>
                    <a:bodyPr/>
                    <a:lstStyle/>
                    <a:p>
                      <a:r>
                        <a:rPr sz="2100" b="0">
                          <a:solidFill>
                            <a:srgbClr val="18312D"/>
                          </a:solidFill>
                          <a:latin typeface="Arial"/>
                          <a:ea typeface="Arial"/>
                          <a:cs typeface="Arial"/>
                        </a:rPr>
                        <a:t>Fonction prête</a:t>
                      </a:r>
                    </a:p>
                  </a:txBody>
                  <a:tcPr marL="91440" marR="91440" marT="45720" marB="45720">
                    <a:solidFill>
                      <a:srgbClr val="E9EEE4"/>
                    </a:solidFill>
                  </a:tcPr>
                </a:tc>
                <a:tc>
                  <a:txBody>
                    <a:bodyPr/>
                    <a:lstStyle/>
                    <a:p>
                      <a:r>
                        <a:rPr sz="2100" b="0">
                          <a:solidFill>
                            <a:srgbClr val="18312D"/>
                          </a:solidFill>
                          <a:latin typeface="Arial"/>
                          <a:ea typeface="Arial"/>
                          <a:cs typeface="Arial"/>
                        </a:rPr>
                        <a:t>Critères validés</a:t>
                      </a:r>
                    </a:p>
                  </a:txBody>
                  <a:tcPr marL="91440" marR="91440" marT="45720" marB="45720">
                    <a:solidFill>
                      <a:srgbClr val="E9EEE4"/>
                    </a:solidFill>
                  </a:tcPr>
                </a:tc>
              </a:tr>
            </a:tbl>
          </a:graphicData>
        </a:graphic>
      </p:graphicFrame>
      <p:sp>
        <p:nvSpPr>
          <p:cNvPr id="4" name="">
            <a:extLst xmlns:a="http://schemas.openxmlformats.org/drawingml/2006/main">
              <a:ext uri="{FF2B5EF4-FFF2-40B4-BE49-F238E27FC236}">
                <a16:creationId xmlns:a16="http://schemas.microsoft.com/office/drawing/2014/main" id="{61B34714-F855-4546-BC43-1A57E77ACF53}"/>
              </a:ext>
            </a:extLst>
          </p:cNvPr>
          <p:cNvSpPr>
            <a:spLocks xmlns:a="http://schemas.openxmlformats.org/drawingml/2006/main" noGrp="1"/>
          </p:cNvSpPr>
          <p:nvPr/>
        </p:nvSpPr>
        <p:spPr>
          <a:xfrm xmlns:a="http://schemas.openxmlformats.org/drawingml/2006/main">
            <a:off x="685800" y="52959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2 tâches de réalisation simultanées au maximum</a:t>
            </a:r>
          </a:p>
        </p:txBody>
      </p:sp>
    </p:spTree>
    <p:extLst>
      <p:ext uri="{BB962C8B-B14F-4D97-AF65-F5344CB8AC3E}">
        <p14:creationId xmlns:p14="http://schemas.microsoft.com/office/powerpoint/2010/main" val="172311923"/>
      </p:ext>
    </p:extLst>
  </p:cSld>
</p:sld>
</file>

<file path=ppt/slides/slide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EB54C23-CAD4-430D-B533-5DB92B56087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chemin vers la démonstration</a:t>
            </a:r>
          </a:p>
        </p:txBody>
      </p:sp>
      <p:sp>
        <p:nvSpPr>
          <p:cNvPr id="2" name="">
            <a:extLst xmlns:a="http://schemas.openxmlformats.org/drawingml/2006/main">
              <a:ext uri="{FF2B5EF4-FFF2-40B4-BE49-F238E27FC236}">
                <a16:creationId xmlns:a16="http://schemas.microsoft.com/office/drawing/2014/main" id="{D4CFA07C-FD36-4465-9E93-89E7F5F829A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simulation sur quinze jours ouvrés    04:00 à 05:30    5</a:t>
            </a:r>
          </a:p>
        </p:txBody>
      </p:sp>
      <p:graphicFrame>
        <p:nvGraphicFramePr>
          <p:cNvPr id="7" name="Chart"/>
          <p:cNvGraphicFramePr/>
          <p:nvPr/>
        </p:nvGraphicFramePr>
        <p:xfrm>
          <a:off xmlns:a="http://schemas.openxmlformats.org/drawingml/2006/main" x="666750" y="1666875"/>
          <a:ext xmlns:a="http://schemas.openxmlformats.org/drawingml/2006/main" cx="10477500" cy="3952875"/>
        </p:xfrm>
        <a:graphic xmlns:a="http://schemas.openxmlformats.org/drawingml/2006/main">
          <a:graphicData uri="http://schemas.openxmlformats.org/drawingml/2006/chart">
            <c:chart xmlns:r="http://schemas.openxmlformats.org/officeDocument/2006/relationships" xmlns:c="http://schemas.openxmlformats.org/drawingml/2006/chart" r:id="R3323c043741e484b"/>
          </a:graphicData>
        </a:graphic>
      </p:graphicFrame>
      <p:sp>
        <p:nvSpPr>
          <p:cNvPr id="4" name="">
            <a:extLst xmlns:a="http://schemas.openxmlformats.org/drawingml/2006/main">
              <a:ext uri="{FF2B5EF4-FFF2-40B4-BE49-F238E27FC236}">
                <a16:creationId xmlns:a16="http://schemas.microsoft.com/office/drawing/2014/main" id="{482C24C5-6943-495C-A64F-B4918651A3A4}"/>
              </a:ext>
            </a:extLst>
          </p:cNvPr>
          <p:cNvSpPr>
            <a:spLocks xmlns:a="http://schemas.openxmlformats.org/drawingml/2006/main" noGrp="1"/>
          </p:cNvSpPr>
          <p:nvPr/>
        </p:nvSpPr>
        <p:spPr>
          <a:xfrm xmlns:a="http://schemas.openxmlformats.org/drawingml/2006/main">
            <a:off x="685800" y="57435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Recette à J14. Démonstration à J15.</a:t>
            </a:r>
          </a:p>
        </p:txBody>
      </p:sp>
    </p:spTree>
    <p:extLst>
      <p:ext uri="{BB962C8B-B14F-4D97-AF65-F5344CB8AC3E}">
        <p14:creationId xmlns:p14="http://schemas.microsoft.com/office/powerpoint/2010/main" val="501369503"/>
      </p:ext>
    </p:extLst>
  </p:cSld>
</p:sld>
</file>

<file path=ppt/slides/slide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DBBBF2C-3B9E-4727-91CB-8B2960999CE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Qui fait quoi ?</a:t>
            </a:r>
          </a:p>
        </p:txBody>
      </p:sp>
      <p:sp>
        <p:nvSpPr>
          <p:cNvPr id="2" name="">
            <a:extLst xmlns:a="http://schemas.openxmlformats.org/drawingml/2006/main">
              <a:ext uri="{FF2B5EF4-FFF2-40B4-BE49-F238E27FC236}">
                <a16:creationId xmlns:a16="http://schemas.microsoft.com/office/drawing/2014/main" id="{737F5CEC-7AFE-4DFA-A0AE-DBF1A49E838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équipe fictive du cas    05:30 à 06:30    6</a:t>
            </a:r>
          </a:p>
        </p:txBody>
      </p:sp>
      <p:sp>
        <p:nvSpPr>
          <p:cNvPr id="3" name="">
            <a:extLst xmlns:a="http://schemas.openxmlformats.org/drawingml/2006/main">
              <a:ext uri="{FF2B5EF4-FFF2-40B4-BE49-F238E27FC236}">
                <a16:creationId xmlns:a16="http://schemas.microsoft.com/office/drawing/2014/main" id="{995173D8-BB6A-48A2-BC1F-7D115AC8B56F}"/>
              </a:ext>
            </a:extLst>
          </p:cNvPr>
          <p:cNvSpPr>
            <a:spLocks xmlns:a="http://schemas.openxmlformats.org/drawingml/2006/main" noGrp="1"/>
          </p:cNvSpPr>
          <p:nvPr/>
        </p:nvSpPr>
        <p:spPr>
          <a:xfrm xmlns:a="http://schemas.openxmlformats.org/drawingml/2006/main">
            <a:off x="6858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4" name="">
            <a:extLst xmlns:a="http://schemas.openxmlformats.org/drawingml/2006/main">
              <a:ext uri="{FF2B5EF4-FFF2-40B4-BE49-F238E27FC236}">
                <a16:creationId xmlns:a16="http://schemas.microsoft.com/office/drawing/2014/main" id="{751B9B39-4571-4C85-A2FE-11D1776922BF}"/>
              </a:ext>
            </a:extLst>
          </p:cNvPr>
          <p:cNvSpPr>
            <a:spLocks xmlns:a="http://schemas.openxmlformats.org/drawingml/2006/main" noGrp="1"/>
          </p:cNvSpPr>
          <p:nvPr/>
        </p:nvSpPr>
        <p:spPr>
          <a:xfrm xmlns:a="http://schemas.openxmlformats.org/drawingml/2006/main">
            <a:off x="6858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Chef de projet</a:t>
            </a:r>
          </a:p>
        </p:txBody>
      </p:sp>
      <p:sp>
        <p:nvSpPr>
          <p:cNvPr id="5" name="">
            <a:extLst xmlns:a="http://schemas.openxmlformats.org/drawingml/2006/main">
              <a:ext uri="{FF2B5EF4-FFF2-40B4-BE49-F238E27FC236}">
                <a16:creationId xmlns:a16="http://schemas.microsoft.com/office/drawing/2014/main" id="{9121297D-BC12-4EB0-B959-D66119C1C3F2}"/>
              </a:ext>
            </a:extLst>
          </p:cNvPr>
          <p:cNvSpPr>
            <a:spLocks xmlns:a="http://schemas.openxmlformats.org/drawingml/2006/main" noGrp="1"/>
          </p:cNvSpPr>
          <p:nvPr/>
        </p:nvSpPr>
        <p:spPr>
          <a:xfrm xmlns:a="http://schemas.openxmlformats.org/drawingml/2006/main">
            <a:off x="6858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Organiser et arbitrer.</a:t>
            </a:r>
          </a:p>
        </p:txBody>
      </p:sp>
      <p:sp>
        <p:nvSpPr>
          <p:cNvPr id="6" name="">
            <a:extLst xmlns:a="http://schemas.openxmlformats.org/drawingml/2006/main">
              <a:ext uri="{FF2B5EF4-FFF2-40B4-BE49-F238E27FC236}">
                <a16:creationId xmlns:a16="http://schemas.microsoft.com/office/drawing/2014/main" id="{A837C979-DEC1-4A2D-ADEB-6DCBC74EE6B3}"/>
              </a:ext>
            </a:extLst>
          </p:cNvPr>
          <p:cNvSpPr>
            <a:spLocks xmlns:a="http://schemas.openxmlformats.org/drawingml/2006/main" noGrp="1"/>
          </p:cNvSpPr>
          <p:nvPr/>
        </p:nvSpPr>
        <p:spPr>
          <a:xfrm xmlns:a="http://schemas.openxmlformats.org/drawingml/2006/main">
            <a:off x="42926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72 h</a:t>
            </a:r>
          </a:p>
        </p:txBody>
      </p:sp>
      <p:sp>
        <p:nvSpPr>
          <p:cNvPr id="7" name="">
            <a:extLst xmlns:a="http://schemas.openxmlformats.org/drawingml/2006/main">
              <a:ext uri="{FF2B5EF4-FFF2-40B4-BE49-F238E27FC236}">
                <a16:creationId xmlns:a16="http://schemas.microsoft.com/office/drawing/2014/main" id="{38A1C438-0660-4ED0-A9FC-EC38D859C03F}"/>
              </a:ext>
            </a:extLst>
          </p:cNvPr>
          <p:cNvSpPr>
            <a:spLocks xmlns:a="http://schemas.openxmlformats.org/drawingml/2006/main" noGrp="1"/>
          </p:cNvSpPr>
          <p:nvPr/>
        </p:nvSpPr>
        <p:spPr>
          <a:xfrm xmlns:a="http://schemas.openxmlformats.org/drawingml/2006/main">
            <a:off x="42926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Développeur</a:t>
            </a:r>
          </a:p>
        </p:txBody>
      </p:sp>
      <p:sp>
        <p:nvSpPr>
          <p:cNvPr id="8" name="">
            <a:extLst xmlns:a="http://schemas.openxmlformats.org/drawingml/2006/main">
              <a:ext uri="{FF2B5EF4-FFF2-40B4-BE49-F238E27FC236}">
                <a16:creationId xmlns:a16="http://schemas.microsoft.com/office/drawing/2014/main" id="{072D5116-9D5F-44AC-B665-79AFA66BC485}"/>
              </a:ext>
            </a:extLst>
          </p:cNvPr>
          <p:cNvSpPr>
            <a:spLocks xmlns:a="http://schemas.openxmlformats.org/drawingml/2006/main" noGrp="1"/>
          </p:cNvSpPr>
          <p:nvPr/>
        </p:nvSpPr>
        <p:spPr>
          <a:xfrm xmlns:a="http://schemas.openxmlformats.org/drawingml/2006/main">
            <a:off x="42926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Réaliser et corriger.</a:t>
            </a:r>
          </a:p>
        </p:txBody>
      </p:sp>
      <p:sp>
        <p:nvSpPr>
          <p:cNvPr id="9" name="">
            <a:extLst xmlns:a="http://schemas.openxmlformats.org/drawingml/2006/main">
              <a:ext uri="{FF2B5EF4-FFF2-40B4-BE49-F238E27FC236}">
                <a16:creationId xmlns:a16="http://schemas.microsoft.com/office/drawing/2014/main" id="{900CF7AE-0F3C-4969-AD0C-E2A22E04026A}"/>
              </a:ext>
            </a:extLst>
          </p:cNvPr>
          <p:cNvSpPr>
            <a:spLocks xmlns:a="http://schemas.openxmlformats.org/drawingml/2006/main" noGrp="1"/>
          </p:cNvSpPr>
          <p:nvPr/>
        </p:nvSpPr>
        <p:spPr>
          <a:xfrm xmlns:a="http://schemas.openxmlformats.org/drawingml/2006/main">
            <a:off x="78994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10" name="">
            <a:extLst xmlns:a="http://schemas.openxmlformats.org/drawingml/2006/main">
              <a:ext uri="{FF2B5EF4-FFF2-40B4-BE49-F238E27FC236}">
                <a16:creationId xmlns:a16="http://schemas.microsoft.com/office/drawing/2014/main" id="{78454D76-9D65-42A0-9D53-9FE7A429EDD6}"/>
              </a:ext>
            </a:extLst>
          </p:cNvPr>
          <p:cNvSpPr>
            <a:spLocks xmlns:a="http://schemas.openxmlformats.org/drawingml/2006/main" noGrp="1"/>
          </p:cNvSpPr>
          <p:nvPr/>
        </p:nvSpPr>
        <p:spPr>
          <a:xfrm xmlns:a="http://schemas.openxmlformats.org/drawingml/2006/main">
            <a:off x="78994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Testeur UX</a:t>
            </a:r>
          </a:p>
        </p:txBody>
      </p:sp>
      <p:sp>
        <p:nvSpPr>
          <p:cNvPr id="11" name="">
            <a:extLst xmlns:a="http://schemas.openxmlformats.org/drawingml/2006/main">
              <a:ext uri="{FF2B5EF4-FFF2-40B4-BE49-F238E27FC236}">
                <a16:creationId xmlns:a16="http://schemas.microsoft.com/office/drawing/2014/main" id="{43E7804E-C13D-4D65-A05E-E4C957265F74}"/>
              </a:ext>
            </a:extLst>
          </p:cNvPr>
          <p:cNvSpPr>
            <a:spLocks xmlns:a="http://schemas.openxmlformats.org/drawingml/2006/main" noGrp="1"/>
          </p:cNvSpPr>
          <p:nvPr/>
        </p:nvSpPr>
        <p:spPr>
          <a:xfrm xmlns:a="http://schemas.openxmlformats.org/drawingml/2006/main">
            <a:off x="78994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Recetter les parcours.</a:t>
            </a:r>
          </a:p>
        </p:txBody>
      </p:sp>
      <p:sp>
        <p:nvSpPr>
          <p:cNvPr id="12" name="">
            <a:extLst xmlns:a="http://schemas.openxmlformats.org/drawingml/2006/main">
              <a:ext uri="{FF2B5EF4-FFF2-40B4-BE49-F238E27FC236}">
                <a16:creationId xmlns:a16="http://schemas.microsoft.com/office/drawing/2014/main" id="{E7A8ACE5-D8EA-4183-8175-6B553A243D93}"/>
              </a:ext>
            </a:extLst>
          </p:cNvPr>
          <p:cNvSpPr>
            <a:spLocks xmlns:a="http://schemas.openxmlformats.org/drawingml/2006/main" noGrp="1"/>
          </p:cNvSpPr>
          <p:nvPr/>
        </p:nvSpPr>
        <p:spPr>
          <a:xfrm xmlns:a="http://schemas.openxmlformats.org/drawingml/2006/main">
            <a:off x="685800" y="57531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Le client valide le périmètre aux trois jalons.</a:t>
            </a:r>
          </a:p>
        </p:txBody>
      </p:sp>
    </p:spTree>
    <p:extLst>
      <p:ext uri="{BB962C8B-B14F-4D97-AF65-F5344CB8AC3E}">
        <p14:creationId xmlns:p14="http://schemas.microsoft.com/office/powerpoint/2010/main" val="1803319288"/>
      </p:ext>
    </p:extLst>
  </p:cSld>
</p:sld>
</file>

<file path=ppt/slides/slide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3FDC79-914C-4387-B503-DEA90D4554C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5 heures de plus à anticiper</a:t>
            </a:r>
          </a:p>
        </p:txBody>
      </p:sp>
      <p:sp>
        <p:nvSpPr>
          <p:cNvPr id="2" name="">
            <a:extLst xmlns:a="http://schemas.openxmlformats.org/drawingml/2006/main">
              <a:ext uri="{FF2B5EF4-FFF2-40B4-BE49-F238E27FC236}">
                <a16:creationId xmlns:a16="http://schemas.microsoft.com/office/drawing/2014/main" id="{9D8C9D33-EE81-401F-AC30-D0BAB82B3F5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06:30 à 08:00    7</a:t>
            </a:r>
          </a:p>
        </p:txBody>
      </p:sp>
      <p:graphicFrame>
        <p:nvGraphicFramePr>
          <p:cNvPr id="10" name="Chart"/>
          <p:cNvGraphicFramePr/>
          <p:nvPr/>
        </p:nvGraphicFramePr>
        <p:xfrm>
          <a:off xmlns:a="http://schemas.openxmlformats.org/drawingml/2006/main" x="647700" y="1952625"/>
          <a:ext xmlns:a="http://schemas.openxmlformats.org/drawingml/2006/main" cx="7620000" cy="3333750"/>
        </p:xfrm>
        <a:graphic xmlns:a="http://schemas.openxmlformats.org/drawingml/2006/main">
          <a:graphicData uri="http://schemas.openxmlformats.org/drawingml/2006/chart">
            <c:chart xmlns:r="http://schemas.openxmlformats.org/officeDocument/2006/relationships" xmlns:c="http://schemas.openxmlformats.org/drawingml/2006/chart" r:id="R3a1a38fd894549b0"/>
          </a:graphicData>
        </a:graphic>
      </p:graphicFrame>
      <p:sp>
        <p:nvSpPr>
          <p:cNvPr id="4" name="">
            <a:extLst xmlns:a="http://schemas.openxmlformats.org/drawingml/2006/main">
              <a:ext uri="{FF2B5EF4-FFF2-40B4-BE49-F238E27FC236}">
                <a16:creationId xmlns:a16="http://schemas.microsoft.com/office/drawing/2014/main" id="{83B391FB-5BF5-4EFC-A72A-4B65A955625F}"/>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+5 h</a:t>
            </a:r>
          </a:p>
        </p:txBody>
      </p:sp>
      <p:sp>
        <p:nvSpPr>
          <p:cNvPr id="5" name="">
            <a:extLst xmlns:a="http://schemas.openxmlformats.org/drawingml/2006/main">
              <a:ext uri="{FF2B5EF4-FFF2-40B4-BE49-F238E27FC236}">
                <a16:creationId xmlns:a16="http://schemas.microsoft.com/office/drawing/2014/main" id="{D42DE25E-ADC6-45CB-B5C4-B094836C089C}"/>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Écart prévu</a:t>
            </a:r>
          </a:p>
        </p:txBody>
      </p:sp>
      <p:sp>
        <p:nvSpPr>
          <p:cNvPr id="6" name="">
            <a:extLst xmlns:a="http://schemas.openxmlformats.org/drawingml/2006/main">
              <a:ext uri="{FF2B5EF4-FFF2-40B4-BE49-F238E27FC236}">
                <a16:creationId xmlns:a16="http://schemas.microsoft.com/office/drawing/2014/main" id="{1948CFFF-958D-42C9-9E99-14D60F2685ED}"/>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77 h consommées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40 h restantes</a:t>
            </a:r>
          </a:p>
        </p:txBody>
      </p:sp>
      <p:sp>
        <p:nvSpPr>
          <p:cNvPr id="7" name="">
            <a:extLst xmlns:a="http://schemas.openxmlformats.org/drawingml/2006/main">
              <a:ext uri="{FF2B5EF4-FFF2-40B4-BE49-F238E27FC236}">
                <a16:creationId xmlns:a16="http://schemas.microsoft.com/office/drawing/2014/main" id="{E9E59551-5D37-48D3-A5F3-ED5148835BE0}"/>
              </a:ext>
            </a:extLst>
          </p:cNvPr>
          <p:cNvSpPr>
            <a:spLocks xmlns:a="http://schemas.openxmlformats.org/drawingml/2006/main" noGrp="1"/>
          </p:cNvSpPr>
          <p:nvPr/>
        </p:nvSpPr>
        <p:spPr>
          <a:xfrm xmlns:a="http://schemas.openxmlformats.org/drawingml/2006/main">
            <a:off x="685800" y="57816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5 tâches terminées sur 10, de tailles différentes.</a:t>
            </a:r>
          </a:p>
        </p:txBody>
      </p:sp>
    </p:spTree>
    <p:extLst>
      <p:ext uri="{BB962C8B-B14F-4D97-AF65-F5344CB8AC3E}">
        <p14:creationId xmlns:p14="http://schemas.microsoft.com/office/powerpoint/2010/main" val="1493950302"/>
      </p:ext>
    </p:extLst>
  </p:cSld>
</p:sld>
</file>

<file path=ppt/slides/slide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BABCE8-A80E-4CE4-BE56-748A629E7D5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232 € de marge sous le plafond</a:t>
            </a:r>
          </a:p>
        </p:txBody>
      </p:sp>
      <p:sp>
        <p:nvSpPr>
          <p:cNvPr id="2" name="">
            <a:extLst xmlns:a="http://schemas.openxmlformats.org/drawingml/2006/main">
              <a:ext uri="{FF2B5EF4-FFF2-40B4-BE49-F238E27FC236}">
                <a16:creationId xmlns:a16="http://schemas.microsoft.com/office/drawing/2014/main" id="{EDCE553F-FA93-4678-B518-3418A986DA2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montants fictifs en euros    08:00 à 09:30    8</a:t>
            </a:r>
          </a:p>
        </p:txBody>
      </p:sp>
      <p:graphicFrame>
        <p:nvGraphicFramePr>
          <p:cNvPr id="9"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2284caaa18c64366"/>
          </a:graphicData>
        </a:graphic>
      </p:graphicFrame>
      <p:sp>
        <p:nvSpPr>
          <p:cNvPr id="4" name="">
            <a:extLst xmlns:a="http://schemas.openxmlformats.org/drawingml/2006/main">
              <a:ext uri="{FF2B5EF4-FFF2-40B4-BE49-F238E27FC236}">
                <a16:creationId xmlns:a16="http://schemas.microsoft.com/office/drawing/2014/main" id="{385BCAC8-9C68-402F-92D8-9B6C4E75299F}"/>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232 €</a:t>
            </a:r>
          </a:p>
        </p:txBody>
      </p:sp>
      <p:sp>
        <p:nvSpPr>
          <p:cNvPr id="5" name="">
            <a:extLst xmlns:a="http://schemas.openxmlformats.org/drawingml/2006/main">
              <a:ext uri="{FF2B5EF4-FFF2-40B4-BE49-F238E27FC236}">
                <a16:creationId xmlns:a16="http://schemas.microsoft.com/office/drawing/2014/main" id="{BEA23A55-95E3-49A4-BA36-91F443C7CDEB}"/>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restante</a:t>
            </a:r>
          </a:p>
        </p:txBody>
      </p:sp>
      <p:sp>
        <p:nvSpPr>
          <p:cNvPr id="6" name="">
            <a:extLst xmlns:a="http://schemas.openxmlformats.org/drawingml/2006/main">
              <a:ext uri="{FF2B5EF4-FFF2-40B4-BE49-F238E27FC236}">
                <a16:creationId xmlns:a16="http://schemas.microsoft.com/office/drawing/2014/main" id="{6A2A3F7A-74D7-4A64-A822-ABFCC8019973}"/>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195 € au-dessus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du budget initial.</a:t>
            </a:r>
          </a:p>
        </p:txBody>
      </p:sp>
    </p:spTree>
    <p:extLst>
      <p:ext uri="{BB962C8B-B14F-4D97-AF65-F5344CB8AC3E}">
        <p14:creationId xmlns:p14="http://schemas.microsoft.com/office/powerpoint/2010/main" val="938238474"/>
      </p:ext>
    </p:extLst>
  </p:cSld>
</p:sld>
</file>

<file path=ppt/slides/slide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D91E71-3F17-41EE-AAFE-FA1B557245F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chef de projet approche sa limite</a:t>
            </a:r>
          </a:p>
        </p:txBody>
      </p:sp>
      <p:sp>
        <p:nvSpPr>
          <p:cNvPr id="2" name="">
            <a:extLst xmlns:a="http://schemas.openxmlformats.org/drawingml/2006/main">
              <a:ext uri="{FF2B5EF4-FFF2-40B4-BE49-F238E27FC236}">
                <a16:creationId xmlns:a16="http://schemas.microsoft.com/office/drawing/2014/main" id="{3ADD51D2-0CAA-48D8-ACD6-D8B83BA9A48F}"/>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09:30 à 10:30    9</a:t>
            </a:r>
          </a:p>
        </p:txBody>
      </p:sp>
      <p:graphicFrame>
        <p:nvGraphicFramePr>
          <p:cNvPr id="9" name="Chart"/>
          <p:cNvGraphicFramePr/>
          <p:nvPr/>
        </p:nvGraphicFramePr>
        <p:xfrm>
          <a:off xmlns:a="http://schemas.openxmlformats.org/drawingml/2006/main" x="666750" y="1762125"/>
          <a:ext xmlns:a="http://schemas.openxmlformats.org/drawingml/2006/main" cx="7667625" cy="4000500"/>
        </p:xfrm>
        <a:graphic xmlns:a="http://schemas.openxmlformats.org/drawingml/2006/main">
          <a:graphicData uri="http://schemas.openxmlformats.org/drawingml/2006/chart">
            <c:chart xmlns:r="http://schemas.openxmlformats.org/officeDocument/2006/relationships" xmlns:c="http://schemas.openxmlformats.org/drawingml/2006/chart" r:id="Rd7cc81f3b93048b9"/>
          </a:graphicData>
        </a:graphic>
      </p:graphicFrame>
      <p:sp>
        <p:nvSpPr>
          <p:cNvPr id="4" name="">
            <a:extLst xmlns:a="http://schemas.openxmlformats.org/drawingml/2006/main">
              <a:ext uri="{FF2B5EF4-FFF2-40B4-BE49-F238E27FC236}">
                <a16:creationId xmlns:a16="http://schemas.microsoft.com/office/drawing/2014/main" id="{9EA9D6BD-52B6-40F6-9980-0886931F3708}"/>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 h</a:t>
            </a:r>
          </a:p>
        </p:txBody>
      </p:sp>
      <p:sp>
        <p:nvSpPr>
          <p:cNvPr id="5" name="">
            <a:extLst xmlns:a="http://schemas.openxmlformats.org/drawingml/2006/main">
              <a:ext uri="{FF2B5EF4-FFF2-40B4-BE49-F238E27FC236}">
                <a16:creationId xmlns:a16="http://schemas.microsoft.com/office/drawing/2014/main" id="{74CC1A72-8990-4F43-A8CB-3695A8B7F862}"/>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CP</a:t>
            </a:r>
          </a:p>
        </p:txBody>
      </p:sp>
      <p:sp>
        <p:nvSpPr>
          <p:cNvPr id="6" name="">
            <a:extLst xmlns:a="http://schemas.openxmlformats.org/drawingml/2006/main">
              <a:ext uri="{FF2B5EF4-FFF2-40B4-BE49-F238E27FC236}">
                <a16:creationId xmlns:a16="http://schemas.microsoft.com/office/drawing/2014/main" id="{A3BEB459-873F-4413-87E2-CC6A78C76F81}"/>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Capacités du lot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30 h, 72 h, 30 h.</a:t>
            </a:r>
          </a:p>
        </p:txBody>
      </p:sp>
    </p:spTree>
    <p:extLst>
      <p:ext uri="{BB962C8B-B14F-4D97-AF65-F5344CB8AC3E}">
        <p14:creationId xmlns:p14="http://schemas.microsoft.com/office/powerpoint/2010/main" val="1990673967"/>
      </p:ext>
    </p:extLst>
  </p:cSld>
</p:sld>
</file>

<file path=ppt/slides/slide1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A05617B-0C6B-46F1-B23F-5D82B801842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risques qui déclenchent une action</a:t>
            </a:r>
          </a:p>
        </p:txBody>
      </p:sp>
      <p:sp>
        <p:nvSpPr>
          <p:cNvPr id="2" name="">
            <a:extLst xmlns:a="http://schemas.openxmlformats.org/drawingml/2006/main">
              <a:ext uri="{FF2B5EF4-FFF2-40B4-BE49-F238E27FC236}">
                <a16:creationId xmlns:a16="http://schemas.microsoft.com/office/drawing/2014/main" id="{13BFEDE3-D797-4F87-8F99-DB11C4E7F90B}"/>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extrait du registre fictif    10:30 à 11:30    10</a:t>
            </a:r>
          </a:p>
        </p:txBody>
      </p:sp>
      <p:graphicFrame>
        <p:nvGraphicFramePr>
          <p:cNvPr id="16" name=""/>
          <p:cNvGraphicFramePr/>
          <p:nvPr/>
        </p:nvGraphicFramePr>
        <p:xfrm>
          <a:off xmlns:a="http://schemas.openxmlformats.org/drawingml/2006/main" x="1333500" y="2047875"/>
          <a:ext xmlns:a="http://schemas.openxmlformats.org/drawingml/2006/main" cx="5286375" cy="3143250"/>
        </p:xfrm>
        <a:graphic xmlns:a="http://schemas.openxmlformats.org/drawingml/2006/main">
          <a:graphicData uri="http://schemas.openxmlformats.org/drawingml/2006/table">
            <a:tbl>
              <a:tblPr/>
              <a:tblGrid>
                <a:gridCol w="1762125"/>
                <a:gridCol w="1762125"/>
                <a:gridCol w="1762125"/>
              </a:tblGrid>
              <a:tr h="1047750">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
                      </a:r>
                    </a:p>
                  </a:txBody>
                  <a:tcPr marL="91440" marR="91440" marT="45720" marB="45720">
                    <a:solidFill>
                      <a:srgbClr val="E6B08D"/>
                    </a:solidFill>
                  </a:tcPr>
                </a:tc>
                <a:tc>
                  <a:txBody>
                    <a:bodyPr/>
                    <a:lstStyle/>
                    <a:p>
                      <a:r>
                        <a:rPr sz="1950" b="1">
                          <a:solidFill>
                            <a:srgbClr val="18312D"/>
                          </a:solidFill>
                          <a:latin typeface="Arial"/>
                          <a:ea typeface="Arial"/>
                          <a:cs typeface="Arial"/>
                        </a:rPr>
                        <a:t>R01</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R02  R03</a:t>
                      </a:r>
                    </a:p>
                    <a:p>
                      <a:r>
                        <a:rPr sz="1950" b="1">
                          <a:solidFill>
                            <a:srgbClr val="18312D"/>
                          </a:solidFill>
                          <a:latin typeface="Arial"/>
                          <a:ea typeface="Arial"/>
                          <a:cs typeface="Arial"/>
                        </a:rPr>
                        <a:t>R04  R05</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r>
            </a:tbl>
          </a:graphicData>
        </a:graphic>
      </p:graphicFrame>
      <p:sp>
        <p:nvSpPr>
          <p:cNvPr id="4" name="">
            <a:extLst xmlns:a="http://schemas.openxmlformats.org/drawingml/2006/main">
              <a:ext uri="{FF2B5EF4-FFF2-40B4-BE49-F238E27FC236}">
                <a16:creationId xmlns:a16="http://schemas.microsoft.com/office/drawing/2014/main" id="{91939318-F8C4-4611-A5E2-3F063E81604F}"/>
              </a:ext>
            </a:extLst>
          </p:cNvPr>
          <p:cNvSpPr>
            <a:spLocks xmlns:a="http://schemas.openxmlformats.org/drawingml/2006/main" noGrp="1"/>
          </p:cNvSpPr>
          <p:nvPr/>
        </p:nvSpPr>
        <p:spPr>
          <a:xfrm xmlns:a="http://schemas.openxmlformats.org/drawingml/2006/main">
            <a:off x="666750" y="15240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Probabilité</a:t>
            </a:r>
          </a:p>
        </p:txBody>
      </p:sp>
      <p:sp>
        <p:nvSpPr>
          <p:cNvPr id="5" name="">
            <a:extLst xmlns:a="http://schemas.openxmlformats.org/drawingml/2006/main">
              <a:ext uri="{FF2B5EF4-FFF2-40B4-BE49-F238E27FC236}">
                <a16:creationId xmlns:a16="http://schemas.microsoft.com/office/drawing/2014/main" id="{988FA08B-337A-4F46-96F6-E6014BB918F8}"/>
              </a:ext>
            </a:extLst>
          </p:cNvPr>
          <p:cNvSpPr>
            <a:spLocks xmlns:a="http://schemas.openxmlformats.org/drawingml/2006/main" noGrp="1"/>
          </p:cNvSpPr>
          <p:nvPr/>
        </p:nvSpPr>
        <p:spPr>
          <a:xfrm xmlns:a="http://schemas.openxmlformats.org/drawingml/2006/main">
            <a:off x="876300" y="23812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BEC09291-03AA-4A8F-9861-241B330C8EAE}"/>
              </a:ext>
            </a:extLst>
          </p:cNvPr>
          <p:cNvSpPr>
            <a:spLocks xmlns:a="http://schemas.openxmlformats.org/drawingml/2006/main" noGrp="1"/>
          </p:cNvSpPr>
          <p:nvPr/>
        </p:nvSpPr>
        <p:spPr>
          <a:xfrm xmlns:a="http://schemas.openxmlformats.org/drawingml/2006/main">
            <a:off x="876300" y="34290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0CD1884B-D4C4-4530-AE73-6B2376523A13}"/>
              </a:ext>
            </a:extLst>
          </p:cNvPr>
          <p:cNvSpPr>
            <a:spLocks xmlns:a="http://schemas.openxmlformats.org/drawingml/2006/main" noGrp="1"/>
          </p:cNvSpPr>
          <p:nvPr/>
        </p:nvSpPr>
        <p:spPr>
          <a:xfrm xmlns:a="http://schemas.openxmlformats.org/drawingml/2006/main">
            <a:off x="876300" y="4476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709984EE-7FBC-4C97-A9F4-B84D4C2AEDAD}"/>
              </a:ext>
            </a:extLst>
          </p:cNvPr>
          <p:cNvSpPr>
            <a:spLocks xmlns:a="http://schemas.openxmlformats.org/drawingml/2006/main" noGrp="1"/>
          </p:cNvSpPr>
          <p:nvPr/>
        </p:nvSpPr>
        <p:spPr>
          <a:xfrm xmlns:a="http://schemas.openxmlformats.org/drawingml/2006/main">
            <a:off x="1371600" y="55054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Impact</a:t>
            </a:r>
          </a:p>
        </p:txBody>
      </p:sp>
      <p:sp>
        <p:nvSpPr>
          <p:cNvPr id="9" name="">
            <a:extLst xmlns:a="http://schemas.openxmlformats.org/drawingml/2006/main">
              <a:ext uri="{FF2B5EF4-FFF2-40B4-BE49-F238E27FC236}">
                <a16:creationId xmlns:a16="http://schemas.microsoft.com/office/drawing/2014/main" id="{9C948CDC-07CD-433C-B26C-FB9DEEB7BC5E}"/>
              </a:ext>
            </a:extLst>
          </p:cNvPr>
          <p:cNvSpPr>
            <a:spLocks xmlns:a="http://schemas.openxmlformats.org/drawingml/2006/main" noGrp="1"/>
          </p:cNvSpPr>
          <p:nvPr/>
        </p:nvSpPr>
        <p:spPr>
          <a:xfrm xmlns:a="http://schemas.openxmlformats.org/drawingml/2006/main">
            <a:off x="207645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FA635724-B8B5-4307-A8E6-8D97A4EDC75A}"/>
              </a:ext>
            </a:extLst>
          </p:cNvPr>
          <p:cNvSpPr>
            <a:spLocks xmlns:a="http://schemas.openxmlformats.org/drawingml/2006/main" noGrp="1"/>
          </p:cNvSpPr>
          <p:nvPr/>
        </p:nvSpPr>
        <p:spPr>
          <a:xfrm xmlns:a="http://schemas.openxmlformats.org/drawingml/2006/main">
            <a:off x="3838575"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75C824E3-FCBC-4B2C-A884-04C2AA5CCC5E}"/>
              </a:ext>
            </a:extLst>
          </p:cNvPr>
          <p:cNvSpPr>
            <a:spLocks xmlns:a="http://schemas.openxmlformats.org/drawingml/2006/main" noGrp="1"/>
          </p:cNvSpPr>
          <p:nvPr/>
        </p:nvSpPr>
        <p:spPr>
          <a:xfrm xmlns:a="http://schemas.openxmlformats.org/drawingml/2006/main">
            <a:off x="560070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6AC095EA-0CE2-496B-A52E-B78B94CFE73F}"/>
              </a:ext>
            </a:extLst>
          </p:cNvPr>
          <p:cNvSpPr>
            <a:spLocks xmlns:a="http://schemas.openxmlformats.org/drawingml/2006/main" noGrp="1"/>
          </p:cNvSpPr>
          <p:nvPr/>
        </p:nvSpPr>
        <p:spPr>
          <a:xfrm xmlns:a="http://schemas.openxmlformats.org/drawingml/2006/main">
            <a:off x="7296150" y="1981200"/>
            <a:ext cx="428625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R01  Démonstration</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R02  Charge du CP</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R03  Périmètre</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R04  Inscriptions</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R05  Dépôt</a:t>
            </a:r>
          </a:p>
        </p:txBody>
      </p:sp>
      <p:sp>
        <p:nvSpPr>
          <p:cNvPr id="13" name="">
            <a:extLst xmlns:a="http://schemas.openxmlformats.org/drawingml/2006/main">
              <a:ext uri="{FF2B5EF4-FFF2-40B4-BE49-F238E27FC236}">
                <a16:creationId xmlns:a16="http://schemas.microsoft.com/office/drawing/2014/main" id="{3CCB7630-CBED-4D11-8EEF-5B284CD4632E}"/>
              </a:ext>
            </a:extLst>
          </p:cNvPr>
          <p:cNvSpPr>
            <a:spLocks xmlns:a="http://schemas.openxmlformats.org/drawingml/2006/main" noGrp="1"/>
          </p:cNvSpPr>
          <p:nvPr/>
        </p:nvSpPr>
        <p:spPr>
          <a:xfrm xmlns:a="http://schemas.openxmlformats.org/drawingml/2006/main">
            <a:off x="7296150" y="5067300"/>
            <a:ext cx="4286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Responsable, déclencheur</a:t>
            </a:r>
          </a:p>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et réponse pour chaque risque.</a:t>
            </a:r>
          </a:p>
        </p:txBody>
      </p:sp>
    </p:spTree>
    <p:extLst>
      <p:ext uri="{BB962C8B-B14F-4D97-AF65-F5344CB8AC3E}">
        <p14:creationId xmlns:p14="http://schemas.microsoft.com/office/powerpoint/2010/main" val="1567724343"/>
      </p:ext>
    </p:extLst>
  </p:cSld>
</p:sld>
</file>

<file path=ppt/slides/slide1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0081AA0-214C-4118-8535-C57ED4B4886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choix du build standalone</a:t>
            </a:r>
          </a:p>
        </p:txBody>
      </p:sp>
      <p:sp>
        <p:nvSpPr>
          <p:cNvPr id="2" name="">
            <a:extLst xmlns:a="http://schemas.openxmlformats.org/drawingml/2006/main">
              <a:ext uri="{FF2B5EF4-FFF2-40B4-BE49-F238E27FC236}">
                <a16:creationId xmlns:a16="http://schemas.microsoft.com/office/drawing/2014/main" id="{E9023867-7B5D-48CF-BC37-5967CAD36CE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fait Git et analyse rétrospective    11:30 à 13:30    11</a:t>
            </a:r>
          </a:p>
        </p:txBody>
      </p:sp>
      <p:sp>
        <p:nvSpPr>
          <p:cNvPr id="3" name="">
            <a:extLst xmlns:a="http://schemas.openxmlformats.org/drawingml/2006/main">
              <a:ext uri="{FF2B5EF4-FFF2-40B4-BE49-F238E27FC236}">
                <a16:creationId xmlns:a16="http://schemas.microsoft.com/office/drawing/2014/main" id="{06D6B935-1210-4535-A031-D5BE2991B7B7}"/>
              </a:ext>
            </a:extLst>
          </p:cNvPr>
          <p:cNvSpPr>
            <a:spLocks xmlns:a="http://schemas.openxmlformats.org/drawingml/2006/main" noGrp="1"/>
          </p:cNvSpPr>
          <p:nvPr/>
        </p:nvSpPr>
        <p:spPr>
          <a:xfrm xmlns:a="http://schemas.openxmlformats.org/drawingml/2006/main">
            <a:off x="6858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F57605BB-B7C4-48CC-B952-E4D5533A3783}"/>
              </a:ext>
            </a:extLst>
          </p:cNvPr>
          <p:cNvSpPr>
            <a:spLocks xmlns:a="http://schemas.openxmlformats.org/drawingml/2006/main" noGrp="1"/>
          </p:cNvSpPr>
          <p:nvPr/>
        </p:nvSpPr>
        <p:spPr>
          <a:xfrm xmlns:a="http://schemas.openxmlformats.org/drawingml/2006/main">
            <a:off x="6858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Retries</a:t>
            </a:r>
          </a:p>
        </p:txBody>
      </p:sp>
      <p:sp>
        <p:nvSpPr>
          <p:cNvPr id="5" name="">
            <a:extLst xmlns:a="http://schemas.openxmlformats.org/drawingml/2006/main">
              <a:ext uri="{FF2B5EF4-FFF2-40B4-BE49-F238E27FC236}">
                <a16:creationId xmlns:a16="http://schemas.microsoft.com/office/drawing/2014/main" id="{DDC45D6A-74BA-42CE-B13B-1BB7D60420CB}"/>
              </a:ext>
            </a:extLst>
          </p:cNvPr>
          <p:cNvSpPr>
            <a:spLocks xmlns:a="http://schemas.openxmlformats.org/drawingml/2006/main" noGrp="1"/>
          </p:cNvSpPr>
          <p:nvPr/>
        </p:nvSpPr>
        <p:spPr>
          <a:xfrm xmlns:a="http://schemas.openxmlformats.org/drawingml/2006/main">
            <a:off x="6858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Plus de temps.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Cause possiblement masquée.</a:t>
            </a:r>
          </a:p>
        </p:txBody>
      </p:sp>
      <p:sp>
        <p:nvSpPr>
          <p:cNvPr id="6" name="">
            <a:extLst xmlns:a="http://schemas.openxmlformats.org/drawingml/2006/main">
              <a:ext uri="{FF2B5EF4-FFF2-40B4-BE49-F238E27FC236}">
                <a16:creationId xmlns:a16="http://schemas.microsoft.com/office/drawing/2014/main" id="{E44EF6E6-5A88-4B60-A5D9-7498BA9C3A3B}"/>
              </a:ext>
            </a:extLst>
          </p:cNvPr>
          <p:cNvSpPr>
            <a:spLocks xmlns:a="http://schemas.openxmlformats.org/drawingml/2006/main" noGrp="1"/>
          </p:cNvSpPr>
          <p:nvPr/>
        </p:nvSpPr>
        <p:spPr>
          <a:xfrm xmlns:a="http://schemas.openxmlformats.org/drawingml/2006/main">
            <a:off x="42926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6B4D3C13-CC05-4991-B0AE-D69C529D2AD7}"/>
              </a:ext>
            </a:extLst>
          </p:cNvPr>
          <p:cNvSpPr>
            <a:spLocks xmlns:a="http://schemas.openxmlformats.org/drawingml/2006/main" noGrp="1"/>
          </p:cNvSpPr>
          <p:nvPr/>
        </p:nvSpPr>
        <p:spPr>
          <a:xfrm xmlns:a="http://schemas.openxmlformats.org/drawingml/2006/main">
            <a:off x="42926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Préchauffage</a:t>
            </a:r>
          </a:p>
        </p:txBody>
      </p:sp>
      <p:sp>
        <p:nvSpPr>
          <p:cNvPr id="8" name="">
            <a:extLst xmlns:a="http://schemas.openxmlformats.org/drawingml/2006/main">
              <a:ext uri="{FF2B5EF4-FFF2-40B4-BE49-F238E27FC236}">
                <a16:creationId xmlns:a16="http://schemas.microsoft.com/office/drawing/2014/main" id="{3FF780EB-18D2-4A65-B76E-32FC0774D36E}"/>
              </a:ext>
            </a:extLst>
          </p:cNvPr>
          <p:cNvSpPr>
            <a:spLocks xmlns:a="http://schemas.openxmlformats.org/drawingml/2006/main" noGrp="1"/>
          </p:cNvSpPr>
          <p:nvPr/>
        </p:nvSpPr>
        <p:spPr>
          <a:xfrm xmlns:a="http://schemas.openxmlformats.org/drawingml/2006/main">
            <a:off x="42926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Compilations réduites.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Routes à préparer.</a:t>
            </a:r>
          </a:p>
        </p:txBody>
      </p:sp>
      <p:sp>
        <p:nvSpPr>
          <p:cNvPr id="9" name="">
            <a:extLst xmlns:a="http://schemas.openxmlformats.org/drawingml/2006/main">
              <a:ext uri="{FF2B5EF4-FFF2-40B4-BE49-F238E27FC236}">
                <a16:creationId xmlns:a16="http://schemas.microsoft.com/office/drawing/2014/main" id="{0272AF34-31C5-4FD0-958F-9E93C7F8553C}"/>
              </a:ext>
            </a:extLst>
          </p:cNvPr>
          <p:cNvSpPr>
            <a:spLocks xmlns:a="http://schemas.openxmlformats.org/drawingml/2006/main" noGrp="1"/>
          </p:cNvSpPr>
          <p:nvPr/>
        </p:nvSpPr>
        <p:spPr>
          <a:xfrm xmlns:a="http://schemas.openxmlformats.org/drawingml/2006/main">
            <a:off x="78994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B8D89A8-67FC-43E0-A7C1-515474C894B2}"/>
              </a:ext>
            </a:extLst>
          </p:cNvPr>
          <p:cNvSpPr>
            <a:spLocks xmlns:a="http://schemas.openxmlformats.org/drawingml/2006/main" noGrp="1"/>
          </p:cNvSpPr>
          <p:nvPr/>
        </p:nvSpPr>
        <p:spPr>
          <a:xfrm xmlns:a="http://schemas.openxmlformats.org/drawingml/2006/main">
            <a:off x="78994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Standalone</a:t>
            </a:r>
          </a:p>
        </p:txBody>
      </p:sp>
      <p:sp>
        <p:nvSpPr>
          <p:cNvPr id="11" name="">
            <a:extLst xmlns:a="http://schemas.openxmlformats.org/drawingml/2006/main">
              <a:ext uri="{FF2B5EF4-FFF2-40B4-BE49-F238E27FC236}">
                <a16:creationId xmlns:a16="http://schemas.microsoft.com/office/drawing/2014/main" id="{9E3F92D4-3B80-4DD6-8601-4443E4CE3542}"/>
              </a:ext>
            </a:extLst>
          </p:cNvPr>
          <p:cNvSpPr>
            <a:spLocks xmlns:a="http://schemas.openxmlformats.org/drawingml/2006/main" noGrp="1"/>
          </p:cNvSpPr>
          <p:nvPr/>
        </p:nvSpPr>
        <p:spPr>
          <a:xfrm xmlns:a="http://schemas.openxmlformats.org/drawingml/2006/main">
            <a:off x="78994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Un test proche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du livrable.</a:t>
            </a:r>
          </a:p>
        </p:txBody>
      </p:sp>
      <p:sp>
        <p:nvSpPr>
          <p:cNvPr id="12" name="">
            <a:extLst xmlns:a="http://schemas.openxmlformats.org/drawingml/2006/main">
              <a:ext uri="{FF2B5EF4-FFF2-40B4-BE49-F238E27FC236}">
                <a16:creationId xmlns:a16="http://schemas.microsoft.com/office/drawing/2014/main" id="{2C8757D3-DB1A-4F89-B124-E863B030BAEE}"/>
              </a:ext>
            </a:extLst>
          </p:cNvPr>
          <p:cNvSpPr>
            <a:spLocks xmlns:a="http://schemas.openxmlformats.org/drawingml/2006/main" noGrp="1"/>
          </p:cNvSpPr>
          <p:nvPr/>
        </p:nvSpPr>
        <p:spPr>
          <a:xfrm xmlns:a="http://schemas.openxmlformats.org/drawingml/2006/main">
            <a:off x="685800" y="58102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Choix visible dans Git : 689e59d, 20 juillet 2026.</a:t>
            </a:r>
          </a:p>
        </p:txBody>
      </p:sp>
    </p:spTree>
    <p:extLst>
      <p:ext uri="{BB962C8B-B14F-4D97-AF65-F5344CB8AC3E}">
        <p14:creationId xmlns:p14="http://schemas.microsoft.com/office/powerpoint/2010/main" val="730166272"/>
      </p:ext>
    </p:extLst>
  </p:cSld>
</p:sld>
</file>

<file path=ppt/slides/slide1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11CB17-BF32-4DE6-B273-82AE5D6A885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Une demande qui dépasse le lot</a:t>
            </a:r>
          </a:p>
        </p:txBody>
      </p:sp>
      <p:sp>
        <p:nvSpPr>
          <p:cNvPr id="2" name="">
            <a:extLst xmlns:a="http://schemas.openxmlformats.org/drawingml/2006/main">
              <a:ext uri="{FF2B5EF4-FFF2-40B4-BE49-F238E27FC236}">
                <a16:creationId xmlns:a16="http://schemas.microsoft.com/office/drawing/2014/main" id="{15B502B9-4BB3-4CBF-BCBC-9FAE8069178F}"/>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demande fictive à J10    13:30 à 15:00    12</a:t>
            </a:r>
          </a:p>
        </p:txBody>
      </p:sp>
      <p:graphicFrame>
        <p:nvGraphicFramePr>
          <p:cNvPr id="9"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402e0113acd44227"/>
          </a:graphicData>
        </a:graphic>
      </p:graphicFrame>
      <p:sp>
        <p:nvSpPr>
          <p:cNvPr id="4" name="">
            <a:extLst xmlns:a="http://schemas.openxmlformats.org/drawingml/2006/main">
              <a:ext uri="{FF2B5EF4-FFF2-40B4-BE49-F238E27FC236}">
                <a16:creationId xmlns:a16="http://schemas.microsoft.com/office/drawing/2014/main" id="{04181C66-866A-4B1E-A2BA-224DCED51872}"/>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Report</a:t>
            </a:r>
          </a:p>
        </p:txBody>
      </p:sp>
      <p:sp>
        <p:nvSpPr>
          <p:cNvPr id="5" name="">
            <a:extLst xmlns:a="http://schemas.openxmlformats.org/drawingml/2006/main">
              <a:ext uri="{FF2B5EF4-FFF2-40B4-BE49-F238E27FC236}">
                <a16:creationId xmlns:a16="http://schemas.microsoft.com/office/drawing/2014/main" id="{E21E3201-4449-4232-9431-2ADD733DE242}"/>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Décision du cas</a:t>
            </a:r>
          </a:p>
        </p:txBody>
      </p:sp>
      <p:sp>
        <p:nvSpPr>
          <p:cNvPr id="6" name="">
            <a:extLst xmlns:a="http://schemas.openxmlformats.org/drawingml/2006/main">
              <a:ext uri="{FF2B5EF4-FFF2-40B4-BE49-F238E27FC236}">
                <a16:creationId xmlns:a16="http://schemas.microsoft.com/office/drawing/2014/main" id="{C43D0D07-8E17-468F-AE7F-B31851B83982}"/>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+540 €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DEV : 76 h / 72 h</a:t>
            </a:r>
          </a:p>
        </p:txBody>
      </p:sp>
    </p:spTree>
    <p:extLst>
      <p:ext uri="{BB962C8B-B14F-4D97-AF65-F5344CB8AC3E}">
        <p14:creationId xmlns:p14="http://schemas.microsoft.com/office/powerpoint/2010/main" val="1052009360"/>
      </p:ext>
    </p:extLst>
  </p:cSld>
</p:sld>
</file>

<file path=ppt/slides/slide1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824555-4BE3-4581-AE7F-A20F58A295DE}"/>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désaccord à traiter ensemble</a:t>
            </a:r>
          </a:p>
        </p:txBody>
      </p:sp>
      <p:sp>
        <p:nvSpPr>
          <p:cNvPr id="2" name="">
            <a:extLst xmlns:a="http://schemas.openxmlformats.org/drawingml/2006/main">
              <a:ext uri="{FF2B5EF4-FFF2-40B4-BE49-F238E27FC236}">
                <a16:creationId xmlns:a16="http://schemas.microsoft.com/office/drawing/2014/main" id="{CF123E8B-D246-467D-8E86-D3DE8397372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situation managériale fictive    15:00 à 16:30    13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2afca47ecb540d6"/>
          <a:stretch xmlns:a="http://schemas.openxmlformats.org/drawingml/2006/main"/>
        </p:blipFill>
        <p:spPr>
          <a:xfrm xmlns:a="http://schemas.openxmlformats.org/drawingml/2006/main">
            <a:off x="3059906" y="1885950"/>
            <a:ext cx="6072188" cy="4048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8F67929-3EBC-47B4-949C-BD9CFD270559}"/>
              </a:ext>
            </a:extLst>
          </p:cNvPr>
          <p:cNvSpPr>
            <a:spLocks xmlns:a="http://schemas.openxmlformats.org/drawingml/2006/main" noGrp="1"/>
          </p:cNvSpPr>
          <p:nvPr/>
        </p:nvSpPr>
        <p:spPr>
          <a:xfrm xmlns:a="http://schemas.openxmlformats.org/drawingml/2006/main">
            <a:off x="685800" y="1933575"/>
            <a:ext cx="1571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8725F"/>
                </a:solidFill>
                <a:latin typeface="Arial"/>
                <a:ea typeface="Arial"/>
                <a:cs typeface="Arial"/>
              </a:defRPr>
            </a:pPr>
            <a:r>
              <a:rPr sz="2550" b="1">
                <a:solidFill>
                  <a:srgbClr val="28725F"/>
                </a:solidFill>
                <a:latin typeface="Arial"/>
                <a:ea typeface="Arial"/>
                <a:cs typeface="Arial"/>
              </a:rPr>
              <a:t>DEV</a:t>
            </a:r>
          </a:p>
        </p:txBody>
      </p:sp>
      <p:sp>
        <p:nvSpPr>
          <p:cNvPr id="5" name="">
            <a:extLst xmlns:a="http://schemas.openxmlformats.org/drawingml/2006/main">
              <a:ext uri="{FF2B5EF4-FFF2-40B4-BE49-F238E27FC236}">
                <a16:creationId xmlns:a16="http://schemas.microsoft.com/office/drawing/2014/main" id="{A63D460A-F6F6-41FF-9E6C-CEA8FC7BAC2C}"/>
              </a:ext>
            </a:extLst>
          </p:cNvPr>
          <p:cNvSpPr>
            <a:spLocks xmlns:a="http://schemas.openxmlformats.org/drawingml/2006/main" noGrp="1"/>
          </p:cNvSpPr>
          <p:nvPr/>
        </p:nvSpPr>
        <p:spPr>
          <a:xfrm xmlns:a="http://schemas.openxmlformats.org/drawingml/2006/main">
            <a:off x="685800" y="2619375"/>
            <a:ext cx="1981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Ajouter</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une fonction</a:t>
            </a:r>
          </a:p>
        </p:txBody>
      </p:sp>
      <p:sp>
        <p:nvSpPr>
          <p:cNvPr id="6" name="">
            <a:extLst xmlns:a="http://schemas.openxmlformats.org/drawingml/2006/main">
              <a:ext uri="{FF2B5EF4-FFF2-40B4-BE49-F238E27FC236}">
                <a16:creationId xmlns:a16="http://schemas.microsoft.com/office/drawing/2014/main" id="{82A6B84E-DAA5-4084-98D9-27BF39E2A0F6}"/>
              </a:ext>
            </a:extLst>
          </p:cNvPr>
          <p:cNvSpPr>
            <a:spLocks xmlns:a="http://schemas.openxmlformats.org/drawingml/2006/main" noGrp="1"/>
          </p:cNvSpPr>
          <p:nvPr/>
        </p:nvSpPr>
        <p:spPr>
          <a:xfrm xmlns:a="http://schemas.openxmlformats.org/drawingml/2006/main">
            <a:off x="10172700" y="1933575"/>
            <a:ext cx="138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8725F"/>
                </a:solidFill>
                <a:latin typeface="Arial"/>
                <a:ea typeface="Arial"/>
                <a:cs typeface="Arial"/>
              </a:defRPr>
            </a:pPr>
            <a:r>
              <a:rPr sz="2550" b="1">
                <a:solidFill>
                  <a:srgbClr val="28725F"/>
                </a:solidFill>
                <a:latin typeface="Arial"/>
                <a:ea typeface="Arial"/>
                <a:cs typeface="Arial"/>
              </a:rPr>
              <a:t>QA</a:t>
            </a:r>
          </a:p>
        </p:txBody>
      </p:sp>
      <p:sp>
        <p:nvSpPr>
          <p:cNvPr id="7" name="">
            <a:extLst xmlns:a="http://schemas.openxmlformats.org/drawingml/2006/main">
              <a:ext uri="{FF2B5EF4-FFF2-40B4-BE49-F238E27FC236}">
                <a16:creationId xmlns:a16="http://schemas.microsoft.com/office/drawing/2014/main" id="{68CF3F65-3D09-4495-A3A8-FBC10206800E}"/>
              </a:ext>
            </a:extLst>
          </p:cNvPr>
          <p:cNvSpPr>
            <a:spLocks xmlns:a="http://schemas.openxmlformats.org/drawingml/2006/main" noGrp="1"/>
          </p:cNvSpPr>
          <p:nvPr/>
        </p:nvSpPr>
        <p:spPr>
          <a:xfrm xmlns:a="http://schemas.openxmlformats.org/drawingml/2006/main">
            <a:off x="9925050" y="2619375"/>
            <a:ext cx="166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Stabiliser</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la recette</a:t>
            </a:r>
          </a:p>
        </p:txBody>
      </p:sp>
      <p:sp>
        <p:nvSpPr>
          <p:cNvPr id="8" name="">
            <a:extLst xmlns:a="http://schemas.openxmlformats.org/drawingml/2006/main">
              <a:ext uri="{FF2B5EF4-FFF2-40B4-BE49-F238E27FC236}">
                <a16:creationId xmlns:a16="http://schemas.microsoft.com/office/drawing/2014/main" id="{0A8AE0D6-F88E-4087-ADAD-036D0355D3AC}"/>
              </a:ext>
            </a:extLst>
          </p:cNvPr>
          <p:cNvSpPr>
            <a:spLocks xmlns:a="http://schemas.openxmlformats.org/drawingml/2006/main" noGrp="1"/>
          </p:cNvSpPr>
          <p:nvPr/>
        </p:nvSpPr>
        <p:spPr>
          <a:xfrm xmlns:a="http://schemas.openxmlformats.org/drawingml/2006/main">
            <a:off x="685800" y="58388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Écouter les impacts, décider, puis suivre.</a:t>
            </a:r>
          </a:p>
        </p:txBody>
      </p:sp>
    </p:spTree>
    <p:extLst>
      <p:ext uri="{BB962C8B-B14F-4D97-AF65-F5344CB8AC3E}">
        <p14:creationId xmlns:p14="http://schemas.microsoft.com/office/powerpoint/2010/main" val="1498659736"/>
      </p:ext>
    </p:extLst>
  </p:cSld>
</p:sld>
</file>

<file path=ppt/slides/slide1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AC72BF8-7816-49F8-AED9-28DB4F99A00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décision doit rester accessible</a:t>
            </a:r>
          </a:p>
        </p:txBody>
      </p:sp>
      <p:sp>
        <p:nvSpPr>
          <p:cNvPr id="2" name="">
            <a:extLst xmlns:a="http://schemas.openxmlformats.org/drawingml/2006/main">
              <a:ext uri="{FF2B5EF4-FFF2-40B4-BE49-F238E27FC236}">
                <a16:creationId xmlns:a16="http://schemas.microsoft.com/office/drawing/2014/main" id="{7C7ECCB6-06F2-4F0E-A857-571388201791}"/>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dispositions du scénario    16:30 à 18:00    14</a:t>
            </a:r>
          </a:p>
        </p:txBody>
      </p:sp>
      <p:sp>
        <p:nvSpPr>
          <p:cNvPr id="3" name="">
            <a:extLst xmlns:a="http://schemas.openxmlformats.org/drawingml/2006/main">
              <a:ext uri="{FF2B5EF4-FFF2-40B4-BE49-F238E27FC236}">
                <a16:creationId xmlns:a16="http://schemas.microsoft.com/office/drawing/2014/main" id="{6DA82480-4AED-445F-ABC8-94C4E0FDDCE9}"/>
              </a:ext>
            </a:extLst>
          </p:cNvPr>
          <p:cNvSpPr>
            <a:spLocks xmlns:a="http://schemas.openxmlformats.org/drawingml/2006/main" noGrp="1"/>
          </p:cNvSpPr>
          <p:nvPr/>
        </p:nvSpPr>
        <p:spPr>
          <a:xfrm xmlns:a="http://schemas.openxmlformats.org/drawingml/2006/main">
            <a:off x="685800" y="197167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Avant</a:t>
            </a:r>
          </a:p>
        </p:txBody>
      </p:sp>
      <p:sp>
        <p:nvSpPr>
          <p:cNvPr id="4" name="">
            <a:extLst xmlns:a="http://schemas.openxmlformats.org/drawingml/2006/main">
              <a:ext uri="{FF2B5EF4-FFF2-40B4-BE49-F238E27FC236}">
                <a16:creationId xmlns:a16="http://schemas.microsoft.com/office/drawing/2014/main" id="{61A49B4C-2F6B-4C87-BCB7-890EA0B1A71E}"/>
              </a:ext>
            </a:extLst>
          </p:cNvPr>
          <p:cNvSpPr>
            <a:spLocks xmlns:a="http://schemas.openxmlformats.org/drawingml/2006/main" noGrp="1"/>
          </p:cNvSpPr>
          <p:nvPr/>
        </p:nvSpPr>
        <p:spPr>
          <a:xfrm xmlns:a="http://schemas.openxmlformats.org/drawingml/2006/main">
            <a:off x="685800" y="324802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Préparer</a:t>
            </a:r>
          </a:p>
        </p:txBody>
      </p:sp>
      <p:sp>
        <p:nvSpPr>
          <p:cNvPr id="5" name="">
            <a:extLst xmlns:a="http://schemas.openxmlformats.org/drawingml/2006/main">
              <a:ext uri="{FF2B5EF4-FFF2-40B4-BE49-F238E27FC236}">
                <a16:creationId xmlns:a16="http://schemas.microsoft.com/office/drawing/2014/main" id="{80CAD034-B142-4467-8C9E-AAC778F45D6B}"/>
              </a:ext>
            </a:extLst>
          </p:cNvPr>
          <p:cNvSpPr>
            <a:spLocks xmlns:a="http://schemas.openxmlformats.org/drawingml/2006/main" noGrp="1"/>
          </p:cNvSpPr>
          <p:nvPr/>
        </p:nvSpPr>
        <p:spPr>
          <a:xfrm xmlns:a="http://schemas.openxmlformats.org/drawingml/2006/main">
            <a:off x="685800" y="437197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Ordre du jour.</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Supports structurés.</a:t>
            </a:r>
          </a:p>
        </p:txBody>
      </p:sp>
      <p:sp>
        <p:nvSpPr>
          <p:cNvPr id="6" name="">
            <a:extLst xmlns:a="http://schemas.openxmlformats.org/drawingml/2006/main">
              <a:ext uri="{FF2B5EF4-FFF2-40B4-BE49-F238E27FC236}">
                <a16:creationId xmlns:a16="http://schemas.microsoft.com/office/drawing/2014/main" id="{6431918A-8AEE-40E4-BA03-44DBE8755DB6}"/>
              </a:ext>
            </a:extLst>
          </p:cNvPr>
          <p:cNvSpPr>
            <a:spLocks xmlns:a="http://schemas.openxmlformats.org/drawingml/2006/main" noGrp="1"/>
          </p:cNvSpPr>
          <p:nvPr/>
        </p:nvSpPr>
        <p:spPr>
          <a:xfrm xmlns:a="http://schemas.openxmlformats.org/drawingml/2006/main">
            <a:off x="4292600" y="197167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Pendant</a:t>
            </a:r>
          </a:p>
        </p:txBody>
      </p:sp>
      <p:sp>
        <p:nvSpPr>
          <p:cNvPr id="7" name="">
            <a:extLst xmlns:a="http://schemas.openxmlformats.org/drawingml/2006/main">
              <a:ext uri="{FF2B5EF4-FFF2-40B4-BE49-F238E27FC236}">
                <a16:creationId xmlns:a16="http://schemas.microsoft.com/office/drawing/2014/main" id="{C6C1549B-B6F3-468B-8EE3-327B0A0812EF}"/>
              </a:ext>
            </a:extLst>
          </p:cNvPr>
          <p:cNvSpPr>
            <a:spLocks xmlns:a="http://schemas.openxmlformats.org/drawingml/2006/main" noGrp="1"/>
          </p:cNvSpPr>
          <p:nvPr/>
        </p:nvSpPr>
        <p:spPr>
          <a:xfrm xmlns:a="http://schemas.openxmlformats.org/drawingml/2006/main">
            <a:off x="4292600" y="324802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Comprendre</a:t>
            </a:r>
          </a:p>
        </p:txBody>
      </p:sp>
      <p:sp>
        <p:nvSpPr>
          <p:cNvPr id="8" name="">
            <a:extLst xmlns:a="http://schemas.openxmlformats.org/drawingml/2006/main">
              <a:ext uri="{FF2B5EF4-FFF2-40B4-BE49-F238E27FC236}">
                <a16:creationId xmlns:a16="http://schemas.microsoft.com/office/drawing/2014/main" id="{977CB779-37BD-4F36-AC71-998FD2C8668E}"/>
              </a:ext>
            </a:extLst>
          </p:cNvPr>
          <p:cNvSpPr>
            <a:spLocks xmlns:a="http://schemas.openxmlformats.org/drawingml/2006/main" noGrp="1"/>
          </p:cNvSpPr>
          <p:nvPr/>
        </p:nvSpPr>
        <p:spPr>
          <a:xfrm xmlns:a="http://schemas.openxmlformats.org/drawingml/2006/main">
            <a:off x="4292600" y="437197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Reformulation.</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Modalités adaptées.</a:t>
            </a:r>
          </a:p>
        </p:txBody>
      </p:sp>
      <p:sp>
        <p:nvSpPr>
          <p:cNvPr id="9" name="">
            <a:extLst xmlns:a="http://schemas.openxmlformats.org/drawingml/2006/main">
              <a:ext uri="{FF2B5EF4-FFF2-40B4-BE49-F238E27FC236}">
                <a16:creationId xmlns:a16="http://schemas.microsoft.com/office/drawing/2014/main" id="{E86D116E-49CD-4E2A-A9CA-6F8B89EA3D66}"/>
              </a:ext>
            </a:extLst>
          </p:cNvPr>
          <p:cNvSpPr>
            <a:spLocks xmlns:a="http://schemas.openxmlformats.org/drawingml/2006/main" noGrp="1"/>
          </p:cNvSpPr>
          <p:nvPr/>
        </p:nvSpPr>
        <p:spPr>
          <a:xfrm xmlns:a="http://schemas.openxmlformats.org/drawingml/2006/main">
            <a:off x="7899400" y="197167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Après</a:t>
            </a:r>
          </a:p>
        </p:txBody>
      </p:sp>
      <p:sp>
        <p:nvSpPr>
          <p:cNvPr id="10" name="">
            <a:extLst xmlns:a="http://schemas.openxmlformats.org/drawingml/2006/main">
              <a:ext uri="{FF2B5EF4-FFF2-40B4-BE49-F238E27FC236}">
                <a16:creationId xmlns:a16="http://schemas.microsoft.com/office/drawing/2014/main" id="{02F0D1E3-DB18-4F56-9229-0194B6DD1104}"/>
              </a:ext>
            </a:extLst>
          </p:cNvPr>
          <p:cNvSpPr>
            <a:spLocks xmlns:a="http://schemas.openxmlformats.org/drawingml/2006/main" noGrp="1"/>
          </p:cNvSpPr>
          <p:nvPr/>
        </p:nvSpPr>
        <p:spPr>
          <a:xfrm xmlns:a="http://schemas.openxmlformats.org/drawingml/2006/main">
            <a:off x="7899400" y="324802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Retrouver</a:t>
            </a:r>
          </a:p>
        </p:txBody>
      </p:sp>
      <p:sp>
        <p:nvSpPr>
          <p:cNvPr id="11" name="">
            <a:extLst xmlns:a="http://schemas.openxmlformats.org/drawingml/2006/main">
              <a:ext uri="{FF2B5EF4-FFF2-40B4-BE49-F238E27FC236}">
                <a16:creationId xmlns:a16="http://schemas.microsoft.com/office/drawing/2014/main" id="{8F8AF96E-26C9-43B2-ABFD-F13747B734E8}"/>
              </a:ext>
            </a:extLst>
          </p:cNvPr>
          <p:cNvSpPr>
            <a:spLocks xmlns:a="http://schemas.openxmlformats.org/drawingml/2006/main" noGrp="1"/>
          </p:cNvSpPr>
          <p:nvPr/>
        </p:nvSpPr>
        <p:spPr>
          <a:xfrm xmlns:a="http://schemas.openxmlformats.org/drawingml/2006/main">
            <a:off x="7899400" y="437197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Décision écrite.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Actions datées.</a:t>
            </a:r>
          </a:p>
        </p:txBody>
      </p:sp>
      <p:sp>
        <p:nvSpPr>
          <p:cNvPr id="12" name="">
            <a:extLst xmlns:a="http://schemas.openxmlformats.org/drawingml/2006/main">
              <a:ext uri="{FF2B5EF4-FFF2-40B4-BE49-F238E27FC236}">
                <a16:creationId xmlns:a16="http://schemas.microsoft.com/office/drawing/2014/main" id="{31B5338A-F1E0-446C-A017-847DCBFEDC91}"/>
              </a:ext>
            </a:extLst>
          </p:cNvPr>
          <p:cNvSpPr>
            <a:spLocks xmlns:a="http://schemas.openxmlformats.org/drawingml/2006/main" noGrp="1"/>
          </p:cNvSpPr>
          <p:nvPr/>
        </p:nvSpPr>
        <p:spPr>
          <a:xfrm xmlns:a="http://schemas.openxmlformats.org/drawingml/2006/main">
            <a:off x="685800" y="58293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Clavier, sous-titres, pauses et fuseaux explicites.</a:t>
            </a:r>
          </a:p>
        </p:txBody>
      </p:sp>
    </p:spTree>
    <p:extLst>
      <p:ext uri="{BB962C8B-B14F-4D97-AF65-F5344CB8AC3E}">
        <p14:creationId xmlns:p14="http://schemas.microsoft.com/office/powerpoint/2010/main" val="934428320"/>
      </p:ext>
    </p:extLst>
  </p:cSld>
</p:sld>
</file>

<file path=ppt/slides/slide1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1BC483-1422-4082-B189-9278BE3CAF9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cible : l’autonomie</a:t>
            </a:r>
          </a:p>
        </p:txBody>
      </p:sp>
      <p:sp>
        <p:nvSpPr>
          <p:cNvPr id="2" name="">
            <a:extLst xmlns:a="http://schemas.openxmlformats.org/drawingml/2006/main">
              <a:ext uri="{FF2B5EF4-FFF2-40B4-BE49-F238E27FC236}">
                <a16:creationId xmlns:a16="http://schemas.microsoft.com/office/drawing/2014/main" id="{3DE8A9D7-829B-429C-A07B-C087EFD3A7A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niveaux hypothétiques du cas    18:00 à 19:00    15</a:t>
            </a:r>
          </a:p>
        </p:txBody>
      </p:sp>
      <p:graphicFrame>
        <p:nvGraphicFramePr>
          <p:cNvPr id="9" name="Chart"/>
          <p:cNvGraphicFramePr/>
          <p:nvPr/>
        </p:nvGraphicFramePr>
        <p:xfrm>
          <a:off xmlns:a="http://schemas.openxmlformats.org/drawingml/2006/main" x="647700" y="1733550"/>
          <a:ext xmlns:a="http://schemas.openxmlformats.org/drawingml/2006/main" cx="7572375" cy="3905250"/>
        </p:xfrm>
        <a:graphic xmlns:a="http://schemas.openxmlformats.org/drawingml/2006/main">
          <a:graphicData uri="http://schemas.openxmlformats.org/drawingml/2006/chart">
            <c:chart xmlns:r="http://schemas.openxmlformats.org/officeDocument/2006/relationships" xmlns:c="http://schemas.openxmlformats.org/drawingml/2006/chart" r:id="R50fd32d0f5894c5c"/>
          </a:graphicData>
        </a:graphic>
      </p:graphicFrame>
      <p:sp>
        <p:nvSpPr>
          <p:cNvPr id="4" name="">
            <a:extLst xmlns:a="http://schemas.openxmlformats.org/drawingml/2006/main">
              <a:ext uri="{FF2B5EF4-FFF2-40B4-BE49-F238E27FC236}">
                <a16:creationId xmlns:a16="http://schemas.microsoft.com/office/drawing/2014/main" id="{E78E9C15-6FCC-481F-8441-FD6123E837CE}"/>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 à 2</a:t>
            </a:r>
          </a:p>
        </p:txBody>
      </p:sp>
      <p:sp>
        <p:nvSpPr>
          <p:cNvPr id="5" name="">
            <a:extLst xmlns:a="http://schemas.openxmlformats.org/drawingml/2006/main">
              <a:ext uri="{FF2B5EF4-FFF2-40B4-BE49-F238E27FC236}">
                <a16:creationId xmlns:a16="http://schemas.microsoft.com/office/drawing/2014/main" id="{F03F957E-79E2-4737-A54F-4D1D087945DF}"/>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De l’aide à l’autonomie</a:t>
            </a:r>
          </a:p>
        </p:txBody>
      </p:sp>
      <p:sp>
        <p:nvSpPr>
          <p:cNvPr id="6" name="">
            <a:extLst xmlns:a="http://schemas.openxmlformats.org/drawingml/2006/main">
              <a:ext uri="{FF2B5EF4-FFF2-40B4-BE49-F238E27FC236}">
                <a16:creationId xmlns:a16="http://schemas.microsoft.com/office/drawing/2014/main" id="{D5930F59-2709-4A30-901E-352D16B803B4}"/>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Suivi des écarts.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Concurrence.</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Recette et clavier.</a:t>
            </a:r>
          </a:p>
        </p:txBody>
      </p:sp>
    </p:spTree>
    <p:extLst>
      <p:ext uri="{BB962C8B-B14F-4D97-AF65-F5344CB8AC3E}">
        <p14:creationId xmlns:p14="http://schemas.microsoft.com/office/powerpoint/2010/main" val="1684592404"/>
      </p:ext>
    </p:extLst>
  </p:cSld>
</p:sld>
</file>

<file path=ppt/slides/slide1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430CD5-F7A6-4078-8CF3-1AD874A9127D}"/>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6 heures pour réduire les écarts</a:t>
            </a:r>
          </a:p>
        </p:txBody>
      </p:sp>
      <p:sp>
        <p:nvSpPr>
          <p:cNvPr id="2" name="">
            <a:extLst xmlns:a="http://schemas.openxmlformats.org/drawingml/2006/main">
              <a:ext uri="{FF2B5EF4-FFF2-40B4-BE49-F238E27FC236}">
                <a16:creationId xmlns:a16="http://schemas.microsoft.com/office/drawing/2014/main" id="{CE2E1C0A-E349-4295-9349-76C17DA07F7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actions fictives intégrées au lot    19:00 à 20:30    16</a:t>
            </a:r>
          </a:p>
        </p:txBody>
      </p:sp>
      <p:graphicFrame>
        <p:nvGraphicFramePr>
          <p:cNvPr id="10" name="Chart"/>
          <p:cNvGraphicFramePr/>
          <p:nvPr/>
        </p:nvGraphicFramePr>
        <p:xfrm>
          <a:off xmlns:a="http://schemas.openxmlformats.org/drawingml/2006/main" x="666750" y="1695450"/>
          <a:ext xmlns:a="http://schemas.openxmlformats.org/drawingml/2006/main" cx="5429250" cy="4238625"/>
        </p:xfrm>
        <a:graphic xmlns:a="http://schemas.openxmlformats.org/drawingml/2006/main">
          <a:graphicData uri="http://schemas.openxmlformats.org/drawingml/2006/chart">
            <c:chart xmlns:r="http://schemas.openxmlformats.org/officeDocument/2006/relationships" xmlns:c="http://schemas.openxmlformats.org/drawingml/2006/chart" r:id="R0c5e07d1df734368"/>
          </a:graphicData>
        </a:graphic>
      </p:graphicFrame>
      <p:sp>
        <p:nvSpPr>
          <p:cNvPr id="4" name="">
            <a:extLst xmlns:a="http://schemas.openxmlformats.org/drawingml/2006/main">
              <a:ext uri="{FF2B5EF4-FFF2-40B4-BE49-F238E27FC236}">
                <a16:creationId xmlns:a16="http://schemas.microsoft.com/office/drawing/2014/main" id="{F943FD0B-BF6B-47FF-8996-54EA82C2F484}"/>
              </a:ext>
            </a:extLst>
          </p:cNvPr>
          <p:cNvSpPr>
            <a:spLocks xmlns:a="http://schemas.openxmlformats.org/drawingml/2006/main" noGrp="1"/>
          </p:cNvSpPr>
          <p:nvPr/>
        </p:nvSpPr>
        <p:spPr>
          <a:xfrm xmlns:a="http://schemas.openxmlformats.org/drawingml/2006/main">
            <a:off x="2809875" y="3114675"/>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8725F"/>
                </a:solidFill>
                <a:latin typeface="Arial"/>
                <a:ea typeface="Arial"/>
                <a:cs typeface="Arial"/>
              </a:defRPr>
            </a:pPr>
            <a:r>
              <a:rPr sz="4800" b="1">
                <a:solidFill>
                  <a:srgbClr val="28725F"/>
                </a:solidFill>
                <a:latin typeface="Arial"/>
                <a:ea typeface="Arial"/>
                <a:cs typeface="Arial"/>
              </a:rPr>
              <a:t>6 h</a:t>
            </a:r>
          </a:p>
        </p:txBody>
      </p:sp>
      <p:sp>
        <p:nvSpPr>
          <p:cNvPr id="5" name="">
            <a:extLst xmlns:a="http://schemas.openxmlformats.org/drawingml/2006/main">
              <a:ext uri="{FF2B5EF4-FFF2-40B4-BE49-F238E27FC236}">
                <a16:creationId xmlns:a16="http://schemas.microsoft.com/office/drawing/2014/main" id="{2EB402B5-FC96-4CF4-8B43-93B85C8AD901}"/>
              </a:ext>
            </a:extLst>
          </p:cNvPr>
          <p:cNvSpPr>
            <a:spLocks xmlns:a="http://schemas.openxmlformats.org/drawingml/2006/main" noGrp="1"/>
          </p:cNvSpPr>
          <p:nvPr/>
        </p:nvSpPr>
        <p:spPr>
          <a:xfrm xmlns:a="http://schemas.openxmlformats.org/drawingml/2006/main">
            <a:off x="6991350" y="2076450"/>
            <a:ext cx="438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312D"/>
                </a:solidFill>
                <a:latin typeface="Arial"/>
                <a:ea typeface="Arial"/>
                <a:cs typeface="Arial"/>
              </a:defRPr>
            </a:pPr>
            <a:r>
              <a:rPr sz="2850" b="1">
                <a:solidFill>
                  <a:srgbClr val="18312D"/>
                </a:solidFill>
                <a:latin typeface="Arial"/>
                <a:ea typeface="Arial"/>
                <a:cs typeface="Arial"/>
              </a:rPr>
              <a:t>Pratiquer</a:t>
            </a:r>
          </a:p>
        </p:txBody>
      </p:sp>
      <p:sp>
        <p:nvSpPr>
          <p:cNvPr id="6" name="">
            <a:extLst xmlns:a="http://schemas.openxmlformats.org/drawingml/2006/main">
              <a:ext uri="{FF2B5EF4-FFF2-40B4-BE49-F238E27FC236}">
                <a16:creationId xmlns:a16="http://schemas.microsoft.com/office/drawing/2014/main" id="{5E9DB161-0914-4813-A48A-22204AB33049}"/>
              </a:ext>
            </a:extLst>
          </p:cNvPr>
          <p:cNvSpPr>
            <a:spLocks xmlns:a="http://schemas.openxmlformats.org/drawingml/2006/main" noGrp="1"/>
          </p:cNvSpPr>
          <p:nvPr/>
        </p:nvSpPr>
        <p:spPr>
          <a:xfrm xmlns:a="http://schemas.openxmlformats.org/drawingml/2006/main">
            <a:off x="6991350" y="2952750"/>
            <a:ext cx="4381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Puis réussir un cas</a:t>
            </a:r>
          </a:p>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en autonomie.</a:t>
            </a:r>
          </a:p>
        </p:txBody>
      </p:sp>
      <p:sp>
        <p:nvSpPr>
          <p:cNvPr id="7" name="">
            <a:extLst xmlns:a="http://schemas.openxmlformats.org/drawingml/2006/main">
              <a:ext uri="{FF2B5EF4-FFF2-40B4-BE49-F238E27FC236}">
                <a16:creationId xmlns:a16="http://schemas.microsoft.com/office/drawing/2014/main" id="{89C089ED-30F0-47A5-84F8-8363A97561AC}"/>
              </a:ext>
            </a:extLst>
          </p:cNvPr>
          <p:cNvSpPr>
            <a:spLocks xmlns:a="http://schemas.openxmlformats.org/drawingml/2006/main" noGrp="1"/>
          </p:cNvSpPr>
          <p:nvPr/>
        </p:nvSpPr>
        <p:spPr>
          <a:xfrm xmlns:a="http://schemas.openxmlformats.org/drawingml/2006/main">
            <a:off x="6991350" y="4810125"/>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Temps inclus dans les tâches.</a:t>
            </a:r>
          </a:p>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60 € de ressources fictives.</a:t>
            </a:r>
          </a:p>
        </p:txBody>
      </p:sp>
    </p:spTree>
    <p:extLst>
      <p:ext uri="{BB962C8B-B14F-4D97-AF65-F5344CB8AC3E}">
        <p14:creationId xmlns:p14="http://schemas.microsoft.com/office/powerpoint/2010/main" val="1659184434"/>
      </p:ext>
    </p:extLst>
  </p:cSld>
</p:sld>
</file>

<file path=ppt/slides/slide1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F42DFD7-802A-413D-A2FB-4EDF1A535F88}"/>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Trois rendez-vous pour décider</a:t>
            </a:r>
          </a:p>
        </p:txBody>
      </p:sp>
      <p:sp>
        <p:nvSpPr>
          <p:cNvPr id="2" name="">
            <a:extLst xmlns:a="http://schemas.openxmlformats.org/drawingml/2006/main">
              <a:ext uri="{FF2B5EF4-FFF2-40B4-BE49-F238E27FC236}">
                <a16:creationId xmlns:a16="http://schemas.microsoft.com/office/drawing/2014/main" id="{B373A336-C8D0-4B5A-B995-26D14947970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comptes rendus simulés    20:30 à 22:00    17</a:t>
            </a:r>
          </a:p>
        </p:txBody>
      </p:sp>
      <p:sp>
        <p:nvSpPr>
          <p:cNvPr id="3" name="">
            <a:extLst xmlns:a="http://schemas.openxmlformats.org/drawingml/2006/main">
              <a:ext uri="{FF2B5EF4-FFF2-40B4-BE49-F238E27FC236}">
                <a16:creationId xmlns:a16="http://schemas.microsoft.com/office/drawing/2014/main" id="{AF273F76-35F9-4F3F-AF5F-0DC0AAE432D8}"/>
              </a:ext>
            </a:extLst>
          </p:cNvPr>
          <p:cNvSpPr>
            <a:spLocks xmlns:a="http://schemas.openxmlformats.org/drawingml/2006/main" noGrp="1"/>
          </p:cNvSpPr>
          <p:nvPr/>
        </p:nvSpPr>
        <p:spPr>
          <a:xfrm xmlns:a="http://schemas.openxmlformats.org/drawingml/2006/main">
            <a:off x="685800" y="195262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J3</a:t>
            </a:r>
          </a:p>
        </p:txBody>
      </p:sp>
      <p:sp>
        <p:nvSpPr>
          <p:cNvPr id="4" name="">
            <a:extLst xmlns:a="http://schemas.openxmlformats.org/drawingml/2006/main">
              <a:ext uri="{FF2B5EF4-FFF2-40B4-BE49-F238E27FC236}">
                <a16:creationId xmlns:a16="http://schemas.microsoft.com/office/drawing/2014/main" id="{06739D34-DDCC-4939-B2A4-7EBC4A2E5433}"/>
              </a:ext>
            </a:extLst>
          </p:cNvPr>
          <p:cNvSpPr>
            <a:spLocks xmlns:a="http://schemas.openxmlformats.org/drawingml/2006/main" noGrp="1"/>
          </p:cNvSpPr>
          <p:nvPr/>
        </p:nvSpPr>
        <p:spPr>
          <a:xfrm xmlns:a="http://schemas.openxmlformats.org/drawingml/2006/main">
            <a:off x="685800" y="322897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Périmètre</a:t>
            </a:r>
          </a:p>
        </p:txBody>
      </p:sp>
      <p:sp>
        <p:nvSpPr>
          <p:cNvPr id="5" name="">
            <a:extLst xmlns:a="http://schemas.openxmlformats.org/drawingml/2006/main">
              <a:ext uri="{FF2B5EF4-FFF2-40B4-BE49-F238E27FC236}">
                <a16:creationId xmlns:a16="http://schemas.microsoft.com/office/drawing/2014/main" id="{4A456331-01DA-4744-8A3A-EFC90EC307FD}"/>
              </a:ext>
            </a:extLst>
          </p:cNvPr>
          <p:cNvSpPr>
            <a:spLocks xmlns:a="http://schemas.openxmlformats.org/drawingml/2006/main" noGrp="1"/>
          </p:cNvSpPr>
          <p:nvPr/>
        </p:nvSpPr>
        <p:spPr>
          <a:xfrm xmlns:a="http://schemas.openxmlformats.org/drawingml/2006/main">
            <a:off x="685800" y="435292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CR01</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Critères attendus.</a:t>
            </a:r>
          </a:p>
        </p:txBody>
      </p:sp>
      <p:sp>
        <p:nvSpPr>
          <p:cNvPr id="6" name="">
            <a:extLst xmlns:a="http://schemas.openxmlformats.org/drawingml/2006/main">
              <a:ext uri="{FF2B5EF4-FFF2-40B4-BE49-F238E27FC236}">
                <a16:creationId xmlns:a16="http://schemas.microsoft.com/office/drawing/2014/main" id="{134503AA-6919-44E5-981A-564AC8EEB2B9}"/>
              </a:ext>
            </a:extLst>
          </p:cNvPr>
          <p:cNvSpPr>
            <a:spLocks xmlns:a="http://schemas.openxmlformats.org/drawingml/2006/main" noGrp="1"/>
          </p:cNvSpPr>
          <p:nvPr/>
        </p:nvSpPr>
        <p:spPr>
          <a:xfrm xmlns:a="http://schemas.openxmlformats.org/drawingml/2006/main">
            <a:off x="4292600" y="195262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J10</a:t>
            </a:r>
          </a:p>
        </p:txBody>
      </p:sp>
      <p:sp>
        <p:nvSpPr>
          <p:cNvPr id="7" name="">
            <a:extLst xmlns:a="http://schemas.openxmlformats.org/drawingml/2006/main">
              <a:ext uri="{FF2B5EF4-FFF2-40B4-BE49-F238E27FC236}">
                <a16:creationId xmlns:a16="http://schemas.microsoft.com/office/drawing/2014/main" id="{604E4DF3-CCF0-4A6F-A61C-878D91E21E12}"/>
              </a:ext>
            </a:extLst>
          </p:cNvPr>
          <p:cNvSpPr>
            <a:spLocks xmlns:a="http://schemas.openxmlformats.org/drawingml/2006/main" noGrp="1"/>
          </p:cNvSpPr>
          <p:nvPr/>
        </p:nvSpPr>
        <p:spPr>
          <a:xfrm xmlns:a="http://schemas.openxmlformats.org/drawingml/2006/main">
            <a:off x="4292600" y="322897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Écarts</a:t>
            </a:r>
          </a:p>
        </p:txBody>
      </p:sp>
      <p:sp>
        <p:nvSpPr>
          <p:cNvPr id="8" name="">
            <a:extLst xmlns:a="http://schemas.openxmlformats.org/drawingml/2006/main">
              <a:ext uri="{FF2B5EF4-FFF2-40B4-BE49-F238E27FC236}">
                <a16:creationId xmlns:a16="http://schemas.microsoft.com/office/drawing/2014/main" id="{882DB180-24A6-4555-B99E-F88609AAC556}"/>
              </a:ext>
            </a:extLst>
          </p:cNvPr>
          <p:cNvSpPr>
            <a:spLocks xmlns:a="http://schemas.openxmlformats.org/drawingml/2006/main" noGrp="1"/>
          </p:cNvSpPr>
          <p:nvPr/>
        </p:nvSpPr>
        <p:spPr>
          <a:xfrm xmlns:a="http://schemas.openxmlformats.org/drawingml/2006/main">
            <a:off x="4292600" y="435292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CR02</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Décision sur le lot.</a:t>
            </a:r>
          </a:p>
        </p:txBody>
      </p:sp>
      <p:sp>
        <p:nvSpPr>
          <p:cNvPr id="9" name="">
            <a:extLst xmlns:a="http://schemas.openxmlformats.org/drawingml/2006/main">
              <a:ext uri="{FF2B5EF4-FFF2-40B4-BE49-F238E27FC236}">
                <a16:creationId xmlns:a16="http://schemas.microsoft.com/office/drawing/2014/main" id="{CC7B1447-9607-43DE-B448-3B07F55529A3}"/>
              </a:ext>
            </a:extLst>
          </p:cNvPr>
          <p:cNvSpPr>
            <a:spLocks xmlns:a="http://schemas.openxmlformats.org/drawingml/2006/main" noGrp="1"/>
          </p:cNvSpPr>
          <p:nvPr/>
        </p:nvSpPr>
        <p:spPr>
          <a:xfrm xmlns:a="http://schemas.openxmlformats.org/drawingml/2006/main">
            <a:off x="7899400" y="195262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J15</a:t>
            </a:r>
          </a:p>
        </p:txBody>
      </p:sp>
      <p:sp>
        <p:nvSpPr>
          <p:cNvPr id="10" name="">
            <a:extLst xmlns:a="http://schemas.openxmlformats.org/drawingml/2006/main">
              <a:ext uri="{FF2B5EF4-FFF2-40B4-BE49-F238E27FC236}">
                <a16:creationId xmlns:a16="http://schemas.microsoft.com/office/drawing/2014/main" id="{C5EB54BC-FB4B-454B-ABF4-410B498A1EAB}"/>
              </a:ext>
            </a:extLst>
          </p:cNvPr>
          <p:cNvSpPr>
            <a:spLocks xmlns:a="http://schemas.openxmlformats.org/drawingml/2006/main" noGrp="1"/>
          </p:cNvSpPr>
          <p:nvPr/>
        </p:nvSpPr>
        <p:spPr>
          <a:xfrm xmlns:a="http://schemas.openxmlformats.org/drawingml/2006/main">
            <a:off x="7899400" y="322897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Validation</a:t>
            </a:r>
          </a:p>
        </p:txBody>
      </p:sp>
      <p:sp>
        <p:nvSpPr>
          <p:cNvPr id="11" name="">
            <a:extLst xmlns:a="http://schemas.openxmlformats.org/drawingml/2006/main">
              <a:ext uri="{FF2B5EF4-FFF2-40B4-BE49-F238E27FC236}">
                <a16:creationId xmlns:a16="http://schemas.microsoft.com/office/drawing/2014/main" id="{D0433D7E-1E31-4864-9A90-2EDF61886DDE}"/>
              </a:ext>
            </a:extLst>
          </p:cNvPr>
          <p:cNvSpPr>
            <a:spLocks xmlns:a="http://schemas.openxmlformats.org/drawingml/2006/main" noGrp="1"/>
          </p:cNvSpPr>
          <p:nvPr/>
        </p:nvSpPr>
        <p:spPr>
          <a:xfrm xmlns:a="http://schemas.openxmlformats.org/drawingml/2006/main">
            <a:off x="7899400" y="435292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CR03</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Acceptation et réserves.</a:t>
            </a:r>
          </a:p>
        </p:txBody>
      </p:sp>
      <p:sp>
        <p:nvSpPr>
          <p:cNvPr id="12" name="">
            <a:extLst xmlns:a="http://schemas.openxmlformats.org/drawingml/2006/main">
              <a:ext uri="{FF2B5EF4-FFF2-40B4-BE49-F238E27FC236}">
                <a16:creationId xmlns:a16="http://schemas.microsoft.com/office/drawing/2014/main" id="{BEF07E19-0CF0-4435-926A-4587F1340379}"/>
              </a:ext>
            </a:extLst>
          </p:cNvPr>
          <p:cNvSpPr>
            <a:spLocks xmlns:a="http://schemas.openxmlformats.org/drawingml/2006/main" noGrp="1"/>
          </p:cNvSpPr>
          <p:nvPr/>
        </p:nvSpPr>
        <p:spPr>
          <a:xfrm xmlns:a="http://schemas.openxmlformats.org/drawingml/2006/main">
            <a:off x="685800" y="58293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Une décision, un responsable, une échéance.</a:t>
            </a:r>
          </a:p>
        </p:txBody>
      </p:sp>
    </p:spTree>
    <p:extLst>
      <p:ext uri="{BB962C8B-B14F-4D97-AF65-F5344CB8AC3E}">
        <p14:creationId xmlns:p14="http://schemas.microsoft.com/office/powerpoint/2010/main" val="1629828469"/>
      </p:ext>
    </p:extLst>
  </p:cSld>
</p:sld>
</file>

<file path=ppt/slides/slide1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3169D3-C91B-46A6-A9D9-6A3E21C89263}"/>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satisfaction reste à mesurer</a:t>
            </a:r>
          </a:p>
        </p:txBody>
      </p:sp>
      <p:sp>
        <p:nvSpPr>
          <p:cNvPr id="2" name="">
            <a:extLst xmlns:a="http://schemas.openxmlformats.org/drawingml/2006/main">
              <a:ext uri="{FF2B5EF4-FFF2-40B4-BE49-F238E27FC236}">
                <a16:creationId xmlns:a16="http://schemas.microsoft.com/office/drawing/2014/main" id="{F9A4448F-2AE3-4B7D-963B-DB0FBFBA50A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aucun résultat client réel disponible    22:00 à 23:00    18</a:t>
            </a:r>
          </a:p>
        </p:txBody>
      </p:sp>
      <p:sp>
        <p:nvSpPr>
          <p:cNvPr id="3" name="">
            <a:extLst xmlns:a="http://schemas.openxmlformats.org/drawingml/2006/main">
              <a:ext uri="{FF2B5EF4-FFF2-40B4-BE49-F238E27FC236}">
                <a16:creationId xmlns:a16="http://schemas.microsoft.com/office/drawing/2014/main" id="{E69A72FC-C842-4380-8EF8-3A02E705F7DF}"/>
              </a:ext>
            </a:extLst>
          </p:cNvPr>
          <p:cNvSpPr>
            <a:spLocks xmlns:a="http://schemas.openxmlformats.org/drawingml/2006/main" noGrp="1"/>
          </p:cNvSpPr>
          <p:nvPr/>
        </p:nvSpPr>
        <p:spPr>
          <a:xfrm xmlns:a="http://schemas.openxmlformats.org/drawingml/2006/main">
            <a:off x="685800" y="21145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28725F"/>
                </a:solidFill>
                <a:latin typeface="Arial"/>
                <a:ea typeface="Arial"/>
                <a:cs typeface="Arial"/>
              </a:defRPr>
            </a:pPr>
            <a:r>
              <a:rPr sz="7050" b="1">
                <a:solidFill>
                  <a:srgbClr val="28725F"/>
                </a:solidFill>
                <a:latin typeface="Arial"/>
                <a:ea typeface="Arial"/>
                <a:cs typeface="Arial"/>
              </a:rPr>
              <a:t>Non mesurée</a:t>
            </a:r>
          </a:p>
        </p:txBody>
      </p:sp>
      <p:sp>
        <p:nvSpPr>
          <p:cNvPr id="4" name="">
            <a:extLst xmlns:a="http://schemas.openxmlformats.org/drawingml/2006/main">
              <a:ext uri="{FF2B5EF4-FFF2-40B4-BE49-F238E27FC236}">
                <a16:creationId xmlns:a16="http://schemas.microsoft.com/office/drawing/2014/main" id="{878FAF99-5434-4370-B7E7-A1B3DFF7B7BA}"/>
              </a:ext>
            </a:extLst>
          </p:cNvPr>
          <p:cNvSpPr>
            <a:spLocks xmlns:a="http://schemas.openxmlformats.org/drawingml/2006/main" noGrp="1"/>
          </p:cNvSpPr>
          <p:nvPr/>
        </p:nvSpPr>
        <p:spPr>
          <a:xfrm xmlns:a="http://schemas.openxmlformats.org/drawingml/2006/main">
            <a:off x="742950" y="364807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312D"/>
                </a:solidFill>
                <a:latin typeface="Arial"/>
                <a:ea typeface="Arial"/>
                <a:cs typeface="Arial"/>
              </a:defRPr>
            </a:pPr>
            <a:r>
              <a:rPr sz="2550" b="0">
                <a:solidFill>
                  <a:srgbClr val="18312D"/>
                </a:solidFill>
                <a:latin typeface="Arial"/>
                <a:ea typeface="Arial"/>
                <a:cs typeface="Arial"/>
              </a:rPr>
              <a:t>Aucun résultat client réel disponible.</a:t>
            </a:r>
          </a:p>
        </p:txBody>
      </p:sp>
      <p:sp>
        <p:nvSpPr>
          <p:cNvPr id="5" name="">
            <a:extLst xmlns:a="http://schemas.openxmlformats.org/drawingml/2006/main">
              <a:ext uri="{FF2B5EF4-FFF2-40B4-BE49-F238E27FC236}">
                <a16:creationId xmlns:a16="http://schemas.microsoft.com/office/drawing/2014/main" id="{AA325002-D1FD-4211-860D-20B38DE788DB}"/>
              </a:ext>
            </a:extLst>
          </p:cNvPr>
          <p:cNvSpPr>
            <a:spLocks xmlns:a="http://schemas.openxmlformats.org/drawingml/2006/main" noGrp="1"/>
          </p:cNvSpPr>
          <p:nvPr/>
        </p:nvSpPr>
        <p:spPr>
          <a:xfrm xmlns:a="http://schemas.openxmlformats.org/drawingml/2006/main">
            <a:off x="685800"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Critères</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acceptés</a:t>
            </a:r>
          </a:p>
        </p:txBody>
      </p:sp>
      <p:sp>
        <p:nvSpPr>
          <p:cNvPr id="6" name="">
            <a:extLst xmlns:a="http://schemas.openxmlformats.org/drawingml/2006/main">
              <a:ext uri="{FF2B5EF4-FFF2-40B4-BE49-F238E27FC236}">
                <a16:creationId xmlns:a16="http://schemas.microsoft.com/office/drawing/2014/main" id="{6E6269D9-2ACA-4321-BA68-29AC3FA9B774}"/>
              </a:ext>
            </a:extLst>
          </p:cNvPr>
          <p:cNvSpPr>
            <a:spLocks xmlns:a="http://schemas.openxmlformats.org/drawingml/2006/main" noGrp="1"/>
          </p:cNvSpPr>
          <p:nvPr/>
        </p:nvSpPr>
        <p:spPr>
          <a:xfrm xmlns:a="http://schemas.openxmlformats.org/drawingml/2006/main">
            <a:off x="3457575"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Parcours</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sans aide</a:t>
            </a:r>
          </a:p>
        </p:txBody>
      </p:sp>
      <p:sp>
        <p:nvSpPr>
          <p:cNvPr id="7" name="">
            <a:extLst xmlns:a="http://schemas.openxmlformats.org/drawingml/2006/main">
              <a:ext uri="{FF2B5EF4-FFF2-40B4-BE49-F238E27FC236}">
                <a16:creationId xmlns:a16="http://schemas.microsoft.com/office/drawing/2014/main" id="{2A9BF5E5-C4B0-4F1A-B1EB-C663387CACCD}"/>
              </a:ext>
            </a:extLst>
          </p:cNvPr>
          <p:cNvSpPr>
            <a:spLocks xmlns:a="http://schemas.openxmlformats.org/drawingml/2006/main" noGrp="1"/>
          </p:cNvSpPr>
          <p:nvPr/>
        </p:nvSpPr>
        <p:spPr>
          <a:xfrm xmlns:a="http://schemas.openxmlformats.org/drawingml/2006/main">
            <a:off x="6229350"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Utilité</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sur 5</a:t>
            </a:r>
          </a:p>
        </p:txBody>
      </p:sp>
      <p:sp>
        <p:nvSpPr>
          <p:cNvPr id="8" name="">
            <a:extLst xmlns:a="http://schemas.openxmlformats.org/drawingml/2006/main">
              <a:ext uri="{FF2B5EF4-FFF2-40B4-BE49-F238E27FC236}">
                <a16:creationId xmlns:a16="http://schemas.microsoft.com/office/drawing/2014/main" id="{9C319915-4B12-4E76-8BC2-62B95935A64C}"/>
              </a:ext>
            </a:extLst>
          </p:cNvPr>
          <p:cNvSpPr>
            <a:spLocks xmlns:a="http://schemas.openxmlformats.org/drawingml/2006/main" noGrp="1"/>
          </p:cNvSpPr>
          <p:nvPr/>
        </p:nvSpPr>
        <p:spPr>
          <a:xfrm xmlns:a="http://schemas.openxmlformats.org/drawingml/2006/main">
            <a:off x="9001125"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Blocages</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critiques</a:t>
            </a:r>
          </a:p>
        </p:txBody>
      </p:sp>
    </p:spTree>
    <p:extLst>
      <p:ext uri="{BB962C8B-B14F-4D97-AF65-F5344CB8AC3E}">
        <p14:creationId xmlns:p14="http://schemas.microsoft.com/office/powerpoint/2010/main" val="2100349180"/>
      </p:ext>
    </p:extLst>
  </p:cSld>
</p:sld>
</file>

<file path=ppt/slides/slide1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20f5e6dd39c41e8"/>
          <a:srcRect xmlns:a="http://schemas.openxmlformats.org/drawingml/2006/main" l="0" t="7823" r="0" b="782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2B8DC7-2B2B-4D3D-80F3-B5770EF81805}"/>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312D"/>
                </a:solidFill>
                <a:latin typeface="Arial"/>
                <a:ea typeface="Arial"/>
                <a:cs typeface="Arial"/>
              </a:defRPr>
            </a:pPr>
            <a:r>
              <a:rPr sz="4050" b="1">
                <a:solidFill>
                  <a:srgbClr val="18312D"/>
                </a:solidFill>
                <a:latin typeface="Arial"/>
                <a:ea typeface="Arial"/>
                <a:cs typeface="Arial"/>
              </a:rPr>
              <a:t>Place à la démonstration</a:t>
            </a:r>
          </a:p>
        </p:txBody>
      </p:sp>
      <p:sp>
        <p:nvSpPr>
          <p:cNvPr id="3" name="">
            <a:extLst xmlns:a="http://schemas.openxmlformats.org/drawingml/2006/main">
              <a:ext uri="{FF2B5EF4-FFF2-40B4-BE49-F238E27FC236}">
                <a16:creationId xmlns:a16="http://schemas.microsoft.com/office/drawing/2014/main" id="{0DB51BA7-A6BE-4780-AD04-42474BD2B0D6}"/>
              </a:ext>
            </a:extLst>
          </p:cNvPr>
          <p:cNvSpPr>
            <a:spLocks xmlns:a="http://schemas.openxmlformats.org/drawingml/2006/main" noGrp="1"/>
          </p:cNvSpPr>
          <p:nvPr/>
        </p:nvSpPr>
        <p:spPr>
          <a:xfrm xmlns:a="http://schemas.openxmlformats.org/drawingml/2006/main">
            <a:off x="609600" y="4210050"/>
            <a:ext cx="419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50" b="1">
                <a:solidFill>
                  <a:srgbClr val="FFFFFF"/>
                </a:solidFill>
                <a:latin typeface="Arial"/>
                <a:ea typeface="Arial"/>
                <a:cs typeface="Arial"/>
              </a:defRPr>
            </a:pPr>
            <a:r>
              <a:rPr sz="7650" b="1">
                <a:solidFill>
                  <a:srgbClr val="FFFFFF"/>
                </a:solidFill>
                <a:latin typeface="Arial"/>
                <a:ea typeface="Arial"/>
                <a:cs typeface="Arial"/>
              </a:rPr>
              <a:t>6 min</a:t>
            </a:r>
          </a:p>
        </p:txBody>
      </p:sp>
      <p:sp>
        <p:nvSpPr>
          <p:cNvPr id="4" name="">
            <a:extLst xmlns:a="http://schemas.openxmlformats.org/drawingml/2006/main">
              <a:ext uri="{FF2B5EF4-FFF2-40B4-BE49-F238E27FC236}">
                <a16:creationId xmlns:a16="http://schemas.microsoft.com/office/drawing/2014/main" id="{D199FB9D-F53E-4BCD-96DB-FAFA1964E913}"/>
              </a:ext>
            </a:extLst>
          </p:cNvPr>
          <p:cNvSpPr>
            <a:spLocks xmlns:a="http://schemas.openxmlformats.org/drawingml/2006/main" noGrp="1"/>
          </p:cNvSpPr>
          <p:nvPr/>
        </p:nvSpPr>
        <p:spPr>
          <a:xfrm xmlns:a="http://schemas.openxmlformats.org/drawingml/2006/main">
            <a:off x="609600" y="56578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Grimpeur, puis club</a:t>
            </a:r>
          </a:p>
        </p:txBody>
      </p:sp>
      <p:sp>
        <p:nvSpPr>
          <p:cNvPr id="5" name="">
            <a:extLst xmlns:a="http://schemas.openxmlformats.org/drawingml/2006/main">
              <a:ext uri="{FF2B5EF4-FFF2-40B4-BE49-F238E27FC236}">
                <a16:creationId xmlns:a16="http://schemas.microsoft.com/office/drawing/2014/main" id="{5AA0BF86-478D-46B4-8C29-61F38948C27A}"/>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EAF1E6"/>
                </a:solidFill>
                <a:latin typeface="Arial"/>
                <a:ea typeface="Arial"/>
                <a:cs typeface="Arial"/>
              </a:defRPr>
            </a:pPr>
            <a:r>
              <a:rPr sz="1200" b="0">
                <a:solidFill>
                  <a:srgbClr val="EAF1E6"/>
                </a:solidFill>
                <a:latin typeface="Arial"/>
                <a:ea typeface="Arial"/>
                <a:cs typeface="Arial"/>
              </a:rPr>
              <a:t>C3.4.2, séquence de six minutes    23:00 à 23:30    19</a:t>
            </a:r>
          </a:p>
        </p:txBody>
      </p:sp>
    </p:spTree>
    <p:extLst>
      <p:ext uri="{BB962C8B-B14F-4D97-AF65-F5344CB8AC3E}">
        <p14:creationId xmlns:p14="http://schemas.microsoft.com/office/powerpoint/2010/main" val="1310438563"/>
      </p:ext>
    </p:extLst>
  </p:cSld>
</p:sld>
</file>

<file path=ppt/slides/slide2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7546148-1D9A-4AB4-98DD-E37EA4077E9B}"/>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Trouver un</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partenaire</a:t>
            </a:r>
          </a:p>
        </p:txBody>
      </p:sp>
      <p:sp>
        <p:nvSpPr>
          <p:cNvPr id="2" name="">
            <a:extLst xmlns:a="http://schemas.openxmlformats.org/drawingml/2006/main">
              <a:ext uri="{FF2B5EF4-FFF2-40B4-BE49-F238E27FC236}">
                <a16:creationId xmlns:a16="http://schemas.microsoft.com/office/drawing/2014/main" id="{18357163-D71B-457C-8841-F17669AAB1C5}"/>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Profil</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Filtres</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Demande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973ce09434742a4"/>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83FA187-E7DA-41A9-B40E-F1BC7C290B8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23:30 à 26:30    20</a:t>
            </a:r>
          </a:p>
        </p:txBody>
      </p:sp>
    </p:spTree>
    <p:extLst>
      <p:ext uri="{BB962C8B-B14F-4D97-AF65-F5344CB8AC3E}">
        <p14:creationId xmlns:p14="http://schemas.microsoft.com/office/powerpoint/2010/main" val="1391229634"/>
      </p:ext>
    </p:extLst>
  </p:cSld>
</p:sld>
</file>

<file path=ppt/slides/slide2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9654323-2B71-40BA-A583-A05876F4E15F}"/>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Retrouver les</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participants</a:t>
            </a:r>
          </a:p>
        </p:txBody>
      </p:sp>
      <p:sp>
        <p:nvSpPr>
          <p:cNvPr id="2" name="">
            <a:extLst xmlns:a="http://schemas.openxmlformats.org/drawingml/2006/main">
              <a:ext uri="{FF2B5EF4-FFF2-40B4-BE49-F238E27FC236}">
                <a16:creationId xmlns:a16="http://schemas.microsoft.com/office/drawing/2014/main" id="{EEA7452F-803A-4900-B6F1-577F8C614BF0}"/>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Événement</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Inscription</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Participants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4b572d364544283"/>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31ED4E6-F7D6-43BB-AD12-DD73B448A6D5}"/>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26:30 à 29:00    21</a:t>
            </a:r>
          </a:p>
        </p:txBody>
      </p:sp>
    </p:spTree>
    <p:extLst>
      <p:ext uri="{BB962C8B-B14F-4D97-AF65-F5344CB8AC3E}">
        <p14:creationId xmlns:p14="http://schemas.microsoft.com/office/powerpoint/2010/main" val="1050072388"/>
      </p:ext>
    </p:extLst>
  </p:cSld>
</p:sld>
</file>

<file path=ppt/slides/slide2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61A1AF-AF5D-4197-89EB-5118264E049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périmètre démontré</a:t>
            </a:r>
          </a:p>
        </p:txBody>
      </p:sp>
      <p:sp>
        <p:nvSpPr>
          <p:cNvPr id="2" name="">
            <a:extLst xmlns:a="http://schemas.openxmlformats.org/drawingml/2006/main">
              <a:ext uri="{FF2B5EF4-FFF2-40B4-BE49-F238E27FC236}">
                <a16:creationId xmlns:a16="http://schemas.microsoft.com/office/drawing/2014/main" id="{09F84857-A757-4D11-B44A-24D918BC012C}"/>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Bilan et ouverture des quinze minutes de questions    29:00 à 30:00    22</a:t>
            </a:r>
          </a:p>
        </p:txBody>
      </p:sp>
      <p:sp>
        <p:nvSpPr>
          <p:cNvPr id="3" name="">
            <a:extLst xmlns:a="http://schemas.openxmlformats.org/drawingml/2006/main">
              <a:ext uri="{FF2B5EF4-FFF2-40B4-BE49-F238E27FC236}">
                <a16:creationId xmlns:a16="http://schemas.microsoft.com/office/drawing/2014/main" id="{2D57CB31-351C-4675-87C2-1F815A103273}"/>
              </a:ext>
            </a:extLst>
          </p:cNvPr>
          <p:cNvSpPr>
            <a:spLocks xmlns:a="http://schemas.openxmlformats.org/drawingml/2006/main" noGrp="1"/>
          </p:cNvSpPr>
          <p:nvPr/>
        </p:nvSpPr>
        <p:spPr>
          <a:xfrm xmlns:a="http://schemas.openxmlformats.org/drawingml/2006/main">
            <a:off x="685800" y="20383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28725F"/>
                </a:solidFill>
                <a:latin typeface="Arial"/>
                <a:ea typeface="Arial"/>
                <a:cs typeface="Arial"/>
              </a:defRPr>
            </a:pPr>
            <a:r>
              <a:rPr sz="5025" b="1">
                <a:solidFill>
                  <a:srgbClr val="28725F"/>
                </a:solidFill>
                <a:latin typeface="Arial"/>
                <a:ea typeface="Arial"/>
                <a:cs typeface="Arial"/>
              </a:rPr>
              <a:t>Anticiper</a:t>
            </a:r>
          </a:p>
        </p:txBody>
      </p:sp>
      <p:sp>
        <p:nvSpPr>
          <p:cNvPr id="4" name="">
            <a:extLst xmlns:a="http://schemas.openxmlformats.org/drawingml/2006/main">
              <a:ext uri="{FF2B5EF4-FFF2-40B4-BE49-F238E27FC236}">
                <a16:creationId xmlns:a16="http://schemas.microsoft.com/office/drawing/2014/main" id="{7208469D-0AD8-4222-A767-4E0F2E9C4478}"/>
              </a:ext>
            </a:extLst>
          </p:cNvPr>
          <p:cNvSpPr>
            <a:spLocks xmlns:a="http://schemas.openxmlformats.org/drawingml/2006/main" noGrp="1"/>
          </p:cNvSpPr>
          <p:nvPr/>
        </p:nvSpPr>
        <p:spPr>
          <a:xfrm xmlns:a="http://schemas.openxmlformats.org/drawingml/2006/main">
            <a:off x="685800" y="30194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12D"/>
                </a:solidFill>
                <a:latin typeface="Arial"/>
                <a:ea typeface="Arial"/>
                <a:cs typeface="Arial"/>
              </a:defRPr>
            </a:pPr>
            <a:r>
              <a:rPr sz="2400" b="0">
                <a:solidFill>
                  <a:srgbClr val="18312D"/>
                </a:solidFill>
                <a:latin typeface="Arial"/>
                <a:ea typeface="Arial"/>
                <a:cs typeface="Arial"/>
              </a:rPr>
              <a:t>Les écarts de charge et de coût.</a:t>
            </a:r>
          </a:p>
        </p:txBody>
      </p:sp>
      <p:sp>
        <p:nvSpPr>
          <p:cNvPr id="5" name="">
            <a:extLst xmlns:a="http://schemas.openxmlformats.org/drawingml/2006/main">
              <a:ext uri="{FF2B5EF4-FFF2-40B4-BE49-F238E27FC236}">
                <a16:creationId xmlns:a16="http://schemas.microsoft.com/office/drawing/2014/main" id="{7AD8E195-968F-4B76-8C1A-A5CDB425DF67}"/>
              </a:ext>
            </a:extLst>
          </p:cNvPr>
          <p:cNvSpPr>
            <a:spLocks xmlns:a="http://schemas.openxmlformats.org/drawingml/2006/main" noGrp="1"/>
          </p:cNvSpPr>
          <p:nvPr/>
        </p:nvSpPr>
        <p:spPr>
          <a:xfrm xmlns:a="http://schemas.openxmlformats.org/drawingml/2006/main">
            <a:off x="685800" y="404812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28725F"/>
                </a:solidFill>
                <a:latin typeface="Arial"/>
                <a:ea typeface="Arial"/>
                <a:cs typeface="Arial"/>
              </a:defRPr>
            </a:pPr>
            <a:r>
              <a:rPr sz="5025" b="1">
                <a:solidFill>
                  <a:srgbClr val="28725F"/>
                </a:solidFill>
                <a:latin typeface="Arial"/>
                <a:ea typeface="Arial"/>
                <a:cs typeface="Arial"/>
              </a:rPr>
              <a:t>Décider</a:t>
            </a:r>
          </a:p>
        </p:txBody>
      </p:sp>
      <p:sp>
        <p:nvSpPr>
          <p:cNvPr id="6" name="">
            <a:extLst xmlns:a="http://schemas.openxmlformats.org/drawingml/2006/main">
              <a:ext uri="{FF2B5EF4-FFF2-40B4-BE49-F238E27FC236}">
                <a16:creationId xmlns:a16="http://schemas.microsoft.com/office/drawing/2014/main" id="{6475F9B9-40E2-47A6-961D-5F7787958A60}"/>
              </a:ext>
            </a:extLst>
          </p:cNvPr>
          <p:cNvSpPr>
            <a:spLocks xmlns:a="http://schemas.openxmlformats.org/drawingml/2006/main" noGrp="1"/>
          </p:cNvSpPr>
          <p:nvPr/>
        </p:nvSpPr>
        <p:spPr>
          <a:xfrm xmlns:a="http://schemas.openxmlformats.org/drawingml/2006/main">
            <a:off x="685800" y="5029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12D"/>
                </a:solidFill>
                <a:latin typeface="Arial"/>
                <a:ea typeface="Arial"/>
                <a:cs typeface="Arial"/>
              </a:defRPr>
            </a:pPr>
            <a:r>
              <a:rPr sz="2400" b="0">
                <a:solidFill>
                  <a:srgbClr val="18312D"/>
                </a:solidFill>
                <a:latin typeface="Arial"/>
                <a:ea typeface="Arial"/>
                <a:cs typeface="Arial"/>
              </a:rPr>
              <a:t>Sur un périmètre et des preuves explicites.</a:t>
            </a:r>
          </a:p>
        </p:txBody>
      </p:sp>
    </p:spTree>
    <p:extLst>
      <p:ext uri="{BB962C8B-B14F-4D97-AF65-F5344CB8AC3E}">
        <p14:creationId xmlns:p14="http://schemas.microsoft.com/office/powerpoint/2010/main" val="2121081891"/>
      </p:ext>
    </p:extLst>
  </p:cSld>
</p:sld>
</file>

<file path=ppt/slides/slide2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ADF359E-132B-476A-9BBE-45E49F956CD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correspondance des preuves</a:t>
            </a:r>
          </a:p>
        </p:txBody>
      </p:sp>
      <p:sp>
        <p:nvSpPr>
          <p:cNvPr id="2" name="">
            <a:extLst xmlns:a="http://schemas.openxmlformats.org/drawingml/2006/main">
              <a:ext uri="{FF2B5EF4-FFF2-40B4-BE49-F238E27FC236}">
                <a16:creationId xmlns:a16="http://schemas.microsoft.com/office/drawing/2014/main" id="{BFE277BD-C580-4D2A-A7B1-FA8B7AE45BA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pour les questions    Questions du jury    23</a:t>
            </a:r>
          </a:p>
        </p:txBody>
      </p:sp>
      <p:graphicFrame>
        <p:nvGraphicFramePr>
          <p:cNvPr id="6" name=""/>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4381500"/>
                <a:gridCol w="6591300"/>
              </a:tblGrid>
              <a:tr h="819150">
                <a:tc>
                  <a:txBody>
                    <a:bodyPr/>
                    <a:lstStyle/>
                    <a:p>
                      <a:r>
                        <a:rPr sz="1800" b="1">
                          <a:solidFill>
                            <a:srgbClr val="FFFFFF"/>
                          </a:solidFill>
                          <a:latin typeface="Arial"/>
                          <a:ea typeface="Arial"/>
                          <a:cs typeface="Arial"/>
                        </a:rPr>
                        <a:t>Compétences</a:t>
                      </a:r>
                    </a:p>
                  </a:txBody>
                  <a:tcPr marL="91440" marR="91440" marT="45720" marB="45720">
                    <a:solidFill>
                      <a:srgbClr val="28725F"/>
                    </a:solidFill>
                  </a:tcPr>
                </a:tc>
                <a:tc>
                  <a:txBody>
                    <a:bodyPr/>
                    <a:lstStyle/>
                    <a:p>
                      <a:r>
                        <a:rPr sz="1800" b="1">
                          <a:solidFill>
                            <a:srgbClr val="FFFFFF"/>
                          </a:solidFill>
                          <a:latin typeface="Arial"/>
                          <a:ea typeface="Arial"/>
                          <a:cs typeface="Arial"/>
                        </a:rPr>
                        <a:t>Pièces de référence</a:t>
                      </a:r>
                    </a:p>
                  </a:txBody>
                  <a:tcPr marL="91440" marR="91440" marT="45720" marB="45720">
                    <a:solidFill>
                      <a:srgbClr val="28725F"/>
                    </a:solidFill>
                  </a:tcPr>
                </a:tc>
              </a:tr>
              <a:tr h="819150">
                <a:tc>
                  <a:txBody>
                    <a:bodyPr/>
                    <a:lstStyle/>
                    <a:p>
                      <a:r>
                        <a:rPr sz="1800" b="0">
                          <a:solidFill>
                            <a:srgbClr val="18312D"/>
                          </a:solidFill>
                          <a:latin typeface="Arial"/>
                          <a:ea typeface="Arial"/>
                          <a:cs typeface="Arial"/>
                        </a:rPr>
                        <a:t>C.3.1 et C3.2.1</a:t>
                      </a:r>
                    </a:p>
                  </a:txBody>
                  <a:tcPr marL="91440" marR="91440" marT="45720" marB="45720">
                    <a:solidFill>
                      <a:srgbClr val="E9EEE4"/>
                    </a:solidFill>
                  </a:tcPr>
                </a:tc>
                <a:tc>
                  <a:txBody>
                    <a:bodyPr/>
                    <a:lstStyle/>
                    <a:p>
                      <a:r>
                        <a:rPr sz="1800" b="0">
                          <a:solidFill>
                            <a:srgbClr val="18312D"/>
                          </a:solidFill>
                          <a:latin typeface="Arial"/>
                          <a:ea typeface="Arial"/>
                          <a:cs typeface="Arial"/>
                        </a:rPr>
                        <a:t>A01 à A03 et classeur</a:t>
                      </a:r>
                    </a:p>
                  </a:txBody>
                  <a:tcPr marL="91440" marR="91440" marT="45720" marB="45720">
                    <a:solidFill>
                      <a:srgbClr val="E9EEE4"/>
                    </a:solidFill>
                  </a:tcPr>
                </a:tc>
              </a:tr>
              <a:tr h="819150">
                <a:tc>
                  <a:txBody>
                    <a:bodyPr/>
                    <a:lstStyle/>
                    <a:p>
                      <a:r>
                        <a:rPr sz="1800" b="0">
                          <a:solidFill>
                            <a:srgbClr val="18312D"/>
                          </a:solidFill>
                          <a:latin typeface="Arial"/>
                          <a:ea typeface="Arial"/>
                          <a:cs typeface="Arial"/>
                        </a:rPr>
                        <a:t>C3.2.2</a:t>
                      </a:r>
                    </a:p>
                  </a:txBody>
                  <a:tcPr marL="91440" marR="91440" marT="45720" marB="45720">
                    <a:solidFill>
                      <a:srgbClr val="F5F3EA"/>
                    </a:solidFill>
                  </a:tcPr>
                </a:tc>
                <a:tc>
                  <a:txBody>
                    <a:bodyPr/>
                    <a:lstStyle/>
                    <a:p>
                      <a:r>
                        <a:rPr sz="1800" b="0">
                          <a:solidFill>
                            <a:srgbClr val="18312D"/>
                          </a:solidFill>
                          <a:latin typeface="Arial"/>
                          <a:ea typeface="Arial"/>
                          <a:cs typeface="Arial"/>
                        </a:rPr>
                        <a:t>A04 et commit 689e59d</a:t>
                      </a:r>
                    </a:p>
                  </a:txBody>
                  <a:tcPr marL="91440" marR="91440" marT="45720" marB="45720">
                    <a:solidFill>
                      <a:srgbClr val="F5F3EA"/>
                    </a:solidFill>
                  </a:tcPr>
                </a:tc>
              </a:tr>
              <a:tr h="819150">
                <a:tc>
                  <a:txBody>
                    <a:bodyPr/>
                    <a:lstStyle/>
                    <a:p>
                      <a:r>
                        <a:rPr sz="1800" b="0">
                          <a:solidFill>
                            <a:srgbClr val="18312D"/>
                          </a:solidFill>
                          <a:latin typeface="Arial"/>
                          <a:ea typeface="Arial"/>
                          <a:cs typeface="Arial"/>
                        </a:rPr>
                        <a:t>C3.3.1 et C3.3.2</a:t>
                      </a:r>
                    </a:p>
                  </a:txBody>
                  <a:tcPr marL="91440" marR="91440" marT="45720" marB="45720">
                    <a:solidFill>
                      <a:srgbClr val="E9EEE4"/>
                    </a:solidFill>
                  </a:tcPr>
                </a:tc>
                <a:tc>
                  <a:txBody>
                    <a:bodyPr/>
                    <a:lstStyle/>
                    <a:p>
                      <a:r>
                        <a:rPr sz="1800" b="0">
                          <a:solidFill>
                            <a:srgbClr val="18312D"/>
                          </a:solidFill>
                          <a:latin typeface="Arial"/>
                          <a:ea typeface="Arial"/>
                          <a:cs typeface="Arial"/>
                        </a:rPr>
                        <a:t>A05 et A06</a:t>
                      </a:r>
                    </a:p>
                  </a:txBody>
                  <a:tcPr marL="91440" marR="91440" marT="45720" marB="45720">
                    <a:solidFill>
                      <a:srgbClr val="E9EEE4"/>
                    </a:solidFill>
                  </a:tcPr>
                </a:tc>
              </a:tr>
              <a:tr h="819150">
                <a:tc>
                  <a:txBody>
                    <a:bodyPr/>
                    <a:lstStyle/>
                    <a:p>
                      <a:r>
                        <a:rPr sz="1800" b="0">
                          <a:solidFill>
                            <a:srgbClr val="18312D"/>
                          </a:solidFill>
                          <a:latin typeface="Arial"/>
                          <a:ea typeface="Arial"/>
                          <a:cs typeface="Arial"/>
                        </a:rPr>
                        <a:t>C3.4.1 et C3.4.2</a:t>
                      </a:r>
                    </a:p>
                  </a:txBody>
                  <a:tcPr marL="91440" marR="91440" marT="45720" marB="45720">
                    <a:solidFill>
                      <a:srgbClr val="F5F3EA"/>
                    </a:solidFill>
                  </a:tcPr>
                </a:tc>
                <a:tc>
                  <a:txBody>
                    <a:bodyPr/>
                    <a:lstStyle/>
                    <a:p>
                      <a:r>
                        <a:rPr sz="1800" b="0">
                          <a:solidFill>
                            <a:srgbClr val="18312D"/>
                          </a:solidFill>
                          <a:latin typeface="Arial"/>
                          <a:ea typeface="Arial"/>
                          <a:cs typeface="Arial"/>
                        </a:rPr>
                        <a:t>A07, A08 et vérifications</a:t>
                      </a:r>
                    </a:p>
                  </a:txBody>
                  <a:tcPr marL="91440" marR="91440" marT="45720" marB="45720">
                    <a:solidFill>
                      <a:srgbClr val="F5F3EA"/>
                    </a:solidFill>
                  </a:tcPr>
                </a:tc>
              </a:tr>
            </a:tbl>
          </a:graphicData>
        </a:graphic>
      </p:graphicFrame>
    </p:spTree>
    <p:extLst>
      <p:ext uri="{BB962C8B-B14F-4D97-AF65-F5344CB8AC3E}">
        <p14:creationId xmlns:p14="http://schemas.microsoft.com/office/powerpoint/2010/main" val="1055235579"/>
      </p:ext>
    </p:extLst>
  </p:cSld>
</p:sld>
</file>

<file path=ppt/slides/slide2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CDE3302-C234-440D-B3CD-BF46C99EC1BE}"/>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calcul de la prévision</a:t>
            </a:r>
          </a:p>
        </p:txBody>
      </p:sp>
      <p:sp>
        <p:nvSpPr>
          <p:cNvPr id="2" name="">
            <a:extLst xmlns:a="http://schemas.openxmlformats.org/drawingml/2006/main">
              <a:ext uri="{FF2B5EF4-FFF2-40B4-BE49-F238E27FC236}">
                <a16:creationId xmlns:a16="http://schemas.microsoft.com/office/drawing/2014/main" id="{54446F0C-13A9-4FBD-A620-8B2908319F7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données fictives en euros    Questions du jury    24</a:t>
            </a:r>
          </a:p>
        </p:txBody>
      </p:sp>
      <p:graphicFrame>
        <p:nvGraphicFramePr>
          <p:cNvPr id="6" name=""/>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3524250"/>
                <a:gridCol w="5334000"/>
                <a:gridCol w="2114550"/>
              </a:tblGrid>
              <a:tr h="682625">
                <a:tc>
                  <a:txBody>
                    <a:bodyPr/>
                    <a:lstStyle/>
                    <a:p>
                      <a:r>
                        <a:rPr sz="1800" b="1">
                          <a:solidFill>
                            <a:srgbClr val="FFFFFF"/>
                          </a:solidFill>
                          <a:latin typeface="Arial"/>
                          <a:ea typeface="Arial"/>
                          <a:cs typeface="Arial"/>
                        </a:rPr>
                        <a:t>Poste</a:t>
                      </a:r>
                    </a:p>
                  </a:txBody>
                  <a:tcPr marL="91440" marR="91440" marT="45720" marB="45720">
                    <a:solidFill>
                      <a:srgbClr val="28725F"/>
                    </a:solidFill>
                  </a:tcPr>
                </a:tc>
                <a:tc>
                  <a:txBody>
                    <a:bodyPr/>
                    <a:lstStyle/>
                    <a:p>
                      <a:r>
                        <a:rPr sz="1800" b="1">
                          <a:solidFill>
                            <a:srgbClr val="FFFFFF"/>
                          </a:solidFill>
                          <a:latin typeface="Arial"/>
                          <a:ea typeface="Arial"/>
                          <a:cs typeface="Arial"/>
                        </a:rPr>
                        <a:t>Calcul</a:t>
                      </a:r>
                    </a:p>
                  </a:txBody>
                  <a:tcPr marL="91440" marR="91440" marT="45720" marB="45720">
                    <a:solidFill>
                      <a:srgbClr val="28725F"/>
                    </a:solidFill>
                  </a:tcPr>
                </a:tc>
                <a:tc>
                  <a:txBody>
                    <a:bodyPr/>
                    <a:lstStyle/>
                    <a:p>
                      <a:r>
                        <a:rPr sz="1800" b="1">
                          <a:solidFill>
                            <a:srgbClr val="FFFFFF"/>
                          </a:solidFill>
                          <a:latin typeface="Arial"/>
                          <a:ea typeface="Arial"/>
                          <a:cs typeface="Arial"/>
                        </a:rPr>
                        <a:t>Montant</a:t>
                      </a:r>
                    </a:p>
                  </a:txBody>
                  <a:tcPr marL="91440" marR="91440" marT="45720" marB="45720">
                    <a:solidFill>
                      <a:srgbClr val="28725F"/>
                    </a:solidFill>
                  </a:tcPr>
                </a:tc>
              </a:tr>
              <a:tr h="682625">
                <a:tc>
                  <a:txBody>
                    <a:bodyPr/>
                    <a:lstStyle/>
                    <a:p>
                      <a:r>
                        <a:rPr sz="1800" b="0">
                          <a:solidFill>
                            <a:srgbClr val="18312D"/>
                          </a:solidFill>
                          <a:latin typeface="Arial"/>
                          <a:ea typeface="Arial"/>
                          <a:cs typeface="Arial"/>
                        </a:rPr>
                        <a:t>Chef de projet</a:t>
                      </a:r>
                    </a:p>
                  </a:txBody>
                  <a:tcPr marL="91440" marR="91440" marT="45720" marB="45720">
                    <a:solidFill>
                      <a:srgbClr val="E9EEE4"/>
                    </a:solidFill>
                  </a:tcPr>
                </a:tc>
                <a:tc>
                  <a:txBody>
                    <a:bodyPr/>
                    <a:lstStyle/>
                    <a:p>
                      <a:r>
                        <a:rPr sz="1800" b="0">
                          <a:solidFill>
                            <a:srgbClr val="18312D"/>
                          </a:solidFill>
                          <a:latin typeface="Arial"/>
                          <a:ea typeface="Arial"/>
                          <a:cs typeface="Arial"/>
                        </a:rPr>
                        <a:t>29 h × 45 €</a:t>
                      </a:r>
                    </a:p>
                  </a:txBody>
                  <a:tcPr marL="91440" marR="91440" marT="45720" marB="45720">
                    <a:solidFill>
                      <a:srgbClr val="E9EEE4"/>
                    </a:solidFill>
                  </a:tcPr>
                </a:tc>
                <a:tc>
                  <a:txBody>
                    <a:bodyPr/>
                    <a:lstStyle/>
                    <a:p>
                      <a:r>
                        <a:rPr sz="1800" b="0">
                          <a:solidFill>
                            <a:srgbClr val="18312D"/>
                          </a:solidFill>
                          <a:latin typeface="Arial"/>
                          <a:ea typeface="Arial"/>
                          <a:cs typeface="Arial"/>
                        </a:rPr>
                        <a:t>1 305 €</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Développement</a:t>
                      </a:r>
                    </a:p>
                  </a:txBody>
                  <a:tcPr marL="91440" marR="91440" marT="45720" marB="45720">
                    <a:solidFill>
                      <a:srgbClr val="F5F3EA"/>
                    </a:solidFill>
                  </a:tcPr>
                </a:tc>
                <a:tc>
                  <a:txBody>
                    <a:bodyPr/>
                    <a:lstStyle/>
                    <a:p>
                      <a:r>
                        <a:rPr sz="1800" b="0">
                          <a:solidFill>
                            <a:srgbClr val="18312D"/>
                          </a:solidFill>
                          <a:latin typeface="Arial"/>
                          <a:ea typeface="Arial"/>
                          <a:cs typeface="Arial"/>
                        </a:rPr>
                        <a:t>64 h × 35 €</a:t>
                      </a:r>
                    </a:p>
                  </a:txBody>
                  <a:tcPr marL="91440" marR="91440" marT="45720" marB="45720">
                    <a:solidFill>
                      <a:srgbClr val="F5F3EA"/>
                    </a:solidFill>
                  </a:tcPr>
                </a:tc>
                <a:tc>
                  <a:txBody>
                    <a:bodyPr/>
                    <a:lstStyle/>
                    <a:p>
                      <a:r>
                        <a:rPr sz="1800" b="0">
                          <a:solidFill>
                            <a:srgbClr val="18312D"/>
                          </a:solidFill>
                          <a:latin typeface="Arial"/>
                          <a:ea typeface="Arial"/>
                          <a:cs typeface="Arial"/>
                        </a:rPr>
                        <a:t>2 240 €</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Recette</a:t>
                      </a:r>
                    </a:p>
                  </a:txBody>
                  <a:tcPr marL="91440" marR="91440" marT="45720" marB="45720">
                    <a:solidFill>
                      <a:srgbClr val="E9EEE4"/>
                    </a:solidFill>
                  </a:tcPr>
                </a:tc>
                <a:tc>
                  <a:txBody>
                    <a:bodyPr/>
                    <a:lstStyle/>
                    <a:p>
                      <a:r>
                        <a:rPr sz="1800" b="0">
                          <a:solidFill>
                            <a:srgbClr val="18312D"/>
                          </a:solidFill>
                          <a:latin typeface="Arial"/>
                          <a:ea typeface="Arial"/>
                          <a:cs typeface="Arial"/>
                        </a:rPr>
                        <a:t>24 h × 30 €</a:t>
                      </a:r>
                    </a:p>
                  </a:txBody>
                  <a:tcPr marL="91440" marR="91440" marT="45720" marB="45720">
                    <a:solidFill>
                      <a:srgbClr val="E9EEE4"/>
                    </a:solidFill>
                  </a:tcPr>
                </a:tc>
                <a:tc>
                  <a:txBody>
                    <a:bodyPr/>
                    <a:lstStyle/>
                    <a:p>
                      <a:r>
                        <a:rPr sz="1800" b="0">
                          <a:solidFill>
                            <a:srgbClr val="18312D"/>
                          </a:solidFill>
                          <a:latin typeface="Arial"/>
                          <a:ea typeface="Arial"/>
                          <a:cs typeface="Arial"/>
                        </a:rPr>
                        <a:t>720 €</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Frais prévisionnels</a:t>
                      </a:r>
                    </a:p>
                  </a:txBody>
                  <a:tcPr marL="91440" marR="91440" marT="45720" marB="45720">
                    <a:solidFill>
                      <a:srgbClr val="F5F3EA"/>
                    </a:solidFill>
                  </a:tcPr>
                </a:tc>
                <a:tc>
                  <a:txBody>
                    <a:bodyPr/>
                    <a:lstStyle/>
                    <a:p>
                      <a:r>
                        <a:rPr sz="1800" b="0">
                          <a:solidFill>
                            <a:srgbClr val="18312D"/>
                          </a:solidFill>
                          <a:latin typeface="Arial"/>
                          <a:ea typeface="Arial"/>
                          <a:cs typeface="Arial"/>
                        </a:rPr>
                        <a:t>Infrastructure et formation</a:t>
                      </a:r>
                    </a:p>
                  </a:txBody>
                  <a:tcPr marL="91440" marR="91440" marT="45720" marB="45720">
                    <a:solidFill>
                      <a:srgbClr val="F5F3EA"/>
                    </a:solidFill>
                  </a:tcPr>
                </a:tc>
                <a:tc>
                  <a:txBody>
                    <a:bodyPr/>
                    <a:lstStyle/>
                    <a:p>
                      <a:r>
                        <a:rPr sz="1800" b="0">
                          <a:solidFill>
                            <a:srgbClr val="18312D"/>
                          </a:solidFill>
                          <a:latin typeface="Arial"/>
                          <a:ea typeface="Arial"/>
                          <a:cs typeface="Arial"/>
                        </a:rPr>
                        <a:t>200 €</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Total à terminaison</a:t>
                      </a:r>
                    </a:p>
                  </a:txBody>
                  <a:tcPr marL="91440" marR="91440" marT="45720" marB="45720">
                    <a:solidFill>
                      <a:srgbClr val="E9EEE4"/>
                    </a:solidFill>
                  </a:tcPr>
                </a:tc>
                <a:tc>
                  <a:txBody>
                    <a:bodyPr/>
                    <a:lstStyle/>
                    <a:p>
                      <a:r>
                        <a:rPr sz="1800" b="0">
                          <a:solidFill>
                            <a:srgbClr val="18312D"/>
                          </a:solidFill>
                          <a:latin typeface="Arial"/>
                          <a:ea typeface="Arial"/>
                          <a:cs typeface="Arial"/>
                        </a:rPr>
                        <a:t>Travail et frais</a:t>
                      </a:r>
                    </a:p>
                  </a:txBody>
                  <a:tcPr marL="91440" marR="91440" marT="45720" marB="45720">
                    <a:solidFill>
                      <a:srgbClr val="E9EEE4"/>
                    </a:solidFill>
                  </a:tcPr>
                </a:tc>
                <a:tc>
                  <a:txBody>
                    <a:bodyPr/>
                    <a:lstStyle/>
                    <a:p>
                      <a:r>
                        <a:rPr sz="1800" b="0">
                          <a:solidFill>
                            <a:srgbClr val="18312D"/>
                          </a:solidFill>
                          <a:latin typeface="Arial"/>
                          <a:ea typeface="Arial"/>
                          <a:cs typeface="Arial"/>
                        </a:rPr>
                        <a:t>4 465 €</a:t>
                      </a:r>
                    </a:p>
                  </a:txBody>
                  <a:tcPr marL="91440" marR="91440" marT="45720" marB="45720">
                    <a:solidFill>
                      <a:srgbClr val="E9EEE4"/>
                    </a:solidFill>
                  </a:tcPr>
                </a:tc>
              </a:tr>
            </a:tbl>
          </a:graphicData>
        </a:graphic>
      </p:graphicFrame>
    </p:spTree>
    <p:extLst>
      <p:ext uri="{BB962C8B-B14F-4D97-AF65-F5344CB8AC3E}">
        <p14:creationId xmlns:p14="http://schemas.microsoft.com/office/powerpoint/2010/main" val="501612474"/>
      </p:ext>
    </p:extLst>
  </p:cSld>
</p:sld>
</file>

<file path=ppt/slides/slide2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5C4620-5EFC-41DF-BFEE-72C34B887A02}"/>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sources et portée des contrôles</a:t>
            </a:r>
          </a:p>
        </p:txBody>
      </p:sp>
      <p:sp>
        <p:nvSpPr>
          <p:cNvPr id="2" name="">
            <a:extLst xmlns:a="http://schemas.openxmlformats.org/drawingml/2006/main">
              <a:ext uri="{FF2B5EF4-FFF2-40B4-BE49-F238E27FC236}">
                <a16:creationId xmlns:a16="http://schemas.microsoft.com/office/drawing/2014/main" id="{5DA1B0D4-DE53-46AB-8696-B637EEAB345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documentaire    Questions du jury    25</a:t>
            </a:r>
          </a:p>
        </p:txBody>
      </p:sp>
      <p:sp>
        <p:nvSpPr>
          <p:cNvPr id="3" name="">
            <a:extLst xmlns:a="http://schemas.openxmlformats.org/drawingml/2006/main">
              <a:ext uri="{FF2B5EF4-FFF2-40B4-BE49-F238E27FC236}">
                <a16:creationId xmlns:a16="http://schemas.microsoft.com/office/drawing/2014/main" id="{80230D4D-E587-49E0-ACD7-4ACB1B956097}"/>
              </a:ext>
            </a:extLst>
          </p:cNvPr>
          <p:cNvSpPr>
            <a:spLocks xmlns:a="http://schemas.openxmlformats.org/drawingml/2006/main" noGrp="1"/>
          </p:cNvSpPr>
          <p:nvPr/>
        </p:nvSpPr>
        <p:spPr>
          <a:xfrm xmlns:a="http://schemas.openxmlformats.org/drawingml/2006/main">
            <a:off x="685800" y="195262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8725F"/>
                </a:solidFill>
                <a:latin typeface="Arial"/>
                <a:ea typeface="Arial"/>
                <a:cs typeface="Arial"/>
              </a:defRPr>
            </a:pPr>
            <a:r>
              <a:rPr sz="2550" b="1">
                <a:solidFill>
                  <a:srgbClr val="28725F"/>
                </a:solidFill>
                <a:latin typeface="Arial"/>
                <a:ea typeface="Arial"/>
                <a:cs typeface="Arial"/>
              </a:rPr>
              <a:t>Cadre officiel</a:t>
            </a:r>
          </a:p>
        </p:txBody>
      </p:sp>
      <p:sp>
        <p:nvSpPr>
          <p:cNvPr id="4" name="">
            <a:extLst xmlns:a="http://schemas.openxmlformats.org/drawingml/2006/main">
              <a:ext uri="{FF2B5EF4-FFF2-40B4-BE49-F238E27FC236}">
                <a16:creationId xmlns:a16="http://schemas.microsoft.com/office/drawing/2014/main" id="{6457E03C-D884-4E69-9172-5E1C9B32D983}"/>
              </a:ext>
            </a:extLst>
          </p:cNvPr>
          <p:cNvSpPr>
            <a:spLocks xmlns:a="http://schemas.openxmlformats.org/drawingml/2006/main" noGrp="1"/>
          </p:cNvSpPr>
          <p:nvPr/>
        </p:nvSpPr>
        <p:spPr>
          <a:xfrm xmlns:a="http://schemas.openxmlformats.org/drawingml/2006/main">
            <a:off x="685800" y="3000375"/>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Référentiel, pages 11 à 14.</a:t>
            </a:r>
          </a:p>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Modalités 2025–2026.</a:t>
            </a:r>
          </a:p>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Grille BC03.</a:t>
            </a:r>
          </a:p>
        </p:txBody>
      </p:sp>
      <p:sp>
        <p:nvSpPr>
          <p:cNvPr id="5" name="">
            <a:extLst xmlns:a="http://schemas.openxmlformats.org/drawingml/2006/main">
              <a:ext uri="{FF2B5EF4-FFF2-40B4-BE49-F238E27FC236}">
                <a16:creationId xmlns:a16="http://schemas.microsoft.com/office/drawing/2014/main" id="{99635AF7-CA81-4407-8F99-4E85A0DB362F}"/>
              </a:ext>
            </a:extLst>
          </p:cNvPr>
          <p:cNvSpPr>
            <a:spLocks xmlns:a="http://schemas.openxmlformats.org/drawingml/2006/main" noGrp="1"/>
          </p:cNvSpPr>
          <p:nvPr/>
        </p:nvSpPr>
        <p:spPr>
          <a:xfrm xmlns:a="http://schemas.openxmlformats.org/drawingml/2006/main">
            <a:off x="6477000" y="195262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8725F"/>
                </a:solidFill>
                <a:latin typeface="Arial"/>
                <a:ea typeface="Arial"/>
                <a:cs typeface="Arial"/>
              </a:defRPr>
            </a:pPr>
            <a:r>
              <a:rPr sz="2550" b="1">
                <a:solidFill>
                  <a:srgbClr val="28725F"/>
                </a:solidFill>
                <a:latin typeface="Arial"/>
                <a:ea typeface="Arial"/>
                <a:cs typeface="Arial"/>
              </a:rPr>
              <a:t>Portée des preuves</a:t>
            </a:r>
          </a:p>
        </p:txBody>
      </p:sp>
      <p:sp>
        <p:nvSpPr>
          <p:cNvPr id="6" name="">
            <a:extLst xmlns:a="http://schemas.openxmlformats.org/drawingml/2006/main">
              <a:ext uri="{FF2B5EF4-FFF2-40B4-BE49-F238E27FC236}">
                <a16:creationId xmlns:a16="http://schemas.microsoft.com/office/drawing/2014/main" id="{2F5C80D0-57CC-4929-8504-126AB4974770}"/>
              </a:ext>
            </a:extLst>
          </p:cNvPr>
          <p:cNvSpPr>
            <a:spLocks xmlns:a="http://schemas.openxmlformats.org/drawingml/2006/main" noGrp="1"/>
          </p:cNvSpPr>
          <p:nvPr/>
        </p:nvSpPr>
        <p:spPr>
          <a:xfrm xmlns:a="http://schemas.openxmlformats.org/drawingml/2006/main">
            <a:off x="6477000" y="3000375"/>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389 tests unitaires.</a:t>
            </a:r>
          </a:p>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6 scénarios navigateur.</a:t>
            </a:r>
          </a:p>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Aucune validation client réelle.</a:t>
            </a:r>
          </a:p>
        </p:txBody>
      </p:sp>
    </p:spTree>
    <p:extLst>
      <p:ext uri="{BB962C8B-B14F-4D97-AF65-F5344CB8AC3E}">
        <p14:creationId xmlns:p14="http://schemas.microsoft.com/office/powerpoint/2010/main" val="17349157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2026-09-14T09:07:21.9870000Z</dcterms:created>
  <dcterms:modified xsi:type="dcterms:W3CDTF">2026-09-14T09:07:21.9870000Z</dcterms:modified>
</coreProperties>
</file>