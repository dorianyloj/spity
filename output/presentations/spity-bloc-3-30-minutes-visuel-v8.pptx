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93edf5b24574efd" /><Relationship Type="http://schemas.openxmlformats.org/officeDocument/2006/relationships/extended-properties" Target="/docProps/app.xml" Id="Rae3989371ac54489" /><Relationship Type="http://schemas.openxmlformats.org/officeDocument/2006/relationships/officeDocument" Target="/ppt/presentation.xml" Id="R90a92441cb944160" /></Relationships>
</file>

<file path=ppt/presentation.xml><?xml version="1.0" encoding="utf-8"?>
<p:presentation xmlns:p="http://schemas.openxmlformats.org/presentationml/2006/main">
  <p:sldMasterIdLst>
    <p:sldMasterId xmlns:r="http://schemas.openxmlformats.org/officeDocument/2006/relationships" id="2147483648" r:id="Rd3e89935f8c04383"/>
  </p:sldMasterIdLst>
  <p:notesMasterIdLst>
    <p:notesMasterId xmlns:r="http://schemas.openxmlformats.org/officeDocument/2006/relationships" r:id="R5808097103284e7d"/>
  </p:notesMasterIdLst>
  <p:sldIdLst>
    <p:sldId xmlns:r="http://schemas.openxmlformats.org/officeDocument/2006/relationships" id="256" r:id="Rfe8a94a5805d46c3"/>
    <p:sldId xmlns:r="http://schemas.openxmlformats.org/officeDocument/2006/relationships" id="257" r:id="R82ad0613a5e248a3"/>
    <p:sldId xmlns:r="http://schemas.openxmlformats.org/officeDocument/2006/relationships" id="258" r:id="R29c17ab5c71a4c85"/>
    <p:sldId xmlns:r="http://schemas.openxmlformats.org/officeDocument/2006/relationships" id="259" r:id="R32de58b4430d45df"/>
    <p:sldId xmlns:r="http://schemas.openxmlformats.org/officeDocument/2006/relationships" id="260" r:id="R096a29667a454ec3"/>
    <p:sldId xmlns:r="http://schemas.openxmlformats.org/officeDocument/2006/relationships" id="261" r:id="Rb6fede53ccd34878"/>
    <p:sldId xmlns:r="http://schemas.openxmlformats.org/officeDocument/2006/relationships" id="262" r:id="Rbc0919cbd97643e0"/>
    <p:sldId xmlns:r="http://schemas.openxmlformats.org/officeDocument/2006/relationships" id="263" r:id="R49a40667e4e6454f"/>
    <p:sldId xmlns:r="http://schemas.openxmlformats.org/officeDocument/2006/relationships" id="264" r:id="R528b539daab445c8"/>
    <p:sldId xmlns:r="http://schemas.openxmlformats.org/officeDocument/2006/relationships" id="265" r:id="R4d5840e4d4ad47b0"/>
    <p:sldId xmlns:r="http://schemas.openxmlformats.org/officeDocument/2006/relationships" id="266" r:id="R8cae8d1ffd2141d8"/>
    <p:sldId xmlns:r="http://schemas.openxmlformats.org/officeDocument/2006/relationships" id="267" r:id="R785caf5144a64328"/>
    <p:sldId xmlns:r="http://schemas.openxmlformats.org/officeDocument/2006/relationships" id="268" r:id="R51066744482d4f6e"/>
    <p:sldId xmlns:r="http://schemas.openxmlformats.org/officeDocument/2006/relationships" id="269" r:id="R2076db13fb9246ea"/>
    <p:sldId xmlns:r="http://schemas.openxmlformats.org/officeDocument/2006/relationships" id="270" r:id="R4f0fdffd48d24e68"/>
    <p:sldId xmlns:r="http://schemas.openxmlformats.org/officeDocument/2006/relationships" id="271" r:id="R0b304b46e16b4a19"/>
    <p:sldId xmlns:r="http://schemas.openxmlformats.org/officeDocument/2006/relationships" id="272" r:id="R1cf39eaf44654d83"/>
    <p:sldId xmlns:r="http://schemas.openxmlformats.org/officeDocument/2006/relationships" id="273" r:id="Rb514a6205f90405d"/>
    <p:sldId xmlns:r="http://schemas.openxmlformats.org/officeDocument/2006/relationships" id="274" r:id="Rea9c93aeb21643d8"/>
    <p:sldId xmlns:r="http://schemas.openxmlformats.org/officeDocument/2006/relationships" id="275" r:id="R1b65e3055cf648f8"/>
    <p:sldId xmlns:r="http://schemas.openxmlformats.org/officeDocument/2006/relationships" id="276" r:id="R2889b591b7f348f9"/>
    <p:sldId xmlns:r="http://schemas.openxmlformats.org/officeDocument/2006/relationships" id="277" r:id="R220d570dd4974052"/>
    <p:sldId xmlns:r="http://schemas.openxmlformats.org/officeDocument/2006/relationships" id="278" r:id="Re81c2beb5fcc4507"/>
    <p:sldId xmlns:r="http://schemas.openxmlformats.org/officeDocument/2006/relationships" id="279" r:id="R7c44a93b79484c83"/>
    <p:sldId xmlns:r="http://schemas.openxmlformats.org/officeDocument/2006/relationships" id="280" r:id="R4985f1bfbe1646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72e565d5ba4219" /><Relationship Type="http://schemas.openxmlformats.org/officeDocument/2006/relationships/slideMaster" Target="/ppt/slideMasters/slideMaster1.xml" Id="Rd3e89935f8c04383" /><Relationship Type="http://schemas.openxmlformats.org/officeDocument/2006/relationships/notesMaster" Target="/ppt/notesMasters/notesMaster1.xml" Id="R5808097103284e7d" /><Relationship Type="http://schemas.openxmlformats.org/officeDocument/2006/relationships/presProps" Target="/ppt/presProps.xml" Id="R75b270d2dd624974" /><Relationship Type="http://schemas.openxmlformats.org/officeDocument/2006/relationships/tableStyles" Target="/ppt/tableStyles.xml" Id="R1eb14112ea2749c5" /><Relationship Type="http://schemas.openxmlformats.org/officeDocument/2006/relationships/slide" Target="/ppt/slides/slide1.xml" Id="Rfe8a94a5805d46c3" /><Relationship Type="http://schemas.openxmlformats.org/officeDocument/2006/relationships/slide" Target="/ppt/slides/slide2.xml" Id="R82ad0613a5e248a3" /><Relationship Type="http://schemas.openxmlformats.org/officeDocument/2006/relationships/slide" Target="/ppt/slides/slide3.xml" Id="R29c17ab5c71a4c85" /><Relationship Type="http://schemas.openxmlformats.org/officeDocument/2006/relationships/slide" Target="/ppt/slides/slide4.xml" Id="R32de58b4430d45df" /><Relationship Type="http://schemas.openxmlformats.org/officeDocument/2006/relationships/slide" Target="/ppt/slides/slide5.xml" Id="R096a29667a454ec3" /><Relationship Type="http://schemas.openxmlformats.org/officeDocument/2006/relationships/slide" Target="/ppt/slides/slide6.xml" Id="Rb6fede53ccd34878" /><Relationship Type="http://schemas.openxmlformats.org/officeDocument/2006/relationships/slide" Target="/ppt/slides/slide7.xml" Id="Rbc0919cbd97643e0" /><Relationship Type="http://schemas.openxmlformats.org/officeDocument/2006/relationships/slide" Target="/ppt/slides/slide8.xml" Id="R49a40667e4e6454f" /><Relationship Type="http://schemas.openxmlformats.org/officeDocument/2006/relationships/slide" Target="/ppt/slides/slide9.xml" Id="R528b539daab445c8" /><Relationship Type="http://schemas.openxmlformats.org/officeDocument/2006/relationships/slide" Target="/ppt/slides/slide10.xml" Id="R4d5840e4d4ad47b0" /><Relationship Type="http://schemas.openxmlformats.org/officeDocument/2006/relationships/slide" Target="/ppt/slides/slide11.xml" Id="R8cae8d1ffd2141d8" /><Relationship Type="http://schemas.openxmlformats.org/officeDocument/2006/relationships/slide" Target="/ppt/slides/slide12.xml" Id="R785caf5144a64328" /><Relationship Type="http://schemas.openxmlformats.org/officeDocument/2006/relationships/slide" Target="/ppt/slides/slide13.xml" Id="R51066744482d4f6e" /><Relationship Type="http://schemas.openxmlformats.org/officeDocument/2006/relationships/slide" Target="/ppt/slides/slide14.xml" Id="R2076db13fb9246ea" /><Relationship Type="http://schemas.openxmlformats.org/officeDocument/2006/relationships/slide" Target="/ppt/slides/slide15.xml" Id="R4f0fdffd48d24e68" /><Relationship Type="http://schemas.openxmlformats.org/officeDocument/2006/relationships/slide" Target="/ppt/slides/slide16.xml" Id="R0b304b46e16b4a19" /><Relationship Type="http://schemas.openxmlformats.org/officeDocument/2006/relationships/slide" Target="/ppt/slides/slide17.xml" Id="R1cf39eaf44654d83" /><Relationship Type="http://schemas.openxmlformats.org/officeDocument/2006/relationships/slide" Target="/ppt/slides/slide18.xml" Id="Rb514a6205f90405d" /><Relationship Type="http://schemas.openxmlformats.org/officeDocument/2006/relationships/slide" Target="/ppt/slides/slide19.xml" Id="Rea9c93aeb21643d8" /><Relationship Type="http://schemas.openxmlformats.org/officeDocument/2006/relationships/slide" Target="/ppt/slides/slide20.xml" Id="R1b65e3055cf648f8" /><Relationship Type="http://schemas.openxmlformats.org/officeDocument/2006/relationships/slide" Target="/ppt/slides/slide21.xml" Id="R2889b591b7f348f9" /><Relationship Type="http://schemas.openxmlformats.org/officeDocument/2006/relationships/slide" Target="/ppt/slides/slide22.xml" Id="R220d570dd4974052" /><Relationship Type="http://schemas.openxmlformats.org/officeDocument/2006/relationships/slide" Target="/ppt/slides/slide23.xml" Id="Re81c2beb5fcc4507" /><Relationship Type="http://schemas.openxmlformats.org/officeDocument/2006/relationships/slide" Target="/ppt/slides/slide24.xml" Id="R7c44a93b79484c83" /><Relationship Type="http://schemas.openxmlformats.org/officeDocument/2006/relationships/slide" Target="/ppt/slides/slide25.xml" Id="R4985f1bfbe1646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4156ec028d41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786a2cdf394fbf" /><Relationship Type="http://schemas.openxmlformats.org/officeDocument/2006/relationships/notesMaster" Target="/ppt/notesMasters/notesMaster1.xml" Id="R9305ac8f7c7048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c8489ef24f497b" /><Relationship Type="http://schemas.openxmlformats.org/officeDocument/2006/relationships/notesMaster" Target="/ppt/notesMasters/notesMaster1.xml" Id="Raea76afc66374e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4518fef68c496e" /><Relationship Type="http://schemas.openxmlformats.org/officeDocument/2006/relationships/notesMaster" Target="/ppt/notesMasters/notesMaster1.xml" Id="R8bdc6c4c378447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933563337341be" /><Relationship Type="http://schemas.openxmlformats.org/officeDocument/2006/relationships/notesMaster" Target="/ppt/notesMasters/notesMaster1.xml" Id="R677d0ca75b5142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c539f4ab3b4727" /><Relationship Type="http://schemas.openxmlformats.org/officeDocument/2006/relationships/notesMaster" Target="/ppt/notesMasters/notesMaster1.xml" Id="R68fd388e46f34e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03f282371148f2" /><Relationship Type="http://schemas.openxmlformats.org/officeDocument/2006/relationships/notesMaster" Target="/ppt/notesMasters/notesMaster1.xml" Id="R07fb772b1d2548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4b22560e494ec5" /><Relationship Type="http://schemas.openxmlformats.org/officeDocument/2006/relationships/notesMaster" Target="/ppt/notesMasters/notesMaster1.xml" Id="R1431af9fc33846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3ffd6db26b4c62" /><Relationship Type="http://schemas.openxmlformats.org/officeDocument/2006/relationships/notesMaster" Target="/ppt/notesMasters/notesMaster1.xml" Id="R4f88a90bdbac43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53f25d12754d9d" /><Relationship Type="http://schemas.openxmlformats.org/officeDocument/2006/relationships/notesMaster" Target="/ppt/notesMasters/notesMaster1.xml" Id="R665dacc352a54e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673adbe6c24876" /><Relationship Type="http://schemas.openxmlformats.org/officeDocument/2006/relationships/notesMaster" Target="/ppt/notesMasters/notesMaster1.xml" Id="Rf337b87d1caf4e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373a39610943ef" /><Relationship Type="http://schemas.openxmlformats.org/officeDocument/2006/relationships/notesMaster" Target="/ppt/notesMasters/notesMaster1.xml" Id="R8b64375390d341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32411a5c5d47b1" /><Relationship Type="http://schemas.openxmlformats.org/officeDocument/2006/relationships/notesMaster" Target="/ppt/notesMasters/notesMaster1.xml" Id="R450a9cbd373f42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96880281f4343d5" /><Relationship Type="http://schemas.openxmlformats.org/officeDocument/2006/relationships/notesMaster" Target="/ppt/notesMasters/notesMaster1.xml" Id="Rabba8915bffd48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4a3299e13840b6" /><Relationship Type="http://schemas.openxmlformats.org/officeDocument/2006/relationships/notesMaster" Target="/ppt/notesMasters/notesMaster1.xml" Id="Rfa47bcd3027646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d9d753ebb2434c" /><Relationship Type="http://schemas.openxmlformats.org/officeDocument/2006/relationships/notesMaster" Target="/ppt/notesMasters/notesMaster1.xml" Id="Rf3012bac35c74c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4949e4a711b404a" /><Relationship Type="http://schemas.openxmlformats.org/officeDocument/2006/relationships/notesMaster" Target="/ppt/notesMasters/notesMaster1.xml" Id="R0808a07826f34b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f069a874964871" /><Relationship Type="http://schemas.openxmlformats.org/officeDocument/2006/relationships/notesMaster" Target="/ppt/notesMasters/notesMaster1.xml" Id="Rdfd288e6b75947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52499888af4e2c" /><Relationship Type="http://schemas.openxmlformats.org/officeDocument/2006/relationships/notesMaster" Target="/ppt/notesMasters/notesMaster1.xml" Id="R183ec8c10120452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e09f017d4e461d" /><Relationship Type="http://schemas.openxmlformats.org/officeDocument/2006/relationships/notesMaster" Target="/ppt/notesMasters/notesMaster1.xml" Id="R49bb8c30750c456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485558a0f74e8d" /><Relationship Type="http://schemas.openxmlformats.org/officeDocument/2006/relationships/notesMaster" Target="/ppt/notesMasters/notesMaster1.xml" Id="R7cf1da828e8c4d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e5c72b50f7e47cc" /><Relationship Type="http://schemas.openxmlformats.org/officeDocument/2006/relationships/notesMaster" Target="/ppt/notesMasters/notesMaster1.xml" Id="R8758d1b3029b402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a0979bdc3eb4fbc" /><Relationship Type="http://schemas.openxmlformats.org/officeDocument/2006/relationships/notesMaster" Target="/ppt/notesMasters/notesMaster1.xml" Id="Rd47c7f4594664c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1bac3d231584f19" /><Relationship Type="http://schemas.openxmlformats.org/officeDocument/2006/relationships/notesMaster" Target="/ppt/notesMasters/notesMaster1.xml" Id="R0091510be4d94fb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a82f0153fe42e0" /><Relationship Type="http://schemas.openxmlformats.org/officeDocument/2006/relationships/notesMaster" Target="/ppt/notesMasters/notesMaster1.xml" Id="R86e4c6bb771a4c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99c2cd024c49a5" /><Relationship Type="http://schemas.openxmlformats.org/officeDocument/2006/relationships/notesMaster" Target="/ppt/notesMasters/notesMaster1.xml" Id="R0ab4dbde3b3e4f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14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Bloc 1 pose le besoin, les acteurs, l'architecture cible et le budget global. Le Bloc 2 présente le prototype développé, ses tests, ses corrections et sa livraison. Le Bloc 3 explique comment piloter un lot : planifier, suivre les écarts, arbitrer et préparer la validation. Le Bloc 4 documente ensuite les responsabilités de maintenance, les anomalies et le support.</a:t>
            </a:r>
          </a:p>
          <a:p xmlns:a="http://schemas.openxmlformats.org/drawingml/2006/main">
            <a:r>
              <a:t/>
            </a:r>
          </a:p>
          <a:p xmlns:a="http://schemas.openxmlformats.org/drawingml/2006/main">
            <a:r>
              <a:t>Cette lecture est une articulation de compétences. Le dossier de maintenance d'août existe déjà avant cette préparation de septembre. Le logiciel et ses traces sont réels. Le commanditaire du Bloc 1 et l'équipe CP, DEV, QA du scénario sont fictifs. Je conserve cette distinction, également présente dans le cas support du Bloc 4, sans transformer une simulation en échange client réel.</a:t>
            </a:r>
          </a:p>
          <a:p xmlns:a="http://schemas.openxmlformats.org/drawingml/2006/main">
            <a:r>
              <a:t/>
            </a:r>
          </a:p>
          <a:p xmlns:a="http://schemas.openxmlformats.org/drawingml/2006/main">
            <a:r>
              <a:t>GESTE OU MANIPULATION</a:t>
            </a:r>
          </a:p>
          <a:p xmlns:a="http://schemas.openxmlformats.org/drawingml/2006/main">
            <a:r>
              <a:t>Montrer les quatre blocs, puis préciser la nature réelle ou fictive des éléments.</a:t>
            </a:r>
          </a:p>
          <a:p xmlns:a="http://schemas.openxmlformats.org/drawingml/2006/main">
            <a:r>
              <a:t/>
            </a:r>
          </a:p>
          <a:p xmlns:a="http://schemas.openxmlformats.org/drawingml/2006/main">
            <a:r>
              <a:t>TRANSITION</a:t>
            </a:r>
          </a:p>
          <a:p xmlns:a="http://schemas.openxmlformats.org/drawingml/2006/main">
            <a:r>
              <a:t>Je zoome maintenant sur l'organisation du lot pédagogique.</a:t>
            </a:r>
          </a:p>
          <a:p xmlns:a="http://schemas.openxmlformats.org/drawingml/2006/main">
            <a:r>
              <a:t/>
            </a:r>
          </a:p>
          <a:p xmlns:a="http://schemas.openxmlformats.org/drawingml/2006/main">
            <a:r>
              <a:t>SOURCE ET NATURE</a:t>
            </a:r>
          </a:p>
          <a:p xmlns:a="http://schemas.openxmlformats.org/drawingml/2006/main">
            <a:r>
              <a:t>Produit réel et mise en situation fictive. B1 : C1.1.1 et C1.4.2. B2 : 16_DOSSIER_FINAL_BC02. B4 : DOSSIER_BLOC_04 et B4-C433-01. Référentiel p. 11.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J'utilise Linear pour retrouver les sujets du projet, leurs priorités et leurs dépendances. La lecture du quatorze septembre montre vingt-cinq tickets : douze terminés, quatre à faire, un en cours, sept en backlog et un annulé. En excluant l'annulé, douze sur vingt-quatre sont terminés. Ce taux de cinquante pour cent compte des tickets de tailles différentes. Il ne signifie donc pas que la moitié du produit est livrée.</a:t>
            </a:r>
          </a:p>
          <a:p xmlns:a="http://schemas.openxmlformats.org/drawingml/2006/main">
            <a:r>
              <a:t/>
            </a:r>
          </a:p>
          <a:p xmlns:a="http://schemas.openxmlformats.org/drawingml/2006/main">
            <a:r>
              <a:t>Le ticket en cours est SPI-27, l'upload sécurisé. Sa description indique que le service existe, avec des validations de persistance encore attendues avant clôture. Ce service est nécessaire à l'API de publication SPI-15 et au formulaire SPI-18. Cette dépendance explique pourquoi je traite la sécurisation du service avant d'ouvrir davantage de travaux de publication.</a:t>
            </a:r>
          </a:p>
          <a:p xmlns:a="http://schemas.openxmlformats.org/drawingml/2006/main">
            <a:r>
              <a:t/>
            </a:r>
          </a:p>
          <a:p xmlns:a="http://schemas.openxmlformats.org/drawingml/2006/main">
            <a:r>
              <a:t>Dans le cas de management, je propose une limite de deux tâches de réalisation simultanées et une vérification des critères avant passage à terminé. Les vingt-quatre tickets non annulés sont affectés à Dorian dans l'outil. La répartition entre chef de projet, développeur et testeur qui suit représente une équipe fictive pour l'exercice.</a:t>
            </a:r>
          </a:p>
          <a:p xmlns:a="http://schemas.openxmlformats.org/drawingml/2006/main">
            <a:r>
              <a:t/>
            </a:r>
          </a:p>
          <a:p xmlns:a="http://schemas.openxmlformats.org/drawingml/2006/main">
            <a:r>
              <a:t>GESTE OU MANIPULATION</a:t>
            </a:r>
          </a:p>
          <a:p xmlns:a="http://schemas.openxmlformats.org/drawingml/2006/main">
            <a:r>
              <a:t>Montrer les statuts observés, puis la dépendance SPI-27, SPI-15 et SPI-18. La limite de deux tâches appartient au cas.</a:t>
            </a:r>
          </a:p>
          <a:p xmlns:a="http://schemas.openxmlformats.org/drawingml/2006/main">
            <a:r>
              <a:t/>
            </a:r>
          </a:p>
          <a:p xmlns:a="http://schemas.openxmlformats.org/drawingml/2006/main">
            <a:r>
              <a:t>TRANSITION</a:t>
            </a:r>
          </a:p>
          <a:p xmlns:a="http://schemas.openxmlformats.org/drawingml/2006/main">
            <a:r>
              <a:t>Je distingue ce backlog observé du lot pédagogique chiffré sur quinze jours.</a:t>
            </a:r>
          </a:p>
          <a:p xmlns:a="http://schemas.openxmlformats.org/drawingml/2006/main">
            <a:r>
              <a:t/>
            </a:r>
          </a:p>
          <a:p xmlns:a="http://schemas.openxmlformats.org/drawingml/2006/main">
            <a:r>
              <a:t>SOURCE ET NATURE</a:t>
            </a:r>
          </a:p>
          <a:p xmlns:a="http://schemas.openxmlformats.org/drawingml/2006/main">
            <a:r>
              <a:t>Linear observé, 14 septembre 2026. Lecture directe du tableau https://linear.app/spitywa/team/SPI/all et des fiches SPI-27, SPI-15, SPI-18 et SPI-6 le 14 septembre 2026. A09 et donnees/linear-2026-09-14.json. Descriptions détaillées datées du 9 septembre.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Le planning porte sur un lot pédagogique de préparation et de stabilisation d'une démonstration, adossé au produit existant. Ses quinze jours ouvrés relatifs ne représentent pas tout le développement de Spity. Les soixante-dix-neuf jours-homme du Bloc 1 concernent l'estimation globale du MVP. Ici, J1 à J15 désignent des jours du cas, et non les jalons J1 à J5 du cadrage.</a:t>
            </a:r>
          </a:p>
          <a:p xmlns:a="http://schemas.openxmlformats.org/drawingml/2006/main">
            <a:r>
              <a:t/>
            </a:r>
          </a:p>
          <a:p xmlns:a="http://schemas.openxmlformats.org/drawingml/2006/main">
            <a:r>
              <a:t>Le travail commence par l'étude du besoin et la mesure des critères attendus. Il comprend ensuite la conception de l'organisation, la réalisation des parcours, leur recette et la restitution. À J3, le client fictif valide le périmètre. À J8, le parcours partenaire doit être vérifié. J10 sert à examiner les écarts et à arbitrer les demandes nouvelles. La recette se clôt à J14 avant la démonstration de J15.</a:t>
            </a:r>
          </a:p>
          <a:p xmlns:a="http://schemas.openxmlformats.org/drawingml/2006/main">
            <a:r>
              <a:t/>
            </a:r>
          </a:p>
          <a:p xmlns:a="http://schemas.openxmlformats.org/drawingml/2006/main">
            <a:r>
              <a:t>Les dépendances sont essentielles. La recette peut commencer sur les fonctions déjà prêtes, mais sa clôture attend la vérification des événements et des corrections. La préparation des slides peut avancer en parallèle. En revanche, la démonstration finale exige un parcours stabilisé. Le planning relie donc des résultats attendus, des responsabilités et des conditions de passage, plutôt qu'une simple succession de dates.</a:t>
            </a:r>
          </a:p>
          <a:p xmlns:a="http://schemas.openxmlformats.org/drawingml/2006/main">
            <a:r>
              <a:t/>
            </a:r>
          </a:p>
          <a:p xmlns:a="http://schemas.openxmlformats.org/drawingml/2006/main">
            <a:r>
              <a:t>GESTE OU MANIPULATION</a:t>
            </a:r>
          </a:p>
          <a:p xmlns:a="http://schemas.openxmlformats.org/drawingml/2006/main">
            <a:r>
              <a:t>Lire les phases du planning, puis montrer la recette à J14 avant la démonstration J15.</a:t>
            </a:r>
          </a:p>
          <a:p xmlns:a="http://schemas.openxmlformats.org/drawingml/2006/main">
            <a:r>
              <a:t/>
            </a:r>
          </a:p>
          <a:p xmlns:a="http://schemas.openxmlformats.org/drawingml/2006/main">
            <a:r>
              <a:t>TRANSITION</a:t>
            </a:r>
          </a:p>
          <a:p xmlns:a="http://schemas.openxmlformats.org/drawingml/2006/main">
            <a:r>
              <a:t>Pour tenir ces jalons, chacun doit connaître sa responsabilité.</a:t>
            </a:r>
          </a:p>
          <a:p xmlns:a="http://schemas.openxmlformats.org/drawingml/2006/main">
            <a:r>
              <a:t/>
            </a:r>
          </a:p>
          <a:p xmlns:a="http://schemas.openxmlformats.org/drawingml/2006/main">
            <a:r>
              <a:t>SOURCE ET NATURE</a:t>
            </a:r>
          </a:p>
          <a:p xmlns:a="http://schemas.openxmlformats.org/drawingml/2006/main">
            <a:r>
              <a:t>C.3.1, simulation sur quinze jours ouvrés. A01. donnees/pilotage.json. B1 : C1.4.1, p. 7-8, estimation globale et jalons distincts du lot B3.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une testeuse QA nommée Camille. Camille est un personnage fictif malentendant. Je lui confie la préparation des critères et la recette, selon ses compétences. Ce sont les tâches T02 et T07. Sa capacité reste de trente heures pour vingt-quatre heures prévues à terminaison.</a:t>
            </a:r>
          </a:p>
          <a:p xmlns:a="http://schemas.openxmlformats.org/drawingml/2006/main">
            <a:r>
              <a:t/>
            </a:r>
          </a:p>
          <a:p xmlns:a="http://schemas.openxmlformats.org/drawingml/2006/main">
            <a:r>
              <a:t>L'aménagement porte sur les échanges : consignes écrites, réunions sous-titrées et décisions accessibles après la réunion. Le chef de projet prépare ces modalités avec elle. Une heure de préparation est incluse dans les tâches de pilotage existantes. La matrice RACI conserve une autorité de décision par activité. Camille reste responsable de la recette et le client de l'acceptation du périmètre.</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Il faut distinguer deux périmètres. Les fiches détaillées du Bloc 1 estiment le lancement du MVP et sa première année à trente-huit mille cent vingt-six euros hors taxes, sur une base de soixante-dix-neuf jours-homme. Ici, je valorise seulement le lot pédagogique de démonstration, avec des taux horaires fictifs. Ce montant ne remplace pas le budget global et ne permet pas de calculer une économie du projet.</a:t>
            </a:r>
          </a:p>
          <a:p xmlns:a="http://schemas.openxmlformats.org/drawingml/2006/main">
            <a:r>
              <a:t/>
            </a:r>
          </a:p>
          <a:p xmlns:a="http://schemas.openxmlformats.org/drawingml/2006/main">
            <a:r>
              <a:t>La référence du lot est de quatre mille deux cent soixante-dix euros, frais compris. À J10, la prévision passe à quatre mille quatre cent soixante-cinq euros. L'écart atteint cent quatre-vingt-quinze euros, soit environ quatre virgule six pour cent. Il doit rester visible même si une réserve existe.</a:t>
            </a:r>
          </a:p>
          <a:p xmlns:a="http://schemas.openxmlformats.org/drawingml/2006/main">
            <a:r>
              <a:t/>
            </a:r>
          </a:p>
          <a:p xmlns:a="http://schemas.openxmlformats.org/drawingml/2006/main">
            <a:r>
              <a:t>La réserve initiale de quatre cent vingt-sept euros porte le plafond à quatre mille six cent quatre-vingt-dix-sept euros. Il reste deux cent trente-deux euros de marge. Je compare toute demande nouvelle à cette marge et à la disponibilité des rôles. Le classeur permet de retrouver le détail du calcul. Ces valeurs sont des hypothèses d'exercice, sans facture ni consommation réelle du budget du Bloc 1.</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et classeur Pilotage. B1 : fiches C1.4.1 p. 7 et C1.4.2 p. 2-4, 79 j-h et 38 126 EUR HT. L’ancien diaporama B1 porte une autre estimation,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C1.4.1, contributions aux topos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Dans la situation fictive, le développeur souhaite avancer sur une nouvelle fonction alors que QA attend une version stable pour terminer la recette. Le désaccord exprime deux besoins légitimes : faire évoluer le produit et sécuriser ce qui doit être présenté.</a:t>
            </a:r>
          </a:p>
          <a:p xmlns:a="http://schemas.openxmlformats.org/drawingml/2006/main">
            <a:r>
              <a:t/>
            </a:r>
          </a:p>
          <a:p xmlns:a="http://schemas.openxmlformats.org/drawingml/2006/main">
            <a:r>
              <a:t>Je commence par demander les faits, les impacts et l'aide nécessaire, sans attribuer une faute personnelle. J'utilise une posture participative pour comparer les estimations. J'adopte ensuite une posture persuasive pour expliquer les conséquences du report au client. Je reste directif sur les critères critiques de livraison, par exemple le contrôle de la capacité d'un événement.</a:t>
            </a:r>
          </a:p>
          <a:p xmlns:a="http://schemas.openxmlformats.org/drawingml/2006/main">
            <a:r>
              <a:t/>
            </a:r>
          </a:p>
          <a:p xmlns:a="http://schemas.openxmlformats.org/drawingml/2006/main">
            <a:r>
              <a:t>La délégation conserve un résultat attendu et un point de contrôle. DEV traite les corrections et QA choisit les cas permettant de les vérifier. La décision rejoint le compte rendu et les tâches concernées.</a:t>
            </a:r>
          </a:p>
          <a:p xmlns:a="http://schemas.openxmlformats.org/drawingml/2006/main">
            <a:r>
              <a:t/>
            </a:r>
          </a:p>
          <a:p xmlns:a="http://schemas.openxmlformats.org/drawingml/2006/main">
            <a:r>
              <a:t>Avec du recul, une réponse uniquement directive aurait pu faire taire le désaccord sans traiter la surcharge. À l'inverse, une discussion sans échéance aurait retardé le lot. Je retiens donc un échange court, préparé avec des faits, puis une décision explicite dont je vérifie l'application.</a:t>
            </a:r>
          </a:p>
          <a:p xmlns:a="http://schemas.openxmlformats.org/drawingml/2006/main">
            <a:r>
              <a:t/>
            </a:r>
          </a:p>
          <a:p xmlns:a="http://schemas.openxmlformats.org/drawingml/2006/main">
            <a:r>
              <a:t>GESTE OU MANIPULATION</a:t>
            </a:r>
          </a:p>
          <a:p xmlns:a="http://schemas.openxmlformats.org/drawingml/2006/main">
            <a:r>
              <a:t>Présenter les deux besoins DEV et QA. L’illustration représente une équipe fictive.</a:t>
            </a:r>
          </a:p>
          <a:p xmlns:a="http://schemas.openxmlformats.org/drawingml/2006/main">
            <a:r>
              <a:t/>
            </a:r>
          </a:p>
          <a:p xmlns:a="http://schemas.openxmlformats.org/drawingml/2006/main">
            <a:r>
              <a:t>TRANSITION</a:t>
            </a:r>
          </a:p>
          <a:p xmlns:a="http://schemas.openxmlformats.org/drawingml/2006/main">
            <a:r>
              <a:t>Cette organisation doit permettre à chacun de comprendre et de contribuer.</a:t>
            </a:r>
          </a:p>
          <a:p xmlns:a="http://schemas.openxmlformats.org/drawingml/2006/main">
            <a:r>
              <a:t/>
            </a:r>
          </a:p>
          <a:p xmlns:a="http://schemas.openxmlformats.org/drawingml/2006/main">
            <a:r>
              <a:t>SOURCE ET NATURE</a:t>
            </a:r>
          </a:p>
          <a:p xmlns:a="http://schemas.openxmlformats.org/drawingml/2006/main">
            <a:r>
              <a:t>C3.3.1, situation managériale fictive. A05, situation analysée et analyse critique.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Je rends la prise en compte du handicap concrète avec Camille, testeuse QA malentendante dans notre équipe fictive. Le besoin retenu dans ce scénario est d'accéder aux informations orales et de pouvoir participer aux décisions. Je définis les modalités avec elle, sans déduire ses compétences techniques de sa situation.</a:t>
            </a:r>
          </a:p>
          <a:p xmlns:a="http://schemas.openxmlformats.org/drawingml/2006/main">
            <a:r>
              <a:t/>
            </a:r>
          </a:p>
          <a:p xmlns:a="http://schemas.openxmlformats.org/drawingml/2006/main">
            <a:r>
              <a:t>Pour les réunions, les sous-titres sont testés avant le point et une seule personne parle à la fois. L'ordre du jour est disponible à l'avance. Pour les décisions, le compte rendu indique l'action, son responsable et son échéance. Pour la formation, les consignes sont écrites et la démonstration est sous-titrée.</a:t>
            </a:r>
          </a:p>
          <a:p xmlns:a="http://schemas.openxmlformats.org/drawingml/2006/main">
            <a:r>
              <a:t/>
            </a:r>
          </a:p>
          <a:p xmlns:a="http://schemas.openxmlformats.org/drawingml/2006/main">
            <a:r>
              <a:t>Je prévois un contrôle à chaque étape. À J3, Camille doit pouvoir accéder au support et reformuler une consigne. À J10, elle doit retrouver la décision et son échéance dans la synthèse. À J14, elle doit réaliser un cas sans aide. Ce sont des critères du scénario, sans résultat réel annoncé. Si les sous-titres sont insuffisants, je reprends par écrit et j'ajuste les modalités avec elle. Le fonctionnement asynchrone aide aussi les personnes absentes ou dans un autre fuseau.</a:t>
            </a:r>
          </a:p>
          <a:p xmlns:a="http://schemas.openxmlformats.org/drawingml/2006/main">
            <a:r>
              <a:t/>
            </a:r>
          </a:p>
          <a:p xmlns:a="http://schemas.openxmlformats.org/drawingml/2006/main">
            <a:r>
              <a:t>GESTE OU MANIPULATION</a:t>
            </a:r>
          </a:p>
          <a:p xmlns:a="http://schemas.openxmlformats.org/drawingml/2006/main">
            <a:r>
              <a:t>Lire chaque situation et son aménagement. Terminer par les critères de vérification, sans annoncer un résultat réel.</a:t>
            </a:r>
          </a:p>
          <a:p xmlns:a="http://schemas.openxmlformats.org/drawingml/2006/main">
            <a:r>
              <a:t/>
            </a:r>
          </a:p>
          <a:p xmlns:a="http://schemas.openxmlformats.org/drawingml/2006/main">
            <a:r>
              <a:t>TRANSITION</a:t>
            </a:r>
          </a:p>
          <a:p xmlns:a="http://schemas.openxmlformats.org/drawingml/2006/main">
            <a:r>
              <a:t>La formation doit elle aussi être accessible et conduire à un résultat observable.</a:t>
            </a:r>
          </a:p>
          <a:p xmlns:a="http://schemas.openxmlformats.org/drawingml/2006/main">
            <a:r>
              <a:t/>
            </a:r>
          </a:p>
          <a:p xmlns:a="http://schemas.openxmlformats.org/drawingml/2006/main">
            <a:r>
              <a:t>SOURCE ET NATURE</a:t>
            </a:r>
          </a:p>
          <a:p xmlns:a="http://schemas.openxmlformats.org/drawingml/2006/main">
            <a:r>
              <a:t>C3.3.1, cas pédagogique fictif. A02, A05, A06 et donnees/inclusion.json. Cas fictif autorisé par le référentiel p. 11 ; critères C3.3.1 p. 12 et C3.3.2 p. 13. La note d’audit du 15 septembre distingue obligation de prise en compte et composition de l’équipe.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J'évalue les besoins avant de choisir une formation. La grille utilise quatre niveaux : non abordé, réalisé avec accompagnement, autonome sur un cas courant, puis capable de traiter des cas complexes et d'accompagner une autre personne.</a:t>
            </a:r>
          </a:p>
          <a:p xmlns:a="http://schemas.openxmlformats.org/drawingml/2006/main">
            <a:r>
              <a:t/>
            </a:r>
          </a:p>
          <a:p xmlns:a="http://schemas.openxmlformats.org/drawingml/2006/main">
            <a:r>
              <a:t>Les niveaux affichés sont hypothétiques. Ils ne constituent pas une évaluation réelle de collaborateurs. Le chef de projet doit progresser sur le suivi des écarts. Le développeur doit maîtriser les inscriptions concurrentes. QA doit pouvoir rejouer la recette et contrôler le parcours au clavier.</a:t>
            </a:r>
          </a:p>
          <a:p xmlns:a="http://schemas.openxmlformats.org/drawingml/2006/main">
            <a:r>
              <a:t/>
            </a:r>
          </a:p>
          <a:p xmlns:a="http://schemas.openxmlformats.org/drawingml/2006/main">
            <a:r>
              <a:t>La cible est l'autonomie sur un cas courant. Elle reste reliée à un résultat utile pour le lot. Cette grille évite de proposer une formation générale sans pouvoir expliquer quel risque ou quelle difficulté elle doit résoudre.</a:t>
            </a:r>
          </a:p>
          <a:p xmlns:a="http://schemas.openxmlformats.org/drawingml/2006/main">
            <a:r>
              <a:t/>
            </a:r>
          </a:p>
          <a:p xmlns:a="http://schemas.openxmlformats.org/drawingml/2006/main">
            <a:r>
              <a:t>TRANSITION</a:t>
            </a:r>
          </a:p>
          <a:p xmlns:a="http://schemas.openxmlformats.org/drawingml/2006/main">
            <a:r>
              <a:t>Je transforme ces écarts en actions courtes, avec une vérification du résultat.</a:t>
            </a:r>
          </a:p>
          <a:p xmlns:a="http://schemas.openxmlformats.org/drawingml/2006/main">
            <a:r>
              <a:t/>
            </a:r>
          </a:p>
          <a:p xmlns:a="http://schemas.openxmlformats.org/drawingml/2006/main">
            <a:r>
              <a:t>SOURCE ET NATURE</a:t>
            </a:r>
          </a:p>
          <a:p xmlns:a="http://schemas.openxmlformats.org/drawingml/2006/main">
            <a:r>
              <a:t>C3.3.2, niveaux hypothétiques du cas. A06, grille de compétences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 plan de formation comporte six heures : une heure pour le chef de projet, deux pour le développeur et trois pour Camille, notre testeuse QA fictive. Ces temps sont déjà compris dans les tâches du lot. Le budget de soixante euros correspond à des ressources complémentaires hypothétiques, sans achat déclaré.</a:t>
            </a:r>
          </a:p>
          <a:p xmlns:a="http://schemas.openxmlformats.org/drawingml/2006/main">
            <a:r>
              <a:t/>
            </a:r>
          </a:p>
          <a:p xmlns:a="http://schemas.openxmlformats.org/drawingml/2006/main">
            <a:r>
              <a:t>Les trois heures de Camille se répartissent entre deux heures de recette navigateur et une heure de parcours clavier. Elle reçoit les consignes écrites avant l'atelier. La démonstration est sous-titrée et les échanges restent disponibles par écrit. Elle réalise ensuite le même exercice technique que celui prévu pour le rôle QA. Le besoin d'aménagement ne modifie pas le niveau de compétence attendu.</a:t>
            </a:r>
          </a:p>
          <a:p xmlns:a="http://schemas.openxmlformats.org/drawingml/2006/main">
            <a:r>
              <a:t/>
            </a:r>
          </a:p>
          <a:p xmlns:a="http://schemas.openxmlformats.org/drawingml/2006/main">
            <a:r>
              <a:t>La vérification porte sur son autonomie : rejouer un cas, expliquer les préconditions, identifier le résultat et retrouver la preuve. Si une instruction reste inaccessible, nous corrigeons le support. Si une difficulté technique persiste, nous prévoyons un accompagnement et réestimons la charge. Je distingue ainsi l'accessibilité de la formation de l'acquisition de la compétence. Les résultats de cet exercice restent à constater dans le scénario.</a:t>
            </a:r>
          </a:p>
          <a:p xmlns:a="http://schemas.openxmlformats.org/drawingml/2006/main">
            <a:r>
              <a:t/>
            </a:r>
          </a:p>
          <a:p xmlns:a="http://schemas.openxmlformats.org/drawingml/2006/main">
            <a:r>
              <a:t>GESTE OU MANIPULATION</a:t>
            </a:r>
          </a:p>
          <a:p xmlns:a="http://schemas.openxmlformats.org/drawingml/2006/main">
            <a:r>
              <a:t>Montrer les 3 h QA du graphique, puis les supports adaptés et le critère de réussite autonome.</a:t>
            </a:r>
          </a:p>
          <a:p xmlns:a="http://schemas.openxmlformats.org/drawingml/2006/main">
            <a:r>
              <a:t/>
            </a:r>
          </a:p>
          <a:p xmlns:a="http://schemas.openxmlformats.org/drawingml/2006/main">
            <a:r>
              <a:t>TRANSITION</a:t>
            </a:r>
          </a:p>
          <a:p xmlns:a="http://schemas.openxmlformats.org/drawingml/2006/main">
            <a:r>
              <a:t>Ces modalités accompagnent les jalons de suivi et de validation du client fictif.</a:t>
            </a:r>
          </a:p>
          <a:p xmlns:a="http://schemas.openxmlformats.org/drawingml/2006/main">
            <a:r>
              <a:t/>
            </a:r>
          </a:p>
          <a:p xmlns:a="http://schemas.openxmlformats.org/drawingml/2006/main">
            <a:r>
              <a:t>SOURCE ET NATURE</a:t>
            </a:r>
          </a:p>
          <a:p xmlns:a="http://schemas.openxmlformats.org/drawingml/2006/main">
            <a:r>
              <a:t>C3.3.2, actions fictives intégrées au lot. A06 ; donnees/inclusion.json. Formation QA de 3 h dans T07, déjà comprise dans les 6 h du plan. Aménagements et évaluation simulés ; aucun résultat réel attesté.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Je reprends Claire Martin pour le Collectif Altitude Grimpe, commanditaire fictif du Bloc 1. Son suivi repose sur trois points dans le scénario. Le premier valide le périmètre et les critères attendus. Le deuxième présente l'avancement, les écarts et la décision sur la demande supplémentaire. Le troisième porte sur le parcours démontré et ses réserves.</a:t>
            </a:r>
          </a:p>
          <a:p xmlns:a="http://schemas.openxmlformats.org/drawingml/2006/main">
            <a:r>
              <a:t/>
            </a:r>
          </a:p>
          <a:p xmlns:a="http://schemas.openxmlformats.org/drawingml/2006/main">
            <a:r>
              <a:t>Les trois comptes rendus sont fictifs et aucun accord réel n'est attesté. Leur structure montre toutefois comment préparer un échange utile : ce qui a été présenté, ce qui reste à faire, la difficulté rencontrée et la décision attendue. Une action comprend un responsable et une échéance. Le prochain point de suivi est identifié.</a:t>
            </a:r>
          </a:p>
          <a:p xmlns:a="http://schemas.openxmlformats.org/drawingml/2006/main">
            <a:r>
              <a:t/>
            </a:r>
          </a:p>
          <a:p xmlns:a="http://schemas.openxmlformats.org/drawingml/2006/main">
            <a:r>
              <a:t>Par exemple, le compte rendu J10 reprend la prévision de quatre mille quatre cent soixante-cinq euros et le report du lot supplémentaire. Il conserve le lien entre une donnée de pilotage et une décision de périmètre.</a:t>
            </a:r>
          </a:p>
          <a:p xmlns:a="http://schemas.openxmlformats.org/drawingml/2006/main">
            <a:r>
              <a:t/>
            </a:r>
          </a:p>
          <a:p xmlns:a="http://schemas.openxmlformats.org/drawingml/2006/main">
            <a:r>
              <a:t>La validation se fait par critère, avec les statuts accepté, accepté avec réserve ou refusé. Une réserve devient une action suivie. Ce dispositif permet de rechercher une confirmation explicite, au lieu de déduire l'acceptation du seul fait que le logiciel a été montré.</a:t>
            </a:r>
          </a:p>
          <a:p xmlns:a="http://schemas.openxmlformats.org/drawingml/2006/main">
            <a:r>
              <a:t/>
            </a:r>
          </a:p>
          <a:p xmlns:a="http://schemas.openxmlformats.org/drawingml/2006/main">
            <a:r>
              <a:t>GESTE OU MANIPULATION</a:t>
            </a:r>
          </a:p>
          <a:p xmlns:a="http://schemas.openxmlformats.org/drawingml/2006/main">
            <a:r>
              <a:t>Décrire le compte rendu J10 : écart, décision, responsable et échéance.</a:t>
            </a:r>
          </a:p>
          <a:p xmlns:a="http://schemas.openxmlformats.org/drawingml/2006/main">
            <a:r>
              <a:t/>
            </a:r>
          </a:p>
          <a:p xmlns:a="http://schemas.openxmlformats.org/drawingml/2006/main">
            <a:r>
              <a:t>TRANSITION</a:t>
            </a:r>
          </a:p>
          <a:p xmlns:a="http://schemas.openxmlformats.org/drawingml/2006/main">
            <a:r>
              <a:t>La validation du périmètre et la satisfaction méritent chacune une mesure explicite.</a:t>
            </a:r>
          </a:p>
          <a:p xmlns:a="http://schemas.openxmlformats.org/drawingml/2006/main">
            <a:r>
              <a:t/>
            </a:r>
          </a:p>
          <a:p xmlns:a="http://schemas.openxmlformats.org/drawingml/2006/main">
            <a:r>
              <a:t>SOURCE ET NATURE</a:t>
            </a:r>
          </a:p>
          <a:p xmlns:a="http://schemas.openxmlformats.org/drawingml/2006/main">
            <a:r>
              <a:t>C3.4.1, comptes rendus simulés. A07, CR01 à CR03. Référentiel p. 13-14. B1 : C1.1.1 p. 2. CL représente Claire Martin pour le Collectif Altitude Grimpe, tous deux fictifs. A07 ne constitue pas un échange réel.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Je propose quatre indicateurs complémentaires : la part des critères acceptés, la réussite des parcours sans aide, une note d'utilité et les blocages critiques signalés. Chaque résultat doit être accompagné de la date et du nombre de participants.</a:t>
            </a:r>
          </a:p>
          <a:p xmlns:a="http://schemas.openxmlformats.org/drawingml/2006/main">
            <a:r>
              <a:t/>
            </a:r>
          </a:p>
          <a:p xmlns:a="http://schemas.openxmlformats.org/drawingml/2006/main">
            <a:r>
              <a:t>À ce stade, aucun retour de client réel n'est disponible dans les éléments du dossier. La mesure reste donc non réalisée. Les objectifs de NPS et de rétention du Bloc 1 restent des cibles, sans résultat constaté. Les résultats des tests techniques ne remplacent pas une appréciation du besoin par un utilisateur.</a:t>
            </a:r>
          </a:p>
          <a:p xmlns:a="http://schemas.openxmlformats.org/drawingml/2006/main">
            <a:r>
              <a:t/>
            </a:r>
          </a:p>
          <a:p xmlns:a="http://schemas.openxmlformats.org/drawingml/2006/main">
            <a:r>
              <a:t>Pendant une session pilote, je demanderais la tâche recherchée, le résultat obtenu et l'obstacle rencontré. Une réserve ou une difficulté doit ensuite rejoindre le suivi du projet avec une action identifiable, puis être vérifiée lors d'un nouveau passage.</a:t>
            </a:r>
          </a:p>
          <a:p xmlns:a="http://schemas.openxmlformats.org/drawingml/2006/main">
            <a:r>
              <a:t/>
            </a:r>
          </a:p>
          <a:p xmlns:a="http://schemas.openxmlformats.org/drawingml/2006/main">
            <a:r>
              <a:t>TRANSITION</a:t>
            </a:r>
          </a:p>
          <a:p xmlns:a="http://schemas.openxmlformats.org/drawingml/2006/main">
            <a:r>
              <a:t>Je vais maintenant montrer le parcours sur lequel portent ces critères.</a:t>
            </a:r>
          </a:p>
          <a:p xmlns:a="http://schemas.openxmlformats.org/drawingml/2006/main">
            <a:r>
              <a:t/>
            </a:r>
          </a:p>
          <a:p xmlns:a="http://schemas.openxmlformats.org/drawingml/2006/main">
            <a:r>
              <a:t>SOURCE ET NATURE</a:t>
            </a:r>
          </a:p>
          <a:p xmlns:a="http://schemas.openxmlformats.org/drawingml/2006/main">
            <a:r>
              <a:t>C3.4.1, aucun résultat client réel disponible. A07, indicateurs et questionnaire proposés. Les objectifs de NPS, de rétention et d’acquisition du Bloc 1 sont des cibles ; aucun résultat client réel n’en découle. B4-C433-01 est une simulation de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Le Bloc 1 donne le besoin et la vision de Spity. Le Bloc 2 apporte le logiciel et les preuves de réalisation. Dans le Bloc 3, j'ai organisé un lot limité, interprété ses écarts et expliqué les décisions qui protègent la démonstration.</a:t>
            </a:r>
          </a:p>
          <a:p xmlns:a="http://schemas.openxmlformats.org/drawingml/2006/main">
            <a:r>
              <a:t/>
            </a:r>
          </a:p>
          <a:p xmlns:a="http://schemas.openxmlformats.org/drawingml/2006/main">
            <a:r>
              <a:t>Le relais vers le Bloc 4 repose sur des éléments concrets : version identifiée, anomalies qualifiées, réserves et critères de vérification. Son registre et son processus de support existent déjà dans le dossier de maintenance. Je peux m'appuyer sur eux pour préparer cette transmission. Je conserve les limites annoncées : le management présenté reste fictif et aucune validation client réelle n'est inventée. Le pilotage doit rendre la prochaine action compréhensible et vérifiable, y compris après la soutenance.</a:t>
            </a:r>
          </a:p>
          <a:p xmlns:a="http://schemas.openxmlformats.org/drawingml/2006/main">
            <a:r>
              <a:t/>
            </a:r>
          </a:p>
          <a:p xmlns:a="http://schemas.openxmlformats.org/drawingml/2006/main">
            <a:r>
              <a:t>GESTE OU MANIPULATION</a:t>
            </a:r>
          </a:p>
          <a:p xmlns:a="http://schemas.openxmlformats.org/drawingml/2006/main">
            <a:r>
              <a:t>Relier les réserves de démonstration à une anomalie ou une amélioration suivie dans le cadre de maintenance.</a:t>
            </a:r>
          </a:p>
          <a:p xmlns:a="http://schemas.openxmlformats.org/drawingml/2006/main">
            <a:r>
              <a:t/>
            </a:r>
          </a:p>
          <a:p xmlns:a="http://schemas.openxmlformats.org/drawingml/2006/main">
            <a:r>
              <a:t>TRANSITION</a:t>
            </a:r>
          </a:p>
          <a:p xmlns:a="http://schemas.openxmlformats.org/drawingml/2006/main">
            <a:r>
              <a:t>Je suis prêt à expliquer les choix et à retrouver les pièces correspondantes.</a:t>
            </a:r>
          </a:p>
          <a:p xmlns:a="http://schemas.openxmlformats.org/drawingml/2006/main">
            <a:r>
              <a:t/>
            </a:r>
          </a:p>
          <a:p xmlns:a="http://schemas.openxmlformats.org/drawingml/2006/main">
            <a:r>
              <a:t>SOURCE ET NATURE</a:t>
            </a:r>
          </a:p>
          <a:p xmlns:a="http://schemas.openxmlformats.org/drawingml/2006/main">
            <a:r>
              <a:t>Bilan et ouverture des quinze minutes de questions. B4 : DOSSIER_BLOC_04, registres d’anomalies et de versions ; B4-C433-01, support simulé. B3 : A07 et 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Cette annexe sert à retrouver rapidement une pièce. La matrice du dossier détaille la nature de chaque preuve et les limites des situations fictives. La mention Acquis relève du jury.</a:t>
            </a:r>
          </a:p>
          <a:p xmlns:a="http://schemas.openxmlformats.org/drawingml/2006/main">
            <a:r>
              <a:t/>
            </a:r>
          </a:p>
          <a:p xmlns:a="http://schemas.openxmlformats.org/drawingml/2006/main">
            <a:r>
              <a:t>SOURCE ET NATURE</a:t>
            </a:r>
          </a:p>
          <a:p xmlns:a="http://schemas.openxmlformats.org/drawingml/2006/main">
            <a:r>
              <a:t>Annexe pour les questions. MATRICE_PREUVES. Référentiel p. 11-14 et grille BC03.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 dossier BC02 du 23 juillet rapporte 126 tests unitaires et six scénarios navigateur. Le Bloc 4 du 13 août rapporte 152 tests Jest et distingue 43 tests de maintenance, avec onze scénarios MariaDB et six recettes. La préparation locale du Bloc 3 du 14 septembre rapporte 389 tests unitaires dans 72 suites et six scénarios navigateur. Les versions, configurations et périmètres diffèrent. Ces totaux ne mesurent pas une progression de qualité et ne doivent pas être additionnés. La recette B3 utilise next dev localement ; elle ne rejoue pas la CI standalone historique. Aucun résultat client réel n'a été trouvé dans les pièces examinées.</a:t>
            </a:r>
          </a:p>
          <a:p xmlns:a="http://schemas.openxmlformats.org/drawingml/2006/main">
            <a:r>
              <a:t/>
            </a:r>
          </a:p>
          <a:p xmlns:a="http://schemas.openxmlformats.org/drawingml/2006/main">
            <a:r>
              <a:t>SOURCE ET NATURE</a:t>
            </a:r>
          </a:p>
          <a:p xmlns:a="http://schemas.openxmlformats.org/drawingml/2006/main">
            <a:r>
              <a:t>Annexe, résultats historiques et contrôles locaux. B2 : 16_DOSSIER_FINAL_BC02, Résultats vérifiés, 23 juillet 2026. B4 : DOSSIER_BLOC_04, résumé du 13 août 2026. B3 : VERIFICATION.md et preuves/verification.json, 14 septembre 2026. Cadre officiel : référentiel p. 11-14, modalités p. 6, 8 et 11, grille BC03.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b428e3748c46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cad30435bb4959" /><Relationship Type="http://schemas.openxmlformats.org/officeDocument/2006/relationships/slideLayout" Target="/ppt/slideLayouts/slideLayout1.xml" Id="R539185b411854b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9185b411854b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e9127989674c8f" /><Relationship Type="http://schemas.openxmlformats.org/officeDocument/2006/relationships/image" Target="/ppt/media/image.jpeg" Id="R97b2e91b04834c3f" /><Relationship Type="http://schemas.openxmlformats.org/officeDocument/2006/relationships/notesSlide" Target="/ppt/notesSlides/notesSlide1.xml" Id="Rb5e2e7ed754641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eb13af9c6c470b" /><Relationship Type="http://schemas.openxmlformats.org/officeDocument/2006/relationships/image" Target="/ppt/media/image.png" Id="R022476d6667f47f8" /><Relationship Type="http://schemas.openxmlformats.org/officeDocument/2006/relationships/notesSlide" Target="/ppt/notesSlides/notesSlide2.xml" Id="Re06dc579242f4e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14f9067a8b4e6f" /><Relationship Type="http://schemas.openxmlformats.org/officeDocument/2006/relationships/notesSlide" Target="/ppt/notesSlides/notesSlide3.xml" Id="R6c4afd4e4158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eef611a1b3406f" /><Relationship Type="http://schemas.openxmlformats.org/officeDocument/2006/relationships/chart" Target="/ppt/slides/charts/chart1.xml" Id="R198bb447fce6495d" /><Relationship Type="http://schemas.openxmlformats.org/officeDocument/2006/relationships/notesSlide" Target="/ppt/notesSlides/notesSlide4.xml" Id="R3cc78f00da814a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3c4af62c264e7d" /><Relationship Type="http://schemas.openxmlformats.org/officeDocument/2006/relationships/chart" Target="/ppt/slides/charts/chart2.xml" Id="R4e09da02d7b04090" /><Relationship Type="http://schemas.openxmlformats.org/officeDocument/2006/relationships/notesSlide" Target="/ppt/notesSlides/notesSlide5.xml" Id="R3ccac221d7d749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476ec66d994c76" /><Relationship Type="http://schemas.openxmlformats.org/officeDocument/2006/relationships/notesSlide" Target="/ppt/notesSlides/notesSlide6.xml" Id="Rc2dd602377ed41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74479c77a44241" /><Relationship Type="http://schemas.openxmlformats.org/officeDocument/2006/relationships/chart" Target="/ppt/slides/charts/chart3.xml" Id="Ref73c4b125204a13" /><Relationship Type="http://schemas.openxmlformats.org/officeDocument/2006/relationships/notesSlide" Target="/ppt/notesSlides/notesSlide7.xml" Id="Rb12752262f1e45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f394f67d6f4b50" /><Relationship Type="http://schemas.openxmlformats.org/officeDocument/2006/relationships/chart" Target="/ppt/slides/charts/chart4.xml" Id="R8d36cd228dc14800" /><Relationship Type="http://schemas.openxmlformats.org/officeDocument/2006/relationships/notesSlide" Target="/ppt/notesSlides/notesSlide8.xml" Id="R9d0a0f3d775048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2dee0e6e684662" /><Relationship Type="http://schemas.openxmlformats.org/officeDocument/2006/relationships/chart" Target="/ppt/slides/charts/chart5.xml" Id="R9681fcc709d3475e" /><Relationship Type="http://schemas.openxmlformats.org/officeDocument/2006/relationships/notesSlide" Target="/ppt/notesSlides/notesSlide9.xml" Id="Rb23fcfaf5cd94e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3b7697e3784baa" /><Relationship Type="http://schemas.openxmlformats.org/officeDocument/2006/relationships/notesSlide" Target="/ppt/notesSlides/notesSlide10.xml" Id="R191a827aa21f43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1dfc0d71be456b" /><Relationship Type="http://schemas.openxmlformats.org/officeDocument/2006/relationships/notesSlide" Target="/ppt/notesSlides/notesSlide11.xml" Id="R3b1fb3984ed545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312ff543f74b23" /><Relationship Type="http://schemas.openxmlformats.org/officeDocument/2006/relationships/chart" Target="/ppt/slides/charts/chart6.xml" Id="R69575ec27493411c" /><Relationship Type="http://schemas.openxmlformats.org/officeDocument/2006/relationships/notesSlide" Target="/ppt/notesSlides/notesSlide12.xml" Id="Rc3e39b1a159940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79de7007d34e87" /><Relationship Type="http://schemas.openxmlformats.org/officeDocument/2006/relationships/image" Target="/ppt/media/image2.png" Id="R5811b281c65d41f6" /><Relationship Type="http://schemas.openxmlformats.org/officeDocument/2006/relationships/notesSlide" Target="/ppt/notesSlides/notesSlide13.xml" Id="Rce9d051425f740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2e82145ac34d57" /><Relationship Type="http://schemas.openxmlformats.org/officeDocument/2006/relationships/notesSlide" Target="/ppt/notesSlides/notesSlide14.xml" Id="R78c2b5fa5c3447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73ecea13ae44287" /><Relationship Type="http://schemas.openxmlformats.org/officeDocument/2006/relationships/chart" Target="/ppt/slides/charts/chart7.xml" Id="Rfa80ec0c89154f10" /><Relationship Type="http://schemas.openxmlformats.org/officeDocument/2006/relationships/notesSlide" Target="/ppt/notesSlides/notesSlide15.xml" Id="R27fda166e8db41b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83a59e9510f435f" /><Relationship Type="http://schemas.openxmlformats.org/officeDocument/2006/relationships/chart" Target="/ppt/slides/charts/chart8.xml" Id="Rdaf7f3f06fbb402d" /><Relationship Type="http://schemas.openxmlformats.org/officeDocument/2006/relationships/notesSlide" Target="/ppt/notesSlides/notesSlide16.xml" Id="R719cfad51b0b4c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bfbb775ca1e4d8d" /><Relationship Type="http://schemas.openxmlformats.org/officeDocument/2006/relationships/notesSlide" Target="/ppt/notesSlides/notesSlide17.xml" Id="R006db2c19f3641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52be106d9544f7" /><Relationship Type="http://schemas.openxmlformats.org/officeDocument/2006/relationships/notesSlide" Target="/ppt/notesSlides/notesSlide18.xml" Id="Rad6f75a9bbc141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f7e3e83aacc4958" /><Relationship Type="http://schemas.openxmlformats.org/officeDocument/2006/relationships/image" Target="/ppt/media/image2.jpeg" Id="R896baf79ac624fd4" /><Relationship Type="http://schemas.openxmlformats.org/officeDocument/2006/relationships/notesSlide" Target="/ppt/notesSlides/notesSlide19.xml" Id="Red6c7794a6494d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ce93bc15c5f4fa3" /><Relationship Type="http://schemas.openxmlformats.org/officeDocument/2006/relationships/image" Target="/ppt/media/image3.png" Id="R503f8c427a5e4433" /><Relationship Type="http://schemas.openxmlformats.org/officeDocument/2006/relationships/notesSlide" Target="/ppt/notesSlides/notesSlide20.xml" Id="Ra302963b80124d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a9f76a5d34c4295" /><Relationship Type="http://schemas.openxmlformats.org/officeDocument/2006/relationships/image" Target="/ppt/media/image4.png" Id="R71bb9ea46ee249b8" /><Relationship Type="http://schemas.openxmlformats.org/officeDocument/2006/relationships/notesSlide" Target="/ppt/notesSlides/notesSlide21.xml" Id="R3436858b9d7f40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28eae8acba24ad8" /><Relationship Type="http://schemas.openxmlformats.org/officeDocument/2006/relationships/notesSlide" Target="/ppt/notesSlides/notesSlide22.xml" Id="Raa7f3e10d04e43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d48461eaa3c4ad0" /><Relationship Type="http://schemas.openxmlformats.org/officeDocument/2006/relationships/notesSlide" Target="/ppt/notesSlides/notesSlide23.xml" Id="R0370c952f3084f4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5cf52f4d5db4540" /><Relationship Type="http://schemas.openxmlformats.org/officeDocument/2006/relationships/notesSlide" Target="/ppt/notesSlides/notesSlide24.xml" Id="R45ccb4d753f7459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53374a8371a4222" /><Relationship Type="http://schemas.openxmlformats.org/officeDocument/2006/relationships/notesSlide" Target="/ppt/notesSlides/notesSlide25.xml" Id="R5f54d4aa57ec48b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s>
          <c:cat>
            <c:strRef>
              <c:f>'Chart Data'!$A$2:$A$6</c:f>
              <c:strCache>
                <c:ptCount val="5"/>
                <c:pt idx="0">
                  <c:v>Restitution</c:v>
                </c:pt>
                <c:pt idx="1">
                  <c:v>Recette</c:v>
                </c:pt>
                <c:pt idx="2">
                  <c:v>Réalisation</c:v>
                </c:pt>
                <c:pt idx="3">
                  <c:v>Conception</c:v>
                </c:pt>
                <c:pt idx="4">
                  <c:v>Étude</c:v>
                </c:pt>
              </c:strCache>
            </c:strRef>
          </c:cat>
          <c:val>
            <c:numRef>
              <c:f>'Chart Data'!$B$2:$B$6</c:f>
              <c:numCache>
                <c:formatCode>"J"0</c:formatCode>
                <c:ptCount val="5"/>
                <c:pt idx="0">
                  <c:v>14</c:v>
                </c:pt>
                <c:pt idx="1">
                  <c:v>10</c:v>
                </c:pt>
                <c:pt idx="2">
                  <c:v>3</c:v>
                </c:pt>
                <c:pt idx="3">
                  <c:v>2</c:v>
                </c:pt>
                <c:pt idx="4">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Data'!$C$2:$C$6</c:f>
              <c:strCache>
                <c:ptCount val="5"/>
                <c:pt idx="0">
                  <c:v>Restitution</c:v>
                </c:pt>
                <c:pt idx="1">
                  <c:v>Recette</c:v>
                </c:pt>
                <c:pt idx="2">
                  <c:v>Réalisation</c:v>
                </c:pt>
                <c:pt idx="3">
                  <c:v>Conception</c:v>
                </c:pt>
                <c:pt idx="4">
                  <c:v>Étude</c:v>
                </c:pt>
              </c:strCache>
            </c:strRef>
          </c:cat>
          <c:val>
            <c:numRef>
              <c:f>'Chart Data'!$D$2:$D$6</c:f>
              <c:numCache>
                <c:formatCode>"J"0</c:formatCode>
                <c:ptCount val="5"/>
                <c:pt idx="0">
                  <c:v>1</c:v>
                </c:pt>
                <c:pt idx="1">
                  <c:v>4</c:v>
                </c:pt>
                <c:pt idx="2">
                  <c:v>9</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Niveau du cas</c:v>
          </c:tx>
          <c:spPr>
            <a:solidFill xmlns:a="http://schemas.openxmlformats.org/drawingml/2006/main">
              <a:srgbClr val="91AE91"/>
            </a:solidFill>
          </c:spPr>
          <c:cat>
            <c:strRef>
              <c:f>'Chart Data'!$A$2:$A$4</c:f>
              <c:strCache>
                <c:ptCount val="3"/>
                <c:pt idx="0">
                  <c:v>CP</c:v>
                </c:pt>
                <c:pt idx="1">
                  <c:v>DEV</c:v>
                </c:pt>
                <c:pt idx="2">
                  <c:v>QA</c:v>
                </c:pt>
              </c:strCache>
            </c:strRef>
          </c:cat>
          <c:val>
            <c:numRef>
              <c:f>'Chart Data'!$B$2:$B$4</c:f>
              <c:numCache>
                <c:formatCode>General</c:formatCode>
                <c:ptCount val="3"/>
                <c:pt idx="0">
                  <c:v>1</c:v>
                </c:pt>
                <c:pt idx="1">
                  <c:v>1</c:v>
                </c:pt>
                <c:pt idx="2">
                  <c:v>1</c:v>
                </c:pt>
              </c:numCache>
            </c:numRef>
          </c:val>
        </c:ser>
        <c:ser>
          <c:idx val="1"/>
          <c:order val="1"/>
          <c:tx>
            <c:v>Cible</c:v>
          </c:tx>
          <c:spPr>
            <a:solidFill xmlns:a="http://schemas.openxmlformats.org/drawingml/2006/main">
              <a:srgbClr val="28725F"/>
            </a:solidFill>
          </c:spPr>
          <c:cat>
            <c:strRef>
              <c:f>'Chart Data'!$C$2:$C$4</c:f>
              <c:strCache>
                <c:ptCount val="3"/>
                <c:pt idx="0">
                  <c:v>CP</c:v>
                </c:pt>
                <c:pt idx="1">
                  <c:v>DEV</c:v>
                </c:pt>
                <c:pt idx="2">
                  <c:v>QA</c:v>
                </c:pt>
              </c:strCache>
            </c:strRef>
          </c:cat>
          <c:val>
            <c:numRef>
              <c:f>'Chart Data'!$D$2:$D$4</c:f>
              <c:numCache>
                <c:formatCode>General</c:formatCode>
                <c:ptCount val="3"/>
                <c:pt idx="0">
                  <c:v>2</c:v>
                </c:pt>
                <c:pt idx="1">
                  <c:v>2</c:v>
                </c:pt>
                <c:pt idx="2">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ax val="3"/>
          <c:min val="0"/>
        </c:scaling>
        <c:delete val="0"/>
        <c:axPos val="l"/>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doughnutChart>
        <c:ser>
          <c:idx val="0"/>
          <c:order val="0"/>
          <c:tx>
            <c:v>Formation</c:v>
          </c:tx>
          <c:dPt>
            <c:idx val="0"/>
            <c:spPr>
              <a:solidFill xmlns:a="http://schemas.openxmlformats.org/drawingml/2006/main">
                <a:srgbClr val="C77952"/>
              </a:solidFill>
            </c:spPr>
          </c:dPt>
          <c:dPt>
            <c:idx val="1"/>
            <c:spPr>
              <a:solidFill xmlns:a="http://schemas.openxmlformats.org/drawingml/2006/main">
                <a:srgbClr val="91AE91"/>
              </a:solidFill>
            </c:spPr>
          </c:dPt>
          <c:dPt>
            <c:idx val="2"/>
            <c:spPr>
              <a:solidFill xmlns:a="http://schemas.openxmlformats.org/drawingml/2006/main">
                <a:srgbClr val="28725F"/>
              </a:solidFill>
            </c:spPr>
          </c:dPt>
          <c:dLbls>
            <c:dLbl>
              <c:idx val="0"/>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2100" b="1">
                      <a:solidFill>
                        <a:srgbClr val="FFFFFF"/>
                      </a:solidFill>
                      <a:latin typeface="Arial"/>
                      <a:ea typeface="Arial"/>
                      <a:cs typeface="Arial"/>
                    </a:defRPr>
                  </a:pPr>
                </a:p>
              </c:txPr>
              <c:showLegendKey val="0"/>
              <c:showVal val="1"/>
              <c:showCatName val="0"/>
              <c:showSerName val="0"/>
              <c:showPercent val="0"/>
              <c:showBubbleSize val="0"/>
            </c:dLbl>
          </c:dLbls>
          <c:cat>
            <c:strRef>
              <c:f>'Chart Data'!$A$2:$A$4</c:f>
              <c:strCache>
                <c:ptCount val="3"/>
                <c:pt idx="0">
                  <c:v>CP</c:v>
                </c:pt>
                <c:pt idx="1">
                  <c:v>DEV</c:v>
                </c:pt>
                <c:pt idx="2">
                  <c:v>QA</c:v>
                </c:pt>
              </c:strCache>
            </c:strRef>
          </c:cat>
          <c:val>
            <c:numRef>
              <c:f>'Chart Data'!$B$2:$B$4</c:f>
              <c:numCache>
                <c:formatCode>0" h"</c:formatCode>
                <c:ptCount val="3"/>
                <c:pt idx="0">
                  <c:v>1</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showLeaderLines val="0"/>
        </c:dLbls>
        <c:holeSize val="65"/>
      </c:doughnutChart>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7b2e91b04834c3f"/>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C41561-D585-4BCA-84AE-0747D7C79E5A}"/>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1C045001-7B5C-4E92-BE9A-6BBAE6D28107}"/>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478F9E25-52F3-44BF-A619-883D3C074779}"/>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79B46EC7-5C1C-4BDD-AF05-B306AF7C3AB7}"/>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40843121"/>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76E8FB-439E-484C-AE59-BCD71376156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AD56510F-27AD-4D48-8888-DC24C11AD29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22476d6667f47f8"/>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8B906BA-CA24-4B29-94EA-E6BE4166FA8A}"/>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F1EF8CD4-31F3-4FFA-9489-6F8FD9C10EB3}"/>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54395D77-8A2C-4480-8CA8-1837A7F63859}"/>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9E116D1D-77DB-4023-9613-45BA8D65224B}"/>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1275602134"/>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6EF537-9B51-49A8-8C59-B418DB48AA5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projet, quatre blocs</a:t>
            </a:r>
          </a:p>
        </p:txBody>
      </p:sp>
      <p:sp>
        <p:nvSpPr>
          <p:cNvPr id="2" name="">
            <a:extLst xmlns:a="http://schemas.openxmlformats.org/drawingml/2006/main">
              <a:ext uri="{FF2B5EF4-FFF2-40B4-BE49-F238E27FC236}">
                <a16:creationId xmlns:a16="http://schemas.microsoft.com/office/drawing/2014/main" id="{61115F47-A291-4BE8-B74E-66EBEEEA71A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Produit réel et mise en situation fictive    01:30 à 02:30    3</a:t>
            </a:r>
          </a:p>
        </p:txBody>
      </p:sp>
      <p:sp>
        <p:nvSpPr>
          <p:cNvPr id="3" name="">
            <a:extLst xmlns:a="http://schemas.openxmlformats.org/drawingml/2006/main">
              <a:ext uri="{FF2B5EF4-FFF2-40B4-BE49-F238E27FC236}">
                <a16:creationId xmlns:a16="http://schemas.microsoft.com/office/drawing/2014/main" id="{B1E26265-DF82-4467-94A2-10CBBD43907A}"/>
              </a:ext>
            </a:extLst>
          </p:cNvPr>
          <p:cNvSpPr>
            <a:spLocks xmlns:a="http://schemas.openxmlformats.org/drawingml/2006/main" noGrp="1"/>
          </p:cNvSpPr>
          <p:nvPr/>
        </p:nvSpPr>
        <p:spPr>
          <a:xfrm xmlns:a="http://schemas.openxmlformats.org/drawingml/2006/main">
            <a:off x="6858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D68ED94-960A-4C27-8FFD-862E5DC3DF69}"/>
              </a:ext>
            </a:extLst>
          </p:cNvPr>
          <p:cNvSpPr>
            <a:spLocks xmlns:a="http://schemas.openxmlformats.org/drawingml/2006/main" noGrp="1"/>
          </p:cNvSpPr>
          <p:nvPr/>
        </p:nvSpPr>
        <p:spPr>
          <a:xfrm xmlns:a="http://schemas.openxmlformats.org/drawingml/2006/main">
            <a:off x="6858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Cadrage</a:t>
            </a:r>
          </a:p>
        </p:txBody>
      </p:sp>
      <p:sp>
        <p:nvSpPr>
          <p:cNvPr id="5" name="">
            <a:extLst xmlns:a="http://schemas.openxmlformats.org/drawingml/2006/main">
              <a:ext uri="{FF2B5EF4-FFF2-40B4-BE49-F238E27FC236}">
                <a16:creationId xmlns:a16="http://schemas.microsoft.com/office/drawing/2014/main" id="{F33B2400-2D80-4A96-A238-C2B60B19596D}"/>
              </a:ext>
            </a:extLst>
          </p:cNvPr>
          <p:cNvSpPr>
            <a:spLocks xmlns:a="http://schemas.openxmlformats.org/drawingml/2006/main" noGrp="1"/>
          </p:cNvSpPr>
          <p:nvPr/>
        </p:nvSpPr>
        <p:spPr>
          <a:xfrm xmlns:a="http://schemas.openxmlformats.org/drawingml/2006/main">
            <a:off x="6858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Besoin et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budget global.</a:t>
            </a:r>
          </a:p>
        </p:txBody>
      </p:sp>
      <p:sp>
        <p:nvSpPr>
          <p:cNvPr id="6" name="">
            <a:extLst xmlns:a="http://schemas.openxmlformats.org/drawingml/2006/main">
              <a:ext uri="{FF2B5EF4-FFF2-40B4-BE49-F238E27FC236}">
                <a16:creationId xmlns:a16="http://schemas.microsoft.com/office/drawing/2014/main" id="{31EB27B7-7E4C-427D-AA75-E8C5C7F7D3DC}"/>
              </a:ext>
            </a:extLst>
          </p:cNvPr>
          <p:cNvSpPr>
            <a:spLocks xmlns:a="http://schemas.openxmlformats.org/drawingml/2006/main" noGrp="1"/>
          </p:cNvSpPr>
          <p:nvPr/>
        </p:nvSpPr>
        <p:spPr>
          <a:xfrm xmlns:a="http://schemas.openxmlformats.org/drawingml/2006/main">
            <a:off x="33909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272431C-0FFE-4D5E-86AB-D465724ACF2A}"/>
              </a:ext>
            </a:extLst>
          </p:cNvPr>
          <p:cNvSpPr>
            <a:spLocks xmlns:a="http://schemas.openxmlformats.org/drawingml/2006/main" noGrp="1"/>
          </p:cNvSpPr>
          <p:nvPr/>
        </p:nvSpPr>
        <p:spPr>
          <a:xfrm xmlns:a="http://schemas.openxmlformats.org/drawingml/2006/main">
            <a:off x="33909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Logiciel</a:t>
            </a:r>
          </a:p>
        </p:txBody>
      </p:sp>
      <p:sp>
        <p:nvSpPr>
          <p:cNvPr id="8" name="">
            <a:extLst xmlns:a="http://schemas.openxmlformats.org/drawingml/2006/main">
              <a:ext uri="{FF2B5EF4-FFF2-40B4-BE49-F238E27FC236}">
                <a16:creationId xmlns:a16="http://schemas.microsoft.com/office/drawing/2014/main" id="{31351931-F495-4A8B-B0BF-BA2B153D62D7}"/>
              </a:ext>
            </a:extLst>
          </p:cNvPr>
          <p:cNvSpPr>
            <a:spLocks xmlns:a="http://schemas.openxmlformats.org/drawingml/2006/main" noGrp="1"/>
          </p:cNvSpPr>
          <p:nvPr/>
        </p:nvSpPr>
        <p:spPr>
          <a:xfrm xmlns:a="http://schemas.openxmlformats.org/drawingml/2006/main">
            <a:off x="33909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Prototype,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et livraison.</a:t>
            </a:r>
          </a:p>
        </p:txBody>
      </p:sp>
      <p:sp>
        <p:nvSpPr>
          <p:cNvPr id="9" name="">
            <a:extLst xmlns:a="http://schemas.openxmlformats.org/drawingml/2006/main">
              <a:ext uri="{FF2B5EF4-FFF2-40B4-BE49-F238E27FC236}">
                <a16:creationId xmlns:a16="http://schemas.microsoft.com/office/drawing/2014/main" id="{ECDEEB9D-EF18-4A54-9887-EABBFF1ECAEB}"/>
              </a:ext>
            </a:extLst>
          </p:cNvPr>
          <p:cNvSpPr>
            <a:spLocks xmlns:a="http://schemas.openxmlformats.org/drawingml/2006/main" noGrp="1"/>
          </p:cNvSpPr>
          <p:nvPr/>
        </p:nvSpPr>
        <p:spPr>
          <a:xfrm xmlns:a="http://schemas.openxmlformats.org/drawingml/2006/main">
            <a:off x="60960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F954DBA-0978-4E7B-B3FE-E1DF6CACBF1E}"/>
              </a:ext>
            </a:extLst>
          </p:cNvPr>
          <p:cNvSpPr>
            <a:spLocks xmlns:a="http://schemas.openxmlformats.org/drawingml/2006/main" noGrp="1"/>
          </p:cNvSpPr>
          <p:nvPr/>
        </p:nvSpPr>
        <p:spPr>
          <a:xfrm xmlns:a="http://schemas.openxmlformats.org/drawingml/2006/main">
            <a:off x="60960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Pilotage</a:t>
            </a:r>
          </a:p>
        </p:txBody>
      </p:sp>
      <p:sp>
        <p:nvSpPr>
          <p:cNvPr id="11" name="">
            <a:extLst xmlns:a="http://schemas.openxmlformats.org/drawingml/2006/main">
              <a:ext uri="{FF2B5EF4-FFF2-40B4-BE49-F238E27FC236}">
                <a16:creationId xmlns:a16="http://schemas.microsoft.com/office/drawing/2014/main" id="{5C4A5257-5E31-4CCB-B727-B76288889A22}"/>
              </a:ext>
            </a:extLst>
          </p:cNvPr>
          <p:cNvSpPr>
            <a:spLocks xmlns:a="http://schemas.openxmlformats.org/drawingml/2006/main" noGrp="1"/>
          </p:cNvSpPr>
          <p:nvPr/>
        </p:nvSpPr>
        <p:spPr>
          <a:xfrm xmlns:a="http://schemas.openxmlformats.org/drawingml/2006/main">
            <a:off x="60960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Lot, écarts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arbitrages.</a:t>
            </a:r>
          </a:p>
        </p:txBody>
      </p:sp>
      <p:sp>
        <p:nvSpPr>
          <p:cNvPr id="12" name="">
            <a:extLst xmlns:a="http://schemas.openxmlformats.org/drawingml/2006/main">
              <a:ext uri="{FF2B5EF4-FFF2-40B4-BE49-F238E27FC236}">
                <a16:creationId xmlns:a16="http://schemas.microsoft.com/office/drawing/2014/main" id="{660155BC-D640-4AFB-8421-5C8360A786F0}"/>
              </a:ext>
            </a:extLst>
          </p:cNvPr>
          <p:cNvSpPr>
            <a:spLocks xmlns:a="http://schemas.openxmlformats.org/drawingml/2006/main" noGrp="1"/>
          </p:cNvSpPr>
          <p:nvPr/>
        </p:nvSpPr>
        <p:spPr>
          <a:xfrm xmlns:a="http://schemas.openxmlformats.org/drawingml/2006/main">
            <a:off x="88011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E1B27CE-1FFC-4DFD-9A90-136FFCF21940}"/>
              </a:ext>
            </a:extLst>
          </p:cNvPr>
          <p:cNvSpPr>
            <a:spLocks xmlns:a="http://schemas.openxmlformats.org/drawingml/2006/main" noGrp="1"/>
          </p:cNvSpPr>
          <p:nvPr/>
        </p:nvSpPr>
        <p:spPr>
          <a:xfrm xmlns:a="http://schemas.openxmlformats.org/drawingml/2006/main">
            <a:off x="88011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Maintenance</a:t>
            </a:r>
          </a:p>
        </p:txBody>
      </p:sp>
      <p:sp>
        <p:nvSpPr>
          <p:cNvPr id="14" name="">
            <a:extLst xmlns:a="http://schemas.openxmlformats.org/drawingml/2006/main">
              <a:ext uri="{FF2B5EF4-FFF2-40B4-BE49-F238E27FC236}">
                <a16:creationId xmlns:a16="http://schemas.microsoft.com/office/drawing/2014/main" id="{305DE456-D817-46C6-AB12-C0DCF0C40DEC}"/>
              </a:ext>
            </a:extLst>
          </p:cNvPr>
          <p:cNvSpPr>
            <a:spLocks xmlns:a="http://schemas.openxmlformats.org/drawingml/2006/main" noGrp="1"/>
          </p:cNvSpPr>
          <p:nvPr/>
        </p:nvSpPr>
        <p:spPr>
          <a:xfrm xmlns:a="http://schemas.openxmlformats.org/drawingml/2006/main">
            <a:off x="88011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Anomalies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support.</a:t>
            </a:r>
          </a:p>
        </p:txBody>
      </p:sp>
      <p:sp>
        <p:nvSpPr>
          <p:cNvPr id="15" name="">
            <a:extLst xmlns:a="http://schemas.openxmlformats.org/drawingml/2006/main">
              <a:ext uri="{FF2B5EF4-FFF2-40B4-BE49-F238E27FC236}">
                <a16:creationId xmlns:a16="http://schemas.microsoft.com/office/drawing/2014/main" id="{67FC26E3-4B21-424E-993F-431C345A94A4}"/>
              </a:ext>
            </a:extLst>
          </p:cNvPr>
          <p:cNvSpPr>
            <a:spLocks xmlns:a="http://schemas.openxmlformats.org/drawingml/2006/main" noGrp="1"/>
          </p:cNvSpPr>
          <p:nvPr/>
        </p:nvSpPr>
        <p:spPr>
          <a:xfrm xmlns:a="http://schemas.openxmlformats.org/drawingml/2006/main">
            <a:off x="685800" y="58007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Produit réel. Commanditaire et management fictifs.</a:t>
            </a:r>
          </a:p>
        </p:txBody>
      </p:sp>
    </p:spTree>
    <p:extLst>
      <p:ext uri="{BB962C8B-B14F-4D97-AF65-F5344CB8AC3E}">
        <p14:creationId xmlns:p14="http://schemas.microsoft.com/office/powerpoint/2010/main" val="1005956842"/>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B2C2B1-7380-45F3-A584-7DB562616E2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backlog Linear au 14 septembre</a:t>
            </a:r>
          </a:p>
        </p:txBody>
      </p:sp>
      <p:sp>
        <p:nvSpPr>
          <p:cNvPr id="2" name="">
            <a:extLst xmlns:a="http://schemas.openxmlformats.org/drawingml/2006/main">
              <a:ext uri="{FF2B5EF4-FFF2-40B4-BE49-F238E27FC236}">
                <a16:creationId xmlns:a16="http://schemas.microsoft.com/office/drawing/2014/main" id="{A92E745F-2C34-47DC-8DBB-0B696E804EF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14 septembre 2026    02:30 à 04:00    4</a:t>
            </a:r>
          </a:p>
        </p:txBody>
      </p:sp>
      <p:graphicFrame>
        <p:nvGraphicFramePr>
          <p:cNvPr id="10" name="Chart"/>
          <p:cNvGraphicFramePr/>
          <p:nvPr/>
        </p:nvGraphicFramePr>
        <p:xfrm>
          <a:off xmlns:a="http://schemas.openxmlformats.org/drawingml/2006/main" x="647700" y="1714500"/>
          <a:ext xmlns:a="http://schemas.openxmlformats.org/drawingml/2006/main" cx="7620000" cy="3714750"/>
        </p:xfrm>
        <a:graphic xmlns:a="http://schemas.openxmlformats.org/drawingml/2006/main">
          <a:graphicData uri="http://schemas.openxmlformats.org/drawingml/2006/chart">
            <c:chart xmlns:r="http://schemas.openxmlformats.org/officeDocument/2006/relationships" xmlns:c="http://schemas.openxmlformats.org/drawingml/2006/chart" r:id="R198bb447fce6495d"/>
          </a:graphicData>
        </a:graphic>
      </p:graphicFrame>
      <p:sp>
        <p:nvSpPr>
          <p:cNvPr id="4" name="">
            <a:extLst xmlns:a="http://schemas.openxmlformats.org/drawingml/2006/main">
              <a:ext uri="{FF2B5EF4-FFF2-40B4-BE49-F238E27FC236}">
                <a16:creationId xmlns:a16="http://schemas.microsoft.com/office/drawing/2014/main" id="{FE651BD8-96A2-4611-8C00-DD54A5084DB6}"/>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12 / 24</a:t>
            </a:r>
          </a:p>
        </p:txBody>
      </p:sp>
      <p:sp>
        <p:nvSpPr>
          <p:cNvPr id="5" name="">
            <a:extLst xmlns:a="http://schemas.openxmlformats.org/drawingml/2006/main">
              <a:ext uri="{FF2B5EF4-FFF2-40B4-BE49-F238E27FC236}">
                <a16:creationId xmlns:a16="http://schemas.microsoft.com/office/drawing/2014/main" id="{B45AC6C9-2EF1-4018-A17B-5F176AEE53F1}"/>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Tickets terminés</a:t>
            </a:r>
          </a:p>
        </p:txBody>
      </p:sp>
      <p:sp>
        <p:nvSpPr>
          <p:cNvPr id="6" name="">
            <a:extLst xmlns:a="http://schemas.openxmlformats.org/drawingml/2006/main">
              <a:ext uri="{FF2B5EF4-FFF2-40B4-BE49-F238E27FC236}">
                <a16:creationId xmlns:a16="http://schemas.microsoft.com/office/drawing/2014/main" id="{119C0233-CF90-432D-A7AA-AD264A6116D7}"/>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 ticket annulé exclu.</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Comptage non pondéré.</a:t>
            </a:r>
          </a:p>
        </p:txBody>
      </p:sp>
      <p:sp>
        <p:nvSpPr>
          <p:cNvPr id="7" name="">
            <a:extLst xmlns:a="http://schemas.openxmlformats.org/drawingml/2006/main">
              <a:ext uri="{FF2B5EF4-FFF2-40B4-BE49-F238E27FC236}">
                <a16:creationId xmlns:a16="http://schemas.microsoft.com/office/drawing/2014/main" id="{DD4F53B3-9C99-46F9-994D-DB26B3CB13D0}"/>
              </a:ext>
            </a:extLst>
          </p:cNvPr>
          <p:cNvSpPr>
            <a:spLocks xmlns:a="http://schemas.openxmlformats.org/drawingml/2006/main" noGrp="1"/>
          </p:cNvSpPr>
          <p:nvPr/>
        </p:nvSpPr>
        <p:spPr>
          <a:xfrm xmlns:a="http://schemas.openxmlformats.org/drawingml/2006/main">
            <a:off x="685800" y="57626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Dépendance : SPI-27 médias, SPI-15 API, SPI-18 formulaire.</a:t>
            </a:r>
          </a:p>
        </p:txBody>
      </p:sp>
    </p:spTree>
    <p:extLst>
      <p:ext uri="{BB962C8B-B14F-4D97-AF65-F5344CB8AC3E}">
        <p14:creationId xmlns:p14="http://schemas.microsoft.com/office/powerpoint/2010/main" val="1833041972"/>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4525AC-3D22-417D-B237-3FEE017C935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lot sur quinze jours ouvrés</a:t>
            </a:r>
          </a:p>
        </p:txBody>
      </p:sp>
      <p:sp>
        <p:nvSpPr>
          <p:cNvPr id="2" name="">
            <a:extLst xmlns:a="http://schemas.openxmlformats.org/drawingml/2006/main">
              <a:ext uri="{FF2B5EF4-FFF2-40B4-BE49-F238E27FC236}">
                <a16:creationId xmlns:a16="http://schemas.microsoft.com/office/drawing/2014/main" id="{AA8F26DE-EE27-486D-B08F-ED309CCB291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sur quinze jours ouvrés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4e09da02d7b04090"/>
          </a:graphicData>
        </a:graphic>
      </p:graphicFrame>
      <p:sp>
        <p:nvSpPr>
          <p:cNvPr id="4" name="">
            <a:extLst xmlns:a="http://schemas.openxmlformats.org/drawingml/2006/main">
              <a:ext uri="{FF2B5EF4-FFF2-40B4-BE49-F238E27FC236}">
                <a16:creationId xmlns:a16="http://schemas.microsoft.com/office/drawing/2014/main" id="{6764D273-61A7-4AD4-83F6-FA76DCB534B5}"/>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63842494"/>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CF8B84-97D8-44DD-95EC-007604A2801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C4140E97-6FA6-4F57-A4E6-8FA97A8FF68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et situation fictives    05:30 à 06:30    6</a:t>
            </a:r>
          </a:p>
        </p:txBody>
      </p:sp>
      <p:sp>
        <p:nvSpPr>
          <p:cNvPr id="3" name="">
            <a:extLst xmlns:a="http://schemas.openxmlformats.org/drawingml/2006/main">
              <a:ext uri="{FF2B5EF4-FFF2-40B4-BE49-F238E27FC236}">
                <a16:creationId xmlns:a16="http://schemas.microsoft.com/office/drawing/2014/main" id="{2926BDE0-9B6C-4D19-B5D1-CB52F9D8F22B}"/>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FAAC0F11-EB18-4601-ADAC-A8D26344DEF7}"/>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560F55AC-041A-4114-8CAA-6F259D32EEBB}"/>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AD34D0E5-B4E8-46A2-9C33-FD6412A2BD5C}"/>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DFD021AE-568B-44F6-96EC-E2EA278F0F27}"/>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8486A612-CF42-4145-AA38-A42846227BA8}"/>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7E02761F-9758-41F9-B058-12F3E4BBD061}"/>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8C4286E5-D65E-496B-B2F4-6F44486436FF}"/>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CA496D64-BF2D-4443-B89F-B9BF6E3C6171}"/>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A2F46317-DA03-47BE-865C-C7136ECD43EF}"/>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Cas fictif : Camille est malentendante, les échanges sont adaptés.</a:t>
            </a:r>
          </a:p>
        </p:txBody>
      </p:sp>
    </p:spTree>
    <p:extLst>
      <p:ext uri="{BB962C8B-B14F-4D97-AF65-F5344CB8AC3E}">
        <p14:creationId xmlns:p14="http://schemas.microsoft.com/office/powerpoint/2010/main" val="672888216"/>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BCB0CD-93C1-4489-B940-D4A666471ED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468A96AC-C325-4975-A1C8-8D7834A2461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ef73c4b125204a13"/>
          </a:graphicData>
        </a:graphic>
      </p:graphicFrame>
      <p:sp>
        <p:nvSpPr>
          <p:cNvPr id="4" name="">
            <a:extLst xmlns:a="http://schemas.openxmlformats.org/drawingml/2006/main">
              <a:ext uri="{FF2B5EF4-FFF2-40B4-BE49-F238E27FC236}">
                <a16:creationId xmlns:a16="http://schemas.microsoft.com/office/drawing/2014/main" id="{86EC376C-3970-461C-9931-FBC6AD4E44A7}"/>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6DC19DA7-2EAC-450A-9A9D-B6D212A88C7C}"/>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net prévu</a:t>
            </a:r>
          </a:p>
        </p:txBody>
      </p:sp>
      <p:sp>
        <p:nvSpPr>
          <p:cNvPr id="6" name="">
            <a:extLst xmlns:a="http://schemas.openxmlformats.org/drawingml/2006/main">
              <a:ext uri="{FF2B5EF4-FFF2-40B4-BE49-F238E27FC236}">
                <a16:creationId xmlns:a16="http://schemas.microsoft.com/office/drawing/2014/main" id="{54CAB235-26D8-49DC-A084-78BC61A4001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112 h initiales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117 h à terminaison</a:t>
            </a:r>
          </a:p>
        </p:txBody>
      </p:sp>
      <p:sp>
        <p:nvSpPr>
          <p:cNvPr id="7" name="">
            <a:extLst xmlns:a="http://schemas.openxmlformats.org/drawingml/2006/main">
              <a:ext uri="{FF2B5EF4-FFF2-40B4-BE49-F238E27FC236}">
                <a16:creationId xmlns:a16="http://schemas.microsoft.com/office/drawing/2014/main" id="{214FE117-4998-404E-95F6-B9C01DA9A5A9}"/>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30 activités détaillées. 77 h consommées, 40 h restantes.</a:t>
            </a:r>
          </a:p>
        </p:txBody>
      </p:sp>
    </p:spTree>
    <p:extLst>
      <p:ext uri="{BB962C8B-B14F-4D97-AF65-F5344CB8AC3E}">
        <p14:creationId xmlns:p14="http://schemas.microsoft.com/office/powerpoint/2010/main" val="1831719065"/>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35156C-114B-40DD-9E5A-1E0A8BBECAC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2C229F5B-E161-4D06-93C6-B24704A3535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8d36cd228dc14800"/>
          </a:graphicData>
        </a:graphic>
      </p:graphicFrame>
      <p:sp>
        <p:nvSpPr>
          <p:cNvPr id="4" name="">
            <a:extLst xmlns:a="http://schemas.openxmlformats.org/drawingml/2006/main">
              <a:ext uri="{FF2B5EF4-FFF2-40B4-BE49-F238E27FC236}">
                <a16:creationId xmlns:a16="http://schemas.microsoft.com/office/drawing/2014/main" id="{60E82999-765C-4E48-9C0E-83D962320305}"/>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F4A550F1-CF06-4A87-8FC9-ABBE7415E676}"/>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A3080901-548F-48E1-965E-DA1533562E3E}"/>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AFCBFE43-3FD8-4D80-9B31-23CF10BD9FFF}"/>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38 126 € HT. Exercice B3 distinct.</a:t>
            </a:r>
          </a:p>
        </p:txBody>
      </p:sp>
    </p:spTree>
    <p:extLst>
      <p:ext uri="{BB962C8B-B14F-4D97-AF65-F5344CB8AC3E}">
        <p14:creationId xmlns:p14="http://schemas.microsoft.com/office/powerpoint/2010/main" val="302665646"/>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E38CAC-03DD-4AC4-B93B-DF657506756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BB1586F1-4A8D-439C-80EE-E2CF5C0D4C7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9"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9681fcc709d3475e"/>
          </a:graphicData>
        </a:graphic>
      </p:graphicFrame>
      <p:sp>
        <p:nvSpPr>
          <p:cNvPr id="4" name="">
            <a:extLst xmlns:a="http://schemas.openxmlformats.org/drawingml/2006/main">
              <a:ext uri="{FF2B5EF4-FFF2-40B4-BE49-F238E27FC236}">
                <a16:creationId xmlns:a16="http://schemas.microsoft.com/office/drawing/2014/main" id="{A59C4E9E-9DB1-42E1-83C7-5040DD4FDA88}"/>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B3C4E0B6-8113-4D4D-BE0D-2763241DCD94}"/>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6A733531-EE14-4653-A9DF-BD10139C0915}"/>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Capacités du lot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30 h, 72 h, 30 h.</a:t>
            </a:r>
          </a:p>
        </p:txBody>
      </p:sp>
    </p:spTree>
    <p:extLst>
      <p:ext uri="{BB962C8B-B14F-4D97-AF65-F5344CB8AC3E}">
        <p14:creationId xmlns:p14="http://schemas.microsoft.com/office/powerpoint/2010/main" val="1995511058"/>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2A1819-7B09-491D-8C1A-508A446C570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4A25A1BA-D9AA-4917-9D46-080B4BA7847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7DB9119C-C4F2-4751-96FF-7BB354D76D87}"/>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7C8C0838-8251-45E5-82A9-B447ACC91C97}"/>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04394E29-8B1D-4534-B339-42EFC45DA943}"/>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D42779E4-D145-4FAD-AADD-A789470C7E28}"/>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FA8746B-8B0F-4698-9162-22BF55CF4230}"/>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89C5B70B-8F91-4E89-88A9-DE480EBA73E0}"/>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88AA954F-DDBA-44D8-BE13-A62AAD930B61}"/>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456A5F86-42B2-4C02-A356-23C79F8223EA}"/>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B0ABD763-6C2D-460D-A6A3-AFC8FFE229F1}"/>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D4CD7804-BCA1-422C-9777-5C9D19EE9E59}"/>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777191572"/>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AC01C2-CDD9-42D5-BA79-927088388AA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951325D0-B6EA-47A5-B4BD-506266D0B6C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440C5D92-A3EA-4BDA-AE6A-E68568A6EC9B}"/>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C981522-40E6-46D0-92ED-0DBFBACD0315}"/>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2CB94285-48AA-483B-9EFB-808BA1B386E4}"/>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C9AF9770-A4DC-46E9-919A-CC430D9D2429}"/>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B73793B-F47B-4491-8F4E-76278868D732}"/>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1BDE6546-4B73-477C-BB9A-8225C153E51D}"/>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5440BDDC-F099-4FE9-ADA8-6B7D41A5B8E2}"/>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4F35C25-815D-4B1C-AF56-7D0250E30280}"/>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349433A6-F94C-4659-89C0-0EEB6F38140C}"/>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9F663B45-8F86-479E-8675-728A03D0510A}"/>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1284043559"/>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68A47A-0E4B-4BEC-AF13-C58049D6286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AF66B03A-7B8A-4B9A-B846-65A09E40480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69575ec27493411c"/>
          </a:graphicData>
        </a:graphic>
      </p:graphicFrame>
      <p:sp>
        <p:nvSpPr>
          <p:cNvPr id="4" name="">
            <a:extLst xmlns:a="http://schemas.openxmlformats.org/drawingml/2006/main">
              <a:ext uri="{FF2B5EF4-FFF2-40B4-BE49-F238E27FC236}">
                <a16:creationId xmlns:a16="http://schemas.microsoft.com/office/drawing/2014/main" id="{E5485884-4A17-4E0F-AD74-66142ED39110}"/>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F41E20C7-92E2-4D09-B26E-2EC4BCBC2455}"/>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980240E5-7EDC-4206-8629-A590180E8D24}"/>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388533995"/>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0B167A-AB45-4C6E-9CA4-E4895B81CE7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désaccord à traiter ensemble</a:t>
            </a:r>
          </a:p>
        </p:txBody>
      </p:sp>
      <p:sp>
        <p:nvSpPr>
          <p:cNvPr id="2" name="">
            <a:extLst xmlns:a="http://schemas.openxmlformats.org/drawingml/2006/main">
              <a:ext uri="{FF2B5EF4-FFF2-40B4-BE49-F238E27FC236}">
                <a16:creationId xmlns:a16="http://schemas.microsoft.com/office/drawing/2014/main" id="{2F084543-3231-4F27-B804-775B0B6DAC6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811b281c65d41f6"/>
          <a:stretch xmlns:a="http://schemas.openxmlformats.org/drawingml/2006/main"/>
        </p:blipFill>
        <p:spPr>
          <a:xfrm xmlns:a="http://schemas.openxmlformats.org/drawingml/2006/main">
            <a:off x="3059906" y="1885950"/>
            <a:ext cx="6072188"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E07C54-5C95-4BB0-AC77-A749895ECA7C}"/>
              </a:ext>
            </a:extLst>
          </p:cNvPr>
          <p:cNvSpPr>
            <a:spLocks xmlns:a="http://schemas.openxmlformats.org/drawingml/2006/main" noGrp="1"/>
          </p:cNvSpPr>
          <p:nvPr/>
        </p:nvSpPr>
        <p:spPr>
          <a:xfrm xmlns:a="http://schemas.openxmlformats.org/drawingml/2006/main">
            <a:off x="685800" y="1933575"/>
            <a:ext cx="157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DEV</a:t>
            </a:r>
          </a:p>
        </p:txBody>
      </p:sp>
      <p:sp>
        <p:nvSpPr>
          <p:cNvPr id="5" name="">
            <a:extLst xmlns:a="http://schemas.openxmlformats.org/drawingml/2006/main">
              <a:ext uri="{FF2B5EF4-FFF2-40B4-BE49-F238E27FC236}">
                <a16:creationId xmlns:a16="http://schemas.microsoft.com/office/drawing/2014/main" id="{A42A5BE5-9F4D-46AC-8557-AEF757206DAE}"/>
              </a:ext>
            </a:extLst>
          </p:cNvPr>
          <p:cNvSpPr>
            <a:spLocks xmlns:a="http://schemas.openxmlformats.org/drawingml/2006/main" noGrp="1"/>
          </p:cNvSpPr>
          <p:nvPr/>
        </p:nvSpPr>
        <p:spPr>
          <a:xfrm xmlns:a="http://schemas.openxmlformats.org/drawingml/2006/main">
            <a:off x="685800" y="2619375"/>
            <a:ext cx="1981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Ajouter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une fonction</a:t>
            </a:r>
          </a:p>
        </p:txBody>
      </p:sp>
      <p:sp>
        <p:nvSpPr>
          <p:cNvPr id="6" name="">
            <a:extLst xmlns:a="http://schemas.openxmlformats.org/drawingml/2006/main">
              <a:ext uri="{FF2B5EF4-FFF2-40B4-BE49-F238E27FC236}">
                <a16:creationId xmlns:a16="http://schemas.microsoft.com/office/drawing/2014/main" id="{5F8F1FAC-C3FB-4FD1-AE6A-2B717D54BA26}"/>
              </a:ext>
            </a:extLst>
          </p:cNvPr>
          <p:cNvSpPr>
            <a:spLocks xmlns:a="http://schemas.openxmlformats.org/drawingml/2006/main" noGrp="1"/>
          </p:cNvSpPr>
          <p:nvPr/>
        </p:nvSpPr>
        <p:spPr>
          <a:xfrm xmlns:a="http://schemas.openxmlformats.org/drawingml/2006/main">
            <a:off x="10172700" y="1933575"/>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QA</a:t>
            </a:r>
          </a:p>
        </p:txBody>
      </p:sp>
      <p:sp>
        <p:nvSpPr>
          <p:cNvPr id="7" name="">
            <a:extLst xmlns:a="http://schemas.openxmlformats.org/drawingml/2006/main">
              <a:ext uri="{FF2B5EF4-FFF2-40B4-BE49-F238E27FC236}">
                <a16:creationId xmlns:a16="http://schemas.microsoft.com/office/drawing/2014/main" id="{E6EDDF0B-0C9B-4171-989C-A6CD835EE173}"/>
              </a:ext>
            </a:extLst>
          </p:cNvPr>
          <p:cNvSpPr>
            <a:spLocks xmlns:a="http://schemas.openxmlformats.org/drawingml/2006/main" noGrp="1"/>
          </p:cNvSpPr>
          <p:nvPr/>
        </p:nvSpPr>
        <p:spPr>
          <a:xfrm xmlns:a="http://schemas.openxmlformats.org/drawingml/2006/main">
            <a:off x="9925050" y="2619375"/>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Stabiliser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la recette</a:t>
            </a:r>
          </a:p>
        </p:txBody>
      </p:sp>
      <p:sp>
        <p:nvSpPr>
          <p:cNvPr id="8" name="">
            <a:extLst xmlns:a="http://schemas.openxmlformats.org/drawingml/2006/main">
              <a:ext uri="{FF2B5EF4-FFF2-40B4-BE49-F238E27FC236}">
                <a16:creationId xmlns:a16="http://schemas.microsoft.com/office/drawing/2014/main" id="{3B3913E3-7EC1-4B14-8671-D6C95EA9EE3E}"/>
              </a:ext>
            </a:extLst>
          </p:cNvPr>
          <p:cNvSpPr>
            <a:spLocks xmlns:a="http://schemas.openxmlformats.org/drawingml/2006/main" noGrp="1"/>
          </p:cNvSpPr>
          <p:nvPr/>
        </p:nvSpPr>
        <p:spPr>
          <a:xfrm xmlns:a="http://schemas.openxmlformats.org/drawingml/2006/main">
            <a:off x="685800" y="5838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Écouter les impacts, décider, puis suivre.</a:t>
            </a:r>
          </a:p>
        </p:txBody>
      </p:sp>
    </p:spTree>
    <p:extLst>
      <p:ext uri="{BB962C8B-B14F-4D97-AF65-F5344CB8AC3E}">
        <p14:creationId xmlns:p14="http://schemas.microsoft.com/office/powerpoint/2010/main" val="437404291"/>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593E50-F54C-4CA3-B3E9-1B91FAE9152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QA malentendante</a:t>
            </a:r>
          </a:p>
        </p:txBody>
      </p:sp>
      <p:sp>
        <p:nvSpPr>
          <p:cNvPr id="2" name="">
            <a:extLst xmlns:a="http://schemas.openxmlformats.org/drawingml/2006/main">
              <a:ext uri="{FF2B5EF4-FFF2-40B4-BE49-F238E27FC236}">
                <a16:creationId xmlns:a16="http://schemas.microsoft.com/office/drawing/2014/main" id="{B2A0CEFF-BA48-4558-863F-ACA80F909BA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cas pédagogique fictif    16:30 à 18:00    14</a:t>
            </a:r>
          </a:p>
        </p:txBody>
      </p:sp>
      <p:sp>
        <p:nvSpPr>
          <p:cNvPr id="3" name="">
            <a:extLst xmlns:a="http://schemas.openxmlformats.org/drawingml/2006/main">
              <a:ext uri="{FF2B5EF4-FFF2-40B4-BE49-F238E27FC236}">
                <a16:creationId xmlns:a16="http://schemas.microsoft.com/office/drawing/2014/main" id="{7BC7513D-4B83-4419-8A01-3E707E90968F}"/>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Personnage fictif. Modalités définies avec elle dans le scénario.</a:t>
            </a:r>
          </a:p>
        </p:txBody>
      </p:sp>
      <p:graphicFrame>
        <p:nvGraphicFramePr>
          <p:cNvPr id="10" name=""/>
          <p:cNvGraphicFramePr/>
          <p:nvPr/>
        </p:nvGraphicFramePr>
        <p:xfrm>
          <a:off xmlns:a="http://schemas.openxmlformats.org/drawingml/2006/main" x="609600" y="2219325"/>
          <a:ext xmlns:a="http://schemas.openxmlformats.org/drawingml/2006/main" cx="10972800" cy="2895600"/>
        </p:xfrm>
        <a:graphic xmlns:a="http://schemas.openxmlformats.org/drawingml/2006/main">
          <a:graphicData uri="http://schemas.openxmlformats.org/drawingml/2006/table">
            <a:tbl>
              <a:tblPr/>
              <a:tblGrid>
                <a:gridCol w="2571750"/>
                <a:gridCol w="8401050"/>
              </a:tblGrid>
              <a:tr h="72390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72390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72390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72390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0B9A115F-F956-480A-B7B7-E8F2DA921A66}"/>
              </a:ext>
            </a:extLst>
          </p:cNvPr>
          <p:cNvSpPr>
            <a:spLocks xmlns:a="http://schemas.openxmlformats.org/drawingml/2006/main" noGrp="1"/>
          </p:cNvSpPr>
          <p:nvPr/>
        </p:nvSpPr>
        <p:spPr>
          <a:xfrm xmlns:a="http://schemas.openxmlformats.org/drawingml/2006/main">
            <a:off x="685800" y="55245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
        <p:nvSpPr>
          <p:cNvPr id="6" name="">
            <a:extLst xmlns:a="http://schemas.openxmlformats.org/drawingml/2006/main">
              <a:ext uri="{FF2B5EF4-FFF2-40B4-BE49-F238E27FC236}">
                <a16:creationId xmlns:a16="http://schemas.microsoft.com/office/drawing/2014/main" id="{B37ACA3A-C21F-45E8-8CE4-B0DC0D59D8A5}"/>
              </a:ext>
            </a:extLst>
          </p:cNvPr>
          <p:cNvSpPr>
            <a:spLocks xmlns:a="http://schemas.openxmlformats.org/drawingml/2006/main" noGrp="1"/>
          </p:cNvSpPr>
          <p:nvPr/>
        </p:nvSpPr>
        <p:spPr>
          <a:xfrm xmlns:a="http://schemas.openxmlformats.org/drawingml/2006/main">
            <a:off x="685800" y="60198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Critères de vérification prévus, résultats à constater.</a:t>
            </a:r>
          </a:p>
        </p:txBody>
      </p:sp>
    </p:spTree>
    <p:extLst>
      <p:ext uri="{BB962C8B-B14F-4D97-AF65-F5344CB8AC3E}">
        <p14:creationId xmlns:p14="http://schemas.microsoft.com/office/powerpoint/2010/main" val="1851613381"/>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DCB1F0-FCAC-4838-8879-D7EE724E056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cible : l’autonomie</a:t>
            </a:r>
          </a:p>
        </p:txBody>
      </p:sp>
      <p:sp>
        <p:nvSpPr>
          <p:cNvPr id="2" name="">
            <a:extLst xmlns:a="http://schemas.openxmlformats.org/drawingml/2006/main">
              <a:ext uri="{FF2B5EF4-FFF2-40B4-BE49-F238E27FC236}">
                <a16:creationId xmlns:a16="http://schemas.microsoft.com/office/drawing/2014/main" id="{A2EE835F-EA0E-4341-B762-81366426DFF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9" name="Chart"/>
          <p:cNvGraphicFramePr/>
          <p:nvPr/>
        </p:nvGraphicFramePr>
        <p:xfrm>
          <a:off xmlns:a="http://schemas.openxmlformats.org/drawingml/2006/main" x="647700" y="1733550"/>
          <a:ext xmlns:a="http://schemas.openxmlformats.org/drawingml/2006/main" cx="7572375" cy="3905250"/>
        </p:xfrm>
        <a:graphic xmlns:a="http://schemas.openxmlformats.org/drawingml/2006/main">
          <a:graphicData uri="http://schemas.openxmlformats.org/drawingml/2006/chart">
            <c:chart xmlns:r="http://schemas.openxmlformats.org/officeDocument/2006/relationships" xmlns:c="http://schemas.openxmlformats.org/drawingml/2006/chart" r:id="Rfa80ec0c89154f10"/>
          </a:graphicData>
        </a:graphic>
      </p:graphicFrame>
      <p:sp>
        <p:nvSpPr>
          <p:cNvPr id="4" name="">
            <a:extLst xmlns:a="http://schemas.openxmlformats.org/drawingml/2006/main">
              <a:ext uri="{FF2B5EF4-FFF2-40B4-BE49-F238E27FC236}">
                <a16:creationId xmlns:a16="http://schemas.microsoft.com/office/drawing/2014/main" id="{2FD283A7-F370-4CA2-ACA4-DFED4F12BE45}"/>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à 2</a:t>
            </a:r>
          </a:p>
        </p:txBody>
      </p:sp>
      <p:sp>
        <p:nvSpPr>
          <p:cNvPr id="5" name="">
            <a:extLst xmlns:a="http://schemas.openxmlformats.org/drawingml/2006/main">
              <a:ext uri="{FF2B5EF4-FFF2-40B4-BE49-F238E27FC236}">
                <a16:creationId xmlns:a16="http://schemas.microsoft.com/office/drawing/2014/main" id="{B530C5E9-C4D0-473C-9AD4-A4080DD089F5}"/>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De l’aide à l’autonomie</a:t>
            </a:r>
          </a:p>
        </p:txBody>
      </p:sp>
      <p:sp>
        <p:nvSpPr>
          <p:cNvPr id="6" name="">
            <a:extLst xmlns:a="http://schemas.openxmlformats.org/drawingml/2006/main">
              <a:ext uri="{FF2B5EF4-FFF2-40B4-BE49-F238E27FC236}">
                <a16:creationId xmlns:a16="http://schemas.microsoft.com/office/drawing/2014/main" id="{D569B48E-8F0A-4725-A95B-0B352D0AD73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Suivi des écarts.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Concurrence.</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et clavier.</a:t>
            </a:r>
          </a:p>
        </p:txBody>
      </p:sp>
    </p:spTree>
    <p:extLst>
      <p:ext uri="{BB962C8B-B14F-4D97-AF65-F5344CB8AC3E}">
        <p14:creationId xmlns:p14="http://schemas.microsoft.com/office/powerpoint/2010/main" val="582341293"/>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D7729F-1D45-48C2-8E45-ADBA80465BE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formation accessible à Camille</a:t>
            </a:r>
          </a:p>
        </p:txBody>
      </p:sp>
      <p:sp>
        <p:nvSpPr>
          <p:cNvPr id="2" name="">
            <a:extLst xmlns:a="http://schemas.openxmlformats.org/drawingml/2006/main">
              <a:ext uri="{FF2B5EF4-FFF2-40B4-BE49-F238E27FC236}">
                <a16:creationId xmlns:a16="http://schemas.microsoft.com/office/drawing/2014/main" id="{86D079D0-9F8D-4077-93F4-6F5F8CD6B62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actions fictives intégrées au lot    19:00 à 20:30    16</a:t>
            </a:r>
          </a:p>
        </p:txBody>
      </p:sp>
      <p:graphicFrame>
        <p:nvGraphicFramePr>
          <p:cNvPr id="10" name="Chart"/>
          <p:cNvGraphicFramePr/>
          <p:nvPr/>
        </p:nvGraphicFramePr>
        <p:xfrm>
          <a:off xmlns:a="http://schemas.openxmlformats.org/drawingml/2006/main" x="666750" y="1695450"/>
          <a:ext xmlns:a="http://schemas.openxmlformats.org/drawingml/2006/main" cx="5429250" cy="4238625"/>
        </p:xfrm>
        <a:graphic xmlns:a="http://schemas.openxmlformats.org/drawingml/2006/main">
          <a:graphicData uri="http://schemas.openxmlformats.org/drawingml/2006/chart">
            <c:chart xmlns:r="http://schemas.openxmlformats.org/officeDocument/2006/relationships" xmlns:c="http://schemas.openxmlformats.org/drawingml/2006/chart" r:id="Rdaf7f3f06fbb402d"/>
          </a:graphicData>
        </a:graphic>
      </p:graphicFrame>
      <p:sp>
        <p:nvSpPr>
          <p:cNvPr id="4" name="">
            <a:extLst xmlns:a="http://schemas.openxmlformats.org/drawingml/2006/main">
              <a:ext uri="{FF2B5EF4-FFF2-40B4-BE49-F238E27FC236}">
                <a16:creationId xmlns:a16="http://schemas.microsoft.com/office/drawing/2014/main" id="{E83BF1BF-B7C8-40BB-8306-CE12031285DA}"/>
              </a:ext>
            </a:extLst>
          </p:cNvPr>
          <p:cNvSpPr>
            <a:spLocks xmlns:a="http://schemas.openxmlformats.org/drawingml/2006/main" noGrp="1"/>
          </p:cNvSpPr>
          <p:nvPr/>
        </p:nvSpPr>
        <p:spPr>
          <a:xfrm xmlns:a="http://schemas.openxmlformats.org/drawingml/2006/main">
            <a:off x="2809875" y="31146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6 h</a:t>
            </a:r>
          </a:p>
        </p:txBody>
      </p:sp>
      <p:sp>
        <p:nvSpPr>
          <p:cNvPr id="5" name="">
            <a:extLst xmlns:a="http://schemas.openxmlformats.org/drawingml/2006/main">
              <a:ext uri="{FF2B5EF4-FFF2-40B4-BE49-F238E27FC236}">
                <a16:creationId xmlns:a16="http://schemas.microsoft.com/office/drawing/2014/main" id="{96D9A14D-1665-4B25-998C-84F91C64E10C}"/>
              </a:ext>
            </a:extLst>
          </p:cNvPr>
          <p:cNvSpPr>
            <a:spLocks xmlns:a="http://schemas.openxmlformats.org/drawingml/2006/main" noGrp="1"/>
          </p:cNvSpPr>
          <p:nvPr/>
        </p:nvSpPr>
        <p:spPr>
          <a:xfrm xmlns:a="http://schemas.openxmlformats.org/drawingml/2006/main">
            <a:off x="6991350" y="2076450"/>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12D"/>
                </a:solidFill>
                <a:latin typeface="Arial"/>
                <a:ea typeface="Arial"/>
                <a:cs typeface="Arial"/>
              </a:defRPr>
            </a:pPr>
            <a:r>
              <a:rPr sz="2550" b="1">
                <a:solidFill>
                  <a:srgbClr val="18312D"/>
                </a:solidFill>
                <a:latin typeface="Arial"/>
                <a:ea typeface="Arial"/>
                <a:cs typeface="Arial"/>
              </a:rPr>
              <a:t>Camille : 3 h adaptées</a:t>
            </a:r>
          </a:p>
        </p:txBody>
      </p:sp>
      <p:sp>
        <p:nvSpPr>
          <p:cNvPr id="6" name="">
            <a:extLst xmlns:a="http://schemas.openxmlformats.org/drawingml/2006/main">
              <a:ext uri="{FF2B5EF4-FFF2-40B4-BE49-F238E27FC236}">
                <a16:creationId xmlns:a16="http://schemas.microsoft.com/office/drawing/2014/main" id="{3B7235C4-8630-424A-8F7D-3066F18C0CF8}"/>
              </a:ext>
            </a:extLst>
          </p:cNvPr>
          <p:cNvSpPr>
            <a:spLocks xmlns:a="http://schemas.openxmlformats.org/drawingml/2006/main" noGrp="1"/>
          </p:cNvSpPr>
          <p:nvPr/>
        </p:nvSpPr>
        <p:spPr>
          <a:xfrm xmlns:a="http://schemas.openxmlformats.org/drawingml/2006/main">
            <a:off x="6991350" y="2952750"/>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Consignes écrites.</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Démonstration sous-titrée.</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Puis un cas en autonomie.</a:t>
            </a:r>
          </a:p>
        </p:txBody>
      </p:sp>
      <p:sp>
        <p:nvSpPr>
          <p:cNvPr id="7" name="">
            <a:extLst xmlns:a="http://schemas.openxmlformats.org/drawingml/2006/main">
              <a:ext uri="{FF2B5EF4-FFF2-40B4-BE49-F238E27FC236}">
                <a16:creationId xmlns:a16="http://schemas.microsoft.com/office/drawing/2014/main" id="{77B1730A-5100-4CA4-A96D-8028C5099982}"/>
              </a:ext>
            </a:extLst>
          </p:cNvPr>
          <p:cNvSpPr>
            <a:spLocks xmlns:a="http://schemas.openxmlformats.org/drawingml/2006/main" noGrp="1"/>
          </p:cNvSpPr>
          <p:nvPr/>
        </p:nvSpPr>
        <p:spPr>
          <a:xfrm xmlns:a="http://schemas.openxmlformats.org/drawingml/2006/main">
            <a:off x="6991350" y="4810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Temps inclus dans les tâches.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60 € de ressources fictives.</a:t>
            </a:r>
          </a:p>
        </p:txBody>
      </p:sp>
    </p:spTree>
    <p:extLst>
      <p:ext uri="{BB962C8B-B14F-4D97-AF65-F5344CB8AC3E}">
        <p14:creationId xmlns:p14="http://schemas.microsoft.com/office/powerpoint/2010/main" val="1222924378"/>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9432CB-665C-4AD1-B73D-00531906D63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Trois rendez-vous pour décider</a:t>
            </a:r>
          </a:p>
        </p:txBody>
      </p:sp>
      <p:sp>
        <p:nvSpPr>
          <p:cNvPr id="2" name="">
            <a:extLst xmlns:a="http://schemas.openxmlformats.org/drawingml/2006/main">
              <a:ext uri="{FF2B5EF4-FFF2-40B4-BE49-F238E27FC236}">
                <a16:creationId xmlns:a16="http://schemas.microsoft.com/office/drawing/2014/main" id="{05BA0A9C-B2C2-4A03-96A8-248514109CF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sp>
        <p:nvSpPr>
          <p:cNvPr id="3" name="">
            <a:extLst xmlns:a="http://schemas.openxmlformats.org/drawingml/2006/main">
              <a:ext uri="{FF2B5EF4-FFF2-40B4-BE49-F238E27FC236}">
                <a16:creationId xmlns:a16="http://schemas.microsoft.com/office/drawing/2014/main" id="{96087EDF-7B96-49ED-BECE-C1302C4EB8DC}"/>
              </a:ext>
            </a:extLst>
          </p:cNvPr>
          <p:cNvSpPr>
            <a:spLocks xmlns:a="http://schemas.openxmlformats.org/drawingml/2006/main" noGrp="1"/>
          </p:cNvSpPr>
          <p:nvPr/>
        </p:nvSpPr>
        <p:spPr>
          <a:xfrm xmlns:a="http://schemas.openxmlformats.org/drawingml/2006/main">
            <a:off x="6858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J3</a:t>
            </a:r>
          </a:p>
        </p:txBody>
      </p:sp>
      <p:sp>
        <p:nvSpPr>
          <p:cNvPr id="4" name="">
            <a:extLst xmlns:a="http://schemas.openxmlformats.org/drawingml/2006/main">
              <a:ext uri="{FF2B5EF4-FFF2-40B4-BE49-F238E27FC236}">
                <a16:creationId xmlns:a16="http://schemas.microsoft.com/office/drawing/2014/main" id="{B5E0B230-D29E-466D-90B8-6DCE80FE7CAF}"/>
              </a:ext>
            </a:extLst>
          </p:cNvPr>
          <p:cNvSpPr>
            <a:spLocks xmlns:a="http://schemas.openxmlformats.org/drawingml/2006/main" noGrp="1"/>
          </p:cNvSpPr>
          <p:nvPr/>
        </p:nvSpPr>
        <p:spPr>
          <a:xfrm xmlns:a="http://schemas.openxmlformats.org/drawingml/2006/main">
            <a:off x="6858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Périmètre</a:t>
            </a:r>
          </a:p>
        </p:txBody>
      </p:sp>
      <p:sp>
        <p:nvSpPr>
          <p:cNvPr id="5" name="">
            <a:extLst xmlns:a="http://schemas.openxmlformats.org/drawingml/2006/main">
              <a:ext uri="{FF2B5EF4-FFF2-40B4-BE49-F238E27FC236}">
                <a16:creationId xmlns:a16="http://schemas.microsoft.com/office/drawing/2014/main" id="{F3973477-2196-47BE-807F-2E16CF026020}"/>
              </a:ext>
            </a:extLst>
          </p:cNvPr>
          <p:cNvSpPr>
            <a:spLocks xmlns:a="http://schemas.openxmlformats.org/drawingml/2006/main" noGrp="1"/>
          </p:cNvSpPr>
          <p:nvPr/>
        </p:nvSpPr>
        <p:spPr>
          <a:xfrm xmlns:a="http://schemas.openxmlformats.org/drawingml/2006/main">
            <a:off x="6858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CR01</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attendus.</a:t>
            </a:r>
          </a:p>
        </p:txBody>
      </p:sp>
      <p:sp>
        <p:nvSpPr>
          <p:cNvPr id="6" name="">
            <a:extLst xmlns:a="http://schemas.openxmlformats.org/drawingml/2006/main">
              <a:ext uri="{FF2B5EF4-FFF2-40B4-BE49-F238E27FC236}">
                <a16:creationId xmlns:a16="http://schemas.microsoft.com/office/drawing/2014/main" id="{2D6345D4-C050-4A2F-B439-E81BCD7B2BF7}"/>
              </a:ext>
            </a:extLst>
          </p:cNvPr>
          <p:cNvSpPr>
            <a:spLocks xmlns:a="http://schemas.openxmlformats.org/drawingml/2006/main" noGrp="1"/>
          </p:cNvSpPr>
          <p:nvPr/>
        </p:nvSpPr>
        <p:spPr>
          <a:xfrm xmlns:a="http://schemas.openxmlformats.org/drawingml/2006/main">
            <a:off x="42926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J10</a:t>
            </a:r>
          </a:p>
        </p:txBody>
      </p:sp>
      <p:sp>
        <p:nvSpPr>
          <p:cNvPr id="7" name="">
            <a:extLst xmlns:a="http://schemas.openxmlformats.org/drawingml/2006/main">
              <a:ext uri="{FF2B5EF4-FFF2-40B4-BE49-F238E27FC236}">
                <a16:creationId xmlns:a16="http://schemas.microsoft.com/office/drawing/2014/main" id="{4F471DB7-C91A-4956-820D-9C5FF2B6D75A}"/>
              </a:ext>
            </a:extLst>
          </p:cNvPr>
          <p:cNvSpPr>
            <a:spLocks xmlns:a="http://schemas.openxmlformats.org/drawingml/2006/main" noGrp="1"/>
          </p:cNvSpPr>
          <p:nvPr/>
        </p:nvSpPr>
        <p:spPr>
          <a:xfrm xmlns:a="http://schemas.openxmlformats.org/drawingml/2006/main">
            <a:off x="42926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Écarts</a:t>
            </a:r>
          </a:p>
        </p:txBody>
      </p:sp>
      <p:sp>
        <p:nvSpPr>
          <p:cNvPr id="8" name="">
            <a:extLst xmlns:a="http://schemas.openxmlformats.org/drawingml/2006/main">
              <a:ext uri="{FF2B5EF4-FFF2-40B4-BE49-F238E27FC236}">
                <a16:creationId xmlns:a16="http://schemas.microsoft.com/office/drawing/2014/main" id="{B43BA59D-54DA-40FA-8F86-D03FEA137A00}"/>
              </a:ext>
            </a:extLst>
          </p:cNvPr>
          <p:cNvSpPr>
            <a:spLocks xmlns:a="http://schemas.openxmlformats.org/drawingml/2006/main" noGrp="1"/>
          </p:cNvSpPr>
          <p:nvPr/>
        </p:nvSpPr>
        <p:spPr>
          <a:xfrm xmlns:a="http://schemas.openxmlformats.org/drawingml/2006/main">
            <a:off x="42926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CR02</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sur le lot.</a:t>
            </a:r>
          </a:p>
        </p:txBody>
      </p:sp>
      <p:sp>
        <p:nvSpPr>
          <p:cNvPr id="9" name="">
            <a:extLst xmlns:a="http://schemas.openxmlformats.org/drawingml/2006/main">
              <a:ext uri="{FF2B5EF4-FFF2-40B4-BE49-F238E27FC236}">
                <a16:creationId xmlns:a16="http://schemas.microsoft.com/office/drawing/2014/main" id="{D39786E9-263C-40C2-8CB7-5F50D0D8318D}"/>
              </a:ext>
            </a:extLst>
          </p:cNvPr>
          <p:cNvSpPr>
            <a:spLocks xmlns:a="http://schemas.openxmlformats.org/drawingml/2006/main" noGrp="1"/>
          </p:cNvSpPr>
          <p:nvPr/>
        </p:nvSpPr>
        <p:spPr>
          <a:xfrm xmlns:a="http://schemas.openxmlformats.org/drawingml/2006/main">
            <a:off x="78994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J15</a:t>
            </a:r>
          </a:p>
        </p:txBody>
      </p:sp>
      <p:sp>
        <p:nvSpPr>
          <p:cNvPr id="10" name="">
            <a:extLst xmlns:a="http://schemas.openxmlformats.org/drawingml/2006/main">
              <a:ext uri="{FF2B5EF4-FFF2-40B4-BE49-F238E27FC236}">
                <a16:creationId xmlns:a16="http://schemas.microsoft.com/office/drawing/2014/main" id="{99241F3E-EC2F-4370-AB58-28257C1E1B43}"/>
              </a:ext>
            </a:extLst>
          </p:cNvPr>
          <p:cNvSpPr>
            <a:spLocks xmlns:a="http://schemas.openxmlformats.org/drawingml/2006/main" noGrp="1"/>
          </p:cNvSpPr>
          <p:nvPr/>
        </p:nvSpPr>
        <p:spPr>
          <a:xfrm xmlns:a="http://schemas.openxmlformats.org/drawingml/2006/main">
            <a:off x="78994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Validation</a:t>
            </a:r>
          </a:p>
        </p:txBody>
      </p:sp>
      <p:sp>
        <p:nvSpPr>
          <p:cNvPr id="11" name="">
            <a:extLst xmlns:a="http://schemas.openxmlformats.org/drawingml/2006/main">
              <a:ext uri="{FF2B5EF4-FFF2-40B4-BE49-F238E27FC236}">
                <a16:creationId xmlns:a16="http://schemas.microsoft.com/office/drawing/2014/main" id="{3A4AFA2F-767E-430F-9EF5-5F5C12CEEBD4}"/>
              </a:ext>
            </a:extLst>
          </p:cNvPr>
          <p:cNvSpPr>
            <a:spLocks xmlns:a="http://schemas.openxmlformats.org/drawingml/2006/main" noGrp="1"/>
          </p:cNvSpPr>
          <p:nvPr/>
        </p:nvSpPr>
        <p:spPr>
          <a:xfrm xmlns:a="http://schemas.openxmlformats.org/drawingml/2006/main">
            <a:off x="78994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CR03</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Acceptation et réserves.</a:t>
            </a:r>
          </a:p>
        </p:txBody>
      </p:sp>
      <p:sp>
        <p:nvSpPr>
          <p:cNvPr id="12" name="">
            <a:extLst xmlns:a="http://schemas.openxmlformats.org/drawingml/2006/main">
              <a:ext uri="{FF2B5EF4-FFF2-40B4-BE49-F238E27FC236}">
                <a16:creationId xmlns:a16="http://schemas.microsoft.com/office/drawing/2014/main" id="{02EAA9A4-14BA-4738-8626-83481C04EB34}"/>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Collectif Altitude Grimpe, commanditaire fictif du Bloc 1.</a:t>
            </a:r>
          </a:p>
        </p:txBody>
      </p:sp>
    </p:spTree>
    <p:extLst>
      <p:ext uri="{BB962C8B-B14F-4D97-AF65-F5344CB8AC3E}">
        <p14:creationId xmlns:p14="http://schemas.microsoft.com/office/powerpoint/2010/main" val="1525382686"/>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999CBC-AC20-4460-AE4D-7557320F7DC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satisfaction reste à mesurer</a:t>
            </a:r>
          </a:p>
        </p:txBody>
      </p:sp>
      <p:sp>
        <p:nvSpPr>
          <p:cNvPr id="2" name="">
            <a:extLst xmlns:a="http://schemas.openxmlformats.org/drawingml/2006/main">
              <a:ext uri="{FF2B5EF4-FFF2-40B4-BE49-F238E27FC236}">
                <a16:creationId xmlns:a16="http://schemas.microsoft.com/office/drawing/2014/main" id="{C1461AEF-EDD6-4D1E-B821-2FAC26AB3E7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3447C299-8DFF-44AD-9DBA-59FA8DD3F30D}"/>
              </a:ext>
            </a:extLst>
          </p:cNvPr>
          <p:cNvSpPr>
            <a:spLocks xmlns:a="http://schemas.openxmlformats.org/drawingml/2006/main" noGrp="1"/>
          </p:cNvSpPr>
          <p:nvPr/>
        </p:nvSpPr>
        <p:spPr>
          <a:xfrm xmlns:a="http://schemas.openxmlformats.org/drawingml/2006/main">
            <a:off x="685800" y="2114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8725F"/>
                </a:solidFill>
                <a:latin typeface="Arial"/>
                <a:ea typeface="Arial"/>
                <a:cs typeface="Arial"/>
              </a:defRPr>
            </a:pPr>
            <a:r>
              <a:rPr sz="7050" b="1">
                <a:solidFill>
                  <a:srgbClr val="28725F"/>
                </a:solidFill>
                <a:latin typeface="Arial"/>
                <a:ea typeface="Arial"/>
                <a:cs typeface="Arial"/>
              </a:rPr>
              <a:t>Non mesurée</a:t>
            </a:r>
          </a:p>
        </p:txBody>
      </p:sp>
      <p:sp>
        <p:nvSpPr>
          <p:cNvPr id="4" name="">
            <a:extLst xmlns:a="http://schemas.openxmlformats.org/drawingml/2006/main">
              <a:ext uri="{FF2B5EF4-FFF2-40B4-BE49-F238E27FC236}">
                <a16:creationId xmlns:a16="http://schemas.microsoft.com/office/drawing/2014/main" id="{CA4D6C08-C204-4663-98A3-E2051D39693A}"/>
              </a:ext>
            </a:extLst>
          </p:cNvPr>
          <p:cNvSpPr>
            <a:spLocks xmlns:a="http://schemas.openxmlformats.org/drawingml/2006/main" noGrp="1"/>
          </p:cNvSpPr>
          <p:nvPr/>
        </p:nvSpPr>
        <p:spPr>
          <a:xfrm xmlns:a="http://schemas.openxmlformats.org/drawingml/2006/main">
            <a:off x="742950" y="36480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12D"/>
                </a:solidFill>
                <a:latin typeface="Arial"/>
                <a:ea typeface="Arial"/>
                <a:cs typeface="Arial"/>
              </a:defRPr>
            </a:pPr>
            <a:r>
              <a:rPr sz="2550" b="0">
                <a:solidFill>
                  <a:srgbClr val="18312D"/>
                </a:solidFill>
                <a:latin typeface="Arial"/>
                <a:ea typeface="Arial"/>
                <a:cs typeface="Arial"/>
              </a:rPr>
              <a:t>Aucun résultat client réel disponible.</a:t>
            </a:r>
          </a:p>
        </p:txBody>
      </p:sp>
      <p:sp>
        <p:nvSpPr>
          <p:cNvPr id="5" name="">
            <a:extLst xmlns:a="http://schemas.openxmlformats.org/drawingml/2006/main">
              <a:ext uri="{FF2B5EF4-FFF2-40B4-BE49-F238E27FC236}">
                <a16:creationId xmlns:a16="http://schemas.microsoft.com/office/drawing/2014/main" id="{50C66F28-AE50-4399-B299-75FCAA359581}"/>
              </a:ext>
            </a:extLst>
          </p:cNvPr>
          <p:cNvSpPr>
            <a:spLocks xmlns:a="http://schemas.openxmlformats.org/drawingml/2006/main" noGrp="1"/>
          </p:cNvSpPr>
          <p:nvPr/>
        </p:nvSpPr>
        <p:spPr>
          <a:xfrm xmlns:a="http://schemas.openxmlformats.org/drawingml/2006/main">
            <a:off x="68580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Critères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acceptés</a:t>
            </a:r>
          </a:p>
        </p:txBody>
      </p:sp>
      <p:sp>
        <p:nvSpPr>
          <p:cNvPr id="6" name="">
            <a:extLst xmlns:a="http://schemas.openxmlformats.org/drawingml/2006/main">
              <a:ext uri="{FF2B5EF4-FFF2-40B4-BE49-F238E27FC236}">
                <a16:creationId xmlns:a16="http://schemas.microsoft.com/office/drawing/2014/main" id="{76B5104B-24D0-448F-A78E-ABC781554E8F}"/>
              </a:ext>
            </a:extLst>
          </p:cNvPr>
          <p:cNvSpPr>
            <a:spLocks xmlns:a="http://schemas.openxmlformats.org/drawingml/2006/main" noGrp="1"/>
          </p:cNvSpPr>
          <p:nvPr/>
        </p:nvSpPr>
        <p:spPr>
          <a:xfrm xmlns:a="http://schemas.openxmlformats.org/drawingml/2006/main">
            <a:off x="345757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Parcours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sans aide</a:t>
            </a:r>
          </a:p>
        </p:txBody>
      </p:sp>
      <p:sp>
        <p:nvSpPr>
          <p:cNvPr id="7" name="">
            <a:extLst xmlns:a="http://schemas.openxmlformats.org/drawingml/2006/main">
              <a:ext uri="{FF2B5EF4-FFF2-40B4-BE49-F238E27FC236}">
                <a16:creationId xmlns:a16="http://schemas.microsoft.com/office/drawing/2014/main" id="{6944FF09-58BC-48E9-A542-16B0893BD536}"/>
              </a:ext>
            </a:extLst>
          </p:cNvPr>
          <p:cNvSpPr>
            <a:spLocks xmlns:a="http://schemas.openxmlformats.org/drawingml/2006/main" noGrp="1"/>
          </p:cNvSpPr>
          <p:nvPr/>
        </p:nvSpPr>
        <p:spPr>
          <a:xfrm xmlns:a="http://schemas.openxmlformats.org/drawingml/2006/main">
            <a:off x="622935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Utilité</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sur 5</a:t>
            </a:r>
          </a:p>
        </p:txBody>
      </p:sp>
      <p:sp>
        <p:nvSpPr>
          <p:cNvPr id="8" name="">
            <a:extLst xmlns:a="http://schemas.openxmlformats.org/drawingml/2006/main">
              <a:ext uri="{FF2B5EF4-FFF2-40B4-BE49-F238E27FC236}">
                <a16:creationId xmlns:a16="http://schemas.microsoft.com/office/drawing/2014/main" id="{BAB279FC-F77A-4839-8947-8CDB4DA29F7A}"/>
              </a:ext>
            </a:extLst>
          </p:cNvPr>
          <p:cNvSpPr>
            <a:spLocks xmlns:a="http://schemas.openxmlformats.org/drawingml/2006/main" noGrp="1"/>
          </p:cNvSpPr>
          <p:nvPr/>
        </p:nvSpPr>
        <p:spPr>
          <a:xfrm xmlns:a="http://schemas.openxmlformats.org/drawingml/2006/main">
            <a:off x="900112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Blocages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critiques</a:t>
            </a:r>
          </a:p>
        </p:txBody>
      </p:sp>
    </p:spTree>
    <p:extLst>
      <p:ext uri="{BB962C8B-B14F-4D97-AF65-F5344CB8AC3E}">
        <p14:creationId xmlns:p14="http://schemas.microsoft.com/office/powerpoint/2010/main" val="1647287007"/>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6baf79ac624fd4"/>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7123FE-C89F-4A75-BB65-56029DBA3A49}"/>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B2BCED23-96D2-4BE0-9DC4-2D83756F07D2}"/>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576FB1C7-F3F4-4DC8-8103-E84FF0F434A8}"/>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1CF23502-5780-44FA-8258-E174C09C3DF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650913083"/>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C8BA13-1588-4B5C-8927-FC903C4D537F}"/>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FCA042B9-1620-463A-A82D-EB74F20C0610}"/>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3f8c427a5e4433"/>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BD32E9-7ED9-43EF-98EA-7F536E086EE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1175844869"/>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92BB0B-5B7D-4CE0-868F-CEB88A47BF21}"/>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2287F33B-ED4A-4A33-B53F-58EFA4B52E67}"/>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1bb9ea46ee249b8"/>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19DE80-425D-479F-843D-20A7640F4A8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1607777149"/>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4AFB30-DCC2-4823-8ECC-8C37B2556C5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transmission à la maintenance</a:t>
            </a:r>
          </a:p>
        </p:txBody>
      </p:sp>
      <p:sp>
        <p:nvSpPr>
          <p:cNvPr id="2" name="">
            <a:extLst xmlns:a="http://schemas.openxmlformats.org/drawingml/2006/main">
              <a:ext uri="{FF2B5EF4-FFF2-40B4-BE49-F238E27FC236}">
                <a16:creationId xmlns:a16="http://schemas.microsoft.com/office/drawing/2014/main" id="{79412ABB-7A9E-4FF5-AF4C-8F1E9EF695E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Bilan et ouverture des quinze minutes de questions    29:00 à 30:00    22</a:t>
            </a:r>
          </a:p>
        </p:txBody>
      </p:sp>
      <p:sp>
        <p:nvSpPr>
          <p:cNvPr id="3" name="">
            <a:extLst xmlns:a="http://schemas.openxmlformats.org/drawingml/2006/main">
              <a:ext uri="{FF2B5EF4-FFF2-40B4-BE49-F238E27FC236}">
                <a16:creationId xmlns:a16="http://schemas.microsoft.com/office/drawing/2014/main" id="{AA36EB43-1CD3-46A0-B3A9-608C8E560539}"/>
              </a:ext>
            </a:extLst>
          </p:cNvPr>
          <p:cNvSpPr>
            <a:spLocks xmlns:a="http://schemas.openxmlformats.org/drawingml/2006/main" noGrp="1"/>
          </p:cNvSpPr>
          <p:nvPr/>
        </p:nvSpPr>
        <p:spPr>
          <a:xfrm xmlns:a="http://schemas.openxmlformats.org/drawingml/2006/main">
            <a:off x="685800" y="20383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Livrable identifié</a:t>
            </a:r>
          </a:p>
        </p:txBody>
      </p:sp>
      <p:sp>
        <p:nvSpPr>
          <p:cNvPr id="4" name="">
            <a:extLst xmlns:a="http://schemas.openxmlformats.org/drawingml/2006/main">
              <a:ext uri="{FF2B5EF4-FFF2-40B4-BE49-F238E27FC236}">
                <a16:creationId xmlns:a16="http://schemas.microsoft.com/office/drawing/2014/main" id="{E90CFE64-FD70-460A-969A-7835EF67611A}"/>
              </a:ext>
            </a:extLst>
          </p:cNvPr>
          <p:cNvSpPr>
            <a:spLocks xmlns:a="http://schemas.openxmlformats.org/drawingml/2006/main" noGrp="1"/>
          </p:cNvSpPr>
          <p:nvPr/>
        </p:nvSpPr>
        <p:spPr>
          <a:xfrm xmlns:a="http://schemas.openxmlformats.org/drawingml/2006/main">
            <a:off x="685800" y="30194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Version, recette et réserves de démonstration.</a:t>
            </a:r>
          </a:p>
        </p:txBody>
      </p:sp>
      <p:sp>
        <p:nvSpPr>
          <p:cNvPr id="5" name="">
            <a:extLst xmlns:a="http://schemas.openxmlformats.org/drawingml/2006/main">
              <a:ext uri="{FF2B5EF4-FFF2-40B4-BE49-F238E27FC236}">
                <a16:creationId xmlns:a16="http://schemas.microsoft.com/office/drawing/2014/main" id="{1A64E981-9278-4D5E-8452-DC4B0B7870E0}"/>
              </a:ext>
            </a:extLst>
          </p:cNvPr>
          <p:cNvSpPr>
            <a:spLocks xmlns:a="http://schemas.openxmlformats.org/drawingml/2006/main" noGrp="1"/>
          </p:cNvSpPr>
          <p:nvPr/>
        </p:nvSpPr>
        <p:spPr>
          <a:xfrm xmlns:a="http://schemas.openxmlformats.org/drawingml/2006/main">
            <a:off x="685800" y="4048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Suite documentée</a:t>
            </a:r>
          </a:p>
        </p:txBody>
      </p:sp>
      <p:sp>
        <p:nvSpPr>
          <p:cNvPr id="6" name="">
            <a:extLst xmlns:a="http://schemas.openxmlformats.org/drawingml/2006/main">
              <a:ext uri="{FF2B5EF4-FFF2-40B4-BE49-F238E27FC236}">
                <a16:creationId xmlns:a16="http://schemas.microsoft.com/office/drawing/2014/main" id="{B1DFBE3D-0DB6-4C1F-A6DF-A1CB2433FA96}"/>
              </a:ext>
            </a:extLst>
          </p:cNvPr>
          <p:cNvSpPr>
            <a:spLocks xmlns:a="http://schemas.openxmlformats.org/drawingml/2006/main" noGrp="1"/>
          </p:cNvSpPr>
          <p:nvPr/>
        </p:nvSpPr>
        <p:spPr>
          <a:xfrm xmlns:a="http://schemas.openxmlformats.org/drawingml/2006/main">
            <a:off x="685800" y="5029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Anomalies, responsables et vérifications du Bloc 4.</a:t>
            </a:r>
          </a:p>
        </p:txBody>
      </p:sp>
    </p:spTree>
    <p:extLst>
      <p:ext uri="{BB962C8B-B14F-4D97-AF65-F5344CB8AC3E}">
        <p14:creationId xmlns:p14="http://schemas.microsoft.com/office/powerpoint/2010/main" val="826910800"/>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C6E3DF-94BE-4DD2-AD0E-477B08E38D0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correspondance des preuves</a:t>
            </a:r>
          </a:p>
        </p:txBody>
      </p:sp>
      <p:sp>
        <p:nvSpPr>
          <p:cNvPr id="2" name="">
            <a:extLst xmlns:a="http://schemas.openxmlformats.org/drawingml/2006/main">
              <a:ext uri="{FF2B5EF4-FFF2-40B4-BE49-F238E27FC236}">
                <a16:creationId xmlns:a16="http://schemas.microsoft.com/office/drawing/2014/main" id="{F2F1BC63-FEE1-4D21-B9D7-A13BCB62AF3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pour les questions    Questions du jury    23</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4381500"/>
                <a:gridCol w="6591300"/>
              </a:tblGrid>
              <a:tr h="819150">
                <a:tc>
                  <a:txBody>
                    <a:bodyPr/>
                    <a:lstStyle/>
                    <a:p>
                      <a:r>
                        <a:rPr sz="1800" b="1">
                          <a:solidFill>
                            <a:srgbClr val="FFFFFF"/>
                          </a:solidFill>
                          <a:latin typeface="Arial"/>
                          <a:ea typeface="Arial"/>
                          <a:cs typeface="Arial"/>
                        </a:rPr>
                        <a:t>Compétences</a:t>
                      </a:r>
                    </a:p>
                  </a:txBody>
                  <a:tcPr marL="91440" marR="91440" marT="45720" marB="45720">
                    <a:solidFill>
                      <a:srgbClr val="28725F"/>
                    </a:solidFill>
                  </a:tcPr>
                </a:tc>
                <a:tc>
                  <a:txBody>
                    <a:bodyPr/>
                    <a:lstStyle/>
                    <a:p>
                      <a:r>
                        <a:rPr sz="1800" b="1">
                          <a:solidFill>
                            <a:srgbClr val="FFFFFF"/>
                          </a:solidFill>
                          <a:latin typeface="Arial"/>
                          <a:ea typeface="Arial"/>
                          <a:cs typeface="Arial"/>
                        </a:rPr>
                        <a:t>Pièces de référence</a:t>
                      </a:r>
                    </a:p>
                  </a:txBody>
                  <a:tcPr marL="91440" marR="91440" marT="45720" marB="45720">
                    <a:solidFill>
                      <a:srgbClr val="28725F"/>
                    </a:solidFill>
                  </a:tcPr>
                </a:tc>
              </a:tr>
              <a:tr h="819150">
                <a:tc>
                  <a:txBody>
                    <a:bodyPr/>
                    <a:lstStyle/>
                    <a:p>
                      <a:r>
                        <a:rPr sz="1800" b="0">
                          <a:solidFill>
                            <a:srgbClr val="18312D"/>
                          </a:solidFill>
                          <a:latin typeface="Arial"/>
                          <a:ea typeface="Arial"/>
                          <a:cs typeface="Arial"/>
                        </a:rPr>
                        <a:t>C.3.1 et C3.2.1</a:t>
                      </a:r>
                    </a:p>
                  </a:txBody>
                  <a:tcPr marL="91440" marR="91440" marT="45720" marB="45720">
                    <a:solidFill>
                      <a:srgbClr val="E9EEE4"/>
                    </a:solidFill>
                  </a:tcPr>
                </a:tc>
                <a:tc>
                  <a:txBody>
                    <a:bodyPr/>
                    <a:lstStyle/>
                    <a:p>
                      <a:r>
                        <a:rPr sz="1800" b="0">
                          <a:solidFill>
                            <a:srgbClr val="18312D"/>
                          </a:solidFill>
                          <a:latin typeface="Arial"/>
                          <a:ea typeface="Arial"/>
                          <a:cs typeface="Arial"/>
                        </a:rPr>
                        <a:t>A01 à A03 et classeur</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C3.2.2</a:t>
                      </a:r>
                    </a:p>
                  </a:txBody>
                  <a:tcPr marL="91440" marR="91440" marT="45720" marB="45720">
                    <a:solidFill>
                      <a:srgbClr val="F5F3EA"/>
                    </a:solidFill>
                  </a:tcPr>
                </a:tc>
                <a:tc>
                  <a:txBody>
                    <a:bodyPr/>
                    <a:lstStyle/>
                    <a:p>
                      <a:r>
                        <a:rPr sz="1800" b="0">
                          <a:solidFill>
                            <a:srgbClr val="18312D"/>
                          </a:solidFill>
                          <a:latin typeface="Arial"/>
                          <a:ea typeface="Arial"/>
                          <a:cs typeface="Arial"/>
                        </a:rPr>
                        <a:t>A04 et commit 689e59d</a:t>
                      </a:r>
                    </a:p>
                  </a:txBody>
                  <a:tcPr marL="91440" marR="91440" marT="45720" marB="45720">
                    <a:solidFill>
                      <a:srgbClr val="F5F3EA"/>
                    </a:solidFill>
                  </a:tcPr>
                </a:tc>
              </a:tr>
              <a:tr h="819150">
                <a:tc>
                  <a:txBody>
                    <a:bodyPr/>
                    <a:lstStyle/>
                    <a:p>
                      <a:r>
                        <a:rPr sz="1800" b="0">
                          <a:solidFill>
                            <a:srgbClr val="18312D"/>
                          </a:solidFill>
                          <a:latin typeface="Arial"/>
                          <a:ea typeface="Arial"/>
                          <a:cs typeface="Arial"/>
                        </a:rPr>
                        <a:t>C3.3.1 et C3.3.2</a:t>
                      </a:r>
                    </a:p>
                  </a:txBody>
                  <a:tcPr marL="91440" marR="91440" marT="45720" marB="45720">
                    <a:solidFill>
                      <a:srgbClr val="E9EEE4"/>
                    </a:solidFill>
                  </a:tcPr>
                </a:tc>
                <a:tc>
                  <a:txBody>
                    <a:bodyPr/>
                    <a:lstStyle/>
                    <a:p>
                      <a:r>
                        <a:rPr sz="1800" b="0">
                          <a:solidFill>
                            <a:srgbClr val="18312D"/>
                          </a:solidFill>
                          <a:latin typeface="Arial"/>
                          <a:ea typeface="Arial"/>
                          <a:cs typeface="Arial"/>
                        </a:rPr>
                        <a:t>A05 et A06</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C3.4.1 et C3.4.2</a:t>
                      </a:r>
                    </a:p>
                  </a:txBody>
                  <a:tcPr marL="91440" marR="91440" marT="45720" marB="45720">
                    <a:solidFill>
                      <a:srgbClr val="F5F3EA"/>
                    </a:solidFill>
                  </a:tcPr>
                </a:tc>
                <a:tc>
                  <a:txBody>
                    <a:bodyPr/>
                    <a:lstStyle/>
                    <a:p>
                      <a:r>
                        <a:rPr sz="1800" b="0">
                          <a:solidFill>
                            <a:srgbClr val="18312D"/>
                          </a:solidFill>
                          <a:latin typeface="Arial"/>
                          <a:ea typeface="Arial"/>
                          <a:cs typeface="Arial"/>
                        </a:rPr>
                        <a:t>A07, A08 et vérifications</a:t>
                      </a:r>
                    </a:p>
                  </a:txBody>
                  <a:tcPr marL="91440" marR="91440" marT="45720" marB="45720">
                    <a:solidFill>
                      <a:srgbClr val="F5F3EA"/>
                    </a:solidFill>
                  </a:tcPr>
                </a:tc>
              </a:tr>
            </a:tbl>
          </a:graphicData>
        </a:graphic>
      </p:graphicFrame>
    </p:spTree>
    <p:extLst>
      <p:ext uri="{BB962C8B-B14F-4D97-AF65-F5344CB8AC3E}">
        <p14:creationId xmlns:p14="http://schemas.microsoft.com/office/powerpoint/2010/main" val="396295153"/>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191575-3946-44EA-AAB6-B2F381CE9C7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51CE4B91-5D31-4F85-86A1-4B0F19E5791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951798436"/>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2E6F8A-3C8D-4203-91C6-0AFF90AEFC0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contrôles datés et contextualisés</a:t>
            </a:r>
          </a:p>
        </p:txBody>
      </p:sp>
      <p:sp>
        <p:nvSpPr>
          <p:cNvPr id="2" name="">
            <a:extLst xmlns:a="http://schemas.openxmlformats.org/drawingml/2006/main">
              <a:ext uri="{FF2B5EF4-FFF2-40B4-BE49-F238E27FC236}">
                <a16:creationId xmlns:a16="http://schemas.microsoft.com/office/drawing/2014/main" id="{F1C1BCEC-7753-4F7B-BDF3-E547E4C1773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résultats historiques et contrôles locaux    Questions du jury    25</a:t>
            </a:r>
          </a:p>
        </p:txBody>
      </p:sp>
      <p:sp>
        <p:nvSpPr>
          <p:cNvPr id="3" name="">
            <a:extLst xmlns:a="http://schemas.openxmlformats.org/drawingml/2006/main">
              <a:ext uri="{FF2B5EF4-FFF2-40B4-BE49-F238E27FC236}">
                <a16:creationId xmlns:a16="http://schemas.microsoft.com/office/drawing/2014/main" id="{4E38A3DD-4E39-488F-9872-77A175CBAA8B}"/>
              </a:ext>
            </a:extLst>
          </p:cNvPr>
          <p:cNvSpPr>
            <a:spLocks xmlns:a="http://schemas.openxmlformats.org/drawingml/2006/main" noGrp="1"/>
          </p:cNvSpPr>
          <p:nvPr/>
        </p:nvSpPr>
        <p:spPr>
          <a:xfrm xmlns:a="http://schemas.openxmlformats.org/drawingml/2006/main">
            <a:off x="6858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126</a:t>
            </a:r>
          </a:p>
        </p:txBody>
      </p:sp>
      <p:sp>
        <p:nvSpPr>
          <p:cNvPr id="4" name="">
            <a:extLst xmlns:a="http://schemas.openxmlformats.org/drawingml/2006/main">
              <a:ext uri="{FF2B5EF4-FFF2-40B4-BE49-F238E27FC236}">
                <a16:creationId xmlns:a16="http://schemas.microsoft.com/office/drawing/2014/main" id="{127DA2D9-FC99-479C-BA45-DBC30DB24AC2}"/>
              </a:ext>
            </a:extLst>
          </p:cNvPr>
          <p:cNvSpPr>
            <a:spLocks xmlns:a="http://schemas.openxmlformats.org/drawingml/2006/main" noGrp="1"/>
          </p:cNvSpPr>
          <p:nvPr/>
        </p:nvSpPr>
        <p:spPr>
          <a:xfrm xmlns:a="http://schemas.openxmlformats.org/drawingml/2006/main">
            <a:off x="6858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2, 23 juillet</a:t>
            </a:r>
          </a:p>
        </p:txBody>
      </p:sp>
      <p:sp>
        <p:nvSpPr>
          <p:cNvPr id="5" name="">
            <a:extLst xmlns:a="http://schemas.openxmlformats.org/drawingml/2006/main">
              <a:ext uri="{FF2B5EF4-FFF2-40B4-BE49-F238E27FC236}">
                <a16:creationId xmlns:a16="http://schemas.microsoft.com/office/drawing/2014/main" id="{2E70B34E-4958-476C-8C4A-CD3E2A83117D}"/>
              </a:ext>
            </a:extLst>
          </p:cNvPr>
          <p:cNvSpPr>
            <a:spLocks xmlns:a="http://schemas.openxmlformats.org/drawingml/2006/main" noGrp="1"/>
          </p:cNvSpPr>
          <p:nvPr/>
        </p:nvSpPr>
        <p:spPr>
          <a:xfrm xmlns:a="http://schemas.openxmlformats.org/drawingml/2006/main">
            <a:off x="6858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prototype.</a:t>
            </a:r>
          </a:p>
        </p:txBody>
      </p:sp>
      <p:sp>
        <p:nvSpPr>
          <p:cNvPr id="6" name="">
            <a:extLst xmlns:a="http://schemas.openxmlformats.org/drawingml/2006/main">
              <a:ext uri="{FF2B5EF4-FFF2-40B4-BE49-F238E27FC236}">
                <a16:creationId xmlns:a16="http://schemas.microsoft.com/office/drawing/2014/main" id="{D744E58E-850E-47C2-8C17-68DBECDE1B9A}"/>
              </a:ext>
            </a:extLst>
          </p:cNvPr>
          <p:cNvSpPr>
            <a:spLocks xmlns:a="http://schemas.openxmlformats.org/drawingml/2006/main" noGrp="1"/>
          </p:cNvSpPr>
          <p:nvPr/>
        </p:nvSpPr>
        <p:spPr>
          <a:xfrm xmlns:a="http://schemas.openxmlformats.org/drawingml/2006/main">
            <a:off x="42926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152</a:t>
            </a:r>
          </a:p>
        </p:txBody>
      </p:sp>
      <p:sp>
        <p:nvSpPr>
          <p:cNvPr id="7" name="">
            <a:extLst xmlns:a="http://schemas.openxmlformats.org/drawingml/2006/main">
              <a:ext uri="{FF2B5EF4-FFF2-40B4-BE49-F238E27FC236}">
                <a16:creationId xmlns:a16="http://schemas.microsoft.com/office/drawing/2014/main" id="{9EA4ED50-599D-480F-8044-EB04302CE072}"/>
              </a:ext>
            </a:extLst>
          </p:cNvPr>
          <p:cNvSpPr>
            <a:spLocks xmlns:a="http://schemas.openxmlformats.org/drawingml/2006/main" noGrp="1"/>
          </p:cNvSpPr>
          <p:nvPr/>
        </p:nvSpPr>
        <p:spPr>
          <a:xfrm xmlns:a="http://schemas.openxmlformats.org/drawingml/2006/main">
            <a:off x="42926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4, 13 août</a:t>
            </a:r>
          </a:p>
        </p:txBody>
      </p:sp>
      <p:sp>
        <p:nvSpPr>
          <p:cNvPr id="8" name="">
            <a:extLst xmlns:a="http://schemas.openxmlformats.org/drawingml/2006/main">
              <a:ext uri="{FF2B5EF4-FFF2-40B4-BE49-F238E27FC236}">
                <a16:creationId xmlns:a16="http://schemas.microsoft.com/office/drawing/2014/main" id="{95789381-FF0D-4886-8212-7DB3D29FD5B1}"/>
              </a:ext>
            </a:extLst>
          </p:cNvPr>
          <p:cNvSpPr>
            <a:spLocks xmlns:a="http://schemas.openxmlformats.org/drawingml/2006/main" noGrp="1"/>
          </p:cNvSpPr>
          <p:nvPr/>
        </p:nvSpPr>
        <p:spPr>
          <a:xfrm xmlns:a="http://schemas.openxmlformats.org/drawingml/2006/main">
            <a:off x="42926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Jest.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43 tests de maintenance à part.</a:t>
            </a:r>
          </a:p>
        </p:txBody>
      </p:sp>
      <p:sp>
        <p:nvSpPr>
          <p:cNvPr id="9" name="">
            <a:extLst xmlns:a="http://schemas.openxmlformats.org/drawingml/2006/main">
              <a:ext uri="{FF2B5EF4-FFF2-40B4-BE49-F238E27FC236}">
                <a16:creationId xmlns:a16="http://schemas.microsoft.com/office/drawing/2014/main" id="{93522C1A-84CE-429E-8715-556D8CD52149}"/>
              </a:ext>
            </a:extLst>
          </p:cNvPr>
          <p:cNvSpPr>
            <a:spLocks xmlns:a="http://schemas.openxmlformats.org/drawingml/2006/main" noGrp="1"/>
          </p:cNvSpPr>
          <p:nvPr/>
        </p:nvSpPr>
        <p:spPr>
          <a:xfrm xmlns:a="http://schemas.openxmlformats.org/drawingml/2006/main">
            <a:off x="78994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389</a:t>
            </a:r>
          </a:p>
        </p:txBody>
      </p:sp>
      <p:sp>
        <p:nvSpPr>
          <p:cNvPr id="10" name="">
            <a:extLst xmlns:a="http://schemas.openxmlformats.org/drawingml/2006/main">
              <a:ext uri="{FF2B5EF4-FFF2-40B4-BE49-F238E27FC236}">
                <a16:creationId xmlns:a16="http://schemas.microsoft.com/office/drawing/2014/main" id="{A76D5BF3-9E79-4F76-87A2-C6405E294756}"/>
              </a:ext>
            </a:extLst>
          </p:cNvPr>
          <p:cNvSpPr>
            <a:spLocks xmlns:a="http://schemas.openxmlformats.org/drawingml/2006/main" noGrp="1"/>
          </p:cNvSpPr>
          <p:nvPr/>
        </p:nvSpPr>
        <p:spPr>
          <a:xfrm xmlns:a="http://schemas.openxmlformats.org/drawingml/2006/main">
            <a:off x="78994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3, 14 sept.</a:t>
            </a:r>
          </a:p>
        </p:txBody>
      </p:sp>
      <p:sp>
        <p:nvSpPr>
          <p:cNvPr id="11" name="">
            <a:extLst xmlns:a="http://schemas.openxmlformats.org/drawingml/2006/main">
              <a:ext uri="{FF2B5EF4-FFF2-40B4-BE49-F238E27FC236}">
                <a16:creationId xmlns:a16="http://schemas.microsoft.com/office/drawing/2014/main" id="{DB6CBCE3-5566-439B-AA47-B1CA18335831}"/>
              </a:ext>
            </a:extLst>
          </p:cNvPr>
          <p:cNvSpPr>
            <a:spLocks xmlns:a="http://schemas.openxmlformats.org/drawingml/2006/main" noGrp="1"/>
          </p:cNvSpPr>
          <p:nvPr/>
        </p:nvSpPr>
        <p:spPr>
          <a:xfrm xmlns:a="http://schemas.openxmlformats.org/drawingml/2006/main">
            <a:off x="78994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locaux.</a:t>
            </a:r>
          </a:p>
        </p:txBody>
      </p:sp>
      <p:sp>
        <p:nvSpPr>
          <p:cNvPr id="12" name="">
            <a:extLst xmlns:a="http://schemas.openxmlformats.org/drawingml/2006/main">
              <a:ext uri="{FF2B5EF4-FFF2-40B4-BE49-F238E27FC236}">
                <a16:creationId xmlns:a16="http://schemas.microsoft.com/office/drawing/2014/main" id="{802B0840-70F5-478C-B2F0-BFD7814B80C2}"/>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2026. Périmètres différents, sans mesure de satisfaction client.</a:t>
            </a:r>
          </a:p>
        </p:txBody>
      </p:sp>
    </p:spTree>
    <p:extLst>
      <p:ext uri="{BB962C8B-B14F-4D97-AF65-F5344CB8AC3E}">
        <p14:creationId xmlns:p14="http://schemas.microsoft.com/office/powerpoint/2010/main" val="1250982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2026-09-15T06:52:43.9410000Z</dcterms:created>
  <dcterms:modified xsi:type="dcterms:W3CDTF">2026-09-15T06:52:43.9410000Z</dcterms:modified>
</coreProperties>
</file>