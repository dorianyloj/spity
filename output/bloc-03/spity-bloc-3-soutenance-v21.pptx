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stacked"/>
        <c:ser>
          <c:idx val="0"/>
          <c:order val="0"/>
          <c:tx>
            <c:strRef>
              <c:f>Sheet1!$B$1</c:f>
              <c:strCache>
                <c:ptCount val="1"/>
                <c:pt idx="0">
                  <c:v>Début</c:v>
                </c:pt>
              </c:strCache>
            </c:strRef>
          </c:tx>
          <c:spPr>
            <a:noFill/>
            <a:ln>
              <a:noFill/>
            </a:ln>
          </c:spPr>
          <c:cat>
            <c:strRef>
              <c:f>Sheet1!$A$2:$A$10</c:f>
              <c:strCache>
                <c:ptCount val="9"/>
                <c:pt idx="0">
                  <c:v>Cadrage / UX · Léa</c:v>
                </c:pt>
                <c:pt idx="1">
                  <c:v>Setup technique · Sami</c:v>
                </c:pt>
                <c:pt idx="2">
                  <c:v>Auth / sécurité · Hugo</c:v>
                </c:pt>
                <c:pt idx="3">
                  <c:v>Profils · Hugo</c:v>
                </c:pt>
                <c:pt idx="4">
                  <c:v>Feed social · Hugo</c:v>
                </c:pt>
                <c:pt idx="5">
                  <c:v>Répertoire · Hugo</c:v>
                </c:pt>
                <c:pt idx="6">
                  <c:v>Topos · Hugo</c:v>
                </c:pt>
                <c:pt idx="7">
                  <c:v>Événements · Hugo</c:v>
                </c:pt>
                <c:pt idx="8">
                  <c:v>Tests / access. / doc. · Inès</c:v>
                </c:pt>
              </c:strCache>
            </c:strRef>
          </c:cat>
          <c:val>
            <c:numRef>
              <c:f>Sheet1!$B$2:$B$10</c:f>
              <c:numCache>
                <c:formatCode>General</c:formatCode>
                <c:ptCount val="9"/>
                <c:pt idx="0">
                  <c:v>0</c:v>
                </c:pt>
                <c:pt idx="1">
                  <c:v>1</c:v>
                </c:pt>
                <c:pt idx="2">
                  <c:v>2</c:v>
                </c:pt>
                <c:pt idx="3">
                  <c:v>3</c:v>
                </c:pt>
                <c:pt idx="4">
                  <c:v>4</c:v>
                </c:pt>
                <c:pt idx="5">
                  <c:v>5</c:v>
                </c:pt>
                <c:pt idx="6">
                  <c:v>7</c:v>
                </c:pt>
                <c:pt idx="7">
                  <c:v>7</c:v>
                </c:pt>
                <c:pt idx="8">
                  <c:v>9</c:v>
                </c:pt>
              </c:numCache>
            </c:numRef>
          </c:val>
        </c:ser>
        <c:ser>
          <c:idx val="1"/>
          <c:order val="1"/>
          <c:tx>
            <c:strRef>
              <c:f>Sheet1!$C$1</c:f>
              <c:strCache>
                <c:ptCount val="1"/>
                <c:pt idx="0">
                  <c:v>Durée</c:v>
                </c:pt>
              </c:strCache>
            </c:strRef>
          </c:tx>
          <c:spPr>
            <a:solidFill>
              <a:srgbClr val="28554B"/>
            </a:solidFill>
            <a:ln>
              <a:noFill/>
            </a:ln>
          </c:spPr>
          <c:cat>
            <c:strRef>
              <c:f>Sheet1!$A$2:$A$10</c:f>
              <c:strCache>
                <c:ptCount val="9"/>
                <c:pt idx="0">
                  <c:v>Cadrage / UX · Léa</c:v>
                </c:pt>
                <c:pt idx="1">
                  <c:v>Setup technique · Sami</c:v>
                </c:pt>
                <c:pt idx="2">
                  <c:v>Auth / sécurité · Hugo</c:v>
                </c:pt>
                <c:pt idx="3">
                  <c:v>Profils · Hugo</c:v>
                </c:pt>
                <c:pt idx="4">
                  <c:v>Feed social · Hugo</c:v>
                </c:pt>
                <c:pt idx="5">
                  <c:v>Répertoire · Hugo</c:v>
                </c:pt>
                <c:pt idx="6">
                  <c:v>Topos · Hugo</c:v>
                </c:pt>
                <c:pt idx="7">
                  <c:v>Événements · Hugo</c:v>
                </c:pt>
                <c:pt idx="8">
                  <c:v>Tests / access. / doc. · Inès</c:v>
                </c:pt>
              </c:strCache>
            </c:strRef>
          </c:cat>
          <c:val>
            <c:numRef>
              <c:f>Sheet1!$C$2:$C$10</c:f>
              <c:numCache>
                <c:formatCode>General</c:formatCode>
                <c:ptCount val="9"/>
                <c:pt idx="0">
                  <c:v>2</c:v>
                </c:pt>
                <c:pt idx="1">
                  <c:v>2</c:v>
                </c:pt>
                <c:pt idx="2">
                  <c:v>2</c:v>
                </c:pt>
                <c:pt idx="3">
                  <c:v>2</c:v>
                </c:pt>
                <c:pt idx="4">
                  <c:v>3</c:v>
                </c:pt>
                <c:pt idx="5">
                  <c:v>3</c:v>
                </c:pt>
                <c:pt idx="6">
                  <c:v>3</c:v>
                </c:pt>
                <c:pt idx="7">
                  <c:v>3</c:v>
                </c:pt>
                <c:pt idx="8">
                  <c:v>3</c:v>
                </c:pt>
              </c:numCache>
            </c:numRef>
          </c:val>
        </c:ser>
        <c:gapWidth val="65"/>
        <c:overlap val="100"/>
        <c:axId val="-2068027336"/>
        <c:axId val="-2113994440"/>
      </c:barChart>
      <c:catAx>
        <c:axId val="-2068027336"/>
        <c:scaling>
          <c:orientation val="maxMin"/>
        </c:scaling>
        <c:delete val="0"/>
        <c:axPos val="l"/>
        <c:majorTickMark val="out"/>
        <c:minorTickMark val="none"/>
        <c:tickLblPos val="low"/>
        <c:spPr>
          <a:ln>
            <a:noFill/>
          </a:ln>
        </c:spPr>
        <c:txPr>
          <a:bodyPr/>
          <a:lstStyle/>
          <a:p>
            <a:pPr>
              <a:defRPr sz="1200">
                <a:solidFill>
                  <a:srgbClr val="56625B"/>
                </a:solidFill>
                <a:latin typeface="Poppins"/>
              </a:defRPr>
            </a:pPr>
          </a:p>
        </c:txPr>
        <c:crossAx val="-2113994440"/>
        <c:crosses val="autoZero"/>
        <c:auto val="1"/>
        <c:lblAlgn val="ctr"/>
        <c:lblOffset val="100"/>
        <c:tickLblSkip val="1"/>
        <c:noMultiLvlLbl val="0"/>
      </c:catAx>
      <c:valAx>
        <c:axId val="-2113994440"/>
        <c:scaling>
          <c:max val="12.0"/>
          <c:min val="0.0"/>
        </c:scaling>
        <c:delete val="0"/>
        <c:axPos val="b"/>
        <c:majorGridlines>
          <c:spPr>
            <a:ln w="7620">
              <a:solidFill>
                <a:srgbClr val="D7DFD6"/>
              </a:solidFill>
            </a:ln>
          </c:spPr>
        </c:majorGridlines>
        <c:numFmt formatCode="0" sourceLinked="0"/>
        <c:majorTickMark val="out"/>
        <c:minorTickMark val="none"/>
        <c:tickLblPos val="nextTo"/>
        <c:spPr>
          <a:ln>
            <a:noFill/>
          </a:ln>
        </c:spPr>
        <c:txPr>
          <a:bodyPr/>
          <a:lstStyle/>
          <a:p>
            <a:pPr>
              <a:defRPr sz="1200">
                <a:solidFill>
                  <a:srgbClr val="56625B"/>
                </a:solidFill>
                <a:latin typeface="Poppins"/>
              </a:defRPr>
            </a:pPr>
          </a:p>
        </c:txPr>
        <c:crossAx val="-2068027336"/>
        <c:crosses val="autoZero"/>
      </c:valAx>
      <c:spPr>
        <a:noFill/>
        <a:ln>
          <a:noFill/>
        </a:ln>
      </c:spPr>
    </c:plotArea>
    <c:dispBlanksAs val="gap"/>
  </c:chart>
  <c:txPr>
    <a:bodyPr/>
    <a:lstStyle/>
    <a:p>
      <a:pPr>
        <a:defRPr sz="1600">
          <a:solidFill>
            <a:srgbClr val="244B43"/>
          </a:solidFill>
          <a:latin typeface="Poppins"/>
        </a:defRPr>
      </a:pPr>
      <a:endParaRPr lang="en-US"/>
    </a:p>
  </c:txPr>
  <c:externalData r:id="rId1">
    <c:autoUpdate val="0"/>
  </c:externalData>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Avant</c:v>
                </c:pt>
              </c:strCache>
            </c:strRef>
          </c:tx>
          <c:spPr>
            <a:solidFill>
              <a:srgbClr val="B9C7BC"/>
            </a:solidFill>
            <a:ln>
              <a:noFill/>
            </a:ln>
          </c:spPr>
          <c:cat>
            <c:strRef>
              <c:f>Sheet1!$A$2:$A$6</c:f>
              <c:strCache>
                <c:ptCount val="5"/>
                <c:pt idx="0">
                  <c:v>Partenaires</c:v>
                </c:pt>
                <c:pt idx="1">
                  <c:v>Événements</c:v>
                </c:pt>
                <c:pt idx="2">
                  <c:v>Demandes</c:v>
                </c:pt>
                <c:pt idx="3">
                  <c:v>Profil</c:v>
                </c:pt>
                <c:pt idx="4">
                  <c:v>Feed</c:v>
                </c:pt>
              </c:strCache>
            </c:strRef>
          </c:cat>
          <c:val>
            <c:numRef>
              <c:f>Sheet1!$B$2:$B$6</c:f>
              <c:numCache>
                <c:formatCode>General</c:formatCode>
                <c:ptCount val="5"/>
                <c:pt idx="0">
                  <c:v>11.041</c:v>
                </c:pt>
                <c:pt idx="1">
                  <c:v>9.917</c:v>
                </c:pt>
                <c:pt idx="2">
                  <c:v>10.22</c:v>
                </c:pt>
                <c:pt idx="3">
                  <c:v>10.363</c:v>
                </c:pt>
                <c:pt idx="4">
                  <c:v>8.66</c:v>
                </c:pt>
              </c:numCache>
            </c:numRef>
          </c:val>
        </c:ser>
        <c:ser>
          <c:idx val="1"/>
          <c:order val="1"/>
          <c:tx>
            <c:strRef>
              <c:f>Sheet1!$C$1</c:f>
              <c:strCache>
                <c:ptCount val="1"/>
                <c:pt idx="0">
                  <c:v>Après</c:v>
                </c:pt>
              </c:strCache>
            </c:strRef>
          </c:tx>
          <c:spPr>
            <a:solidFill>
              <a:srgbClr val="28554B"/>
            </a:solidFill>
            <a:ln>
              <a:noFill/>
            </a:ln>
          </c:spPr>
          <c:cat>
            <c:strRef>
              <c:f>Sheet1!$A$2:$A$6</c:f>
              <c:strCache>
                <c:ptCount val="5"/>
                <c:pt idx="0">
                  <c:v>Partenaires</c:v>
                </c:pt>
                <c:pt idx="1">
                  <c:v>Événements</c:v>
                </c:pt>
                <c:pt idx="2">
                  <c:v>Demandes</c:v>
                </c:pt>
                <c:pt idx="3">
                  <c:v>Profil</c:v>
                </c:pt>
                <c:pt idx="4">
                  <c:v>Feed</c:v>
                </c:pt>
              </c:strCache>
            </c:strRef>
          </c:cat>
          <c:val>
            <c:numRef>
              <c:f>Sheet1!$C$2:$C$6</c:f>
              <c:numCache>
                <c:formatCode>General</c:formatCode>
                <c:ptCount val="5"/>
                <c:pt idx="0">
                  <c:v>1.123</c:v>
                </c:pt>
                <c:pt idx="1">
                  <c:v>0.763</c:v>
                </c:pt>
                <c:pt idx="2">
                  <c:v>0.55</c:v>
                </c:pt>
                <c:pt idx="3">
                  <c:v>0.748</c:v>
                </c:pt>
                <c:pt idx="4">
                  <c:v>0.494</c:v>
                </c:pt>
              </c:numCache>
            </c:numRef>
          </c:val>
        </c:ser>
        <c:dLbls>
          <c:numFmt formatCode="0.00&quot; s&quot;" sourceLinked="0"/>
          <c:txPr>
            <a:bodyPr/>
            <a:lstStyle/>
            <a:p>
              <a:pPr>
                <a:defRPr sz="1700" b="1">
                  <a:solidFill>
                    <a:srgbClr val="244B43"/>
                  </a:solidFill>
                  <a:latin typeface="Poppins"/>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6625B"/>
                </a:solidFill>
                <a:latin typeface="Poppins"/>
              </a:defRPr>
            </a:pPr>
          </a:p>
        </c:txPr>
        <c:crossAx val="-2113994440"/>
        <c:crosses val="autoZero"/>
        <c:auto val="1"/>
        <c:lblAlgn val="ctr"/>
        <c:lblOffset val="100"/>
        <c:tickLblSkip val="1"/>
        <c:noMultiLvlLbl val="0"/>
      </c:catAx>
      <c:valAx>
        <c:axId val="-2113994440"/>
        <c:scaling>
          <c:max val="13.0"/>
          <c:min val="0.0"/>
        </c:scaling>
        <c:delete val="0"/>
        <c:axPos val="b"/>
        <c:majorGridlines>
          <c:spPr>
            <a:ln w="7620">
              <a:solidFill>
                <a:srgbClr val="D7DFD6"/>
              </a:solidFill>
            </a:ln>
          </c:spPr>
        </c:majorGridlines>
        <c:numFmt formatCode="0.00&quot; s&quot;" sourceLinked="0"/>
        <c:majorTickMark val="out"/>
        <c:minorTickMark val="none"/>
        <c:tickLblPos val="nextTo"/>
        <c:spPr>
          <a:ln>
            <a:noFill/>
          </a:ln>
        </c:spPr>
        <c:txPr>
          <a:bodyPr/>
          <a:lstStyle/>
          <a:p>
            <a:pPr>
              <a:defRPr sz="1200">
                <a:solidFill>
                  <a:srgbClr val="56625B"/>
                </a:solidFill>
                <a:latin typeface="Poppins"/>
              </a:defRPr>
            </a:pPr>
          </a:p>
        </c:txPr>
        <c:crossAx val="-2068027336"/>
        <c:crosses val="autoZero"/>
      </c:valAx>
      <c:spPr>
        <a:noFill/>
        <a:ln>
          <a:noFill/>
        </a:ln>
      </c:spPr>
    </c:plotArea>
    <c:legend>
      <c:legendPos val="b"/>
      <c:overlay val="0"/>
      <c:txPr>
        <a:bodyPr/>
        <a:lstStyle/>
        <a:p>
          <a:pPr>
            <a:defRPr sz="1300">
              <a:latin typeface="Poppins"/>
            </a:defRPr>
          </a:pPr>
        </a:p>
      </c:txPr>
    </c:legend>
    <c:dispBlanksAs val="gap"/>
  </c:chart>
  <c:txPr>
    <a:bodyPr/>
    <a:lstStyle/>
    <a:p>
      <a:pPr>
        <a:defRPr sz="1600">
          <a:solidFill>
            <a:srgbClr val="244B43"/>
          </a:solidFill>
          <a:latin typeface="Poppins"/>
        </a:defRPr>
      </a:pPr>
      <a:endParaRPr lang="en-US"/>
    </a:p>
  </c:txPr>
  <c:externalData r:id="rId1">
    <c:autoUpdate val="0"/>
  </c:externalData>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Spity, une plateforme autour de l’escalade. Pour cette mise en situation, je pilote une équipe de cinq personnes sur un an, avec une représentante du client. Le logiciel qui sert de support a été développé par moi seul ; l’équipe et son organisation sont fictives.</a:t>
            </a:r>
          </a:p>
          <a:p/>
          <a:p>
            <a:r>
              <a:t>Je vais expliquer comment je répartis les tâches, comment je suis les charges et les délais, et comment je coordonne les validations. Je m’appuie sur les fonctionnalités et les traces réelles du logiciel, puis je déroule le scénario d’équipe annoncé.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vous présenter Spity et les besoins auxquels il répond. Ensuite, je vous explique ma méthode d’organisation, le suivi du projet et un arbitrage concret sur la navigation.</a:t>
            </a:r>
          </a:p>
          <a:p/>
          <a:p>
            <a:r>
              <a:t>Je poursuis avec la collaboration, le développement des compétences et le suivi client. Pour terminer, je vous montre le logiciel à travers un parcours de grimpeur et un parcours de club, puis nous revenons sur les critères de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Spity, je pars de deux besoins assez simples. Du côté du grimpeur, je veux permettre de trouver un partenaire qui pratique la même discipline, avec un niveau adapté. Du côté du club, je veux faciliter l’organisation d’une sortie et le suivi des participants.</a:t>
            </a:r>
          </a:p>
          <a:p/>
          <a:p>
            <a:r>
              <a:t>J’ai donc construit le produit autour des profils, de la recherche de partenaires, des événements et des lieux d’escalade. Ici, vous voyez le répertoire des lieux sur ma base de démonstration.</a:t>
            </a:r>
          </a:p>
          <a:p/>
          <a:p>
            <a:r>
              <a:t>Le parcours que je vais vous présenter suit cette logique : je trouve un partenaire, je consulte une sortie, puis je m’inscris. Cela me permet de relier chaque fonctionnalité à un besoin concret.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ce scénario, je suis chef de projet et responsable des priorités produit. Je retiens un fonctionnement inspiré de Kanban : chaque tâche a une personne responsable, une échéance, une dépendance et un critère de fin.</a:t>
            </a:r>
          </a:p>
          <a:p/>
          <a:p>
            <a:r>
              <a:t>Léa prépare les parcours et les maquettes. Hugo développe et propose une revue du code. Inès vérifie les critères de recette ; Sami contrôle l’environnement et la livraison. Je clos la tâche quand les preuves attendues sont présentes. Claire valide les décisions de périmètre et la réception côté client.</a:t>
            </a:r>
          </a:p>
          <a:p/>
          <a:p>
            <a:r>
              <a:t>Je complète le backlog par un planning annuel. Lors de la revue hebdomadaire, chacun actualise son reste à faire et signale les blocages. Je compare ensuite la charge aux disponibilités avant d’arbitrer.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répartis les neuf lots du cadrage sur douze mois relatifs. Les 82 jours-personne sont la charge totale de l’équipe, pas 82 jours par personne. Les membres interviennent à temps partiel selon les phases.</a:t>
            </a:r>
          </a:p>
          <a:p/>
          <a:p>
            <a:r>
              <a:t>Léa pilote le cadrage UX avec moi, Sami prépare le socle et Hugo prend en charge les lots de développement. Inès pilote la recette, avec Sami pour la livraison et moi pour la documentation et la restitution. Le planning détaillé répartit aussi les contributions de chaque personne à l’intérieur des lots.</a:t>
            </a:r>
          </a:p>
          <a:p/>
          <a:p>
            <a:r>
              <a:t>Je garde les dépendances : les accès avant les profils, les événements avant les inscriptions et une version stable avant la recette. Les dates Git restent une preuve du développement réel ; les mois de ce planning représentent le scénario d’équipe.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répartis le travail entre cinq membres. Je prends le pilotage et les priorités produit. Léa s’occupe des parcours et des maquettes. Hugo développe les interfaces et les API. Inès prépare la recette, qualifie les défauts et vérifie les corrections. Sami prend en charge l’infrastructure, la sécurité et le déploiement.</a:t>
            </a:r>
          </a:p>
          <a:p/>
          <a:p>
            <a:r>
              <a:t>Claire représente le club client : elle exprime le besoin, valide le périmètre et prononce la réception. Je reste responsable de la coordination interne. Dans ma matrice RACI, je distingue celui qui réalise de celui qui décide, avec un seul décideur par activité.</a:t>
            </a:r>
          </a:p>
          <a:p/>
          <a:p>
            <a:r>
              <a:t>Je prévois les moyens adaptés : outil de maquette pour Léa, dépôt et base de test pour Hugo, comptes et scénarios dédiés pour Inès, pipeline et environnement isolé pour Sami. Inès est un persona malentendant ; je prépare des consignes écrites et des sous-titres, indépendamment de son niveau technique.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faire le point sur mon avancement, j’ai rapproché les tâches de mon backlog des fonctionnalités présentes dans le site. L’inscription et la connexion sont déjà réalisées, pour les grimpeurs comme pour les clubs. Les améliorations restantes sur les sessions concernent leur renouvellement et la rotation des jetons.</a:t>
            </a:r>
          </a:p>
          <a:p/>
          <a:p>
            <a:r>
              <a:t>J’ai aussi réalisé les profils avec avatar, la publication avec image, les likes et les commentaires simples. La carte affiche les salles et les falaises. Pour les topos, je peux ajouter une voie, faire un signalement et partager un lien ou un PDF. Les événements permettent de gérer les inscriptions et la capacité.</a:t>
            </a:r>
          </a:p>
          <a:p/>
          <a:p>
            <a:r>
              <a:t>Je garde à droite les suites à développer : modifier ou supprimer une publication, compléter les fonctions des clubs, ajouter les votes sur les topos et enrichir le fil social. Ce bilan me permet de prioriser ce qui manque encore, sans compter une fonction déjà disponible comme un travail à recommencer.</a:t>
            </a:r>
          </a:p>
          <a:p/>
          <a:p>
            <a:r>
              <a:t>Pour organiser les prochaines évolutions du scénario, je les confie à Hugo, avec Léa pour les parcours, Inès pour les tests et Sami pour la livraison. Ces attributions ne changent pas l’auteur réel du logiciel.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point du mois 10 de mon scénario, je consolide les chiffres de chaque membre. Le détail donne 58 jours-personne consommés et 28 restants, soit 86 à terminaison au lieu de 82. Avec un taux moyen conventionnel de 450 euros par jour et les autres postes, la prévision atteint 46 050 euros, soit 1 800 euros de plus.</a:t>
            </a:r>
          </a:p>
          <a:p/>
          <a:p>
            <a:r>
              <a:t>Je regarde aussi les disponibilités réservées à Spity sur la prochaine période : dix jours pour l’équipe, face à douze jours de tâches. La surcharge concerne Hugo, avec quatre jours prévus pour trois disponibles, et Inès, avec trois pour deux. Je reporte un jour de développement et un jour de recette non critiques hors période, après vérification des dépendances.</a:t>
            </a:r>
          </a:p>
          <a:p/>
          <a:p>
            <a:r>
              <a:t>Le jalon révisé passe de fin M11 à fin M12. Je présente à Claire l’effet sur le délai et je conserve les critères critiques. Tous ces consommés et disponibilités sont les hypothèses chiffrées du scénario.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donne à chaque risque un signal et une personne responsable. Si Hugo ou Inès dépasse sa capacité, je reprends les priorités avec eux et j’annonce l’effet sur le jalon à Claire.</a:t>
            </a:r>
          </a:p>
          <a:p/>
          <a:p>
            <a:r>
              <a:t>Si un critère critique échoue, Hugo corrige et Inès recontrôle. Si l’environnement devient indisponible, Sami diagnostique et prépare le secours. Pour l’accessibilité des échanges, Léa adapte les supports et je vérifie avec Inès qu’elle peut retrouver et reformuler les consignes.</a:t>
            </a:r>
          </a:p>
          <a:p/>
          <a:p>
            <a:r>
              <a:t>Je termine chaque revue avec une action datée et un responsable. Je ne ferme pas un risque uniquement parce qu’une action a été promise : je demande le résultat du contrôle.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prends maintenant un problème réel que j’ai rencontré sur Spity : lorsque je cliquais dans la barre de navigation, le passage à la page suivante semblait très lent.</a:t>
            </a:r>
          </a:p>
          <a:p/>
          <a:p>
            <a:r>
              <a:t>Le diagnostic local a montré que l’initialisation du fond animé occupait le navigateur. J’ai repris les options possibles dans ce tableau pour expliquer l’arbitrage. Garder l’animation conservait le problème observé. L’optimiser ou la différer pouvait être étudié, mais je n’ai pas de mesure permettant d’affirmer le gain de cette option.</a:t>
            </a:r>
          </a:p>
          <a:p/>
          <a:p>
            <a:r>
              <a:t>Le choix retenu a été de remplacer le fond par un SVG statique et d’ajouter un indicateur d’attente. Je conserve ainsi le motif graphique, en acceptant de perdre le mouvement décoratif.</a:t>
            </a:r>
          </a:p>
          <a:p/>
          <a:p>
            <a:r>
              <a:t>Le changement a été intégré et livré. Pour vérifier son effet, je m’appuie sur la comparaison avant et après que je vous montre ensuite.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je compare les mêmes cinq parcours avant et après la correction. Les mesures ont été réalisées localement sur une compilation de production, avec un processeur ralenti quatre fois et une latence réseau simulée de 100 millisecondes.</a:t>
            </a:r>
          </a:p>
          <a:p/>
          <a:p>
            <a:r>
              <a:t>La médiane passe de 10,22 secondes à 0,748 seconde. L’amélioration est nette dans ce protocole : le navigateur n’a plus à effectuer le calcul décoratif au changement de page.</a:t>
            </a:r>
          </a:p>
          <a:p/>
          <a:p>
            <a:r>
              <a:t>Je garde cependant la portée de la mesure : il y a un passage par parcours, dans un environnement local contrôlé. Je ne présente donc pas ces chiffres comme les temps de tous les utilisateurs en production. Ils me permettent de vérifier l’effet de la correction dans des conditions comparables.</a:t>
            </a:r>
          </a:p>
          <a:p/>
          <a:p>
            <a:r>
              <a:t>Dans mon scénario, je confie à Inès la comparaison des mêmes parcours, à Hugo l’analyse technique et à Sami la vérification de la version livrée. Les mesures affichées restent celles du contrôle local réel.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cette situation simulée, Léa propose une animation plus riche. Inès signale des blocages et Hugo estime l’effort nécessaire. Je commence par écouter leurs observations et par faire préciser les impacts : c’est ma posture participative.</a:t>
            </a:r>
          </a:p>
          <a:p/>
          <a:p>
            <a:r>
              <a:t>J’explique ensuite à Léa et à Claire pourquoi je privilégie les parcours utilisables. Je m’appuie sur les critères et les mesures : c’est la posture persuasive. Je fixe une limite claire à Hugo et à l’équipe : aucun blocage critique ne peut être accepté comme terminé.</a:t>
            </a:r>
          </a:p>
          <a:p/>
          <a:p>
            <a:r>
              <a:t>Enfin, je délègue à Inès l’exécution de la recette et à Sami le contrôle de livraison, avec un résultat attendu et un point de retour. Je garde la décision de priorité, sans refaire leur travail à leur place. Avec du recul, trancher avant d’avoir écouté l’équipe ferait perdre des informations utiles.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séance de recette du scénario, je répartis quatorze heures de travail entre les cinq membres, pour dix-neuf heures disponibles au total. Hugo et Inès ont quatre heures affectées sur cinq ; Léa, Sami et moi avons chacun deux heures sur trois.</a:t>
            </a:r>
          </a:p>
          <a:p/>
          <a:p>
            <a:r>
              <a:t>Je coordonne les priorités et la décision client. Léa vérifie les parcours et adapte les supports. Hugo prépare et corrige la version. Inès exécute les scénarios et rédige les réserves. Sami prépare les comptes et contrôle la version. Ces heures détaillent une activité des lots du planning : elles ne s’ajoutent pas une deuxième fois aux 82 jours.</a:t>
            </a:r>
          </a:p>
          <a:p/>
          <a:p>
            <a:r>
              <a:t>Pour Inès, je fournis les consignes par écrit, des sous-titres vérifiés et une prise de parole à la fois. Je lui demande de reformuler la consigne. À distance, je précise les fuseaux, je prévois un retour asynchrone et un glossaire français-anglais. Chaque échange se termine par une action, un responsable et un retour attendu.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J’évalue les besoins de chaque rôle avant de choisir une formation. Cette grille est une hypothèse pédagogique. Un niveau un signifie que la personne travaille avec de l’aide ; deux signifie qu’elle est autonome ; trois couvre les cas complexes.</a:t>
            </a:r>
          </a:p>
          <a:p/>
          <a:p>
            <a:r>
              <a:t>Je dois progresser sur le suivi des écarts. Léa doit vérifier l’accessibilité des maquettes. Inès doit produire une recette reproductible et vérifier le clavier. Sami doit maîtriser le retour arrière. Hugo est supposé autonome sur les API et la sécurité applicative ; je vérifie cette hypothèse par la revue de code, sans lui imposer une formation inutile.</a:t>
            </a:r>
          </a:p>
          <a:p/>
          <a:p>
            <a:r>
              <a:t>Je relie chaque écart à la mission confiée et à un résultat observable. Les besoins d’aménagement d’Inès sont traités séparément de son niveau technique.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prévois quatre actions ciblées : une heure de recalcul du suivi pour moi, une heure d’audit de maquette pour Léa, deux heures de recette et de clavier pour Inès, puis une heure de retour arrière pour Sami avec Hugo.</a:t>
            </a:r>
          </a:p>
          <a:p/>
          <a:p>
            <a:r>
              <a:t>Les cinq heures correspondent au temps des apprenants. Je prévois séparément deux heures d’accompagnement par Hugo pour Inès et Sami, et une heure par moi pour Léa. Ces huit heures de formation et d’accompagnement sont comprises dans les lots et distinctes de la séance de recette.</a:t>
            </a:r>
          </a:p>
          <a:p/>
          <a:p>
            <a:r>
              <a:t>Je fournis des supports écrits, des sous-titres et des pauses adaptées. Je vérifie l’efficacité par une tâche réalisée sans aide. Si une compétence critique reste indisponible, j’ajuste l’accompagnement puis j’étudie un renfort QA ponctuel, décrit en annexe, sans annoncer un recrutement déjà décidé.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point M10 avec Claire, je structure le compte rendu du scénario en trois parties : constat, décision et actions. J’annonce les 1 800 euros et le mois de décalage, puis je relie cet écart à la priorité du client : disposer de parcours utilisables.</a:t>
            </a:r>
          </a:p>
          <a:p/>
          <a:p>
            <a:r>
              <a:t>Claire arbitre le périmètre proposé. Je mets à jour le planning ; Léa ajuste les parcours ; Hugo prépare la version ; Inès prépare la recette M11 ; Sami vérifie l’environnement. Le compte rendu précise le livrable attendu et le prochain contrôle pour chacun.</a:t>
            </a:r>
          </a:p>
          <a:p/>
          <a:p>
            <a:r>
              <a:t>Ce compte rendu est simulé. Il utilise la correction réelle de navigation pour illustrer une décision d’équipe, sans prétendre que cet échange fictif est à l’origine historique du changement.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place les validations au fil du projet simulé. Au mois 3, Léa prépare les parcours et je présente le périmètre à Claire. Au mois 10, Hugo documente les options techniques et je présente les écarts pour permettre l’arbitrage client.</a:t>
            </a:r>
          </a:p>
          <a:p/>
          <a:p>
            <a:r>
              <a:t>Au mois 11, Inès rend son rapport et Hugo traite les anomalies ; je décide si la version peut être démontrée. Au mois 12, Sami prépare la version contrôlée et je conduis la restitution. Claire prononce alors la réception selon les critères observés.</a:t>
            </a:r>
          </a:p>
          <a:p/>
          <a:p>
            <a:r>
              <a:t>Pour chaque réserve, je désigne une personne, un résultat attendu et une échéance. Inès vérifie ensuite la correction : une promesse de correction ne suffit pas à fermer la réserve.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confie à Inès le relevé des parcours réussis et des blocages. Léa recueille l’utilité perçue auprès des personas. Claire examine la conformité des critères, et je consolide le bilan avec le nombre de participants et la date.</a:t>
            </a:r>
          </a:p>
          <a:p/>
          <a:p>
            <a:r>
              <a:t>Les seuils sont les objectifs du scénario : au moins 80 % de réussite sans aide, une utilité moyenne de quatre sur cinq, tous les critères critiques acceptés et aucun blocage critique ouvert. Je ne présente pas de résultat réel de satisfaction.</a:t>
            </a:r>
          </a:p>
          <a:p/>
          <a:p>
            <a:r>
              <a:t>Si un objectif n’est pas atteint, Léa analyse la difficulté d’usage, Hugo corrige, Inès recontrôle et Sami prépare la livraison. Je propose ensuite à Claire une nouvelle validation du périmètre concerné.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vous montrer le logiciel, je précise ce que nous allons vérifier. Pour les partenaires, je regarde la cohérence des filtres et la lisibilité de l’état d’une demande.</a:t>
            </a:r>
          </a:p>
          <a:p/>
          <a:p>
            <a:r>
              <a:t>Pour les événements, je vérifie l’inscription et les places disponibles. Avec la session club, je retrouve les participants et les commandes liées à ce rôle. Je montre aussi l’utilisation des commandes au clavier.</a:t>
            </a:r>
          </a:p>
          <a:p/>
          <a:p>
            <a:r>
              <a:t>J’utilise une base de démonstration avec des comptes de test. Le résultat attendu reste concret : un grimpeur comprend ce qu’il peut faire, et un club retrouve les informations nécessaires pour organiser sa sortie.</a:t>
            </a:r>
          </a:p>
          <a:p/>
          <a:p>
            <a:r>
              <a:t>Ces critères me servent ensuite à faire le bilan de la démonstration et à identifier les éventuelles réserves.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maintenant au logiciel. Je commence avec une session grimpeur pour vous montrer la recherche de partenaires. Ensuite, je passe sur un événement, puis sur la session club pour retrouver les participants.</a:t>
            </a:r>
          </a:p>
          <a:p/>
          <a:p>
            <a:r>
              <a:t>Je garde les mêmes critères tout au long du parcours : des filtres cohérents, un état compréhensible et des actions adaptées au rôle de l’utilisateur.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le profil du grimpeur. Ici, je retrouve sa pratique et son niveau : ce sont les informations qui donnent du contexte à la recherche.</a:t>
            </a:r>
          </a:p>
          <a:p/>
          <a:p>
            <a:r>
              <a:t>Je vais maintenant dans les partenaires. Je sélectionne une discipline et je regarde comment la liste s’adapte. Je peux consulter un profil pour vérifier s’il correspond à la sortie que je veux préparer.</a:t>
            </a:r>
          </a:p>
          <a:p/>
          <a:p>
            <a:r>
              <a:t>Je passe ensuite à la demande de partenariat. Ce que je veux rendre clair pour l’utilisateur, c’est l’état de sa demande : il doit savoir où il en est avant de poursuivre. Si une demande existe déjà, je présente l’état affiché ; je n’ai pas besoin d’en créer une deuxième pour montrer ce fonctionnement.</a:t>
            </a:r>
          </a:p>
          <a:p/>
          <a:p>
            <a:r>
              <a:t>Le parcours peut ensuite se poursuivre vers les événements pour préparer une sortie.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maintenant aux événements. Sur la fiche, je retrouve les informations de la sortie et les places disponibles. Je peux vérifier l’action proposée pour l’inscription et l’état affiché pour ce compte.</a:t>
            </a:r>
          </a:p>
          <a:p/>
          <a:p>
            <a:r>
              <a:t>Si le compte est déjà inscrit, je peux le voir directement. Sinon, je peux effectuer l’inscription et vérifier la confirmation.</a:t>
            </a:r>
          </a:p>
          <a:p/>
          <a:p>
            <a:r>
              <a:t>Je passe ensuite à la session club. L’objectif est de retrouver les participants et les commandes de gestion adaptées à ce rôle. Le grimpeur et le club n’ont pas les mêmes actions à réaliser.</a:t>
            </a:r>
          </a:p>
          <a:p/>
          <a:p>
            <a:r>
              <a:t>Je termine avec les commandes au clavier pour montrer le déplacement du focus et leur activation. Je peux maintenant revenir à mes critères et distinguer les résultats observés des points qui resteraient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terminer, je reviens aux critères que nous avons suivis : les partenaires, l’inscription, les participants et l’utilisation au clavier.</a:t>
            </a:r>
          </a:p>
          <a:p/>
          <a:p>
            <a:r>
              <a:t>À partir du résultat observé, je peux demander une décision : accepté, accepté avec réserve ou refusé. Si un point reste à corriger, je le décris précisément et je lui associe une action, un responsable et une prochaine vérification.</a:t>
            </a:r>
          </a:p>
          <a:p/>
          <a:p>
            <a:r>
              <a:t>Ce que je retiens de Spity, c’est l’importance de relier l’organisation du travail à un résultat utilisable. Les tickets me donnent une vue sur le travail, les contrôles me permettent de vérifier les changements et la démonstration me ramène au besoin de l’utilisateur.</a:t>
            </a:r>
          </a:p>
          <a:p/>
          <a:p>
            <a:r>
              <a:t>Merci pour votre attention. Je suis prêt à répondre à vos questions.</a:t>
            </a:r>
          </a:p>
          <a:p/>
          <a:p>
            <a:r>
              <a:t>Dans le scénario d’équipe, je restitue les résultats d’Inès à Claire. Elle décide de la réception. Je confie les réserves d’usage à Léa, les corrections à Hugo et la livraison à Sami, puis Inès vérifie à nouveau.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résume ici les responsabilités de l’équipe fictive. Je prends le pilotage ; Léa prépare l’expérience utilisateur ; Hugo réalise le logiciel ; Inès contrôle les critères ; Sami livre la version ; Claire prononce la réception.</a:t>
            </a:r>
          </a:p>
          <a:p/>
          <a:p>
            <a:r>
              <a:t>Je relie ces responsabilités dans le backlog, le planning et les comptes rendus. Une tâche a un responsable de réalisation, un livrable attendu et un décideur identifié. Cette synthèse décrit l’organisation du scénario, pas l’équipe historique du développement.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étapes que je peux retrouver dans l’historique du dépôt. Les fondations techniques sont enregistrées en janvier. En mai apparaissent les premiers parcours, avec la connexion, les profils et les lieux.</a:t>
            </a:r>
          </a:p>
          <a:p/>
          <a:p>
            <a:r>
              <a:t>En juillet, je retrouve le matching, les événements et la recette automatisée. En août, les changements portent davantage sur la maintenance et la supervision. En septembre, le produit s’enrichit avec les médias, l’administration et les contributions aux falaises.</a:t>
            </a:r>
          </a:p>
          <a:p/>
          <a:p>
            <a:r>
              <a:t>Cette frise situe les versions enregistrées. Elle est distincte du planning annuel reconstruit : une date de commit me dit quand un changement a été enregistré, mais pas combien d’heures il a demandé.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prépare cette demande uniquement si une compétence critique reste indisponible après la formation et son évaluation. Je formalise le besoin avec Inès : quatre heures de renfort QA avant la restitution, sur des scénarios navigateur et clavier.</a:t>
            </a:r>
          </a:p>
          <a:p/>
          <a:p>
            <a:r>
              <a:t>Je transmets aux ressources humaines la mission, les compétences attendues, la disponibilité et un exercice de sélection accessible. L’estimation de 180 euros est supplémentaire à la base du cas ; je dois aussi évaluer le temps d’accueil avant de demander l’arbitrage.</a:t>
            </a:r>
          </a:p>
          <a:p/>
          <a:p>
            <a:r>
              <a:t>Inès accompagne la prise en main, Sami prépare des accès limités et je contrôle le résultat. Aucun recrutement ni envoi réel n’est déclaré : il s’agit d’une option conditionnelle du scénario.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4B43"/>
        </a:solidFill>
        <a:effectLst/>
      </p:bgPr>
    </p:bg>
    <p:spTree>
      <p:nvGrpSpPr>
        <p:cNvPr id="1" name=""/>
        <p:cNvGrpSpPr/>
        <p:nvPr/>
      </p:nvGrpSpPr>
      <p:grpSpPr/>
      <p:pic>
        <p:nvPicPr>
          <p:cNvPr id="2" name="Picture 1" descr="bloc1-couverture"/>
          <p:cNvPicPr>
            <a:picLocks noChangeAspect="1"/>
          </p:cNvPicPr>
          <p:nvPr/>
        </p:nvPicPr>
        <p:blipFill>
          <a:blip r:embed="rId3"/>
          <a:srcRect l="111" r="111"/>
          <a:stretch>
            <a:fillRect/>
          </a:stretch>
        </p:blipFill>
        <p:spPr>
          <a:xfrm>
            <a:off x="0" y="0"/>
            <a:ext cx="14630400" cy="8229600"/>
          </a:xfrm>
          <a:prstGeom prst="rect">
            <a:avLst/>
          </a:prstGeom>
        </p:spPr>
      </p:pic>
      <p:sp>
        <p:nvSpPr>
          <p:cNvPr id="3" name="TextBox 2"/>
          <p:cNvSpPr txBox="1"/>
          <p:nvPr/>
        </p:nvSpPr>
        <p:spPr>
          <a:xfrm>
            <a:off x="822960" y="950976"/>
            <a:ext cx="12710160" cy="1737360"/>
          </a:xfrm>
          <a:prstGeom prst="rect">
            <a:avLst/>
          </a:prstGeom>
          <a:noFill/>
        </p:spPr>
        <p:txBody>
          <a:bodyPr wrap="square" lIns="0" rIns="0" tIns="0" bIns="0">
            <a:spAutoFit/>
          </a:bodyPr>
          <a:lstStyle/>
          <a:p>
            <a:pPr algn="l">
              <a:spcAft>
                <a:spcPts val="400"/>
              </a:spcAft>
              <a:defRPr sz="12400" b="0">
                <a:solidFill>
                  <a:srgbClr val="FFFFFF"/>
                </a:solidFill>
                <a:latin typeface="Archivo Black"/>
              </a:defRPr>
            </a:pPr>
            <a:r>
              <a:t>SPITY</a:t>
            </a:r>
          </a:p>
        </p:txBody>
      </p:sp>
      <p:sp>
        <p:nvSpPr>
          <p:cNvPr id="4" name="TextBox 3"/>
          <p:cNvSpPr txBox="1"/>
          <p:nvPr/>
        </p:nvSpPr>
        <p:spPr>
          <a:xfrm>
            <a:off x="859536" y="2743200"/>
            <a:ext cx="12070080" cy="594360"/>
          </a:xfrm>
          <a:prstGeom prst="rect">
            <a:avLst/>
          </a:prstGeom>
          <a:noFill/>
        </p:spPr>
        <p:txBody>
          <a:bodyPr wrap="square" lIns="0" rIns="0" tIns="0" bIns="0">
            <a:spAutoFit/>
          </a:bodyPr>
          <a:lstStyle/>
          <a:p>
            <a:pPr algn="l">
              <a:spcAft>
                <a:spcPts val="400"/>
              </a:spcAft>
              <a:defRPr sz="2700" b="1">
                <a:solidFill>
                  <a:srgbClr val="FFFFFF"/>
                </a:solidFill>
                <a:latin typeface="Poppins"/>
              </a:defRPr>
            </a:pPr>
            <a:r>
              <a:t>Coordonner et piloter un projet logiciel</a:t>
            </a:r>
          </a:p>
        </p:txBody>
      </p:sp>
      <p:sp>
        <p:nvSpPr>
          <p:cNvPr id="5" name="Rounded Rectangle 4"/>
          <p:cNvSpPr/>
          <p:nvPr/>
        </p:nvSpPr>
        <p:spPr>
          <a:xfrm>
            <a:off x="859536" y="3694176"/>
            <a:ext cx="3657600" cy="438912"/>
          </a:xfrm>
          <a:prstGeom prst="roundRect">
            <a:avLst>
              <a:gd name="adj" fmla="val 4000"/>
            </a:avLst>
          </a:prstGeom>
          <a:solidFill>
            <a:srgbClr val="8CA444"/>
          </a:solidFill>
          <a:ln>
            <a:noFill/>
          </a:ln>
          <a:effectLst/>
        </p:spPr>
        <p:txBody>
          <a:bodyPr rtlCol="0" anchor="ctr"/>
          <a:lstStyle/>
          <a:p>
            <a:pPr algn="ctr"/>
          </a:p>
        </p:txBody>
      </p:sp>
      <p:sp>
        <p:nvSpPr>
          <p:cNvPr id="6" name="TextBox 5"/>
          <p:cNvSpPr txBox="1"/>
          <p:nvPr/>
        </p:nvSpPr>
        <p:spPr>
          <a:xfrm>
            <a:off x="1005840" y="3785615"/>
            <a:ext cx="3364992" cy="246888"/>
          </a:xfrm>
          <a:prstGeom prst="rect">
            <a:avLst/>
          </a:prstGeom>
          <a:noFill/>
        </p:spPr>
        <p:txBody>
          <a:bodyPr wrap="square" lIns="0" rIns="0" tIns="0" bIns="0">
            <a:spAutoFit/>
          </a:bodyPr>
          <a:lstStyle/>
          <a:p>
            <a:pPr algn="ctr">
              <a:spcAft>
                <a:spcPts val="400"/>
              </a:spcAft>
              <a:defRPr sz="1200" b="1">
                <a:solidFill>
                  <a:srgbClr val="FFFFFF"/>
                </a:solidFill>
                <a:latin typeface="Poppins"/>
              </a:defRPr>
            </a:pPr>
            <a:r>
              <a:t>BLOC 3 · RNCP39583</a:t>
            </a:r>
          </a:p>
        </p:txBody>
      </p:sp>
      <p:sp>
        <p:nvSpPr>
          <p:cNvPr id="7" name="TextBox 6"/>
          <p:cNvSpPr txBox="1"/>
          <p:nvPr/>
        </p:nvSpPr>
        <p:spPr>
          <a:xfrm>
            <a:off x="859536" y="6912864"/>
            <a:ext cx="9875520" cy="384048"/>
          </a:xfrm>
          <a:prstGeom prst="rect">
            <a:avLst/>
          </a:prstGeom>
          <a:noFill/>
        </p:spPr>
        <p:txBody>
          <a:bodyPr wrap="square" lIns="0" rIns="0" tIns="0" bIns="0">
            <a:spAutoFit/>
          </a:bodyPr>
          <a:lstStyle/>
          <a:p>
            <a:pPr algn="l">
              <a:spcAft>
                <a:spcPts val="400"/>
              </a:spcAft>
              <a:defRPr sz="1800" b="1">
                <a:solidFill>
                  <a:srgbClr val="FFFFFF"/>
                </a:solidFill>
                <a:latin typeface="Poppins"/>
              </a:defRPr>
            </a:pPr>
            <a:r>
              <a:t>Dorian Joly</a:t>
            </a:r>
          </a:p>
        </p:txBody>
      </p:sp>
      <p:sp>
        <p:nvSpPr>
          <p:cNvPr id="8" name="TextBox 7"/>
          <p:cNvSpPr txBox="1"/>
          <p:nvPr/>
        </p:nvSpPr>
        <p:spPr>
          <a:xfrm>
            <a:off x="859536" y="7388352"/>
            <a:ext cx="12618720" cy="411480"/>
          </a:xfrm>
          <a:prstGeom prst="rect">
            <a:avLst/>
          </a:prstGeom>
          <a:noFill/>
        </p:spPr>
        <p:txBody>
          <a:bodyPr wrap="square" lIns="0" rIns="0" tIns="0" bIns="0">
            <a:spAutoFit/>
          </a:bodyPr>
          <a:lstStyle/>
          <a:p>
            <a:pPr algn="l">
              <a:spcAft>
                <a:spcPts val="400"/>
              </a:spcAft>
              <a:defRPr sz="1300" b="0">
                <a:solidFill>
                  <a:srgbClr val="FFFFFF"/>
                </a:solidFill>
                <a:latin typeface="Poppins"/>
              </a:defRPr>
            </a:pPr>
            <a:r>
              <a:t>Mise en situation · pilotage d’une équipe fictive sur un 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cxnSp>
        <p:nvCxnSpPr>
          <p:cNvPr id="2" name="Connector 1"/>
          <p:cNvCxnSpPr/>
          <p:nvPr/>
        </p:nvCxnSpPr>
        <p:spPr>
          <a:xfrm>
            <a:off x="594360" y="7781544"/>
            <a:ext cx="1005840" cy="0"/>
          </a:xfrm>
          <a:prstGeom prst="line">
            <a:avLst/>
          </a:prstGeom>
          <a:ln w="10795">
            <a:solidFill>
              <a:srgbClr val="28554B"/>
            </a:solidFill>
          </a:ln>
          <a:effectLst/>
        </p:spPr>
      </p:cxnSp>
      <p:sp>
        <p:nvSpPr>
          <p:cNvPr id="3" name="TextBox 2"/>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a:t>
            </a:r>
          </a:p>
        </p:txBody>
      </p:sp>
      <p:pic>
        <p:nvPicPr>
          <p:cNvPr id="4" name="Picture 3" descr="bloc1-sommaire"/>
          <p:cNvPicPr>
            <a:picLocks noChangeAspect="1"/>
          </p:cNvPicPr>
          <p:nvPr/>
        </p:nvPicPr>
        <p:blipFill>
          <a:blip r:embed="rId3"/>
          <a:srcRect l="20514" r="20514"/>
          <a:stretch>
            <a:fillRect/>
          </a:stretch>
        </p:blipFill>
        <p:spPr>
          <a:xfrm>
            <a:off x="594360" y="594360"/>
            <a:ext cx="5989320" cy="6766560"/>
          </a:xfrm>
          <a:prstGeom prst="rect">
            <a:avLst/>
          </a:prstGeom>
        </p:spPr>
      </p:pic>
      <p:sp>
        <p:nvSpPr>
          <p:cNvPr id="5" name="TextBox 4"/>
          <p:cNvSpPr txBox="1"/>
          <p:nvPr/>
        </p:nvSpPr>
        <p:spPr>
          <a:xfrm>
            <a:off x="7114032" y="731520"/>
            <a:ext cx="6903720" cy="713232"/>
          </a:xfrm>
          <a:prstGeom prst="rect">
            <a:avLst/>
          </a:prstGeom>
          <a:noFill/>
        </p:spPr>
        <p:txBody>
          <a:bodyPr wrap="square" lIns="0" rIns="0" tIns="0" bIns="0">
            <a:spAutoFit/>
          </a:bodyPr>
          <a:lstStyle/>
          <a:p>
            <a:pPr algn="l">
              <a:spcAft>
                <a:spcPts val="400"/>
              </a:spcAft>
              <a:defRPr sz="3800" b="0">
                <a:solidFill>
                  <a:srgbClr val="244B43"/>
                </a:solidFill>
                <a:latin typeface="Archivo Black"/>
              </a:defRPr>
            </a:pPr>
            <a:r>
              <a:t>SOMMAIRE</a:t>
            </a:r>
          </a:p>
        </p:txBody>
      </p:sp>
      <p:sp>
        <p:nvSpPr>
          <p:cNvPr id="6" name="TextBox 5"/>
          <p:cNvSpPr txBox="1"/>
          <p:nvPr/>
        </p:nvSpPr>
        <p:spPr>
          <a:xfrm>
            <a:off x="7132320" y="1591056"/>
            <a:ext cx="6720840" cy="640080"/>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Le projet, puis les sept compétences du Bloc 3.</a:t>
            </a:r>
          </a:p>
        </p:txBody>
      </p:sp>
      <p:sp>
        <p:nvSpPr>
          <p:cNvPr id="7" name="TextBox 6"/>
          <p:cNvSpPr txBox="1"/>
          <p:nvPr/>
        </p:nvSpPr>
        <p:spPr>
          <a:xfrm>
            <a:off x="7132320" y="2487168"/>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8" name="TextBox 7"/>
          <p:cNvSpPr txBox="1"/>
          <p:nvPr/>
        </p:nvSpPr>
        <p:spPr>
          <a:xfrm>
            <a:off x="7479792" y="2487168"/>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Présenter Spity</a:t>
            </a:r>
          </a:p>
        </p:txBody>
      </p:sp>
      <p:sp>
        <p:nvSpPr>
          <p:cNvPr id="9" name="TextBox 8"/>
          <p:cNvSpPr txBox="1"/>
          <p:nvPr/>
        </p:nvSpPr>
        <p:spPr>
          <a:xfrm>
            <a:off x="7132320" y="3099816"/>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10" name="TextBox 9"/>
          <p:cNvSpPr txBox="1"/>
          <p:nvPr/>
        </p:nvSpPr>
        <p:spPr>
          <a:xfrm>
            <a:off x="7479792" y="3099816"/>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Planifier le projet</a:t>
            </a:r>
          </a:p>
        </p:txBody>
      </p:sp>
      <p:sp>
        <p:nvSpPr>
          <p:cNvPr id="11" name="TextBox 10"/>
          <p:cNvSpPr txBox="1"/>
          <p:nvPr/>
        </p:nvSpPr>
        <p:spPr>
          <a:xfrm>
            <a:off x="7132320" y="3712464"/>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12" name="TextBox 11"/>
          <p:cNvSpPr txBox="1"/>
          <p:nvPr/>
        </p:nvSpPr>
        <p:spPr>
          <a:xfrm>
            <a:off x="7479792" y="3712464"/>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Suivre l’avancement</a:t>
            </a:r>
          </a:p>
        </p:txBody>
      </p:sp>
      <p:sp>
        <p:nvSpPr>
          <p:cNvPr id="13" name="TextBox 12"/>
          <p:cNvSpPr txBox="1"/>
          <p:nvPr/>
        </p:nvSpPr>
        <p:spPr>
          <a:xfrm>
            <a:off x="7132320" y="4325112"/>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14" name="TextBox 13"/>
          <p:cNvSpPr txBox="1"/>
          <p:nvPr/>
        </p:nvSpPr>
        <p:spPr>
          <a:xfrm>
            <a:off x="7479792" y="4325112"/>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Arbitrer</a:t>
            </a:r>
          </a:p>
        </p:txBody>
      </p:sp>
      <p:sp>
        <p:nvSpPr>
          <p:cNvPr id="15" name="TextBox 14"/>
          <p:cNvSpPr txBox="1"/>
          <p:nvPr/>
        </p:nvSpPr>
        <p:spPr>
          <a:xfrm>
            <a:off x="7132320" y="4937760"/>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16" name="TextBox 15"/>
          <p:cNvSpPr txBox="1"/>
          <p:nvPr/>
        </p:nvSpPr>
        <p:spPr>
          <a:xfrm>
            <a:off x="7479792" y="4937760"/>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Manager et communiquer</a:t>
            </a:r>
          </a:p>
        </p:txBody>
      </p:sp>
      <p:sp>
        <p:nvSpPr>
          <p:cNvPr id="17" name="TextBox 16"/>
          <p:cNvSpPr txBox="1"/>
          <p:nvPr/>
        </p:nvSpPr>
        <p:spPr>
          <a:xfrm>
            <a:off x="7132320" y="5550408"/>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18" name="TextBox 17"/>
          <p:cNvSpPr txBox="1"/>
          <p:nvPr/>
        </p:nvSpPr>
        <p:spPr>
          <a:xfrm>
            <a:off x="7479792" y="5550408"/>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Développer les compétences</a:t>
            </a:r>
          </a:p>
        </p:txBody>
      </p:sp>
      <p:sp>
        <p:nvSpPr>
          <p:cNvPr id="19" name="TextBox 18"/>
          <p:cNvSpPr txBox="1"/>
          <p:nvPr/>
        </p:nvSpPr>
        <p:spPr>
          <a:xfrm>
            <a:off x="7132320" y="6163056"/>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20" name="TextBox 19"/>
          <p:cNvSpPr txBox="1"/>
          <p:nvPr/>
        </p:nvSpPr>
        <p:spPr>
          <a:xfrm>
            <a:off x="7479792" y="6163056"/>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Suivre avec le client</a:t>
            </a:r>
          </a:p>
        </p:txBody>
      </p:sp>
      <p:sp>
        <p:nvSpPr>
          <p:cNvPr id="21" name="TextBox 20"/>
          <p:cNvSpPr txBox="1"/>
          <p:nvPr/>
        </p:nvSpPr>
        <p:spPr>
          <a:xfrm>
            <a:off x="7132320" y="6775704"/>
            <a:ext cx="256032" cy="329184"/>
          </a:xfrm>
          <a:prstGeom prst="rect">
            <a:avLst/>
          </a:prstGeom>
          <a:noFill/>
        </p:spPr>
        <p:txBody>
          <a:bodyPr wrap="square" lIns="0" rIns="0" tIns="0" bIns="0">
            <a:spAutoFit/>
          </a:bodyPr>
          <a:lstStyle/>
          <a:p>
            <a:pPr algn="l">
              <a:spcAft>
                <a:spcPts val="400"/>
              </a:spcAft>
              <a:defRPr sz="1700" b="1">
                <a:solidFill>
                  <a:srgbClr val="28554B"/>
                </a:solidFill>
                <a:latin typeface="Poppins"/>
              </a:defRPr>
            </a:pPr>
            <a:r>
              <a:t>•</a:t>
            </a:r>
          </a:p>
        </p:txBody>
      </p:sp>
      <p:sp>
        <p:nvSpPr>
          <p:cNvPr id="22" name="TextBox 21"/>
          <p:cNvSpPr txBox="1"/>
          <p:nvPr/>
        </p:nvSpPr>
        <p:spPr>
          <a:xfrm>
            <a:off x="7479792" y="6775704"/>
            <a:ext cx="6473952" cy="493776"/>
          </a:xfrm>
          <a:prstGeom prst="rect">
            <a:avLst/>
          </a:prstGeom>
          <a:noFill/>
        </p:spPr>
        <p:txBody>
          <a:bodyPr wrap="square" lIns="0" rIns="0" tIns="0" bIns="0">
            <a:spAutoFit/>
          </a:bodyPr>
          <a:lstStyle/>
          <a:p>
            <a:pPr algn="l">
              <a:spcAft>
                <a:spcPts val="400"/>
              </a:spcAft>
              <a:defRPr sz="1700" b="0">
                <a:solidFill>
                  <a:srgbClr val="244B43"/>
                </a:solidFill>
                <a:latin typeface="Poppins"/>
              </a:defRPr>
            </a:pPr>
            <a:r>
              <a:t>Démontrer et valider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03</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PRÉSENTATION / LE PROJET SPITY</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RELIER LES GRIMPEURS. SIMPLIFIER LES SORTIES.</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Deux besoins concrets pour guider les fonctionnalités.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3</a:t>
            </a:r>
          </a:p>
        </p:txBody>
      </p:sp>
      <p:sp>
        <p:nvSpPr>
          <p:cNvPr id="9" name="Rounded Rectangle 8"/>
          <p:cNvSpPr/>
          <p:nvPr/>
        </p:nvSpPr>
        <p:spPr>
          <a:xfrm>
            <a:off x="640080" y="2560320"/>
            <a:ext cx="1645920" cy="329184"/>
          </a:xfrm>
          <a:prstGeom prst="roundRect">
            <a:avLst>
              <a:gd name="adj" fmla="val 4000"/>
            </a:avLst>
          </a:prstGeom>
          <a:solidFill>
            <a:srgbClr val="E9EFE8"/>
          </a:solidFill>
          <a:ln>
            <a:noFill/>
          </a:ln>
          <a:effectLst/>
        </p:spPr>
        <p:txBody>
          <a:bodyPr rtlCol="0" anchor="ctr"/>
          <a:lstStyle/>
          <a:p>
            <a:pPr algn="ctr"/>
          </a:p>
        </p:txBody>
      </p:sp>
      <p:sp>
        <p:nvSpPr>
          <p:cNvPr id="10" name="TextBox 9"/>
          <p:cNvSpPr txBox="1"/>
          <p:nvPr/>
        </p:nvSpPr>
        <p:spPr>
          <a:xfrm>
            <a:off x="758952" y="2619756"/>
            <a:ext cx="140817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GRIMPEUR</a:t>
            </a:r>
          </a:p>
        </p:txBody>
      </p:sp>
      <p:sp>
        <p:nvSpPr>
          <p:cNvPr id="11" name="TextBox 10"/>
          <p:cNvSpPr txBox="1"/>
          <p:nvPr/>
        </p:nvSpPr>
        <p:spPr>
          <a:xfrm>
            <a:off x="640080" y="3063239"/>
            <a:ext cx="5212080" cy="548640"/>
          </a:xfrm>
          <a:prstGeom prst="rect">
            <a:avLst/>
          </a:prstGeom>
          <a:noFill/>
        </p:spPr>
        <p:txBody>
          <a:bodyPr wrap="square" lIns="0" rIns="0" tIns="0" bIns="0">
            <a:spAutoFit/>
          </a:bodyPr>
          <a:lstStyle/>
          <a:p>
            <a:pPr algn="l">
              <a:spcAft>
                <a:spcPts val="400"/>
              </a:spcAft>
              <a:defRPr sz="2500" b="1">
                <a:solidFill>
                  <a:srgbClr val="244B43"/>
                </a:solidFill>
                <a:latin typeface="Poppins"/>
              </a:defRPr>
            </a:pPr>
            <a:r>
              <a:t>Trouver un partenaire</a:t>
            </a:r>
          </a:p>
        </p:txBody>
      </p:sp>
      <p:sp>
        <p:nvSpPr>
          <p:cNvPr id="12" name="TextBox 11"/>
          <p:cNvSpPr txBox="1"/>
          <p:nvPr/>
        </p:nvSpPr>
        <p:spPr>
          <a:xfrm>
            <a:off x="640080" y="3630168"/>
            <a:ext cx="5212080" cy="8229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Discipline, niveau et profil pour préparer une sortie.</a:t>
            </a:r>
          </a:p>
        </p:txBody>
      </p:sp>
      <p:sp>
        <p:nvSpPr>
          <p:cNvPr id="13" name="Rounded Rectangle 12"/>
          <p:cNvSpPr/>
          <p:nvPr/>
        </p:nvSpPr>
        <p:spPr>
          <a:xfrm>
            <a:off x="640080" y="4434840"/>
            <a:ext cx="1645920" cy="329184"/>
          </a:xfrm>
          <a:prstGeom prst="roundRect">
            <a:avLst>
              <a:gd name="adj" fmla="val 4000"/>
            </a:avLst>
          </a:prstGeom>
          <a:solidFill>
            <a:srgbClr val="E9EFE8"/>
          </a:solidFill>
          <a:ln>
            <a:noFill/>
          </a:ln>
          <a:effectLst/>
        </p:spPr>
        <p:txBody>
          <a:bodyPr rtlCol="0" anchor="ctr"/>
          <a:lstStyle/>
          <a:p>
            <a:pPr algn="ctr"/>
          </a:p>
        </p:txBody>
      </p:sp>
      <p:sp>
        <p:nvSpPr>
          <p:cNvPr id="14" name="TextBox 13"/>
          <p:cNvSpPr txBox="1"/>
          <p:nvPr/>
        </p:nvSpPr>
        <p:spPr>
          <a:xfrm>
            <a:off x="758952" y="4494276"/>
            <a:ext cx="140817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CLUB</a:t>
            </a:r>
          </a:p>
        </p:txBody>
      </p:sp>
      <p:sp>
        <p:nvSpPr>
          <p:cNvPr id="15" name="TextBox 14"/>
          <p:cNvSpPr txBox="1"/>
          <p:nvPr/>
        </p:nvSpPr>
        <p:spPr>
          <a:xfrm>
            <a:off x="640080" y="4937759"/>
            <a:ext cx="5212080" cy="548640"/>
          </a:xfrm>
          <a:prstGeom prst="rect">
            <a:avLst/>
          </a:prstGeom>
          <a:noFill/>
        </p:spPr>
        <p:txBody>
          <a:bodyPr wrap="square" lIns="0" rIns="0" tIns="0" bIns="0">
            <a:spAutoFit/>
          </a:bodyPr>
          <a:lstStyle/>
          <a:p>
            <a:pPr algn="l">
              <a:spcAft>
                <a:spcPts val="400"/>
              </a:spcAft>
              <a:defRPr sz="2500" b="1">
                <a:solidFill>
                  <a:srgbClr val="244B43"/>
                </a:solidFill>
                <a:latin typeface="Poppins"/>
              </a:defRPr>
            </a:pPr>
            <a:r>
              <a:t>Organiser un événement</a:t>
            </a:r>
          </a:p>
        </p:txBody>
      </p:sp>
      <p:sp>
        <p:nvSpPr>
          <p:cNvPr id="16" name="TextBox 15"/>
          <p:cNvSpPr txBox="1"/>
          <p:nvPr/>
        </p:nvSpPr>
        <p:spPr>
          <a:xfrm>
            <a:off x="640080" y="5504688"/>
            <a:ext cx="5212080" cy="8229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Places disponibles, inscriptions et liste des participants.</a:t>
            </a:r>
          </a:p>
        </p:txBody>
      </p:sp>
      <p:sp>
        <p:nvSpPr>
          <p:cNvPr id="17" name="Rounded Rectangle 16"/>
          <p:cNvSpPr/>
          <p:nvPr/>
        </p:nvSpPr>
        <p:spPr>
          <a:xfrm>
            <a:off x="6263640" y="2487168"/>
            <a:ext cx="7772400" cy="4407408"/>
          </a:xfrm>
          <a:prstGeom prst="roundRect">
            <a:avLst>
              <a:gd name="adj" fmla="val 4000"/>
            </a:avLst>
          </a:prstGeom>
          <a:solidFill>
            <a:srgbClr val="244B43"/>
          </a:solidFill>
          <a:ln>
            <a:noFill/>
          </a:ln>
          <a:effectLst/>
        </p:spPr>
        <p:txBody>
          <a:bodyPr rtlCol="0" anchor="ctr"/>
          <a:lstStyle/>
          <a:p>
            <a:pPr algn="ctr"/>
          </a:p>
        </p:txBody>
      </p:sp>
      <p:pic>
        <p:nvPicPr>
          <p:cNvPr id="18" name="Picture 17" descr="lieux-2026-09-15"/>
          <p:cNvPicPr>
            <a:picLocks noChangeAspect="1"/>
          </p:cNvPicPr>
          <p:nvPr/>
        </p:nvPicPr>
        <p:blipFill>
          <a:blip r:embed="rId3"/>
          <a:stretch>
            <a:fillRect/>
          </a:stretch>
        </p:blipFill>
        <p:spPr>
          <a:xfrm>
            <a:off x="7213518" y="2633472"/>
            <a:ext cx="5872642" cy="4078224"/>
          </a:xfrm>
          <a:prstGeom prst="rect">
            <a:avLst/>
          </a:prstGeom>
        </p:spPr>
      </p:pic>
      <p:sp>
        <p:nvSpPr>
          <p:cNvPr id="19" name="Rounded Rectangle 18"/>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20" name="TextBox 19"/>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Parcours présenté : partenaire → événement → inscription.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04</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C.3.1 / PLANIFIER</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ORGANISER LE TRAVAIL DE L’ÉQUIPE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un responsable et un critère de fin pour chaque tâche.</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4</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PILOTAGE</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Dorian</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Priorités, responsable, échéance et critère de fin dans le backlog.</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RÉALISATION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Léa + Hugo</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Parcours et maquettes, puis interfaces, API et corrections.</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QUALITÉ / LIVRAISON</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Inès + Sami</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Recette et réserves, puis version contrôlée et déploiement.</a:t>
            </a:r>
          </a:p>
        </p:txBody>
      </p:sp>
      <p:sp>
        <p:nvSpPr>
          <p:cNvPr id="21" name="Rounded Rectangle 20"/>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22" name="TextBox 21"/>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Flux du cas : à faire → en cours → revue → recette → terminé ; Dorian coordonne.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05</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C.3.1 / PLANNING DÉTAILLÉ</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PLANIFIER LES TRAVAUX SUR UNE ANNÉE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neuf lots, un pilote par lot, contributions détaillées dans le planning.</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5</a:t>
            </a:r>
          </a:p>
        </p:txBody>
      </p:sp>
      <p:graphicFrame>
        <p:nvGraphicFramePr>
          <p:cNvPr id="9" name="Chart 8"/>
          <p:cNvGraphicFramePr>
            <a:graphicFrameLocks noGrp="1"/>
          </p:cNvGraphicFramePr>
          <p:nvPr/>
        </p:nvGraphicFramePr>
        <p:xfrm>
          <a:off x="548640" y="2423160"/>
          <a:ext cx="10058400" cy="4114800"/>
        </p:xfrm>
        <a:graphic>
          <a:graphicData uri="http://schemas.openxmlformats.org/drawingml/2006/chart">
            <c:chart xmlns:c="http://schemas.openxmlformats.org/drawingml/2006/chart" r:id="rId3"/>
          </a:graphicData>
        </a:graphic>
      </p:graphicFrame>
      <p:sp>
        <p:nvSpPr>
          <p:cNvPr id="10" name="TextBox 9"/>
          <p:cNvSpPr txBox="1"/>
          <p:nvPr/>
        </p:nvSpPr>
        <p:spPr>
          <a:xfrm>
            <a:off x="822960" y="6547104"/>
            <a:ext cx="9784080" cy="246888"/>
          </a:xfrm>
          <a:prstGeom prst="rect">
            <a:avLst/>
          </a:prstGeom>
          <a:noFill/>
        </p:spPr>
        <p:txBody>
          <a:bodyPr wrap="square" lIns="0" rIns="0" tIns="0" bIns="0">
            <a:spAutoFit/>
          </a:bodyPr>
          <a:lstStyle/>
          <a:p>
            <a:pPr algn="l">
              <a:spcAft>
                <a:spcPts val="400"/>
              </a:spcAft>
              <a:defRPr sz="1100" b="1">
                <a:solidFill>
                  <a:srgbClr val="56625B"/>
                </a:solidFill>
                <a:latin typeface="Poppins"/>
              </a:defRPr>
            </a:pPr>
            <a:r>
              <a:t>MOIS RELATIFS · PLANNING RÉVISÉ DU CAS</a:t>
            </a:r>
          </a:p>
        </p:txBody>
      </p:sp>
      <p:sp>
        <p:nvSpPr>
          <p:cNvPr id="11" name="TextBox 10"/>
          <p:cNvSpPr txBox="1"/>
          <p:nvPr/>
        </p:nvSpPr>
        <p:spPr>
          <a:xfrm>
            <a:off x="10881360" y="2770632"/>
            <a:ext cx="3200400" cy="868680"/>
          </a:xfrm>
          <a:prstGeom prst="rect">
            <a:avLst/>
          </a:prstGeom>
          <a:noFill/>
        </p:spPr>
        <p:txBody>
          <a:bodyPr wrap="square" lIns="0" rIns="0" tIns="0" bIns="0">
            <a:spAutoFit/>
          </a:bodyPr>
          <a:lstStyle/>
          <a:p>
            <a:pPr algn="l">
              <a:spcAft>
                <a:spcPts val="400"/>
              </a:spcAft>
              <a:defRPr sz="5600" b="1">
                <a:solidFill>
                  <a:srgbClr val="28554B"/>
                </a:solidFill>
                <a:latin typeface="Poppins"/>
              </a:defRPr>
            </a:pPr>
            <a:r>
              <a:t>82</a:t>
            </a:r>
          </a:p>
        </p:txBody>
      </p:sp>
      <p:sp>
        <p:nvSpPr>
          <p:cNvPr id="12" name="TextBox 11"/>
          <p:cNvSpPr txBox="1"/>
          <p:nvPr/>
        </p:nvSpPr>
        <p:spPr>
          <a:xfrm>
            <a:off x="10881360" y="3703320"/>
            <a:ext cx="3200400" cy="548640"/>
          </a:xfrm>
          <a:prstGeom prst="rect">
            <a:avLst/>
          </a:prstGeom>
          <a:noFill/>
        </p:spPr>
        <p:txBody>
          <a:bodyPr wrap="square" lIns="0" rIns="0" tIns="0" bIns="0">
            <a:spAutoFit/>
          </a:bodyPr>
          <a:lstStyle/>
          <a:p>
            <a:pPr algn="l">
              <a:spcAft>
                <a:spcPts val="400"/>
              </a:spcAft>
              <a:defRPr sz="2000" b="1">
                <a:solidFill>
                  <a:srgbClr val="244B43"/>
                </a:solidFill>
                <a:latin typeface="Poppins"/>
              </a:defRPr>
            </a:pPr>
            <a:r>
              <a:t>j-h partagés</a:t>
            </a:r>
          </a:p>
        </p:txBody>
      </p:sp>
      <p:sp>
        <p:nvSpPr>
          <p:cNvPr id="13" name="TextBox 12"/>
          <p:cNvSpPr txBox="1"/>
          <p:nvPr/>
        </p:nvSpPr>
        <p:spPr>
          <a:xfrm>
            <a:off x="10881360" y="4434840"/>
            <a:ext cx="3200400" cy="1005840"/>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5 membres</a:t>
            </a:r>
          </a:p>
          <a:p>
            <a:pPr algn="l">
              <a:spcAft>
                <a:spcPts val="400"/>
              </a:spcAft>
              <a:defRPr sz="1600" b="0">
                <a:solidFill>
                  <a:srgbClr val="56625B"/>
                </a:solidFill>
                <a:latin typeface="Poppins"/>
              </a:defRPr>
            </a:pPr>
            <a:r>
              <a:t>à temps partiel</a:t>
            </a:r>
          </a:p>
          <a:p>
            <a:pPr algn="l">
              <a:spcAft>
                <a:spcPts val="400"/>
              </a:spcAft>
              <a:defRPr sz="1600" b="0">
                <a:solidFill>
                  <a:srgbClr val="56625B"/>
                </a:solidFill>
                <a:latin typeface="Poppins"/>
              </a:defRPr>
            </a:pPr>
            <a:r>
              <a:t>Dorian coordonne</a:t>
            </a:r>
          </a:p>
        </p:txBody>
      </p:sp>
      <p:sp>
        <p:nvSpPr>
          <p:cNvPr id="14" name="Rounded Rectangle 13"/>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5" name="TextBox 14"/>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Léa : cadrage / UX · Sami : setup · Hugo : développement · Inès : recette · Dorian : coordination.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06</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C.3.1 / RESPONSABILITÉS</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UNE ÉQUIPE, DES RESPONSABILITÉS PRÉCISES</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cinq membres du projet et une représentante du client.</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6</a:t>
            </a:r>
          </a:p>
        </p:txBody>
      </p:sp>
      <p:graphicFrame>
        <p:nvGraphicFramePr>
          <p:cNvPr id="9" name="Table 8"/>
          <p:cNvGraphicFramePr>
            <a:graphicFrameLocks noGrp="1"/>
          </p:cNvGraphicFramePr>
          <p:nvPr/>
        </p:nvGraphicFramePr>
        <p:xfrm>
          <a:off x="594360" y="2423160"/>
          <a:ext cx="13441680" cy="4261103"/>
        </p:xfrm>
        <a:graphic>
          <a:graphicData uri="http://schemas.openxmlformats.org/drawingml/2006/table">
            <a:tbl>
              <a:tblPr firstRow="1" bandRow="1">
                <a:tableStyleId>{5C22544A-7EE6-4342-B048-85BDC9FD1C3A}</a:tableStyleId>
              </a:tblPr>
              <a:tblGrid>
                <a:gridCol w="2743200"/>
                <a:gridCol w="4983480"/>
                <a:gridCol w="5715000"/>
              </a:tblGrid>
              <a:tr h="608729">
                <a:tc>
                  <a:txBody>
                    <a:bodyPr/>
                    <a:lstStyle/>
                    <a:p>
                      <a:pPr>
                        <a:defRPr sz="1500" b="1">
                          <a:solidFill>
                            <a:srgbClr val="FFFFFF"/>
                          </a:solidFill>
                          <a:latin typeface="Poppins"/>
                        </a:defRPr>
                      </a:pPr>
                      <a:r>
                        <a:t>Personne / rôle</a:t>
                      </a:r>
                    </a:p>
                  </a:txBody>
                  <a:tcPr marL="137160" marR="109728" marT="64008" marB="54864" anchor="ctr">
                    <a:solidFill>
                      <a:srgbClr val="244B43"/>
                    </a:solidFill>
                    <a:lnL>
                      <a:noFill/>
                    </a:lnL>
                    <a:lnR>
                      <a:noFill/>
                    </a:lnR>
                    <a:lnT>
                      <a:noFill/>
                    </a:lnT>
                    <a:lnB>
                      <a:noFill/>
                    </a:lnB>
                  </a:tcPr>
                </a:tc>
                <a:tc>
                  <a:txBody>
                    <a:bodyPr/>
                    <a:lstStyle/>
                    <a:p>
                      <a:pPr>
                        <a:defRPr sz="1500" b="1">
                          <a:solidFill>
                            <a:srgbClr val="FFFFFF"/>
                          </a:solidFill>
                          <a:latin typeface="Poppins"/>
                        </a:defRPr>
                      </a:pPr>
                      <a:r>
                        <a:t>Mission confiée</a:t>
                      </a:r>
                    </a:p>
                  </a:txBody>
                  <a:tcPr marL="137160" marR="109728" marT="64008" marB="54864" anchor="ctr">
                    <a:solidFill>
                      <a:srgbClr val="244B43"/>
                    </a:solidFill>
                    <a:lnL>
                      <a:noFill/>
                    </a:lnL>
                    <a:lnR>
                      <a:noFill/>
                    </a:lnR>
                    <a:lnT>
                      <a:noFill/>
                    </a:lnT>
                    <a:lnB>
                      <a:noFill/>
                    </a:lnB>
                  </a:tcPr>
                </a:tc>
                <a:tc>
                  <a:txBody>
                    <a:bodyPr/>
                    <a:lstStyle/>
                    <a:p>
                      <a:pPr>
                        <a:defRPr sz="1500" b="1">
                          <a:solidFill>
                            <a:srgbClr val="FFFFFF"/>
                          </a:solidFill>
                          <a:latin typeface="Poppins"/>
                        </a:defRPr>
                      </a:pPr>
                      <a:r>
                        <a:t>Livrable et validation</a:t>
                      </a:r>
                    </a:p>
                  </a:txBody>
                  <a:tcPr marL="137160" marR="109728" marT="64008" marB="54864" anchor="ctr">
                    <a:solidFill>
                      <a:srgbClr val="244B43"/>
                    </a:solidFill>
                    <a:lnL>
                      <a:noFill/>
                    </a:lnL>
                    <a:lnR>
                      <a:noFill/>
                    </a:lnR>
                    <a:lnT>
                      <a:noFill/>
                    </a:lnT>
                    <a:lnB>
                      <a:noFill/>
                    </a:lnB>
                  </a:tcPr>
                </a:tc>
              </a:tr>
              <a:tr h="608729">
                <a:tc>
                  <a:txBody>
                    <a:bodyPr/>
                    <a:lstStyle/>
                    <a:p>
                      <a:pPr>
                        <a:defRPr sz="1500" b="1">
                          <a:solidFill>
                            <a:srgbClr val="244B43"/>
                          </a:solidFill>
                          <a:latin typeface="Poppins"/>
                        </a:defRPr>
                      </a:pPr>
                      <a:r>
                        <a:t>Dorian · chef de projet</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Priorités, budget, charge et arbitrages</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Planning et comptes rendus → Claire</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Léa · UX/UI</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Parcours, maquettes et accessibilité</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Maquettes → Dorian ; avis d’Inès</a:t>
                      </a:r>
                    </a:p>
                  </a:txBody>
                  <a:tcPr marL="137160" marR="109728" marT="64008" marB="54864" anchor="ctr">
                    <a:solidFill>
                      <a:srgbClr val="E9EFE8"/>
                    </a:solidFill>
                    <a:lnL>
                      <a:noFill/>
                    </a:lnL>
                    <a:lnR>
                      <a:noFill/>
                    </a:lnR>
                    <a:lnT>
                      <a:noFill/>
                    </a:lnT>
                    <a:lnB>
                      <a:noFill/>
                    </a:lnB>
                  </a:tcPr>
                </a:tc>
              </a:tr>
              <a:tr h="608729">
                <a:tc>
                  <a:txBody>
                    <a:bodyPr/>
                    <a:lstStyle/>
                    <a:p>
                      <a:pPr>
                        <a:defRPr sz="1500" b="1">
                          <a:solidFill>
                            <a:srgbClr val="244B43"/>
                          </a:solidFill>
                          <a:latin typeface="Poppins"/>
                        </a:defRPr>
                      </a:pPr>
                      <a:r>
                        <a:t>Hugo · développement</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Interfaces, API et corrections</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Code et tests → revue de Sami, recette d’Inès</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Inès · QA / accessibilité</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Scénarios, anomalies et recontrôle</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Rapport de recette → Dorian</a:t>
                      </a:r>
                    </a:p>
                  </a:txBody>
                  <a:tcPr marL="137160" marR="109728" marT="64008" marB="54864" anchor="ctr">
                    <a:solidFill>
                      <a:srgbClr val="E9EFE8"/>
                    </a:solidFill>
                    <a:lnL>
                      <a:noFill/>
                    </a:lnL>
                    <a:lnR>
                      <a:noFill/>
                    </a:lnR>
                    <a:lnT>
                      <a:noFill/>
                    </a:lnT>
                    <a:lnB>
                      <a:noFill/>
                    </a:lnB>
                  </a:tcPr>
                </a:tc>
              </a:tr>
              <a:tr h="608729">
                <a:tc>
                  <a:txBody>
                    <a:bodyPr/>
                    <a:lstStyle/>
                    <a:p>
                      <a:pPr>
                        <a:defRPr sz="1500" b="1">
                          <a:solidFill>
                            <a:srgbClr val="244B43"/>
                          </a:solidFill>
                          <a:latin typeface="Poppins"/>
                        </a:defRPr>
                      </a:pPr>
                      <a:r>
                        <a:t>Sami · DevOps / sécurité</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Environnements, CI/CD et livraison</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Version et santé → Dorian</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Claire · cliente</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Besoin, périmètre et réception</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Décision d’acceptation côté club</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Équipe fictive : missions attribuées selon les compétences ; moyens et RACI détaillés en annexe.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07</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C3.2.1 / MESURER L’AVANCEMENT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L’AVANCEMENT RÉEL DES FONCTIONNALITÉS</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Fonctionnalités disponibles et suites identifiées · bilan du 16 septembre 2026.</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7</a:t>
            </a:r>
          </a:p>
        </p:txBody>
      </p:sp>
      <p:sp>
        <p:nvSpPr>
          <p:cNvPr id="9" name="Rounded Rectangle 8"/>
          <p:cNvSpPr/>
          <p:nvPr/>
        </p:nvSpPr>
        <p:spPr>
          <a:xfrm>
            <a:off x="594360" y="2468880"/>
            <a:ext cx="6565392" cy="4251960"/>
          </a:xfrm>
          <a:prstGeom prst="roundRect">
            <a:avLst>
              <a:gd name="adj" fmla="val 4000"/>
            </a:avLst>
          </a:prstGeom>
          <a:solidFill>
            <a:srgbClr val="FFFFFF"/>
          </a:solidFill>
          <a:ln>
            <a:noFill/>
          </a:ln>
          <a:effectLst/>
        </p:spPr>
        <p:txBody>
          <a:bodyPr rtlCol="0" anchor="ctr"/>
          <a:lstStyle/>
          <a:p>
            <a:pPr algn="ctr"/>
          </a:p>
        </p:txBody>
      </p:sp>
      <p:sp>
        <p:nvSpPr>
          <p:cNvPr id="10" name="Rounded Rectangle 9"/>
          <p:cNvSpPr/>
          <p:nvPr/>
        </p:nvSpPr>
        <p:spPr>
          <a:xfrm>
            <a:off x="822960" y="2697480"/>
            <a:ext cx="2834640" cy="329184"/>
          </a:xfrm>
          <a:prstGeom prst="roundRect">
            <a:avLst>
              <a:gd name="adj" fmla="val 4000"/>
            </a:avLst>
          </a:prstGeom>
          <a:solidFill>
            <a:srgbClr val="E9EFE8"/>
          </a:solidFill>
          <a:ln>
            <a:noFill/>
          </a:ln>
          <a:effectLst/>
        </p:spPr>
        <p:txBody>
          <a:bodyPr rtlCol="0" anchor="ctr"/>
          <a:lstStyle/>
          <a:p>
            <a:pPr algn="ctr"/>
          </a:p>
        </p:txBody>
      </p:sp>
      <p:sp>
        <p:nvSpPr>
          <p:cNvPr id="11" name="TextBox 10"/>
          <p:cNvSpPr txBox="1"/>
          <p:nvPr/>
        </p:nvSpPr>
        <p:spPr>
          <a:xfrm>
            <a:off x="941832" y="2756916"/>
            <a:ext cx="25968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DÉJÀ DISPONIBLE</a:t>
            </a:r>
          </a:p>
        </p:txBody>
      </p:sp>
      <p:sp>
        <p:nvSpPr>
          <p:cNvPr id="12" name="TextBox 11"/>
          <p:cNvSpPr txBox="1"/>
          <p:nvPr/>
        </p:nvSpPr>
        <p:spPr>
          <a:xfrm>
            <a:off x="822960" y="3227832"/>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Authentification</a:t>
            </a:r>
          </a:p>
        </p:txBody>
      </p:sp>
      <p:sp>
        <p:nvSpPr>
          <p:cNvPr id="13" name="TextBox 12"/>
          <p:cNvSpPr txBox="1"/>
          <p:nvPr/>
        </p:nvSpPr>
        <p:spPr>
          <a:xfrm>
            <a:off x="3081528" y="3227832"/>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Inscription et connexion grimpeur / club</a:t>
            </a:r>
          </a:p>
        </p:txBody>
      </p:sp>
      <p:cxnSp>
        <p:nvCxnSpPr>
          <p:cNvPr id="14" name="Connector 13"/>
          <p:cNvCxnSpPr/>
          <p:nvPr/>
        </p:nvCxnSpPr>
        <p:spPr>
          <a:xfrm>
            <a:off x="822960" y="3685031"/>
            <a:ext cx="6080760" cy="0"/>
          </a:xfrm>
          <a:prstGeom prst="line">
            <a:avLst/>
          </a:prstGeom>
          <a:ln w="12700">
            <a:solidFill>
              <a:srgbClr val="D7DFD6"/>
            </a:solidFill>
          </a:ln>
          <a:effectLst/>
        </p:spPr>
      </p:cxnSp>
      <p:sp>
        <p:nvSpPr>
          <p:cNvPr id="15" name="TextBox 14"/>
          <p:cNvSpPr txBox="1"/>
          <p:nvPr/>
        </p:nvSpPr>
        <p:spPr>
          <a:xfrm>
            <a:off x="822960" y="3767328"/>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Profils</a:t>
            </a:r>
          </a:p>
        </p:txBody>
      </p:sp>
      <p:sp>
        <p:nvSpPr>
          <p:cNvPr id="16" name="TextBox 15"/>
          <p:cNvSpPr txBox="1"/>
          <p:nvPr/>
        </p:nvSpPr>
        <p:spPr>
          <a:xfrm>
            <a:off x="3081528" y="3767328"/>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Disciplines, niveaux, matériel et avatar</a:t>
            </a:r>
          </a:p>
        </p:txBody>
      </p:sp>
      <p:cxnSp>
        <p:nvCxnSpPr>
          <p:cNvPr id="17" name="Connector 16"/>
          <p:cNvCxnSpPr/>
          <p:nvPr/>
        </p:nvCxnSpPr>
        <p:spPr>
          <a:xfrm>
            <a:off x="822960" y="4224528"/>
            <a:ext cx="6080760" cy="0"/>
          </a:xfrm>
          <a:prstGeom prst="line">
            <a:avLst/>
          </a:prstGeom>
          <a:ln w="12700">
            <a:solidFill>
              <a:srgbClr val="D7DFD6"/>
            </a:solidFill>
          </a:ln>
          <a:effectLst/>
        </p:spPr>
      </p:cxnSp>
      <p:sp>
        <p:nvSpPr>
          <p:cNvPr id="18" name="TextBox 17"/>
          <p:cNvSpPr txBox="1"/>
          <p:nvPr/>
        </p:nvSpPr>
        <p:spPr>
          <a:xfrm>
            <a:off x="822960" y="4306824"/>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Publications</a:t>
            </a:r>
          </a:p>
        </p:txBody>
      </p:sp>
      <p:sp>
        <p:nvSpPr>
          <p:cNvPr id="19" name="TextBox 18"/>
          <p:cNvSpPr txBox="1"/>
          <p:nvPr/>
        </p:nvSpPr>
        <p:spPr>
          <a:xfrm>
            <a:off x="3081528" y="4306824"/>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Texte, image, likes et commentaires simples</a:t>
            </a:r>
          </a:p>
        </p:txBody>
      </p:sp>
      <p:cxnSp>
        <p:nvCxnSpPr>
          <p:cNvPr id="20" name="Connector 19"/>
          <p:cNvCxnSpPr/>
          <p:nvPr/>
        </p:nvCxnSpPr>
        <p:spPr>
          <a:xfrm>
            <a:off x="822960" y="4764024"/>
            <a:ext cx="6080760" cy="0"/>
          </a:xfrm>
          <a:prstGeom prst="line">
            <a:avLst/>
          </a:prstGeom>
          <a:ln w="12700">
            <a:solidFill>
              <a:srgbClr val="D7DFD6"/>
            </a:solidFill>
          </a:ln>
          <a:effectLst/>
        </p:spPr>
      </p:cxnSp>
      <p:sp>
        <p:nvSpPr>
          <p:cNvPr id="21" name="TextBox 20"/>
          <p:cNvSpPr txBox="1"/>
          <p:nvPr/>
        </p:nvSpPr>
        <p:spPr>
          <a:xfrm>
            <a:off x="822960" y="4846320"/>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Carte interactive</a:t>
            </a:r>
          </a:p>
        </p:txBody>
      </p:sp>
      <p:sp>
        <p:nvSpPr>
          <p:cNvPr id="22" name="TextBox 21"/>
          <p:cNvSpPr txBox="1"/>
          <p:nvPr/>
        </p:nvSpPr>
        <p:spPr>
          <a:xfrm>
            <a:off x="3081528" y="4846320"/>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Salles et falaises géolocalisées</a:t>
            </a:r>
          </a:p>
        </p:txBody>
      </p:sp>
      <p:cxnSp>
        <p:nvCxnSpPr>
          <p:cNvPr id="23" name="Connector 22"/>
          <p:cNvCxnSpPr/>
          <p:nvPr/>
        </p:nvCxnSpPr>
        <p:spPr>
          <a:xfrm>
            <a:off x="822960" y="5303520"/>
            <a:ext cx="6080760" cy="0"/>
          </a:xfrm>
          <a:prstGeom prst="line">
            <a:avLst/>
          </a:prstGeom>
          <a:ln w="12700">
            <a:solidFill>
              <a:srgbClr val="D7DFD6"/>
            </a:solidFill>
          </a:ln>
          <a:effectLst/>
        </p:spPr>
      </p:cxnSp>
      <p:sp>
        <p:nvSpPr>
          <p:cNvPr id="24" name="TextBox 23"/>
          <p:cNvSpPr txBox="1"/>
          <p:nvPr/>
        </p:nvSpPr>
        <p:spPr>
          <a:xfrm>
            <a:off x="822960" y="5385816"/>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Topos collaboratifs</a:t>
            </a:r>
          </a:p>
        </p:txBody>
      </p:sp>
      <p:sp>
        <p:nvSpPr>
          <p:cNvPr id="25" name="TextBox 24"/>
          <p:cNvSpPr txBox="1"/>
          <p:nvPr/>
        </p:nvSpPr>
        <p:spPr>
          <a:xfrm>
            <a:off x="3081528" y="5385816"/>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Ajout de voies, signalements, liens et PDF</a:t>
            </a:r>
          </a:p>
        </p:txBody>
      </p:sp>
      <p:cxnSp>
        <p:nvCxnSpPr>
          <p:cNvPr id="26" name="Connector 25"/>
          <p:cNvCxnSpPr/>
          <p:nvPr/>
        </p:nvCxnSpPr>
        <p:spPr>
          <a:xfrm>
            <a:off x="822960" y="5843016"/>
            <a:ext cx="6080760" cy="0"/>
          </a:xfrm>
          <a:prstGeom prst="line">
            <a:avLst/>
          </a:prstGeom>
          <a:ln w="12700">
            <a:solidFill>
              <a:srgbClr val="D7DFD6"/>
            </a:solidFill>
          </a:ln>
          <a:effectLst/>
        </p:spPr>
      </p:cxnSp>
      <p:sp>
        <p:nvSpPr>
          <p:cNvPr id="27" name="TextBox 26"/>
          <p:cNvSpPr txBox="1"/>
          <p:nvPr/>
        </p:nvSpPr>
        <p:spPr>
          <a:xfrm>
            <a:off x="822960" y="5925312"/>
            <a:ext cx="2148840" cy="292608"/>
          </a:xfrm>
          <a:prstGeom prst="rect">
            <a:avLst/>
          </a:prstGeom>
          <a:noFill/>
        </p:spPr>
        <p:txBody>
          <a:bodyPr wrap="square" lIns="0" rIns="0" tIns="0" bIns="0">
            <a:spAutoFit/>
          </a:bodyPr>
          <a:lstStyle/>
          <a:p>
            <a:pPr algn="l">
              <a:spcAft>
                <a:spcPts val="400"/>
              </a:spcAft>
              <a:defRPr sz="1600" b="1">
                <a:solidFill>
                  <a:srgbClr val="28554B"/>
                </a:solidFill>
                <a:latin typeface="Poppins"/>
              </a:defRPr>
            </a:pPr>
            <a:r>
              <a:t>Événements</a:t>
            </a:r>
          </a:p>
        </p:txBody>
      </p:sp>
      <p:sp>
        <p:nvSpPr>
          <p:cNvPr id="28" name="TextBox 27"/>
          <p:cNvSpPr txBox="1"/>
          <p:nvPr/>
        </p:nvSpPr>
        <p:spPr>
          <a:xfrm>
            <a:off x="3081528" y="5925312"/>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Création, inscriptions et capacité</a:t>
            </a:r>
          </a:p>
        </p:txBody>
      </p:sp>
      <p:sp>
        <p:nvSpPr>
          <p:cNvPr id="29" name="Rounded Rectangle 28"/>
          <p:cNvSpPr/>
          <p:nvPr/>
        </p:nvSpPr>
        <p:spPr>
          <a:xfrm>
            <a:off x="7470648" y="2468880"/>
            <a:ext cx="6565392" cy="4251960"/>
          </a:xfrm>
          <a:prstGeom prst="roundRect">
            <a:avLst>
              <a:gd name="adj" fmla="val 4000"/>
            </a:avLst>
          </a:prstGeom>
          <a:solidFill>
            <a:srgbClr val="E9EFE8"/>
          </a:solidFill>
          <a:ln>
            <a:noFill/>
          </a:ln>
          <a:effectLst/>
        </p:spPr>
        <p:txBody>
          <a:bodyPr rtlCol="0" anchor="ctr"/>
          <a:lstStyle/>
          <a:p>
            <a:pPr algn="ctr"/>
          </a:p>
        </p:txBody>
      </p:sp>
      <p:sp>
        <p:nvSpPr>
          <p:cNvPr id="30" name="Rounded Rectangle 29"/>
          <p:cNvSpPr/>
          <p:nvPr/>
        </p:nvSpPr>
        <p:spPr>
          <a:xfrm>
            <a:off x="7699248" y="2697480"/>
            <a:ext cx="2834640" cy="329184"/>
          </a:xfrm>
          <a:prstGeom prst="roundRect">
            <a:avLst>
              <a:gd name="adj" fmla="val 4000"/>
            </a:avLst>
          </a:prstGeom>
          <a:solidFill>
            <a:srgbClr val="E9EFE8"/>
          </a:solidFill>
          <a:ln>
            <a:noFill/>
          </a:ln>
          <a:effectLst/>
        </p:spPr>
        <p:txBody>
          <a:bodyPr rtlCol="0" anchor="ctr"/>
          <a:lstStyle/>
          <a:p>
            <a:pPr algn="ctr"/>
          </a:p>
        </p:txBody>
      </p:sp>
      <p:sp>
        <p:nvSpPr>
          <p:cNvPr id="31" name="TextBox 30"/>
          <p:cNvSpPr txBox="1"/>
          <p:nvPr/>
        </p:nvSpPr>
        <p:spPr>
          <a:xfrm>
            <a:off x="7818120" y="2756916"/>
            <a:ext cx="25968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À COMPLÉTER</a:t>
            </a:r>
          </a:p>
        </p:txBody>
      </p:sp>
      <p:sp>
        <p:nvSpPr>
          <p:cNvPr id="32" name="TextBox 31"/>
          <p:cNvSpPr txBox="1"/>
          <p:nvPr/>
        </p:nvSpPr>
        <p:spPr>
          <a:xfrm>
            <a:off x="7699248" y="3227832"/>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Sessions</a:t>
            </a:r>
          </a:p>
        </p:txBody>
      </p:sp>
      <p:sp>
        <p:nvSpPr>
          <p:cNvPr id="33" name="TextBox 32"/>
          <p:cNvSpPr txBox="1"/>
          <p:nvPr/>
        </p:nvSpPr>
        <p:spPr>
          <a:xfrm>
            <a:off x="9957816" y="3227832"/>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Renouvellement et rotation des jetons</a:t>
            </a:r>
          </a:p>
        </p:txBody>
      </p:sp>
      <p:cxnSp>
        <p:nvCxnSpPr>
          <p:cNvPr id="34" name="Connector 33"/>
          <p:cNvCxnSpPr/>
          <p:nvPr/>
        </p:nvCxnSpPr>
        <p:spPr>
          <a:xfrm>
            <a:off x="7699248" y="3685031"/>
            <a:ext cx="6080760" cy="0"/>
          </a:xfrm>
          <a:prstGeom prst="line">
            <a:avLst/>
          </a:prstGeom>
          <a:ln w="12700">
            <a:solidFill>
              <a:srgbClr val="D7DFD6"/>
            </a:solidFill>
          </a:ln>
          <a:effectLst/>
        </p:spPr>
      </p:cxnSp>
      <p:sp>
        <p:nvSpPr>
          <p:cNvPr id="35" name="TextBox 34"/>
          <p:cNvSpPr txBox="1"/>
          <p:nvPr/>
        </p:nvSpPr>
        <p:spPr>
          <a:xfrm>
            <a:off x="7699248" y="3767328"/>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Publications</a:t>
            </a:r>
          </a:p>
        </p:txBody>
      </p:sp>
      <p:sp>
        <p:nvSpPr>
          <p:cNvPr id="36" name="TextBox 35"/>
          <p:cNvSpPr txBox="1"/>
          <p:nvPr/>
        </p:nvSpPr>
        <p:spPr>
          <a:xfrm>
            <a:off x="9957816" y="3767328"/>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Modification, suppression et tags contextuels</a:t>
            </a:r>
          </a:p>
        </p:txBody>
      </p:sp>
      <p:cxnSp>
        <p:nvCxnSpPr>
          <p:cNvPr id="37" name="Connector 36"/>
          <p:cNvCxnSpPr/>
          <p:nvPr/>
        </p:nvCxnSpPr>
        <p:spPr>
          <a:xfrm>
            <a:off x="7699248" y="4224528"/>
            <a:ext cx="6080760" cy="0"/>
          </a:xfrm>
          <a:prstGeom prst="line">
            <a:avLst/>
          </a:prstGeom>
          <a:ln w="12700">
            <a:solidFill>
              <a:srgbClr val="D7DFD6"/>
            </a:solidFill>
          </a:ln>
          <a:effectLst/>
        </p:spPr>
      </p:cxnSp>
      <p:sp>
        <p:nvSpPr>
          <p:cNvPr id="38" name="TextBox 37"/>
          <p:cNvSpPr txBox="1"/>
          <p:nvPr/>
        </p:nvSpPr>
        <p:spPr>
          <a:xfrm>
            <a:off x="7699248" y="4306824"/>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Clubs</a:t>
            </a:r>
          </a:p>
        </p:txBody>
      </p:sp>
      <p:sp>
        <p:nvSpPr>
          <p:cNvPr id="39" name="TextBox 38"/>
          <p:cNvSpPr txBox="1"/>
          <p:nvPr/>
        </p:nvSpPr>
        <p:spPr>
          <a:xfrm>
            <a:off x="9957816" y="4306824"/>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Carte, coachs et validation d’affiliation</a:t>
            </a:r>
          </a:p>
        </p:txBody>
      </p:sp>
      <p:cxnSp>
        <p:nvCxnSpPr>
          <p:cNvPr id="40" name="Connector 39"/>
          <p:cNvCxnSpPr/>
          <p:nvPr/>
        </p:nvCxnSpPr>
        <p:spPr>
          <a:xfrm>
            <a:off x="7699248" y="4764024"/>
            <a:ext cx="6080760" cy="0"/>
          </a:xfrm>
          <a:prstGeom prst="line">
            <a:avLst/>
          </a:prstGeom>
          <a:ln w="12700">
            <a:solidFill>
              <a:srgbClr val="D7DFD6"/>
            </a:solidFill>
          </a:ln>
          <a:effectLst/>
        </p:spPr>
      </p:cxnSp>
      <p:sp>
        <p:nvSpPr>
          <p:cNvPr id="41" name="TextBox 40"/>
          <p:cNvSpPr txBox="1"/>
          <p:nvPr/>
        </p:nvSpPr>
        <p:spPr>
          <a:xfrm>
            <a:off x="7699248" y="4846320"/>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Topos</a:t>
            </a:r>
          </a:p>
        </p:txBody>
      </p:sp>
      <p:sp>
        <p:nvSpPr>
          <p:cNvPr id="42" name="TextBox 41"/>
          <p:cNvSpPr txBox="1"/>
          <p:nvPr/>
        </p:nvSpPr>
        <p:spPr>
          <a:xfrm>
            <a:off x="9957816" y="4846320"/>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Votes de consensus et modération des voies</a:t>
            </a:r>
          </a:p>
        </p:txBody>
      </p:sp>
      <p:cxnSp>
        <p:nvCxnSpPr>
          <p:cNvPr id="43" name="Connector 42"/>
          <p:cNvCxnSpPr/>
          <p:nvPr/>
        </p:nvCxnSpPr>
        <p:spPr>
          <a:xfrm>
            <a:off x="7699248" y="5303520"/>
            <a:ext cx="6080760" cy="0"/>
          </a:xfrm>
          <a:prstGeom prst="line">
            <a:avLst/>
          </a:prstGeom>
          <a:ln w="12700">
            <a:solidFill>
              <a:srgbClr val="D7DFD6"/>
            </a:solidFill>
          </a:ln>
          <a:effectLst/>
        </p:spPr>
      </p:cxnSp>
      <p:sp>
        <p:nvSpPr>
          <p:cNvPr id="44" name="TextBox 43"/>
          <p:cNvSpPr txBox="1"/>
          <p:nvPr/>
        </p:nvSpPr>
        <p:spPr>
          <a:xfrm>
            <a:off x="7699248" y="5385816"/>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Fil social</a:t>
            </a:r>
          </a:p>
        </p:txBody>
      </p:sp>
      <p:sp>
        <p:nvSpPr>
          <p:cNvPr id="45" name="TextBox 44"/>
          <p:cNvSpPr txBox="1"/>
          <p:nvPr/>
        </p:nvSpPr>
        <p:spPr>
          <a:xfrm>
            <a:off x="9957816" y="5385816"/>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Personnalisation et événements épinglés</a:t>
            </a:r>
          </a:p>
        </p:txBody>
      </p:sp>
      <p:cxnSp>
        <p:nvCxnSpPr>
          <p:cNvPr id="46" name="Connector 45"/>
          <p:cNvCxnSpPr/>
          <p:nvPr/>
        </p:nvCxnSpPr>
        <p:spPr>
          <a:xfrm>
            <a:off x="7699248" y="5843016"/>
            <a:ext cx="6080760" cy="0"/>
          </a:xfrm>
          <a:prstGeom prst="line">
            <a:avLst/>
          </a:prstGeom>
          <a:ln w="12700">
            <a:solidFill>
              <a:srgbClr val="D7DFD6"/>
            </a:solidFill>
          </a:ln>
          <a:effectLst/>
        </p:spPr>
      </p:cxnSp>
      <p:sp>
        <p:nvSpPr>
          <p:cNvPr id="47" name="TextBox 46"/>
          <p:cNvSpPr txBox="1"/>
          <p:nvPr/>
        </p:nvSpPr>
        <p:spPr>
          <a:xfrm>
            <a:off x="7699248" y="5925312"/>
            <a:ext cx="2148840" cy="292608"/>
          </a:xfrm>
          <a:prstGeom prst="rect">
            <a:avLst/>
          </a:prstGeom>
          <a:noFill/>
        </p:spPr>
        <p:txBody>
          <a:bodyPr wrap="square" lIns="0" rIns="0" tIns="0" bIns="0">
            <a:spAutoFit/>
          </a:bodyPr>
          <a:lstStyle/>
          <a:p>
            <a:pPr algn="l">
              <a:spcAft>
                <a:spcPts val="400"/>
              </a:spcAft>
              <a:defRPr sz="1600" b="1">
                <a:solidFill>
                  <a:srgbClr val="244B43"/>
                </a:solidFill>
                <a:latin typeface="Poppins"/>
              </a:defRPr>
            </a:pPr>
            <a:r>
              <a:t>Tableau de bord club</a:t>
            </a:r>
          </a:p>
        </p:txBody>
      </p:sp>
      <p:sp>
        <p:nvSpPr>
          <p:cNvPr id="48" name="TextBox 47"/>
          <p:cNvSpPr txBox="1"/>
          <p:nvPr/>
        </p:nvSpPr>
        <p:spPr>
          <a:xfrm>
            <a:off x="9957816" y="5925312"/>
            <a:ext cx="3794760" cy="438912"/>
          </a:xfrm>
          <a:prstGeom prst="rect">
            <a:avLst/>
          </a:prstGeom>
          <a:noFill/>
        </p:spPr>
        <p:txBody>
          <a:bodyPr wrap="square" lIns="0" rIns="0" tIns="0" bIns="0">
            <a:spAutoFit/>
          </a:bodyPr>
          <a:lstStyle/>
          <a:p>
            <a:pPr algn="l">
              <a:spcAft>
                <a:spcPts val="400"/>
              </a:spcAft>
              <a:defRPr sz="1500" b="0">
                <a:solidFill>
                  <a:srgbClr val="56625B"/>
                </a:solidFill>
                <a:latin typeface="Poppins"/>
              </a:defRPr>
            </a:pPr>
            <a:r>
              <a:t>Statistiques historiques et agrégées</a:t>
            </a:r>
          </a:p>
        </p:txBody>
      </p:sp>
      <p:sp>
        <p:nvSpPr>
          <p:cNvPr id="49" name="Rounded Rectangle 48"/>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50" name="TextBox 49"/>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Dans le scénario : Hugo réalise les suites, Inès vérifie, Sami livre et Dorian priorise.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08</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C3.2.1 / COÛTS, DÉLAIS ET RESSOURCES</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UN TABLEAU DE BORD POUR DÉCIDER</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suivi annuel au mois 10.</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8</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Indicateur</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Référence → prévision</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Lecture et action</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Charge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82 → 86 j-h</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58 consommés simulés + 28 restants</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Coût</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44 250 → 46 050 €</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+1 800 € ; réexaminer le reste à faire</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Délai</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Fin M11 → fin M12</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+1 mois ; annoncer le nouveau jalon</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Capacité de l’équipe</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12 j-h prévus / 10 disponibles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Hugo : 4/3 ; Inès : 3/2 → reporter 2 j-h</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Revue hebdomadaire proposée : mettre à jour les entrées, expliquer les écarts, décider et tracer.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09</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C3.2.1 / SUIVRE LES RISQUES</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ANTICIPER LES POINTS DE VIGILANCE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signaux d’alerte et réponses associées.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9</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Risque</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Signal / seuil proposé</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Action et responsable</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Surcharge de l’équipe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Hugo et Inès au-delà de 100 %</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Dorian : replanifier avec eux, informer Claire</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Parcours non fiable</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Critère critique en échec</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Hugo corrige ; Inès recontrôle</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Version indisponible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Connexion ou santé en échec</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Sami : diagnostiquer, préparer le secours</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Recette inaccessible</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Consigne ou sous-titres insuffisants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Léa adapte ; Inès vérifie la compréhension</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Contrôler à chaque revue : avancement, coûts, délais, risques et disponibilité des ressources.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10</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C3.2.2 / PROBLÈME, OPTIONS, DÉCISION</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ARBITRER FACE À UNE NAVIGATION TROP LENTE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Cas réel du 15 septembre : un calcul décoratif bloque le navigateur.</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10</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1065276">
                <a:tc>
                  <a:txBody>
                    <a:bodyPr/>
                    <a:lstStyle/>
                    <a:p>
                      <a:pPr>
                        <a:defRPr sz="1700" b="1">
                          <a:solidFill>
                            <a:srgbClr val="FFFFFF"/>
                          </a:solidFill>
                          <a:latin typeface="Poppins"/>
                        </a:defRPr>
                      </a:pPr>
                      <a:r>
                        <a:t>Option analysée</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Intérêt</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Limite / décision</a:t>
                      </a:r>
                    </a:p>
                  </a:txBody>
                  <a:tcPr marL="137160" marR="109728" marT="64008" marB="54864" anchor="ctr">
                    <a:solidFill>
                      <a:srgbClr val="244B43"/>
                    </a:solidFill>
                    <a:lnL>
                      <a:noFill/>
                    </a:lnL>
                    <a:lnR>
                      <a:noFill/>
                    </a:lnR>
                    <a:lnT>
                      <a:noFill/>
                    </a:lnT>
                    <a:lnB>
                      <a:noFill/>
                    </a:lnB>
                  </a:tcPr>
                </a:tc>
              </a:tr>
              <a:tr h="1065276">
                <a:tc>
                  <a:txBody>
                    <a:bodyPr/>
                    <a:lstStyle/>
                    <a:p>
                      <a:pPr>
                        <a:defRPr sz="1700" b="1">
                          <a:solidFill>
                            <a:srgbClr val="244B43"/>
                          </a:solidFill>
                          <a:latin typeface="Poppins"/>
                        </a:defRPr>
                      </a:pPr>
                      <a:r>
                        <a:t>Garder l’animation</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Conserver tout le mouvement</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Calcul bloquant observé toujours présent</a:t>
                      </a:r>
                    </a:p>
                  </a:txBody>
                  <a:tcPr marL="137160" marR="109728" marT="64008" marB="54864" anchor="ctr">
                    <a:solidFill>
                      <a:srgbClr val="FFFFFF"/>
                    </a:solidFill>
                    <a:lnL>
                      <a:noFill/>
                    </a:lnL>
                    <a:lnR>
                      <a:noFill/>
                    </a:lnR>
                    <a:lnT>
                      <a:noFill/>
                    </a:lnT>
                    <a:lnB>
                      <a:noFill/>
                    </a:lnB>
                  </a:tcPr>
                </a:tc>
              </a:tr>
              <a:tr h="1065276">
                <a:tc>
                  <a:txBody>
                    <a:bodyPr/>
                    <a:lstStyle/>
                    <a:p>
                      <a:pPr>
                        <a:defRPr sz="1700" b="1">
                          <a:solidFill>
                            <a:srgbClr val="244B43"/>
                          </a:solidFill>
                          <a:latin typeface="Poppins"/>
                        </a:defRPr>
                      </a:pPr>
                      <a:r>
                        <a:t>Optimiser ou différer</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Préserver potentiellement l’animation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Gain non mesuré pour cette option</a:t>
                      </a:r>
                    </a:p>
                  </a:txBody>
                  <a:tcPr marL="137160" marR="109728" marT="64008" marB="54864" anchor="ctr">
                    <a:solidFill>
                      <a:srgbClr val="E9EFE8"/>
                    </a:solidFill>
                    <a:lnL>
                      <a:noFill/>
                    </a:lnL>
                    <a:lnR>
                      <a:noFill/>
                    </a:lnR>
                    <a:lnT>
                      <a:noFill/>
                    </a:lnT>
                    <a:lnB>
                      <a:noFill/>
                    </a:lnB>
                  </a:tcPr>
                </a:tc>
              </a:tr>
              <a:tr h="1065276">
                <a:tc>
                  <a:txBody>
                    <a:bodyPr/>
                    <a:lstStyle/>
                    <a:p>
                      <a:pPr>
                        <a:defRPr sz="1700" b="1">
                          <a:solidFill>
                            <a:srgbClr val="244B43"/>
                          </a:solidFill>
                          <a:latin typeface="Poppins"/>
                        </a:defRPr>
                      </a:pPr>
                      <a:r>
                        <a:t>Fond SVG statique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Conserver le motif sans calcul animé</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Choix implémenté ; perte du mouvement</a:t>
                      </a:r>
                    </a:p>
                  </a:txBody>
                  <a:tcPr marL="137160" marR="109728" marT="64008" marB="54864" anchor="ctr">
                    <a:solidFill>
                      <a:srgbClr val="FFFFFF"/>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Correction réelle : fond statique. Dans le cas : Dorian arbitre, Hugo corrige, Inès recontrôle.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11</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C3.2.2 / VÉRIFIER LE RÉSULTAT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MESURER L’EFFET DE LA CORRECTION</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Mesures locales contrôlées du 15 septembre ; un passage par parcours.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11</a:t>
            </a:r>
          </a:p>
        </p:txBody>
      </p:sp>
      <p:graphicFrame>
        <p:nvGraphicFramePr>
          <p:cNvPr id="9" name="Chart 8"/>
          <p:cNvGraphicFramePr>
            <a:graphicFrameLocks noGrp="1"/>
          </p:cNvGraphicFramePr>
          <p:nvPr/>
        </p:nvGraphicFramePr>
        <p:xfrm>
          <a:off x="594360" y="2468880"/>
          <a:ext cx="9784080" cy="4206240"/>
        </p:xfrm>
        <a:graphic>
          <a:graphicData uri="http://schemas.openxmlformats.org/drawingml/2006/chart">
            <c:chart xmlns:c="http://schemas.openxmlformats.org/drawingml/2006/chart" r:id="rId3"/>
          </a:graphicData>
        </a:graphic>
      </p:graphicFrame>
      <p:sp>
        <p:nvSpPr>
          <p:cNvPr id="10" name="TextBox 9"/>
          <p:cNvSpPr txBox="1"/>
          <p:nvPr/>
        </p:nvSpPr>
        <p:spPr>
          <a:xfrm>
            <a:off x="10607040" y="2788920"/>
            <a:ext cx="3474720" cy="365760"/>
          </a:xfrm>
          <a:prstGeom prst="rect">
            <a:avLst/>
          </a:prstGeom>
          <a:noFill/>
        </p:spPr>
        <p:txBody>
          <a:bodyPr wrap="square" lIns="0" rIns="0" tIns="0" bIns="0">
            <a:spAutoFit/>
          </a:bodyPr>
          <a:lstStyle/>
          <a:p>
            <a:pPr algn="l">
              <a:spcAft>
                <a:spcPts val="400"/>
              </a:spcAft>
              <a:defRPr sz="1300" b="1">
                <a:solidFill>
                  <a:srgbClr val="56625B"/>
                </a:solidFill>
                <a:latin typeface="Poppins"/>
              </a:defRPr>
            </a:pPr>
            <a:r>
              <a:t>MÉDIANE OBSERVÉE</a:t>
            </a:r>
          </a:p>
        </p:txBody>
      </p:sp>
      <p:sp>
        <p:nvSpPr>
          <p:cNvPr id="11" name="TextBox 10"/>
          <p:cNvSpPr txBox="1"/>
          <p:nvPr/>
        </p:nvSpPr>
        <p:spPr>
          <a:xfrm>
            <a:off x="10607040" y="3438144"/>
            <a:ext cx="3291840" cy="731520"/>
          </a:xfrm>
          <a:prstGeom prst="rect">
            <a:avLst/>
          </a:prstGeom>
          <a:noFill/>
        </p:spPr>
        <p:txBody>
          <a:bodyPr wrap="square" lIns="0" rIns="0" tIns="0" bIns="0">
            <a:spAutoFit/>
          </a:bodyPr>
          <a:lstStyle/>
          <a:p>
            <a:pPr algn="l">
              <a:spcAft>
                <a:spcPts val="400"/>
              </a:spcAft>
              <a:defRPr sz="4000" b="1">
                <a:solidFill>
                  <a:srgbClr val="244B43"/>
                </a:solidFill>
                <a:latin typeface="Poppins"/>
              </a:defRPr>
            </a:pPr>
            <a:r>
              <a:t>10,22 s</a:t>
            </a:r>
          </a:p>
        </p:txBody>
      </p:sp>
      <p:sp>
        <p:nvSpPr>
          <p:cNvPr id="12" name="TextBox 11"/>
          <p:cNvSpPr txBox="1"/>
          <p:nvPr/>
        </p:nvSpPr>
        <p:spPr>
          <a:xfrm>
            <a:off x="10652760" y="4343400"/>
            <a:ext cx="1828800" cy="594360"/>
          </a:xfrm>
          <a:prstGeom prst="rect">
            <a:avLst/>
          </a:prstGeom>
          <a:noFill/>
        </p:spPr>
        <p:txBody>
          <a:bodyPr wrap="square" lIns="0" rIns="0" tIns="0" bIns="0">
            <a:spAutoFit/>
          </a:bodyPr>
          <a:lstStyle/>
          <a:p>
            <a:pPr algn="l">
              <a:spcAft>
                <a:spcPts val="400"/>
              </a:spcAft>
              <a:defRPr sz="3000" b="1">
                <a:solidFill>
                  <a:srgbClr val="8CA444"/>
                </a:solidFill>
                <a:latin typeface="Poppins"/>
              </a:defRPr>
            </a:pPr>
            <a:r>
              <a:t>↓</a:t>
            </a:r>
          </a:p>
        </p:txBody>
      </p:sp>
      <p:sp>
        <p:nvSpPr>
          <p:cNvPr id="13" name="TextBox 12"/>
          <p:cNvSpPr txBox="1"/>
          <p:nvPr/>
        </p:nvSpPr>
        <p:spPr>
          <a:xfrm>
            <a:off x="10607040" y="5010912"/>
            <a:ext cx="3291840" cy="731520"/>
          </a:xfrm>
          <a:prstGeom prst="rect">
            <a:avLst/>
          </a:prstGeom>
          <a:noFill/>
        </p:spPr>
        <p:txBody>
          <a:bodyPr wrap="square" lIns="0" rIns="0" tIns="0" bIns="0">
            <a:spAutoFit/>
          </a:bodyPr>
          <a:lstStyle/>
          <a:p>
            <a:pPr algn="l">
              <a:spcAft>
                <a:spcPts val="400"/>
              </a:spcAft>
              <a:defRPr sz="4000" b="1">
                <a:solidFill>
                  <a:srgbClr val="28554B"/>
                </a:solidFill>
                <a:latin typeface="Poppins"/>
              </a:defRPr>
            </a:pPr>
            <a:r>
              <a:t>0,748 s</a:t>
            </a:r>
          </a:p>
        </p:txBody>
      </p:sp>
      <p:sp>
        <p:nvSpPr>
          <p:cNvPr id="14" name="TextBox 13"/>
          <p:cNvSpPr txBox="1"/>
          <p:nvPr/>
        </p:nvSpPr>
        <p:spPr>
          <a:xfrm>
            <a:off x="10607040" y="6035040"/>
            <a:ext cx="3383280" cy="384048"/>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5 parcours locaux</a:t>
            </a:r>
          </a:p>
        </p:txBody>
      </p:sp>
      <p:sp>
        <p:nvSpPr>
          <p:cNvPr id="15" name="Rounded Rectangle 14"/>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6" name="TextBox 15"/>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CPU ×4 · latence 100 ms · mêmes parcours. Ces temps ne sont pas des mesures de production.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12</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C3.3.1 / MANAGEMENT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ADAPTER LA POSTURE À UNE SITUATION PRÉCISE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arbitrer entre UX, développement, recette et attentes du client.</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12</a:t>
            </a:r>
          </a:p>
        </p:txBody>
      </p:sp>
      <p:sp>
        <p:nvSpPr>
          <p:cNvPr id="9" name="Rounded Rectangle 8"/>
          <p:cNvSpPr/>
          <p:nvPr/>
        </p:nvSpPr>
        <p:spPr>
          <a:xfrm>
            <a:off x="594360" y="2514600"/>
            <a:ext cx="6565392" cy="1655064"/>
          </a:xfrm>
          <a:prstGeom prst="roundRect">
            <a:avLst>
              <a:gd name="adj" fmla="val 4000"/>
            </a:avLst>
          </a:prstGeom>
          <a:solidFill>
            <a:srgbClr val="FFFFFF"/>
          </a:solidFill>
          <a:ln w="10160">
            <a:solidFill>
              <a:srgbClr val="D7DFD6"/>
            </a:solidFill>
          </a:ln>
          <a:effectLst/>
        </p:spPr>
        <p:txBody>
          <a:bodyPr rtlCol="0" anchor="ctr"/>
          <a:lstStyle/>
          <a:p>
            <a:pPr algn="ctr"/>
          </a:p>
        </p:txBody>
      </p:sp>
      <p:sp>
        <p:nvSpPr>
          <p:cNvPr id="10" name="TextBox 9"/>
          <p:cNvSpPr txBox="1"/>
          <p:nvPr/>
        </p:nvSpPr>
        <p:spPr>
          <a:xfrm>
            <a:off x="822960" y="2670048"/>
            <a:ext cx="6126480" cy="274320"/>
          </a:xfrm>
          <a:prstGeom prst="rect">
            <a:avLst/>
          </a:prstGeom>
          <a:noFill/>
        </p:spPr>
        <p:txBody>
          <a:bodyPr wrap="square" lIns="0" rIns="0" tIns="0" bIns="0">
            <a:spAutoFit/>
          </a:bodyPr>
          <a:lstStyle/>
          <a:p>
            <a:pPr algn="l">
              <a:spcAft>
                <a:spcPts val="400"/>
              </a:spcAft>
              <a:defRPr sz="1200" b="1">
                <a:solidFill>
                  <a:srgbClr val="28554B"/>
                </a:solidFill>
                <a:latin typeface="Poppins"/>
              </a:defRPr>
            </a:pPr>
            <a:r>
              <a:t>PARTICIPATIF</a:t>
            </a:r>
          </a:p>
        </p:txBody>
      </p:sp>
      <p:sp>
        <p:nvSpPr>
          <p:cNvPr id="11" name="TextBox 10"/>
          <p:cNvSpPr txBox="1"/>
          <p:nvPr/>
        </p:nvSpPr>
        <p:spPr>
          <a:xfrm>
            <a:off x="822960" y="3063240"/>
            <a:ext cx="2377440" cy="777240"/>
          </a:xfrm>
          <a:prstGeom prst="rect">
            <a:avLst/>
          </a:prstGeom>
          <a:noFill/>
        </p:spPr>
        <p:txBody>
          <a:bodyPr wrap="square" lIns="0" rIns="0" tIns="0" bIns="0">
            <a:spAutoFit/>
          </a:bodyPr>
          <a:lstStyle/>
          <a:p>
            <a:pPr algn="l">
              <a:spcAft>
                <a:spcPts val="400"/>
              </a:spcAft>
              <a:defRPr sz="2600" b="1">
                <a:solidFill>
                  <a:srgbClr val="244B43"/>
                </a:solidFill>
                <a:latin typeface="Poppins"/>
              </a:defRPr>
            </a:pPr>
            <a:r>
              <a:t>Écouter les faits</a:t>
            </a:r>
          </a:p>
        </p:txBody>
      </p:sp>
      <p:sp>
        <p:nvSpPr>
          <p:cNvPr id="12" name="TextBox 11"/>
          <p:cNvSpPr txBox="1"/>
          <p:nvPr/>
        </p:nvSpPr>
        <p:spPr>
          <a:xfrm>
            <a:off x="3410712" y="3054096"/>
            <a:ext cx="3456432" cy="914400"/>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Léa propose une animation ; Inès signale des blocages ; Hugo chiffre l’effort.</a:t>
            </a:r>
          </a:p>
        </p:txBody>
      </p:sp>
      <p:sp>
        <p:nvSpPr>
          <p:cNvPr id="13" name="Rounded Rectangle 12"/>
          <p:cNvSpPr/>
          <p:nvPr/>
        </p:nvSpPr>
        <p:spPr>
          <a:xfrm>
            <a:off x="7470648" y="2514600"/>
            <a:ext cx="6565392" cy="1655064"/>
          </a:xfrm>
          <a:prstGeom prst="roundRect">
            <a:avLst>
              <a:gd name="adj" fmla="val 4000"/>
            </a:avLst>
          </a:prstGeom>
          <a:solidFill>
            <a:srgbClr val="FFFFFF"/>
          </a:solidFill>
          <a:ln w="10160">
            <a:solidFill>
              <a:srgbClr val="D7DFD6"/>
            </a:solidFill>
          </a:ln>
          <a:effectLst/>
        </p:spPr>
        <p:txBody>
          <a:bodyPr rtlCol="0" anchor="ctr"/>
          <a:lstStyle/>
          <a:p>
            <a:pPr algn="ctr"/>
          </a:p>
        </p:txBody>
      </p:sp>
      <p:sp>
        <p:nvSpPr>
          <p:cNvPr id="14" name="TextBox 13"/>
          <p:cNvSpPr txBox="1"/>
          <p:nvPr/>
        </p:nvSpPr>
        <p:spPr>
          <a:xfrm>
            <a:off x="7699248" y="2670048"/>
            <a:ext cx="6126480" cy="274320"/>
          </a:xfrm>
          <a:prstGeom prst="rect">
            <a:avLst/>
          </a:prstGeom>
          <a:noFill/>
        </p:spPr>
        <p:txBody>
          <a:bodyPr wrap="square" lIns="0" rIns="0" tIns="0" bIns="0">
            <a:spAutoFit/>
          </a:bodyPr>
          <a:lstStyle/>
          <a:p>
            <a:pPr algn="l">
              <a:spcAft>
                <a:spcPts val="400"/>
              </a:spcAft>
              <a:defRPr sz="1200" b="1">
                <a:solidFill>
                  <a:srgbClr val="28554B"/>
                </a:solidFill>
                <a:latin typeface="Poppins"/>
              </a:defRPr>
            </a:pPr>
            <a:r>
              <a:t>PERSUASIF</a:t>
            </a:r>
          </a:p>
        </p:txBody>
      </p:sp>
      <p:sp>
        <p:nvSpPr>
          <p:cNvPr id="15" name="TextBox 14"/>
          <p:cNvSpPr txBox="1"/>
          <p:nvPr/>
        </p:nvSpPr>
        <p:spPr>
          <a:xfrm>
            <a:off x="7699248" y="3063240"/>
            <a:ext cx="2377440" cy="777240"/>
          </a:xfrm>
          <a:prstGeom prst="rect">
            <a:avLst/>
          </a:prstGeom>
          <a:noFill/>
        </p:spPr>
        <p:txBody>
          <a:bodyPr wrap="square" lIns="0" rIns="0" tIns="0" bIns="0">
            <a:spAutoFit/>
          </a:bodyPr>
          <a:lstStyle/>
          <a:p>
            <a:pPr algn="l">
              <a:spcAft>
                <a:spcPts val="400"/>
              </a:spcAft>
              <a:defRPr sz="2600" b="1">
                <a:solidFill>
                  <a:srgbClr val="244B43"/>
                </a:solidFill>
                <a:latin typeface="Poppins"/>
              </a:defRPr>
            </a:pPr>
            <a:r>
              <a:t>Expliquer le choix</a:t>
            </a:r>
          </a:p>
        </p:txBody>
      </p:sp>
      <p:sp>
        <p:nvSpPr>
          <p:cNvPr id="16" name="TextBox 15"/>
          <p:cNvSpPr txBox="1"/>
          <p:nvPr/>
        </p:nvSpPr>
        <p:spPr>
          <a:xfrm>
            <a:off x="10287000" y="3054096"/>
            <a:ext cx="3456432" cy="914400"/>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Dorian explique le compromis à Léa et à Claire.</a:t>
            </a:r>
          </a:p>
        </p:txBody>
      </p:sp>
      <p:sp>
        <p:nvSpPr>
          <p:cNvPr id="17" name="Rounded Rectangle 16"/>
          <p:cNvSpPr/>
          <p:nvPr/>
        </p:nvSpPr>
        <p:spPr>
          <a:xfrm>
            <a:off x="594360" y="4379976"/>
            <a:ext cx="6565392" cy="1655064"/>
          </a:xfrm>
          <a:prstGeom prst="roundRect">
            <a:avLst>
              <a:gd name="adj" fmla="val 4000"/>
            </a:avLst>
          </a:prstGeom>
          <a:solidFill>
            <a:srgbClr val="FFFFFF"/>
          </a:solidFill>
          <a:ln w="10160">
            <a:solidFill>
              <a:srgbClr val="D7DFD6"/>
            </a:solidFill>
          </a:ln>
          <a:effectLst/>
        </p:spPr>
        <p:txBody>
          <a:bodyPr rtlCol="0" anchor="ctr"/>
          <a:lstStyle/>
          <a:p>
            <a:pPr algn="ctr"/>
          </a:p>
        </p:txBody>
      </p:sp>
      <p:sp>
        <p:nvSpPr>
          <p:cNvPr id="18" name="TextBox 17"/>
          <p:cNvSpPr txBox="1"/>
          <p:nvPr/>
        </p:nvSpPr>
        <p:spPr>
          <a:xfrm>
            <a:off x="822960" y="4535424"/>
            <a:ext cx="6126480" cy="274320"/>
          </a:xfrm>
          <a:prstGeom prst="rect">
            <a:avLst/>
          </a:prstGeom>
          <a:noFill/>
        </p:spPr>
        <p:txBody>
          <a:bodyPr wrap="square" lIns="0" rIns="0" tIns="0" bIns="0">
            <a:spAutoFit/>
          </a:bodyPr>
          <a:lstStyle/>
          <a:p>
            <a:pPr algn="l">
              <a:spcAft>
                <a:spcPts val="400"/>
              </a:spcAft>
              <a:defRPr sz="1200" b="1">
                <a:solidFill>
                  <a:srgbClr val="28554B"/>
                </a:solidFill>
                <a:latin typeface="Poppins"/>
              </a:defRPr>
            </a:pPr>
            <a:r>
              <a:t>DIRECTIF</a:t>
            </a:r>
          </a:p>
        </p:txBody>
      </p:sp>
      <p:sp>
        <p:nvSpPr>
          <p:cNvPr id="19" name="TextBox 18"/>
          <p:cNvSpPr txBox="1"/>
          <p:nvPr/>
        </p:nvSpPr>
        <p:spPr>
          <a:xfrm>
            <a:off x="822960" y="4928616"/>
            <a:ext cx="2377440" cy="777240"/>
          </a:xfrm>
          <a:prstGeom prst="rect">
            <a:avLst/>
          </a:prstGeom>
          <a:noFill/>
        </p:spPr>
        <p:txBody>
          <a:bodyPr wrap="square" lIns="0" rIns="0" tIns="0" bIns="0">
            <a:spAutoFit/>
          </a:bodyPr>
          <a:lstStyle/>
          <a:p>
            <a:pPr algn="l">
              <a:spcAft>
                <a:spcPts val="400"/>
              </a:spcAft>
              <a:defRPr sz="2600" b="1">
                <a:solidFill>
                  <a:srgbClr val="244B43"/>
                </a:solidFill>
                <a:latin typeface="Poppins"/>
              </a:defRPr>
            </a:pPr>
            <a:r>
              <a:t>Fixer la limite</a:t>
            </a:r>
          </a:p>
        </p:txBody>
      </p:sp>
      <p:sp>
        <p:nvSpPr>
          <p:cNvPr id="20" name="TextBox 19"/>
          <p:cNvSpPr txBox="1"/>
          <p:nvPr/>
        </p:nvSpPr>
        <p:spPr>
          <a:xfrm>
            <a:off x="3410712" y="4919472"/>
            <a:ext cx="3456432" cy="914400"/>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Hugo corrige les critères critiques avant la réception.</a:t>
            </a:r>
          </a:p>
        </p:txBody>
      </p:sp>
      <p:sp>
        <p:nvSpPr>
          <p:cNvPr id="21" name="Rounded Rectangle 20"/>
          <p:cNvSpPr/>
          <p:nvPr/>
        </p:nvSpPr>
        <p:spPr>
          <a:xfrm>
            <a:off x="7470648" y="4379976"/>
            <a:ext cx="6565392" cy="1655064"/>
          </a:xfrm>
          <a:prstGeom prst="roundRect">
            <a:avLst>
              <a:gd name="adj" fmla="val 4000"/>
            </a:avLst>
          </a:prstGeom>
          <a:solidFill>
            <a:srgbClr val="FFFFFF"/>
          </a:solidFill>
          <a:ln w="10160">
            <a:solidFill>
              <a:srgbClr val="D7DFD6"/>
            </a:solidFill>
          </a:ln>
          <a:effectLst/>
        </p:spPr>
        <p:txBody>
          <a:bodyPr rtlCol="0" anchor="ctr"/>
          <a:lstStyle/>
          <a:p>
            <a:pPr algn="ctr"/>
          </a:p>
        </p:txBody>
      </p:sp>
      <p:sp>
        <p:nvSpPr>
          <p:cNvPr id="22" name="TextBox 21"/>
          <p:cNvSpPr txBox="1"/>
          <p:nvPr/>
        </p:nvSpPr>
        <p:spPr>
          <a:xfrm>
            <a:off x="7699248" y="4535424"/>
            <a:ext cx="6126480" cy="274320"/>
          </a:xfrm>
          <a:prstGeom prst="rect">
            <a:avLst/>
          </a:prstGeom>
          <a:noFill/>
        </p:spPr>
        <p:txBody>
          <a:bodyPr wrap="square" lIns="0" rIns="0" tIns="0" bIns="0">
            <a:spAutoFit/>
          </a:bodyPr>
          <a:lstStyle/>
          <a:p>
            <a:pPr algn="l">
              <a:spcAft>
                <a:spcPts val="400"/>
              </a:spcAft>
              <a:defRPr sz="1200" b="1">
                <a:solidFill>
                  <a:srgbClr val="28554B"/>
                </a:solidFill>
                <a:latin typeface="Poppins"/>
              </a:defRPr>
            </a:pPr>
            <a:r>
              <a:t>DÉLÉGATIF</a:t>
            </a:r>
          </a:p>
        </p:txBody>
      </p:sp>
      <p:sp>
        <p:nvSpPr>
          <p:cNvPr id="23" name="TextBox 22"/>
          <p:cNvSpPr txBox="1"/>
          <p:nvPr/>
        </p:nvSpPr>
        <p:spPr>
          <a:xfrm>
            <a:off x="7699248" y="4928616"/>
            <a:ext cx="2377440" cy="777240"/>
          </a:xfrm>
          <a:prstGeom prst="rect">
            <a:avLst/>
          </a:prstGeom>
          <a:noFill/>
        </p:spPr>
        <p:txBody>
          <a:bodyPr wrap="square" lIns="0" rIns="0" tIns="0" bIns="0">
            <a:spAutoFit/>
          </a:bodyPr>
          <a:lstStyle/>
          <a:p>
            <a:pPr algn="l">
              <a:spcAft>
                <a:spcPts val="400"/>
              </a:spcAft>
              <a:defRPr sz="2600" b="1">
                <a:solidFill>
                  <a:srgbClr val="244B43"/>
                </a:solidFill>
                <a:latin typeface="Poppins"/>
              </a:defRPr>
            </a:pPr>
            <a:r>
              <a:t>Confier la recette</a:t>
            </a:r>
          </a:p>
        </p:txBody>
      </p:sp>
      <p:sp>
        <p:nvSpPr>
          <p:cNvPr id="24" name="TextBox 23"/>
          <p:cNvSpPr txBox="1"/>
          <p:nvPr/>
        </p:nvSpPr>
        <p:spPr>
          <a:xfrm>
            <a:off x="10287000" y="4919472"/>
            <a:ext cx="3456432" cy="914400"/>
          </a:xfrm>
          <a:prstGeom prst="rect">
            <a:avLst/>
          </a:prstGeom>
          <a:noFill/>
        </p:spPr>
        <p:txBody>
          <a:bodyPr wrap="square" lIns="0" rIns="0" tIns="0" bIns="0">
            <a:spAutoFit/>
          </a:bodyPr>
          <a:lstStyle/>
          <a:p>
            <a:pPr algn="l">
              <a:spcAft>
                <a:spcPts val="400"/>
              </a:spcAft>
              <a:defRPr sz="1700" b="0">
                <a:solidFill>
                  <a:srgbClr val="56625B"/>
                </a:solidFill>
                <a:latin typeface="Poppins"/>
              </a:defRPr>
            </a:pPr>
            <a:r>
              <a:t>Inès conduit les tests ; Sami vérifie la livraison.</a:t>
            </a:r>
          </a:p>
        </p:txBody>
      </p:sp>
      <p:sp>
        <p:nvSpPr>
          <p:cNvPr id="25" name="Rounded Rectangle 24"/>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26" name="TextBox 25"/>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Analyse critique : décider seul trop vite peut faire perdre une alerte utile ; écouter puis trancher.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13</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C3.3.1 / CHARGE ET COMMUNICATION</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ORGANISER UNE COLLABORATION ACCESSIBLE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charge, accessibilité et travail à distance.</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13</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710184">
                <a:tc>
                  <a:txBody>
                    <a:bodyPr/>
                    <a:lstStyle/>
                    <a:p>
                      <a:pPr>
                        <a:defRPr sz="1700" b="1">
                          <a:solidFill>
                            <a:srgbClr val="FFFFFF"/>
                          </a:solidFill>
                          <a:latin typeface="Poppins"/>
                        </a:defRPr>
                      </a:pPr>
                      <a:r>
                        <a:t>Membre</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Tâches de la séance simulée</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Charge / disponibilité</a:t>
                      </a:r>
                    </a:p>
                  </a:txBody>
                  <a:tcPr marL="137160" marR="109728" marT="64008" marB="54864" anchor="ctr">
                    <a:solidFill>
                      <a:srgbClr val="244B43"/>
                    </a:solidFill>
                    <a:lnL>
                      <a:noFill/>
                    </a:lnL>
                    <a:lnR>
                      <a:noFill/>
                    </a:lnR>
                    <a:lnT>
                      <a:noFill/>
                    </a:lnT>
                    <a:lnB>
                      <a:noFill/>
                    </a:lnB>
                  </a:tcPr>
                </a:tc>
              </a:tr>
              <a:tr h="710184">
                <a:tc>
                  <a:txBody>
                    <a:bodyPr/>
                    <a:lstStyle/>
                    <a:p>
                      <a:pPr>
                        <a:defRPr sz="1700" b="1">
                          <a:solidFill>
                            <a:srgbClr val="244B43"/>
                          </a:solidFill>
                          <a:latin typeface="Poppins"/>
                        </a:defRPr>
                      </a:pPr>
                      <a:r>
                        <a:t>Dorian</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Prioriser les réserves 1 h ; préparer la décision client 1 h.</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2 h / 3 h</a:t>
                      </a:r>
                    </a:p>
                  </a:txBody>
                  <a:tcPr marL="137160" marR="109728" marT="64008" marB="54864" anchor="ctr">
                    <a:solidFill>
                      <a:srgbClr val="FFFFFF"/>
                    </a:solidFill>
                    <a:lnL>
                      <a:noFill/>
                    </a:lnL>
                    <a:lnR>
                      <a:noFill/>
                    </a:lnR>
                    <a:lnT>
                      <a:noFill/>
                    </a:lnT>
                    <a:lnB>
                      <a:noFill/>
                    </a:lnB>
                  </a:tcPr>
                </a:tc>
              </a:tr>
              <a:tr h="710184">
                <a:tc>
                  <a:txBody>
                    <a:bodyPr/>
                    <a:lstStyle/>
                    <a:p>
                      <a:pPr>
                        <a:defRPr sz="1700" b="1">
                          <a:solidFill>
                            <a:srgbClr val="244B43"/>
                          </a:solidFill>
                          <a:latin typeface="Poppins"/>
                        </a:defRPr>
                      </a:pPr>
                      <a:r>
                        <a:t>Léa</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Vérifier les parcours et les libellés 1 h ; adapter les supports 1 h.</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2 h / 3 h</a:t>
                      </a:r>
                    </a:p>
                  </a:txBody>
                  <a:tcPr marL="137160" marR="109728" marT="64008" marB="54864" anchor="ctr">
                    <a:solidFill>
                      <a:srgbClr val="E9EFE8"/>
                    </a:solidFill>
                    <a:lnL>
                      <a:noFill/>
                    </a:lnL>
                    <a:lnR>
                      <a:noFill/>
                    </a:lnR>
                    <a:lnT>
                      <a:noFill/>
                    </a:lnT>
                    <a:lnB>
                      <a:noFill/>
                    </a:lnB>
                  </a:tcPr>
                </a:tc>
              </a:tr>
              <a:tr h="710184">
                <a:tc>
                  <a:txBody>
                    <a:bodyPr/>
                    <a:lstStyle/>
                    <a:p>
                      <a:pPr>
                        <a:defRPr sz="1700" b="1">
                          <a:solidFill>
                            <a:srgbClr val="244B43"/>
                          </a:solidFill>
                          <a:latin typeface="Poppins"/>
                        </a:defRPr>
                      </a:pPr>
                      <a:r>
                        <a:t>Hugo</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Préparer la version 1 h ; corriger les défauts 2 h ; tests unitaires 1 h.</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4 h / 5 h</a:t>
                      </a:r>
                    </a:p>
                  </a:txBody>
                  <a:tcPr marL="137160" marR="109728" marT="64008" marB="54864" anchor="ctr">
                    <a:solidFill>
                      <a:srgbClr val="FFFFFF"/>
                    </a:solidFill>
                    <a:lnL>
                      <a:noFill/>
                    </a:lnL>
                    <a:lnR>
                      <a:noFill/>
                    </a:lnR>
                    <a:lnT>
                      <a:noFill/>
                    </a:lnT>
                    <a:lnB>
                      <a:noFill/>
                    </a:lnB>
                  </a:tcPr>
                </a:tc>
              </a:tr>
              <a:tr h="710184">
                <a:tc>
                  <a:txBody>
                    <a:bodyPr/>
                    <a:lstStyle/>
                    <a:p>
                      <a:pPr>
                        <a:defRPr sz="1700" b="1">
                          <a:solidFill>
                            <a:srgbClr val="244B43"/>
                          </a:solidFill>
                          <a:latin typeface="Poppins"/>
                        </a:defRPr>
                      </a:pPr>
                      <a:r>
                        <a:t>Inès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Préparer les critères 1 h ; exécuter et recontrôler 2 h ; rédiger le rapport 1 h.</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4 h / 5 h</a:t>
                      </a:r>
                    </a:p>
                  </a:txBody>
                  <a:tcPr marL="137160" marR="109728" marT="64008" marB="54864" anchor="ctr">
                    <a:solidFill>
                      <a:srgbClr val="E9EFE8"/>
                    </a:solidFill>
                    <a:lnL>
                      <a:noFill/>
                    </a:lnL>
                    <a:lnR>
                      <a:noFill/>
                    </a:lnR>
                    <a:lnT>
                      <a:noFill/>
                    </a:lnT>
                    <a:lnB>
                      <a:noFill/>
                    </a:lnB>
                  </a:tcPr>
                </a:tc>
              </a:tr>
              <a:tr h="710184">
                <a:tc>
                  <a:txBody>
                    <a:bodyPr/>
                    <a:lstStyle/>
                    <a:p>
                      <a:pPr>
                        <a:defRPr sz="1700" b="1">
                          <a:solidFill>
                            <a:srgbClr val="244B43"/>
                          </a:solidFill>
                          <a:latin typeface="Poppins"/>
                        </a:defRPr>
                      </a:pPr>
                      <a:r>
                        <a:t>Sami</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Préparer les comptes et l’environnement 1 h ; vérifier version et santé 1 h.</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2 h / 3 h</a:t>
                      </a:r>
                    </a:p>
                  </a:txBody>
                  <a:tcPr marL="137160" marR="109728" marT="64008" marB="54864" anchor="ctr">
                    <a:solidFill>
                      <a:srgbClr val="FFFFFF"/>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Inès : écrit et sous-titres · tous : compte rendu, fuseaux, glossaire et retour asynchrone.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14</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C3.3.2 / GRILLE COMMENTÉE</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ÉVALUER LES COMPÉTENCES UTILES AU PROJET</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niveaux de départ et objectifs de progression.</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14</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710184">
                <a:tc>
                  <a:txBody>
                    <a:bodyPr/>
                    <a:lstStyle/>
                    <a:p>
                      <a:pPr>
                        <a:defRPr sz="1700" b="1">
                          <a:solidFill>
                            <a:srgbClr val="FFFFFF"/>
                          </a:solidFill>
                          <a:latin typeface="Poppins"/>
                        </a:defRPr>
                      </a:pPr>
                      <a:r>
                        <a:t>Membre du cas</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Compétence à vérifier</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Actuel → cible</a:t>
                      </a:r>
                    </a:p>
                  </a:txBody>
                  <a:tcPr marL="137160" marR="109728" marT="64008" marB="54864" anchor="ctr">
                    <a:solidFill>
                      <a:srgbClr val="244B43"/>
                    </a:solidFill>
                    <a:lnL>
                      <a:noFill/>
                    </a:lnL>
                    <a:lnR>
                      <a:noFill/>
                    </a:lnR>
                    <a:lnT>
                      <a:noFill/>
                    </a:lnT>
                    <a:lnB>
                      <a:noFill/>
                    </a:lnB>
                  </a:tcPr>
                </a:tc>
              </a:tr>
              <a:tr h="710184">
                <a:tc>
                  <a:txBody>
                    <a:bodyPr/>
                    <a:lstStyle/>
                    <a:p>
                      <a:pPr>
                        <a:defRPr sz="1700" b="1">
                          <a:solidFill>
                            <a:srgbClr val="244B43"/>
                          </a:solidFill>
                          <a:latin typeface="Poppins"/>
                        </a:defRPr>
                      </a:pPr>
                      <a:r>
                        <a:t>Dorian</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Planning et suivi des écarts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1 → 2</a:t>
                      </a:r>
                    </a:p>
                  </a:txBody>
                  <a:tcPr marL="137160" marR="109728" marT="64008" marB="54864" anchor="ctr">
                    <a:solidFill>
                      <a:srgbClr val="FFFFFF"/>
                    </a:solidFill>
                    <a:lnL>
                      <a:noFill/>
                    </a:lnL>
                    <a:lnR>
                      <a:noFill/>
                    </a:lnR>
                    <a:lnT>
                      <a:noFill/>
                    </a:lnT>
                    <a:lnB>
                      <a:noFill/>
                    </a:lnB>
                  </a:tcPr>
                </a:tc>
              </a:tr>
              <a:tr h="710184">
                <a:tc>
                  <a:txBody>
                    <a:bodyPr/>
                    <a:lstStyle/>
                    <a:p>
                      <a:pPr>
                        <a:defRPr sz="1700" b="1">
                          <a:solidFill>
                            <a:srgbClr val="244B43"/>
                          </a:solidFill>
                          <a:latin typeface="Poppins"/>
                        </a:defRPr>
                      </a:pPr>
                      <a:r>
                        <a:t>Léa</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Accessibilité des maquettes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1 → 2</a:t>
                      </a:r>
                    </a:p>
                  </a:txBody>
                  <a:tcPr marL="137160" marR="109728" marT="64008" marB="54864" anchor="ctr">
                    <a:solidFill>
                      <a:srgbClr val="E9EFE8"/>
                    </a:solidFill>
                    <a:lnL>
                      <a:noFill/>
                    </a:lnL>
                    <a:lnR>
                      <a:noFill/>
                    </a:lnR>
                    <a:lnT>
                      <a:noFill/>
                    </a:lnT>
                    <a:lnB>
                      <a:noFill/>
                    </a:lnB>
                  </a:tcPr>
                </a:tc>
              </a:tr>
              <a:tr h="710184">
                <a:tc>
                  <a:txBody>
                    <a:bodyPr/>
                    <a:lstStyle/>
                    <a:p>
                      <a:pPr>
                        <a:defRPr sz="1700" b="1">
                          <a:solidFill>
                            <a:srgbClr val="244B43"/>
                          </a:solidFill>
                          <a:latin typeface="Poppins"/>
                        </a:defRPr>
                      </a:pPr>
                      <a:r>
                        <a:t>Hugo</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API et sécurité applicative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2 → 2</a:t>
                      </a:r>
                    </a:p>
                  </a:txBody>
                  <a:tcPr marL="137160" marR="109728" marT="64008" marB="54864" anchor="ctr">
                    <a:solidFill>
                      <a:srgbClr val="FFFFFF"/>
                    </a:solidFill>
                    <a:lnL>
                      <a:noFill/>
                    </a:lnL>
                    <a:lnR>
                      <a:noFill/>
                    </a:lnR>
                    <a:lnT>
                      <a:noFill/>
                    </a:lnT>
                    <a:lnB>
                      <a:noFill/>
                    </a:lnB>
                  </a:tcPr>
                </a:tc>
              </a:tr>
              <a:tr h="710184">
                <a:tc>
                  <a:txBody>
                    <a:bodyPr/>
                    <a:lstStyle/>
                    <a:p>
                      <a:pPr>
                        <a:defRPr sz="1700" b="1">
                          <a:solidFill>
                            <a:srgbClr val="244B43"/>
                          </a:solidFill>
                          <a:latin typeface="Poppins"/>
                        </a:defRPr>
                      </a:pPr>
                      <a:r>
                        <a:t>Inès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Recette reproductible et clavier</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1 → 2</a:t>
                      </a:r>
                    </a:p>
                  </a:txBody>
                  <a:tcPr marL="137160" marR="109728" marT="64008" marB="54864" anchor="ctr">
                    <a:solidFill>
                      <a:srgbClr val="E9EFE8"/>
                    </a:solidFill>
                    <a:lnL>
                      <a:noFill/>
                    </a:lnL>
                    <a:lnR>
                      <a:noFill/>
                    </a:lnR>
                    <a:lnT>
                      <a:noFill/>
                    </a:lnT>
                    <a:lnB>
                      <a:noFill/>
                    </a:lnB>
                  </a:tcPr>
                </a:tc>
              </a:tr>
              <a:tr h="710184">
                <a:tc>
                  <a:txBody>
                    <a:bodyPr/>
                    <a:lstStyle/>
                    <a:p>
                      <a:pPr>
                        <a:defRPr sz="1700" b="1">
                          <a:solidFill>
                            <a:srgbClr val="244B43"/>
                          </a:solidFill>
                          <a:latin typeface="Poppins"/>
                        </a:defRPr>
                      </a:pPr>
                      <a:r>
                        <a:t>Sami</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Déploiement et retour arrière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1 → 2</a:t>
                      </a:r>
                    </a:p>
                  </a:txBody>
                  <a:tcPr marL="137160" marR="109728" marT="64008" marB="54864" anchor="ctr">
                    <a:solidFill>
                      <a:srgbClr val="FFFFFF"/>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0 : non abordé · 1 : accompagné · 2 : autonome · 3 : cas complexes.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15</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C3.3.2 / FORMATION ET BESOIN DE RENFORT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PRÉVOIR UNE PROGRESSION VÉRIFIABLE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Plan de formation proposé dans la mise en situation.</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15</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Membre / moment</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Action de formation</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Preuve d’autonomie</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Dorian · avant M10</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1 h : recalcul du suivi</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Justifier le coût et le décalage</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Léa · avant M10</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1 h : audit d’une maquette</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Corriger contrastes et libellés</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Inès · avant M11</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2 h : recette et clavier</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Rejouer un cas et décrire un défaut</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Sami · avant M11</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1 h : retour arrière avec Hugo</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Restaurer puis vérifier une version</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Supports accessibles et évaluation après pratique ; renfort QA uniquement si un besoin critique persiste.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16</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C3.4.1 / SUIVI CLIENT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UN COMPTE RENDU QUI AIDE À DÉCIDER</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Compte rendu simulé · point d’avancement au mois 10.</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16</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CONSTAT</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Un écart annoncé</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Prévision simulée : +1 800 € et +1 mois. Retour : garder un parcours fluide.</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DÉCISION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Prioriser l’usage</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Conserver le fond statique ; maintenir les critères de recette.</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ACTIONS</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Préparer la validation</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Dorian : suivi. Hugo : version. Inès : recette. Sami : livraison. Claire : décision.</a:t>
            </a:r>
          </a:p>
        </p:txBody>
      </p:sp>
      <p:sp>
        <p:nvSpPr>
          <p:cNvPr id="21" name="Rounded Rectangle 20"/>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22" name="TextBox 21"/>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Compte rendu structuré : contexte → faits → décision → responsable → prochaine validation.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17</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C3.4.1 / JALONS ET CONFORMITÉ</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PRÉVOIR LES POINTS DE VALIDATION</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validations au fil du projet.</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17</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Jalon</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Livrable et responsables</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Décideur / résultat</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M3 · cadrage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Léa : parcours ; Dorian : périmètre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Claire confirme le besoin</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M10 · évolution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Dorian : écarts ; Hugo : options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Claire arbitre coût et périmètre</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M11 · recette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Inès : rapport ; Hugo : corrections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Dorian autorise la démonstration</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M12 · restitution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Sami : version ; Dorian : restitution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Claire accepte, réserve ou refuse</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Chaque réserve : problème précis, action, responsable et échéance à convenir.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18</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C3.4.1 / SATISFACTION</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MESURER LE RETOUR POUR AGIR</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Objectifs proposés · résultats de satisfaction non mesurés.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18</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Indicateur / responsable</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Calcul / recueil</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Cible pédagogique</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Réussite sans aide · Inès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Parcours réussis / tentés ; noter l’effectif</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 80 %</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Utilité perçue · Léa</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Note de 1 à 5 ; moyenne et répondants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 4 / 5</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Conformité critique · Claire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Critères critiques acceptés / évalués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100 %</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Blocages · Inès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Nombre de tâches empêchées ouvertes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0 avant acceptation</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Sous la cible : qualifier → prioriser → corriger → vérifier à nouveau. Résultats : non mesurés.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19</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C3.4.2 / PRÉPARER LA DÉMONSTRATION</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LES CRITÈRES DE VALIDATION</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Quatre critères pour évaluer le parcours utilisateur.</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19</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700" b="1">
                          <a:solidFill>
                            <a:srgbClr val="FFFFFF"/>
                          </a:solidFill>
                          <a:latin typeface="Poppins"/>
                        </a:defRPr>
                      </a:pPr>
                      <a:r>
                        <a:t>Parcours</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Résultat attendu</a:t>
                      </a:r>
                    </a:p>
                  </a:txBody>
                  <a:tcPr marL="137160" marR="109728" marT="64008" marB="54864" anchor="ctr">
                    <a:solidFill>
                      <a:srgbClr val="244B43"/>
                    </a:solidFill>
                    <a:lnL>
                      <a:noFill/>
                    </a:lnL>
                    <a:lnR>
                      <a:noFill/>
                    </a:lnR>
                    <a:lnT>
                      <a:noFill/>
                    </a:lnT>
                    <a:lnB>
                      <a:noFill/>
                    </a:lnB>
                  </a:tcPr>
                </a:tc>
                <a:tc>
                  <a:txBody>
                    <a:bodyPr/>
                    <a:lstStyle/>
                    <a:p>
                      <a:pPr>
                        <a:defRPr sz="1700" b="1">
                          <a:solidFill>
                            <a:srgbClr val="FFFFFF"/>
                          </a:solidFill>
                          <a:latin typeface="Poppins"/>
                        </a:defRPr>
                      </a:pPr>
                      <a:r>
                        <a:t>Parcours</a:t>
                      </a:r>
                    </a:p>
                  </a:txBody>
                  <a:tcPr marL="137160" marR="109728" marT="64008" marB="54864" anchor="ctr">
                    <a:solidFill>
                      <a:srgbClr val="244B43"/>
                    </a:solidFill>
                    <a:lnL>
                      <a:noFill/>
                    </a:lnL>
                    <a:lnR>
                      <a:noFill/>
                    </a:lnR>
                    <a:lnT>
                      <a:noFill/>
                    </a:lnT>
                    <a:lnB>
                      <a:noFill/>
                    </a:lnB>
                  </a:tcPr>
                </a:tc>
              </a:tr>
              <a:tr h="852220">
                <a:tc>
                  <a:txBody>
                    <a:bodyPr/>
                    <a:lstStyle/>
                    <a:p>
                      <a:pPr>
                        <a:defRPr sz="1700" b="1">
                          <a:solidFill>
                            <a:srgbClr val="244B43"/>
                          </a:solidFill>
                          <a:latin typeface="Poppins"/>
                        </a:defRPr>
                      </a:pPr>
                      <a:r>
                        <a:t>Partenaire</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Filtres adaptés et état de demande clair</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Session grimpeur</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Inscription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Confirmation et capacité cohérentes</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Événement de démonstration</a:t>
                      </a:r>
                    </a:p>
                  </a:txBody>
                  <a:tcPr marL="137160" marR="109728" marT="64008" marB="54864" anchor="ctr">
                    <a:solidFill>
                      <a:srgbClr val="E9EFE8"/>
                    </a:solidFill>
                    <a:lnL>
                      <a:noFill/>
                    </a:lnL>
                    <a:lnR>
                      <a:noFill/>
                    </a:lnR>
                    <a:lnT>
                      <a:noFill/>
                    </a:lnT>
                    <a:lnB>
                      <a:noFill/>
                    </a:lnB>
                  </a:tcPr>
                </a:tc>
              </a:tr>
              <a:tr h="852220">
                <a:tc>
                  <a:txBody>
                    <a:bodyPr/>
                    <a:lstStyle/>
                    <a:p>
                      <a:pPr>
                        <a:defRPr sz="1700" b="1">
                          <a:solidFill>
                            <a:srgbClr val="244B43"/>
                          </a:solidFill>
                          <a:latin typeface="Poppins"/>
                        </a:defRPr>
                      </a:pPr>
                      <a:r>
                        <a:t>Organisation club</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Participants et commandes autorisées</a:t>
                      </a:r>
                    </a:p>
                  </a:txBody>
                  <a:tcPr marL="137160" marR="109728" marT="64008" marB="54864" anchor="ctr">
                    <a:solidFill>
                      <a:srgbClr val="FFFFFF"/>
                    </a:solidFill>
                    <a:lnL>
                      <a:noFill/>
                    </a:lnL>
                    <a:lnR>
                      <a:noFill/>
                    </a:lnR>
                    <a:lnT>
                      <a:noFill/>
                    </a:lnT>
                    <a:lnB>
                      <a:noFill/>
                    </a:lnB>
                  </a:tcPr>
                </a:tc>
                <a:tc>
                  <a:txBody>
                    <a:bodyPr/>
                    <a:lstStyle/>
                    <a:p>
                      <a:pPr>
                        <a:defRPr sz="1700" b="0">
                          <a:solidFill>
                            <a:srgbClr val="244B43"/>
                          </a:solidFill>
                          <a:latin typeface="Poppins"/>
                        </a:defRPr>
                      </a:pPr>
                      <a:r>
                        <a:t>Session club distincte</a:t>
                      </a:r>
                    </a:p>
                  </a:txBody>
                  <a:tcPr marL="137160" marR="109728" marT="64008" marB="54864" anchor="ctr">
                    <a:solidFill>
                      <a:srgbClr val="FFFFFF"/>
                    </a:solidFill>
                    <a:lnL>
                      <a:noFill/>
                    </a:lnL>
                    <a:lnR>
                      <a:noFill/>
                    </a:lnR>
                    <a:lnT>
                      <a:noFill/>
                    </a:lnT>
                    <a:lnB>
                      <a:noFill/>
                    </a:lnB>
                  </a:tcPr>
                </a:tc>
              </a:tr>
              <a:tr h="852220">
                <a:tc>
                  <a:txBody>
                    <a:bodyPr/>
                    <a:lstStyle/>
                    <a:p>
                      <a:pPr>
                        <a:defRPr sz="1700" b="1">
                          <a:solidFill>
                            <a:srgbClr val="244B43"/>
                          </a:solidFill>
                          <a:latin typeface="Poppins"/>
                        </a:defRPr>
                      </a:pPr>
                      <a:r>
                        <a:t>Utilisation</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Navigation et commandes au clavier</a:t>
                      </a:r>
                    </a:p>
                  </a:txBody>
                  <a:tcPr marL="137160" marR="109728" marT="64008" marB="54864" anchor="ctr">
                    <a:solidFill>
                      <a:srgbClr val="E9EFE8"/>
                    </a:solidFill>
                    <a:lnL>
                      <a:noFill/>
                    </a:lnL>
                    <a:lnR>
                      <a:noFill/>
                    </a:lnR>
                    <a:lnT>
                      <a:noFill/>
                    </a:lnT>
                    <a:lnB>
                      <a:noFill/>
                    </a:lnB>
                  </a:tcPr>
                </a:tc>
                <a:tc>
                  <a:txBody>
                    <a:bodyPr/>
                    <a:lstStyle/>
                    <a:p>
                      <a:pPr>
                        <a:defRPr sz="1700" b="0">
                          <a:solidFill>
                            <a:srgbClr val="244B43"/>
                          </a:solidFill>
                          <a:latin typeface="Poppins"/>
                        </a:defRPr>
                      </a:pPr>
                      <a:r>
                        <a:t>Manipulation en direct</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Dans le cas : Inès vérifie, Hugo corrige, Sami contrôle la version ; Claire prononce la réception.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44B43"/>
        </a:solidFill>
        <a:effectLst/>
      </p:bgPr>
    </p:bg>
    <p:spTree>
      <p:nvGrpSpPr>
        <p:cNvPr id="1" name=""/>
        <p:cNvGrpSpPr/>
        <p:nvPr/>
      </p:nvGrpSpPr>
      <p:grpSpPr/>
      <p:pic>
        <p:nvPicPr>
          <p:cNvPr id="2" name="Picture 1" descr="bloc1-couverture"/>
          <p:cNvPicPr>
            <a:picLocks noChangeAspect="1"/>
          </p:cNvPicPr>
          <p:nvPr/>
        </p:nvPicPr>
        <p:blipFill>
          <a:blip r:embed="rId3"/>
          <a:srcRect l="111" r="111"/>
          <a:stretch>
            <a:fillRect/>
          </a:stretch>
        </p:blipFill>
        <p:spPr>
          <a:xfrm>
            <a:off x="0" y="0"/>
            <a:ext cx="14630400" cy="8229600"/>
          </a:xfrm>
          <a:prstGeom prst="rect">
            <a:avLst/>
          </a:prstGeom>
        </p:spPr>
      </p:pic>
      <p:sp>
        <p:nvSpPr>
          <p:cNvPr id="3" name="TextBox 2"/>
          <p:cNvSpPr txBox="1"/>
          <p:nvPr/>
        </p:nvSpPr>
        <p:spPr>
          <a:xfrm>
            <a:off x="822960" y="950976"/>
            <a:ext cx="12710160" cy="1737360"/>
          </a:xfrm>
          <a:prstGeom prst="rect">
            <a:avLst/>
          </a:prstGeom>
          <a:noFill/>
        </p:spPr>
        <p:txBody>
          <a:bodyPr wrap="square" lIns="0" rIns="0" tIns="0" bIns="0">
            <a:spAutoFit/>
          </a:bodyPr>
          <a:lstStyle/>
          <a:p>
            <a:pPr algn="l">
              <a:spcAft>
                <a:spcPts val="400"/>
              </a:spcAft>
              <a:defRPr sz="5600" b="0">
                <a:solidFill>
                  <a:srgbClr val="FFFFFF"/>
                </a:solidFill>
                <a:latin typeface="Archivo Black"/>
              </a:defRPr>
            </a:pPr>
            <a:r>
              <a:t>DÉMONSTRATION</a:t>
            </a:r>
          </a:p>
        </p:txBody>
      </p:sp>
      <p:sp>
        <p:nvSpPr>
          <p:cNvPr id="4" name="TextBox 3"/>
          <p:cNvSpPr txBox="1"/>
          <p:nvPr/>
        </p:nvSpPr>
        <p:spPr>
          <a:xfrm>
            <a:off x="859536" y="2743200"/>
            <a:ext cx="12070080" cy="594360"/>
          </a:xfrm>
          <a:prstGeom prst="rect">
            <a:avLst/>
          </a:prstGeom>
          <a:noFill/>
        </p:spPr>
        <p:txBody>
          <a:bodyPr wrap="square" lIns="0" rIns="0" tIns="0" bIns="0">
            <a:spAutoFit/>
          </a:bodyPr>
          <a:lstStyle/>
          <a:p>
            <a:pPr algn="l">
              <a:spcAft>
                <a:spcPts val="400"/>
              </a:spcAft>
              <a:defRPr sz="2700" b="1">
                <a:solidFill>
                  <a:srgbClr val="FFFFFF"/>
                </a:solidFill>
                <a:latin typeface="Poppins"/>
              </a:defRPr>
            </a:pPr>
            <a:r>
              <a:t>Du suivi du projet à l’usage du site</a:t>
            </a:r>
          </a:p>
        </p:txBody>
      </p:sp>
      <p:sp>
        <p:nvSpPr>
          <p:cNvPr id="5" name="Rounded Rectangle 4"/>
          <p:cNvSpPr/>
          <p:nvPr/>
        </p:nvSpPr>
        <p:spPr>
          <a:xfrm>
            <a:off x="859536" y="3694176"/>
            <a:ext cx="3657600" cy="438912"/>
          </a:xfrm>
          <a:prstGeom prst="roundRect">
            <a:avLst>
              <a:gd name="adj" fmla="val 4000"/>
            </a:avLst>
          </a:prstGeom>
          <a:solidFill>
            <a:srgbClr val="8CA444"/>
          </a:solidFill>
          <a:ln>
            <a:noFill/>
          </a:ln>
          <a:effectLst/>
        </p:spPr>
        <p:txBody>
          <a:bodyPr rtlCol="0" anchor="ctr"/>
          <a:lstStyle/>
          <a:p>
            <a:pPr algn="ctr"/>
          </a:p>
        </p:txBody>
      </p:sp>
      <p:sp>
        <p:nvSpPr>
          <p:cNvPr id="6" name="TextBox 5"/>
          <p:cNvSpPr txBox="1"/>
          <p:nvPr/>
        </p:nvSpPr>
        <p:spPr>
          <a:xfrm>
            <a:off x="1005840" y="3785615"/>
            <a:ext cx="3364992" cy="246888"/>
          </a:xfrm>
          <a:prstGeom prst="rect">
            <a:avLst/>
          </a:prstGeom>
          <a:noFill/>
        </p:spPr>
        <p:txBody>
          <a:bodyPr wrap="square" lIns="0" rIns="0" tIns="0" bIns="0">
            <a:spAutoFit/>
          </a:bodyPr>
          <a:lstStyle/>
          <a:p>
            <a:pPr algn="ctr">
              <a:spcAft>
                <a:spcPts val="400"/>
              </a:spcAft>
              <a:defRPr sz="1200" b="1">
                <a:solidFill>
                  <a:srgbClr val="FFFFFF"/>
                </a:solidFill>
                <a:latin typeface="Poppins"/>
              </a:defRPr>
            </a:pPr>
            <a:r>
              <a:t>GRIMPEUR → CLUB</a:t>
            </a:r>
          </a:p>
        </p:txBody>
      </p:sp>
      <p:sp>
        <p:nvSpPr>
          <p:cNvPr id="7" name="TextBox 6"/>
          <p:cNvSpPr txBox="1"/>
          <p:nvPr/>
        </p:nvSpPr>
        <p:spPr>
          <a:xfrm>
            <a:off x="859536" y="6912864"/>
            <a:ext cx="9875520" cy="384048"/>
          </a:xfrm>
          <a:prstGeom prst="rect">
            <a:avLst/>
          </a:prstGeom>
          <a:noFill/>
        </p:spPr>
        <p:txBody>
          <a:bodyPr wrap="square" lIns="0" rIns="0" tIns="0" bIns="0">
            <a:spAutoFit/>
          </a:bodyPr>
          <a:lstStyle/>
          <a:p>
            <a:pPr algn="l">
              <a:spcAft>
                <a:spcPts val="400"/>
              </a:spcAft>
              <a:defRPr sz="1800" b="1">
                <a:solidFill>
                  <a:srgbClr val="FFFFFF"/>
                </a:solidFill>
                <a:latin typeface="Poppins"/>
              </a:defRPr>
            </a:pPr>
            <a:r>
              <a:t>Dorian Joly</a:t>
            </a:r>
          </a:p>
        </p:txBody>
      </p:sp>
      <p:sp>
        <p:nvSpPr>
          <p:cNvPr id="8" name="TextBox 7"/>
          <p:cNvSpPr txBox="1"/>
          <p:nvPr/>
        </p:nvSpPr>
        <p:spPr>
          <a:xfrm>
            <a:off x="859536" y="7388352"/>
            <a:ext cx="12618720" cy="411480"/>
          </a:xfrm>
          <a:prstGeom prst="rect">
            <a:avLst/>
          </a:prstGeom>
          <a:noFill/>
        </p:spPr>
        <p:txBody>
          <a:bodyPr wrap="square" lIns="0" rIns="0" tIns="0" bIns="0">
            <a:spAutoFit/>
          </a:bodyPr>
          <a:lstStyle/>
          <a:p>
            <a:pPr algn="l">
              <a:spcAft>
                <a:spcPts val="400"/>
              </a:spcAft>
              <a:defRPr sz="1300" b="0">
                <a:solidFill>
                  <a:srgbClr val="FFFFFF"/>
                </a:solidFill>
                <a:latin typeface="Poppins"/>
              </a:defRPr>
            </a:pPr>
            <a:r>
              <a:t>Partenaires, demandes et inscriptions aux événements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21</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C3.4.2 / DÉMONTRER ET VALIDER</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TROUVER UN PARTENAIRE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Parcours grimpeur · base de démonstration.</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21</a:t>
            </a:r>
          </a:p>
        </p:txBody>
      </p:sp>
      <p:sp>
        <p:nvSpPr>
          <p:cNvPr id="9" name="Rounded Rectangle 8"/>
          <p:cNvSpPr/>
          <p:nvPr/>
        </p:nvSpPr>
        <p:spPr>
          <a:xfrm>
            <a:off x="594360" y="2286000"/>
            <a:ext cx="8412480" cy="5166360"/>
          </a:xfrm>
          <a:prstGeom prst="roundRect">
            <a:avLst>
              <a:gd name="adj" fmla="val 4000"/>
            </a:avLst>
          </a:prstGeom>
          <a:solidFill>
            <a:srgbClr val="244B43"/>
          </a:solidFill>
          <a:ln>
            <a:noFill/>
          </a:ln>
          <a:effectLst/>
        </p:spPr>
        <p:txBody>
          <a:bodyPr rtlCol="0" anchor="ctr"/>
          <a:lstStyle/>
          <a:p>
            <a:pPr algn="ctr"/>
          </a:p>
        </p:txBody>
      </p:sp>
      <p:pic>
        <p:nvPicPr>
          <p:cNvPr id="10" name="Picture 9" descr="matching-2026-09-15"/>
          <p:cNvPicPr>
            <a:picLocks noChangeAspect="1"/>
          </p:cNvPicPr>
          <p:nvPr/>
        </p:nvPicPr>
        <p:blipFill>
          <a:blip r:embed="rId3"/>
          <a:stretch>
            <a:fillRect/>
          </a:stretch>
        </p:blipFill>
        <p:spPr>
          <a:xfrm>
            <a:off x="1219078" y="2377440"/>
            <a:ext cx="7163043" cy="4974336"/>
          </a:xfrm>
          <a:prstGeom prst="rect">
            <a:avLst/>
          </a:prstGeom>
        </p:spPr>
      </p:pic>
      <p:sp>
        <p:nvSpPr>
          <p:cNvPr id="11" name="Rounded Rectangle 10"/>
          <p:cNvSpPr/>
          <p:nvPr/>
        </p:nvSpPr>
        <p:spPr>
          <a:xfrm>
            <a:off x="9784080" y="2880360"/>
            <a:ext cx="914400" cy="329184"/>
          </a:xfrm>
          <a:prstGeom prst="roundRect">
            <a:avLst>
              <a:gd name="adj" fmla="val 4000"/>
            </a:avLst>
          </a:prstGeom>
          <a:solidFill>
            <a:srgbClr val="E9EFE8"/>
          </a:solidFill>
          <a:ln>
            <a:noFill/>
          </a:ln>
          <a:effectLst/>
        </p:spPr>
        <p:txBody>
          <a:bodyPr rtlCol="0" anchor="ctr"/>
          <a:lstStyle/>
          <a:p>
            <a:pPr algn="ctr"/>
          </a:p>
        </p:txBody>
      </p:sp>
      <p:sp>
        <p:nvSpPr>
          <p:cNvPr id="12" name="TextBox 11"/>
          <p:cNvSpPr txBox="1"/>
          <p:nvPr/>
        </p:nvSpPr>
        <p:spPr>
          <a:xfrm>
            <a:off x="9902952" y="2939796"/>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01</a:t>
            </a:r>
          </a:p>
        </p:txBody>
      </p:sp>
      <p:sp>
        <p:nvSpPr>
          <p:cNvPr id="13" name="TextBox 12"/>
          <p:cNvSpPr txBox="1"/>
          <p:nvPr/>
        </p:nvSpPr>
        <p:spPr>
          <a:xfrm>
            <a:off x="9784080" y="3319272"/>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Profil</a:t>
            </a:r>
          </a:p>
        </p:txBody>
      </p:sp>
      <p:sp>
        <p:nvSpPr>
          <p:cNvPr id="14" name="Rounded Rectangle 13"/>
          <p:cNvSpPr/>
          <p:nvPr/>
        </p:nvSpPr>
        <p:spPr>
          <a:xfrm>
            <a:off x="9784080" y="4105656"/>
            <a:ext cx="914400" cy="329184"/>
          </a:xfrm>
          <a:prstGeom prst="roundRect">
            <a:avLst>
              <a:gd name="adj" fmla="val 4000"/>
            </a:avLst>
          </a:prstGeom>
          <a:solidFill>
            <a:srgbClr val="E9EFE8"/>
          </a:solidFill>
          <a:ln>
            <a:noFill/>
          </a:ln>
          <a:effectLst/>
        </p:spPr>
        <p:txBody>
          <a:bodyPr rtlCol="0" anchor="ctr"/>
          <a:lstStyle/>
          <a:p>
            <a:pPr algn="ctr"/>
          </a:p>
        </p:txBody>
      </p:sp>
      <p:sp>
        <p:nvSpPr>
          <p:cNvPr id="15" name="TextBox 14"/>
          <p:cNvSpPr txBox="1"/>
          <p:nvPr/>
        </p:nvSpPr>
        <p:spPr>
          <a:xfrm>
            <a:off x="9902952" y="4165092"/>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02</a:t>
            </a:r>
          </a:p>
        </p:txBody>
      </p:sp>
      <p:sp>
        <p:nvSpPr>
          <p:cNvPr id="16" name="TextBox 15"/>
          <p:cNvSpPr txBox="1"/>
          <p:nvPr/>
        </p:nvSpPr>
        <p:spPr>
          <a:xfrm>
            <a:off x="9784080" y="4544568"/>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Filtres</a:t>
            </a:r>
          </a:p>
        </p:txBody>
      </p:sp>
      <p:sp>
        <p:nvSpPr>
          <p:cNvPr id="17" name="Rounded Rectangle 16"/>
          <p:cNvSpPr/>
          <p:nvPr/>
        </p:nvSpPr>
        <p:spPr>
          <a:xfrm>
            <a:off x="9784080" y="5330952"/>
            <a:ext cx="914400" cy="329184"/>
          </a:xfrm>
          <a:prstGeom prst="roundRect">
            <a:avLst>
              <a:gd name="adj" fmla="val 4000"/>
            </a:avLst>
          </a:prstGeom>
          <a:solidFill>
            <a:srgbClr val="E9EFE8"/>
          </a:solidFill>
          <a:ln>
            <a:noFill/>
          </a:ln>
          <a:effectLst/>
        </p:spPr>
        <p:txBody>
          <a:bodyPr rtlCol="0" anchor="ctr"/>
          <a:lstStyle/>
          <a:p>
            <a:pPr algn="ctr"/>
          </a:p>
        </p:txBody>
      </p:sp>
      <p:sp>
        <p:nvSpPr>
          <p:cNvPr id="18" name="TextBox 17"/>
          <p:cNvSpPr txBox="1"/>
          <p:nvPr/>
        </p:nvSpPr>
        <p:spPr>
          <a:xfrm>
            <a:off x="9902952" y="5390388"/>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03</a:t>
            </a:r>
          </a:p>
        </p:txBody>
      </p:sp>
      <p:sp>
        <p:nvSpPr>
          <p:cNvPr id="19" name="TextBox 18"/>
          <p:cNvSpPr txBox="1"/>
          <p:nvPr/>
        </p:nvSpPr>
        <p:spPr>
          <a:xfrm>
            <a:off x="9784080" y="5769864"/>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Demande</a:t>
            </a:r>
          </a:p>
        </p:txBody>
      </p:sp>
      <p:sp>
        <p:nvSpPr>
          <p:cNvPr id="20" name="TextBox 19"/>
          <p:cNvSpPr txBox="1"/>
          <p:nvPr/>
        </p:nvSpPr>
        <p:spPr>
          <a:xfrm>
            <a:off x="9784080" y="7159752"/>
            <a:ext cx="4114800" cy="274320"/>
          </a:xfrm>
          <a:prstGeom prst="rect">
            <a:avLst/>
          </a:prstGeom>
          <a:noFill/>
        </p:spPr>
        <p:txBody>
          <a:bodyPr wrap="square" lIns="0" rIns="0" tIns="0" bIns="0">
            <a:spAutoFit/>
          </a:bodyPr>
          <a:lstStyle/>
          <a:p>
            <a:pPr algn="l">
              <a:spcAft>
                <a:spcPts val="400"/>
              </a:spcAft>
              <a:defRPr sz="1000" b="0">
                <a:solidFill>
                  <a:srgbClr val="56625B"/>
                </a:solidFill>
                <a:latin typeface="Poppins"/>
              </a:defRPr>
            </a:pPr>
            <a:r>
              <a:t>Interface du 15/09/2026 · données de démo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22</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C3.4.2 / DÉMONTRER ET VALIDER</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S’INSCRIRE ET RETROUVER LES PARTICIPANTS</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Parcours grimpeur puis club.</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22</a:t>
            </a:r>
          </a:p>
        </p:txBody>
      </p:sp>
      <p:sp>
        <p:nvSpPr>
          <p:cNvPr id="9" name="Rounded Rectangle 8"/>
          <p:cNvSpPr/>
          <p:nvPr/>
        </p:nvSpPr>
        <p:spPr>
          <a:xfrm>
            <a:off x="594360" y="2286000"/>
            <a:ext cx="8412480" cy="5166360"/>
          </a:xfrm>
          <a:prstGeom prst="roundRect">
            <a:avLst>
              <a:gd name="adj" fmla="val 4000"/>
            </a:avLst>
          </a:prstGeom>
          <a:solidFill>
            <a:srgbClr val="244B43"/>
          </a:solidFill>
          <a:ln>
            <a:noFill/>
          </a:ln>
          <a:effectLst/>
        </p:spPr>
        <p:txBody>
          <a:bodyPr rtlCol="0" anchor="ctr"/>
          <a:lstStyle/>
          <a:p>
            <a:pPr algn="ctr"/>
          </a:p>
        </p:txBody>
      </p:sp>
      <p:pic>
        <p:nvPicPr>
          <p:cNvPr id="10" name="Picture 9" descr="evenements-2026-09-15"/>
          <p:cNvPicPr>
            <a:picLocks noChangeAspect="1"/>
          </p:cNvPicPr>
          <p:nvPr/>
        </p:nvPicPr>
        <p:blipFill>
          <a:blip r:embed="rId3"/>
          <a:stretch>
            <a:fillRect/>
          </a:stretch>
        </p:blipFill>
        <p:spPr>
          <a:xfrm>
            <a:off x="1219078" y="2377440"/>
            <a:ext cx="7163043" cy="4974336"/>
          </a:xfrm>
          <a:prstGeom prst="rect">
            <a:avLst/>
          </a:prstGeom>
        </p:spPr>
      </p:pic>
      <p:sp>
        <p:nvSpPr>
          <p:cNvPr id="11" name="Rounded Rectangle 10"/>
          <p:cNvSpPr/>
          <p:nvPr/>
        </p:nvSpPr>
        <p:spPr>
          <a:xfrm>
            <a:off x="9784080" y="2880360"/>
            <a:ext cx="914400" cy="329184"/>
          </a:xfrm>
          <a:prstGeom prst="roundRect">
            <a:avLst>
              <a:gd name="adj" fmla="val 4000"/>
            </a:avLst>
          </a:prstGeom>
          <a:solidFill>
            <a:srgbClr val="E9EFE8"/>
          </a:solidFill>
          <a:ln>
            <a:noFill/>
          </a:ln>
          <a:effectLst/>
        </p:spPr>
        <p:txBody>
          <a:bodyPr rtlCol="0" anchor="ctr"/>
          <a:lstStyle/>
          <a:p>
            <a:pPr algn="ctr"/>
          </a:p>
        </p:txBody>
      </p:sp>
      <p:sp>
        <p:nvSpPr>
          <p:cNvPr id="12" name="TextBox 11"/>
          <p:cNvSpPr txBox="1"/>
          <p:nvPr/>
        </p:nvSpPr>
        <p:spPr>
          <a:xfrm>
            <a:off x="9902952" y="2939796"/>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01</a:t>
            </a:r>
          </a:p>
        </p:txBody>
      </p:sp>
      <p:sp>
        <p:nvSpPr>
          <p:cNvPr id="13" name="TextBox 12"/>
          <p:cNvSpPr txBox="1"/>
          <p:nvPr/>
        </p:nvSpPr>
        <p:spPr>
          <a:xfrm>
            <a:off x="9784080" y="3319272"/>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Événement</a:t>
            </a:r>
          </a:p>
        </p:txBody>
      </p:sp>
      <p:sp>
        <p:nvSpPr>
          <p:cNvPr id="14" name="Rounded Rectangle 13"/>
          <p:cNvSpPr/>
          <p:nvPr/>
        </p:nvSpPr>
        <p:spPr>
          <a:xfrm>
            <a:off x="9784080" y="4105656"/>
            <a:ext cx="914400" cy="329184"/>
          </a:xfrm>
          <a:prstGeom prst="roundRect">
            <a:avLst>
              <a:gd name="adj" fmla="val 4000"/>
            </a:avLst>
          </a:prstGeom>
          <a:solidFill>
            <a:srgbClr val="E9EFE8"/>
          </a:solidFill>
          <a:ln>
            <a:noFill/>
          </a:ln>
          <a:effectLst/>
        </p:spPr>
        <p:txBody>
          <a:bodyPr rtlCol="0" anchor="ctr"/>
          <a:lstStyle/>
          <a:p>
            <a:pPr algn="ctr"/>
          </a:p>
        </p:txBody>
      </p:sp>
      <p:sp>
        <p:nvSpPr>
          <p:cNvPr id="15" name="TextBox 14"/>
          <p:cNvSpPr txBox="1"/>
          <p:nvPr/>
        </p:nvSpPr>
        <p:spPr>
          <a:xfrm>
            <a:off x="9902952" y="4165092"/>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02</a:t>
            </a:r>
          </a:p>
        </p:txBody>
      </p:sp>
      <p:sp>
        <p:nvSpPr>
          <p:cNvPr id="16" name="TextBox 15"/>
          <p:cNvSpPr txBox="1"/>
          <p:nvPr/>
        </p:nvSpPr>
        <p:spPr>
          <a:xfrm>
            <a:off x="9784080" y="4544568"/>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Inscription</a:t>
            </a:r>
          </a:p>
        </p:txBody>
      </p:sp>
      <p:sp>
        <p:nvSpPr>
          <p:cNvPr id="17" name="Rounded Rectangle 16"/>
          <p:cNvSpPr/>
          <p:nvPr/>
        </p:nvSpPr>
        <p:spPr>
          <a:xfrm>
            <a:off x="9784080" y="5330952"/>
            <a:ext cx="914400" cy="329184"/>
          </a:xfrm>
          <a:prstGeom prst="roundRect">
            <a:avLst>
              <a:gd name="adj" fmla="val 4000"/>
            </a:avLst>
          </a:prstGeom>
          <a:solidFill>
            <a:srgbClr val="E9EFE8"/>
          </a:solidFill>
          <a:ln>
            <a:noFill/>
          </a:ln>
          <a:effectLst/>
        </p:spPr>
        <p:txBody>
          <a:bodyPr rtlCol="0" anchor="ctr"/>
          <a:lstStyle/>
          <a:p>
            <a:pPr algn="ctr"/>
          </a:p>
        </p:txBody>
      </p:sp>
      <p:sp>
        <p:nvSpPr>
          <p:cNvPr id="18" name="TextBox 17"/>
          <p:cNvSpPr txBox="1"/>
          <p:nvPr/>
        </p:nvSpPr>
        <p:spPr>
          <a:xfrm>
            <a:off x="9902952" y="5390388"/>
            <a:ext cx="67665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03</a:t>
            </a:r>
          </a:p>
        </p:txBody>
      </p:sp>
      <p:sp>
        <p:nvSpPr>
          <p:cNvPr id="19" name="TextBox 18"/>
          <p:cNvSpPr txBox="1"/>
          <p:nvPr/>
        </p:nvSpPr>
        <p:spPr>
          <a:xfrm>
            <a:off x="9784080" y="5769864"/>
            <a:ext cx="4023360" cy="502920"/>
          </a:xfrm>
          <a:prstGeom prst="rect">
            <a:avLst/>
          </a:prstGeom>
          <a:noFill/>
        </p:spPr>
        <p:txBody>
          <a:bodyPr wrap="square" lIns="0" rIns="0" tIns="0" bIns="0">
            <a:spAutoFit/>
          </a:bodyPr>
          <a:lstStyle/>
          <a:p>
            <a:pPr algn="l">
              <a:spcAft>
                <a:spcPts val="400"/>
              </a:spcAft>
              <a:defRPr sz="2800" b="1">
                <a:solidFill>
                  <a:srgbClr val="244B43"/>
                </a:solidFill>
                <a:latin typeface="Poppins"/>
              </a:defRPr>
            </a:pPr>
            <a:r>
              <a:t>Participants</a:t>
            </a:r>
          </a:p>
        </p:txBody>
      </p:sp>
      <p:sp>
        <p:nvSpPr>
          <p:cNvPr id="20" name="TextBox 19"/>
          <p:cNvSpPr txBox="1"/>
          <p:nvPr/>
        </p:nvSpPr>
        <p:spPr>
          <a:xfrm>
            <a:off x="9784080" y="7159752"/>
            <a:ext cx="4114800" cy="274320"/>
          </a:xfrm>
          <a:prstGeom prst="rect">
            <a:avLst/>
          </a:prstGeom>
          <a:noFill/>
        </p:spPr>
        <p:txBody>
          <a:bodyPr wrap="square" lIns="0" rIns="0" tIns="0" bIns="0">
            <a:spAutoFit/>
          </a:bodyPr>
          <a:lstStyle/>
          <a:p>
            <a:pPr algn="l">
              <a:spcAft>
                <a:spcPts val="400"/>
              </a:spcAft>
              <a:defRPr sz="1000" b="0">
                <a:solidFill>
                  <a:srgbClr val="56625B"/>
                </a:solidFill>
                <a:latin typeface="Poppins"/>
              </a:defRPr>
            </a:pPr>
            <a:r>
              <a:t>Interface du 15/09/2026 · données de démo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23</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C3.4.2 / DÉMONTRER ET VALIDER</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CONCLURE PAR UNE DÉCISION DE VALIDATION</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Un bilan des résultats et des suites à donner.</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23</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DÉMONSTRATION</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Critères observés</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Inès relève les résultats ; Sami confirme la version présentée.</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DÉCISION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Accepté / avec réserve / refusé</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Dorian présente le bilan ; Claire décide selon les critères.</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554B"/>
                </a:solidFill>
                <a:latin typeface="Poppins"/>
              </a:defRPr>
            </a:pPr>
            <a:r>
              <a:t>SUITE</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400" b="1">
                <a:solidFill>
                  <a:srgbClr val="244B43"/>
                </a:solidFill>
                <a:latin typeface="Poppins"/>
              </a:defRPr>
            </a:pPr>
            <a:r>
              <a:t>Traiter les réserves</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1800" b="0">
                <a:solidFill>
                  <a:srgbClr val="56625B"/>
                </a:solidFill>
                <a:latin typeface="Poppins"/>
              </a:defRPr>
            </a:pPr>
            <a:r>
              <a:t>Léa et Hugo corrigent ; Inès recontrôle ; Sami livre.</a:t>
            </a:r>
          </a:p>
        </p:txBody>
      </p:sp>
      <p:sp>
        <p:nvSpPr>
          <p:cNvPr id="21" name="Rounded Rectangle 20"/>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22" name="TextBox 21"/>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Une réserve donne lieu à une action, un responsable et une prochaine vérification.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24</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ANNEXE / VUE D’ENSEMBLE</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SYNTHÈSE DU PILOTAGE</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Organisation, décisions et critères de validation.</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24</a:t>
            </a:r>
          </a:p>
        </p:txBody>
      </p:sp>
      <p:graphicFrame>
        <p:nvGraphicFramePr>
          <p:cNvPr id="9" name="Table 8"/>
          <p:cNvGraphicFramePr>
            <a:graphicFrameLocks noGrp="1"/>
          </p:cNvGraphicFramePr>
          <p:nvPr/>
        </p:nvGraphicFramePr>
        <p:xfrm>
          <a:off x="594360" y="2423160"/>
          <a:ext cx="13441680" cy="4261103"/>
        </p:xfrm>
        <a:graphic>
          <a:graphicData uri="http://schemas.openxmlformats.org/drawingml/2006/table">
            <a:tbl>
              <a:tblPr firstRow="1" bandRow="1">
                <a:tableStyleId>{5C22544A-7EE6-4342-B048-85BDC9FD1C3A}</a:tableStyleId>
              </a:tblPr>
              <a:tblGrid>
                <a:gridCol w="2743200"/>
                <a:gridCol w="4983480"/>
                <a:gridCol w="5715000"/>
              </a:tblGrid>
              <a:tr h="608729">
                <a:tc>
                  <a:txBody>
                    <a:bodyPr/>
                    <a:lstStyle/>
                    <a:p>
                      <a:pPr>
                        <a:defRPr sz="1500" b="1">
                          <a:solidFill>
                            <a:srgbClr val="FFFFFF"/>
                          </a:solidFill>
                          <a:latin typeface="Poppins"/>
                        </a:defRPr>
                      </a:pPr>
                      <a:r>
                        <a:t>Axe</a:t>
                      </a:r>
                    </a:p>
                  </a:txBody>
                  <a:tcPr marL="137160" marR="109728" marT="64008" marB="54864" anchor="ctr">
                    <a:solidFill>
                      <a:srgbClr val="244B43"/>
                    </a:solidFill>
                    <a:lnL>
                      <a:noFill/>
                    </a:lnL>
                    <a:lnR>
                      <a:noFill/>
                    </a:lnR>
                    <a:lnT>
                      <a:noFill/>
                    </a:lnT>
                    <a:lnB>
                      <a:noFill/>
                    </a:lnB>
                  </a:tcPr>
                </a:tc>
                <a:tc>
                  <a:txBody>
                    <a:bodyPr/>
                    <a:lstStyle/>
                    <a:p>
                      <a:pPr>
                        <a:defRPr sz="1500" b="1">
                          <a:solidFill>
                            <a:srgbClr val="FFFFFF"/>
                          </a:solidFill>
                          <a:latin typeface="Poppins"/>
                        </a:defRPr>
                      </a:pPr>
                      <a:r>
                        <a:t>Responsable du cas</a:t>
                      </a:r>
                    </a:p>
                  </a:txBody>
                  <a:tcPr marL="137160" marR="109728" marT="64008" marB="54864" anchor="ctr">
                    <a:solidFill>
                      <a:srgbClr val="244B43"/>
                    </a:solidFill>
                    <a:lnL>
                      <a:noFill/>
                    </a:lnL>
                    <a:lnR>
                      <a:noFill/>
                    </a:lnR>
                    <a:lnT>
                      <a:noFill/>
                    </a:lnT>
                    <a:lnB>
                      <a:noFill/>
                    </a:lnB>
                  </a:tcPr>
                </a:tc>
                <a:tc>
                  <a:txBody>
                    <a:bodyPr/>
                    <a:lstStyle/>
                    <a:p>
                      <a:pPr>
                        <a:defRPr sz="1500" b="1">
                          <a:solidFill>
                            <a:srgbClr val="FFFFFF"/>
                          </a:solidFill>
                          <a:latin typeface="Poppins"/>
                        </a:defRPr>
                      </a:pPr>
                      <a:r>
                        <a:t>Décision ou livrable</a:t>
                      </a:r>
                    </a:p>
                  </a:txBody>
                  <a:tcPr marL="137160" marR="109728" marT="64008" marB="54864" anchor="ctr">
                    <a:solidFill>
                      <a:srgbClr val="244B43"/>
                    </a:solidFill>
                    <a:lnL>
                      <a:noFill/>
                    </a:lnL>
                    <a:lnR>
                      <a:noFill/>
                    </a:lnR>
                    <a:lnT>
                      <a:noFill/>
                    </a:lnT>
                    <a:lnB>
                      <a:noFill/>
                    </a:lnB>
                  </a:tcPr>
                </a:tc>
              </a:tr>
              <a:tr h="608729">
                <a:tc>
                  <a:txBody>
                    <a:bodyPr/>
                    <a:lstStyle/>
                    <a:p>
                      <a:pPr>
                        <a:defRPr sz="1500" b="1">
                          <a:solidFill>
                            <a:srgbClr val="244B43"/>
                          </a:solidFill>
                          <a:latin typeface="Poppins"/>
                        </a:defRPr>
                      </a:pPr>
                      <a:r>
                        <a:t>Organisation</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Dorian</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Priorités, capacité et jalons</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Expérience utilisateur</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Léa</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Parcours et maquettes accessibles</a:t>
                      </a:r>
                    </a:p>
                  </a:txBody>
                  <a:tcPr marL="137160" marR="109728" marT="64008" marB="54864" anchor="ctr">
                    <a:solidFill>
                      <a:srgbClr val="E9EFE8"/>
                    </a:solidFill>
                    <a:lnL>
                      <a:noFill/>
                    </a:lnL>
                    <a:lnR>
                      <a:noFill/>
                    </a:lnR>
                    <a:lnT>
                      <a:noFill/>
                    </a:lnT>
                    <a:lnB>
                      <a:noFill/>
                    </a:lnB>
                  </a:tcPr>
                </a:tc>
              </a:tr>
              <a:tr h="608729">
                <a:tc>
                  <a:txBody>
                    <a:bodyPr/>
                    <a:lstStyle/>
                    <a:p>
                      <a:pPr>
                        <a:defRPr sz="1500" b="1">
                          <a:solidFill>
                            <a:srgbClr val="244B43"/>
                          </a:solidFill>
                          <a:latin typeface="Poppins"/>
                        </a:defRPr>
                      </a:pPr>
                      <a:r>
                        <a:t>Réalisation</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Hugo</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Interfaces, API et corrections</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Qualité</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Inès</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Recette, anomalies et recontrôle</a:t>
                      </a:r>
                    </a:p>
                  </a:txBody>
                  <a:tcPr marL="137160" marR="109728" marT="64008" marB="54864" anchor="ctr">
                    <a:solidFill>
                      <a:srgbClr val="E9EFE8"/>
                    </a:solidFill>
                    <a:lnL>
                      <a:noFill/>
                    </a:lnL>
                    <a:lnR>
                      <a:noFill/>
                    </a:lnR>
                    <a:lnT>
                      <a:noFill/>
                    </a:lnT>
                    <a:lnB>
                      <a:noFill/>
                    </a:lnB>
                  </a:tcPr>
                </a:tc>
              </a:tr>
              <a:tr h="608729">
                <a:tc>
                  <a:txBody>
                    <a:bodyPr/>
                    <a:lstStyle/>
                    <a:p>
                      <a:pPr>
                        <a:defRPr sz="1500" b="1">
                          <a:solidFill>
                            <a:srgbClr val="244B43"/>
                          </a:solidFill>
                          <a:latin typeface="Poppins"/>
                        </a:defRPr>
                      </a:pPr>
                      <a:r>
                        <a:t>Livraison</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Sami</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Version, sécurité et santé</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Réception</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Claire</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Acceptation ou réserves</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Mise en situation : je coordonne les contributions et je conserve la trace des décisions.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25</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ANNEXE / CHRONOLOGIE RÉELLE DU DÉPÔT</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LES ÉTAPES ENREGISTRÉES DANS GIT</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Jalons de développement issus de l’historique des versions.</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25</a:t>
            </a:r>
          </a:p>
        </p:txBody>
      </p:sp>
      <p:sp>
        <p:nvSpPr>
          <p:cNvPr id="9" name="TextBox 8"/>
          <p:cNvSpPr txBox="1"/>
          <p:nvPr/>
        </p:nvSpPr>
        <p:spPr>
          <a:xfrm>
            <a:off x="731520" y="2651760"/>
            <a:ext cx="2743200" cy="868680"/>
          </a:xfrm>
          <a:prstGeom prst="rect">
            <a:avLst/>
          </a:prstGeom>
          <a:noFill/>
        </p:spPr>
        <p:txBody>
          <a:bodyPr wrap="square" lIns="0" rIns="0" tIns="0" bIns="0">
            <a:spAutoFit/>
          </a:bodyPr>
          <a:lstStyle/>
          <a:p>
            <a:pPr algn="l">
              <a:spcAft>
                <a:spcPts val="400"/>
              </a:spcAft>
              <a:defRPr sz="5600" b="1">
                <a:solidFill>
                  <a:srgbClr val="28554B"/>
                </a:solidFill>
                <a:latin typeface="Poppins"/>
              </a:defRPr>
            </a:pPr>
            <a:r>
              <a:t>1 an</a:t>
            </a:r>
          </a:p>
        </p:txBody>
      </p:sp>
      <p:sp>
        <p:nvSpPr>
          <p:cNvPr id="10" name="TextBox 9"/>
          <p:cNvSpPr txBox="1"/>
          <p:nvPr/>
        </p:nvSpPr>
        <p:spPr>
          <a:xfrm>
            <a:off x="731520" y="3584448"/>
            <a:ext cx="2743200" cy="548640"/>
          </a:xfrm>
          <a:prstGeom prst="rect">
            <a:avLst/>
          </a:prstGeom>
          <a:noFill/>
        </p:spPr>
        <p:txBody>
          <a:bodyPr wrap="square" lIns="0" rIns="0" tIns="0" bIns="0">
            <a:spAutoFit/>
          </a:bodyPr>
          <a:lstStyle/>
          <a:p>
            <a:pPr algn="l">
              <a:spcAft>
                <a:spcPts val="400"/>
              </a:spcAft>
              <a:defRPr sz="2000" b="1">
                <a:solidFill>
                  <a:srgbClr val="244B43"/>
                </a:solidFill>
                <a:latin typeface="Poppins"/>
              </a:defRPr>
            </a:pPr>
            <a:r>
              <a:t>projet solo</a:t>
            </a:r>
          </a:p>
        </p:txBody>
      </p:sp>
      <p:sp>
        <p:nvSpPr>
          <p:cNvPr id="11" name="TextBox 10"/>
          <p:cNvSpPr txBox="1"/>
          <p:nvPr/>
        </p:nvSpPr>
        <p:spPr>
          <a:xfrm>
            <a:off x="731520" y="4315968"/>
            <a:ext cx="2743200" cy="1005840"/>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De la conception</a:t>
            </a:r>
          </a:p>
          <a:p>
            <a:pPr algn="l">
              <a:spcAft>
                <a:spcPts val="400"/>
              </a:spcAft>
              <a:defRPr sz="1600" b="0">
                <a:solidFill>
                  <a:srgbClr val="56625B"/>
                </a:solidFill>
                <a:latin typeface="Poppins"/>
              </a:defRPr>
            </a:pPr>
            <a:r>
              <a:t>à la livraison</a:t>
            </a:r>
          </a:p>
        </p:txBody>
      </p:sp>
      <p:sp>
        <p:nvSpPr>
          <p:cNvPr id="12" name="Rounded Rectangle 11"/>
          <p:cNvSpPr/>
          <p:nvPr/>
        </p:nvSpPr>
        <p:spPr>
          <a:xfrm>
            <a:off x="4023360" y="2423160"/>
            <a:ext cx="1463040" cy="329184"/>
          </a:xfrm>
          <a:prstGeom prst="roundRect">
            <a:avLst>
              <a:gd name="adj" fmla="val 4000"/>
            </a:avLst>
          </a:prstGeom>
          <a:solidFill>
            <a:srgbClr val="E9EFE8"/>
          </a:solidFill>
          <a:ln>
            <a:noFill/>
          </a:ln>
          <a:effectLst/>
        </p:spPr>
        <p:txBody>
          <a:bodyPr rtlCol="0" anchor="ctr"/>
          <a:lstStyle/>
          <a:p>
            <a:pPr algn="ctr"/>
          </a:p>
        </p:txBody>
      </p:sp>
      <p:sp>
        <p:nvSpPr>
          <p:cNvPr id="13" name="TextBox 12"/>
          <p:cNvSpPr txBox="1"/>
          <p:nvPr/>
        </p:nvSpPr>
        <p:spPr>
          <a:xfrm>
            <a:off x="4142232" y="2482596"/>
            <a:ext cx="12252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JAN. 2026</a:t>
            </a:r>
          </a:p>
        </p:txBody>
      </p:sp>
      <p:sp>
        <p:nvSpPr>
          <p:cNvPr id="14" name="TextBox 13"/>
          <p:cNvSpPr txBox="1"/>
          <p:nvPr/>
        </p:nvSpPr>
        <p:spPr>
          <a:xfrm>
            <a:off x="5742432" y="2404872"/>
            <a:ext cx="7772400" cy="411480"/>
          </a:xfrm>
          <a:prstGeom prst="rect">
            <a:avLst/>
          </a:prstGeom>
          <a:noFill/>
        </p:spPr>
        <p:txBody>
          <a:bodyPr wrap="square" lIns="0" rIns="0" tIns="0" bIns="0">
            <a:spAutoFit/>
          </a:bodyPr>
          <a:lstStyle/>
          <a:p>
            <a:pPr algn="l">
              <a:spcAft>
                <a:spcPts val="400"/>
              </a:spcAft>
              <a:defRPr sz="2300" b="1">
                <a:solidFill>
                  <a:srgbClr val="244B43"/>
                </a:solidFill>
                <a:latin typeface="Poppins"/>
              </a:defRPr>
            </a:pPr>
            <a:r>
              <a:t>Fondations</a:t>
            </a:r>
          </a:p>
        </p:txBody>
      </p:sp>
      <p:sp>
        <p:nvSpPr>
          <p:cNvPr id="15" name="TextBox 14"/>
          <p:cNvSpPr txBox="1"/>
          <p:nvPr/>
        </p:nvSpPr>
        <p:spPr>
          <a:xfrm>
            <a:off x="5742432" y="2843784"/>
            <a:ext cx="7772400" cy="292608"/>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Next.js, Tailwind, Drizzle</a:t>
            </a:r>
          </a:p>
        </p:txBody>
      </p:sp>
      <p:cxnSp>
        <p:nvCxnSpPr>
          <p:cNvPr id="16" name="Connector 15"/>
          <p:cNvCxnSpPr/>
          <p:nvPr/>
        </p:nvCxnSpPr>
        <p:spPr>
          <a:xfrm>
            <a:off x="5742432" y="3163824"/>
            <a:ext cx="8065008" cy="0"/>
          </a:xfrm>
          <a:prstGeom prst="line">
            <a:avLst/>
          </a:prstGeom>
          <a:ln w="12700">
            <a:solidFill>
              <a:srgbClr val="D7DFD6"/>
            </a:solidFill>
          </a:ln>
          <a:effectLst/>
        </p:spPr>
      </p:cxnSp>
      <p:sp>
        <p:nvSpPr>
          <p:cNvPr id="17" name="Rounded Rectangle 16"/>
          <p:cNvSpPr/>
          <p:nvPr/>
        </p:nvSpPr>
        <p:spPr>
          <a:xfrm>
            <a:off x="4023360" y="3255264"/>
            <a:ext cx="1463040" cy="329184"/>
          </a:xfrm>
          <a:prstGeom prst="roundRect">
            <a:avLst>
              <a:gd name="adj" fmla="val 4000"/>
            </a:avLst>
          </a:prstGeom>
          <a:solidFill>
            <a:srgbClr val="E9EFE8"/>
          </a:solidFill>
          <a:ln>
            <a:noFill/>
          </a:ln>
          <a:effectLst/>
        </p:spPr>
        <p:txBody>
          <a:bodyPr rtlCol="0" anchor="ctr"/>
          <a:lstStyle/>
          <a:p>
            <a:pPr algn="ctr"/>
          </a:p>
        </p:txBody>
      </p:sp>
      <p:sp>
        <p:nvSpPr>
          <p:cNvPr id="18" name="TextBox 17"/>
          <p:cNvSpPr txBox="1"/>
          <p:nvPr/>
        </p:nvSpPr>
        <p:spPr>
          <a:xfrm>
            <a:off x="4142232" y="3314700"/>
            <a:ext cx="12252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MAI</a:t>
            </a:r>
          </a:p>
        </p:txBody>
      </p:sp>
      <p:sp>
        <p:nvSpPr>
          <p:cNvPr id="19" name="TextBox 18"/>
          <p:cNvSpPr txBox="1"/>
          <p:nvPr/>
        </p:nvSpPr>
        <p:spPr>
          <a:xfrm>
            <a:off x="5742432" y="3236976"/>
            <a:ext cx="7772400" cy="411480"/>
          </a:xfrm>
          <a:prstGeom prst="rect">
            <a:avLst/>
          </a:prstGeom>
          <a:noFill/>
        </p:spPr>
        <p:txBody>
          <a:bodyPr wrap="square" lIns="0" rIns="0" tIns="0" bIns="0">
            <a:spAutoFit/>
          </a:bodyPr>
          <a:lstStyle/>
          <a:p>
            <a:pPr algn="l">
              <a:spcAft>
                <a:spcPts val="400"/>
              </a:spcAft>
              <a:defRPr sz="2300" b="1">
                <a:solidFill>
                  <a:srgbClr val="244B43"/>
                </a:solidFill>
                <a:latin typeface="Poppins"/>
              </a:defRPr>
            </a:pPr>
            <a:r>
              <a:t>Premiers parcours</a:t>
            </a:r>
          </a:p>
        </p:txBody>
      </p:sp>
      <p:sp>
        <p:nvSpPr>
          <p:cNvPr id="20" name="TextBox 19"/>
          <p:cNvSpPr txBox="1"/>
          <p:nvPr/>
        </p:nvSpPr>
        <p:spPr>
          <a:xfrm>
            <a:off x="5742432" y="3675888"/>
            <a:ext cx="7772400" cy="292608"/>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Connexion, profils, lieux</a:t>
            </a:r>
          </a:p>
        </p:txBody>
      </p:sp>
      <p:cxnSp>
        <p:nvCxnSpPr>
          <p:cNvPr id="21" name="Connector 20"/>
          <p:cNvCxnSpPr/>
          <p:nvPr/>
        </p:nvCxnSpPr>
        <p:spPr>
          <a:xfrm>
            <a:off x="5742432" y="3995928"/>
            <a:ext cx="8065008" cy="0"/>
          </a:xfrm>
          <a:prstGeom prst="line">
            <a:avLst/>
          </a:prstGeom>
          <a:ln w="12700">
            <a:solidFill>
              <a:srgbClr val="D7DFD6"/>
            </a:solidFill>
          </a:ln>
          <a:effectLst/>
        </p:spPr>
      </p:cxnSp>
      <p:sp>
        <p:nvSpPr>
          <p:cNvPr id="22" name="Rounded Rectangle 21"/>
          <p:cNvSpPr/>
          <p:nvPr/>
        </p:nvSpPr>
        <p:spPr>
          <a:xfrm>
            <a:off x="4023360" y="4087368"/>
            <a:ext cx="1463040" cy="329184"/>
          </a:xfrm>
          <a:prstGeom prst="roundRect">
            <a:avLst>
              <a:gd name="adj" fmla="val 4000"/>
            </a:avLst>
          </a:prstGeom>
          <a:solidFill>
            <a:srgbClr val="E9EFE8"/>
          </a:solidFill>
          <a:ln>
            <a:noFill/>
          </a:ln>
          <a:effectLst/>
        </p:spPr>
        <p:txBody>
          <a:bodyPr rtlCol="0" anchor="ctr"/>
          <a:lstStyle/>
          <a:p>
            <a:pPr algn="ctr"/>
          </a:p>
        </p:txBody>
      </p:sp>
      <p:sp>
        <p:nvSpPr>
          <p:cNvPr id="23" name="TextBox 22"/>
          <p:cNvSpPr txBox="1"/>
          <p:nvPr/>
        </p:nvSpPr>
        <p:spPr>
          <a:xfrm>
            <a:off x="4142232" y="4146804"/>
            <a:ext cx="12252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JUILLET</a:t>
            </a:r>
          </a:p>
        </p:txBody>
      </p:sp>
      <p:sp>
        <p:nvSpPr>
          <p:cNvPr id="24" name="TextBox 23"/>
          <p:cNvSpPr txBox="1"/>
          <p:nvPr/>
        </p:nvSpPr>
        <p:spPr>
          <a:xfrm>
            <a:off x="5742432" y="4069080"/>
            <a:ext cx="7772400" cy="411480"/>
          </a:xfrm>
          <a:prstGeom prst="rect">
            <a:avLst/>
          </a:prstGeom>
          <a:noFill/>
        </p:spPr>
        <p:txBody>
          <a:bodyPr wrap="square" lIns="0" rIns="0" tIns="0" bIns="0">
            <a:spAutoFit/>
          </a:bodyPr>
          <a:lstStyle/>
          <a:p>
            <a:pPr algn="l">
              <a:spcAft>
                <a:spcPts val="400"/>
              </a:spcAft>
              <a:defRPr sz="2300" b="1">
                <a:solidFill>
                  <a:srgbClr val="244B43"/>
                </a:solidFill>
                <a:latin typeface="Poppins"/>
              </a:defRPr>
            </a:pPr>
            <a:r>
              <a:t>Prototype testé</a:t>
            </a:r>
          </a:p>
        </p:txBody>
      </p:sp>
      <p:sp>
        <p:nvSpPr>
          <p:cNvPr id="25" name="TextBox 24"/>
          <p:cNvSpPr txBox="1"/>
          <p:nvPr/>
        </p:nvSpPr>
        <p:spPr>
          <a:xfrm>
            <a:off x="5742432" y="4507992"/>
            <a:ext cx="7772400" cy="292608"/>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Matching, événements, CI</a:t>
            </a:r>
          </a:p>
        </p:txBody>
      </p:sp>
      <p:cxnSp>
        <p:nvCxnSpPr>
          <p:cNvPr id="26" name="Connector 25"/>
          <p:cNvCxnSpPr/>
          <p:nvPr/>
        </p:nvCxnSpPr>
        <p:spPr>
          <a:xfrm>
            <a:off x="5742432" y="4828031"/>
            <a:ext cx="8065008" cy="0"/>
          </a:xfrm>
          <a:prstGeom prst="line">
            <a:avLst/>
          </a:prstGeom>
          <a:ln w="12700">
            <a:solidFill>
              <a:srgbClr val="D7DFD6"/>
            </a:solidFill>
          </a:ln>
          <a:effectLst/>
        </p:spPr>
      </p:cxnSp>
      <p:sp>
        <p:nvSpPr>
          <p:cNvPr id="27" name="Rounded Rectangle 26"/>
          <p:cNvSpPr/>
          <p:nvPr/>
        </p:nvSpPr>
        <p:spPr>
          <a:xfrm>
            <a:off x="4023360" y="4919472"/>
            <a:ext cx="1463040" cy="329184"/>
          </a:xfrm>
          <a:prstGeom prst="roundRect">
            <a:avLst>
              <a:gd name="adj" fmla="val 4000"/>
            </a:avLst>
          </a:prstGeom>
          <a:solidFill>
            <a:srgbClr val="E9EFE8"/>
          </a:solidFill>
          <a:ln>
            <a:noFill/>
          </a:ln>
          <a:effectLst/>
        </p:spPr>
        <p:txBody>
          <a:bodyPr rtlCol="0" anchor="ctr"/>
          <a:lstStyle/>
          <a:p>
            <a:pPr algn="ctr"/>
          </a:p>
        </p:txBody>
      </p:sp>
      <p:sp>
        <p:nvSpPr>
          <p:cNvPr id="28" name="TextBox 27"/>
          <p:cNvSpPr txBox="1"/>
          <p:nvPr/>
        </p:nvSpPr>
        <p:spPr>
          <a:xfrm>
            <a:off x="4142232" y="4978908"/>
            <a:ext cx="12252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AOÛT</a:t>
            </a:r>
          </a:p>
        </p:txBody>
      </p:sp>
      <p:sp>
        <p:nvSpPr>
          <p:cNvPr id="29" name="TextBox 28"/>
          <p:cNvSpPr txBox="1"/>
          <p:nvPr/>
        </p:nvSpPr>
        <p:spPr>
          <a:xfrm>
            <a:off x="5742432" y="4901184"/>
            <a:ext cx="7772400" cy="411480"/>
          </a:xfrm>
          <a:prstGeom prst="rect">
            <a:avLst/>
          </a:prstGeom>
          <a:noFill/>
        </p:spPr>
        <p:txBody>
          <a:bodyPr wrap="square" lIns="0" rIns="0" tIns="0" bIns="0">
            <a:spAutoFit/>
          </a:bodyPr>
          <a:lstStyle/>
          <a:p>
            <a:pPr algn="l">
              <a:spcAft>
                <a:spcPts val="400"/>
              </a:spcAft>
              <a:defRPr sz="2300" b="1">
                <a:solidFill>
                  <a:srgbClr val="244B43"/>
                </a:solidFill>
                <a:latin typeface="Poppins"/>
              </a:defRPr>
            </a:pPr>
            <a:r>
              <a:t>Maintenance</a:t>
            </a:r>
          </a:p>
        </p:txBody>
      </p:sp>
      <p:sp>
        <p:nvSpPr>
          <p:cNvPr id="30" name="TextBox 29"/>
          <p:cNvSpPr txBox="1"/>
          <p:nvPr/>
        </p:nvSpPr>
        <p:spPr>
          <a:xfrm>
            <a:off x="5742432" y="5340096"/>
            <a:ext cx="7772400" cy="292608"/>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Supervision, incidents, qualité</a:t>
            </a:r>
          </a:p>
        </p:txBody>
      </p:sp>
      <p:cxnSp>
        <p:nvCxnSpPr>
          <p:cNvPr id="31" name="Connector 30"/>
          <p:cNvCxnSpPr/>
          <p:nvPr/>
        </p:nvCxnSpPr>
        <p:spPr>
          <a:xfrm>
            <a:off x="5742432" y="5660136"/>
            <a:ext cx="8065008" cy="0"/>
          </a:xfrm>
          <a:prstGeom prst="line">
            <a:avLst/>
          </a:prstGeom>
          <a:ln w="12700">
            <a:solidFill>
              <a:srgbClr val="D7DFD6"/>
            </a:solidFill>
          </a:ln>
          <a:effectLst/>
        </p:spPr>
      </p:cxnSp>
      <p:sp>
        <p:nvSpPr>
          <p:cNvPr id="32" name="Rounded Rectangle 31"/>
          <p:cNvSpPr/>
          <p:nvPr/>
        </p:nvSpPr>
        <p:spPr>
          <a:xfrm>
            <a:off x="4023360" y="5751576"/>
            <a:ext cx="1463040" cy="329184"/>
          </a:xfrm>
          <a:prstGeom prst="roundRect">
            <a:avLst>
              <a:gd name="adj" fmla="val 4000"/>
            </a:avLst>
          </a:prstGeom>
          <a:solidFill>
            <a:srgbClr val="E9EFE8"/>
          </a:solidFill>
          <a:ln>
            <a:noFill/>
          </a:ln>
          <a:effectLst/>
        </p:spPr>
        <p:txBody>
          <a:bodyPr rtlCol="0" anchor="ctr"/>
          <a:lstStyle/>
          <a:p>
            <a:pPr algn="ctr"/>
          </a:p>
        </p:txBody>
      </p:sp>
      <p:sp>
        <p:nvSpPr>
          <p:cNvPr id="33" name="TextBox 32"/>
          <p:cNvSpPr txBox="1"/>
          <p:nvPr/>
        </p:nvSpPr>
        <p:spPr>
          <a:xfrm>
            <a:off x="4142232" y="5811012"/>
            <a:ext cx="1225296" cy="219456"/>
          </a:xfrm>
          <a:prstGeom prst="rect">
            <a:avLst/>
          </a:prstGeom>
          <a:noFill/>
        </p:spPr>
        <p:txBody>
          <a:bodyPr wrap="square" lIns="0" rIns="0" tIns="0" bIns="0">
            <a:spAutoFit/>
          </a:bodyPr>
          <a:lstStyle/>
          <a:p>
            <a:pPr algn="l">
              <a:spcAft>
                <a:spcPts val="400"/>
              </a:spcAft>
              <a:defRPr sz="1000" b="1">
                <a:solidFill>
                  <a:srgbClr val="28554B"/>
                </a:solidFill>
                <a:latin typeface="Poppins"/>
              </a:defRPr>
            </a:pPr>
            <a:r>
              <a:t>SEPT.</a:t>
            </a:r>
          </a:p>
        </p:txBody>
      </p:sp>
      <p:sp>
        <p:nvSpPr>
          <p:cNvPr id="34" name="TextBox 33"/>
          <p:cNvSpPr txBox="1"/>
          <p:nvPr/>
        </p:nvSpPr>
        <p:spPr>
          <a:xfrm>
            <a:off x="5742432" y="5733288"/>
            <a:ext cx="7772400" cy="411480"/>
          </a:xfrm>
          <a:prstGeom prst="rect">
            <a:avLst/>
          </a:prstGeom>
          <a:noFill/>
        </p:spPr>
        <p:txBody>
          <a:bodyPr wrap="square" lIns="0" rIns="0" tIns="0" bIns="0">
            <a:spAutoFit/>
          </a:bodyPr>
          <a:lstStyle/>
          <a:p>
            <a:pPr algn="l">
              <a:spcAft>
                <a:spcPts val="400"/>
              </a:spcAft>
              <a:defRPr sz="2300" b="1">
                <a:solidFill>
                  <a:srgbClr val="244B43"/>
                </a:solidFill>
                <a:latin typeface="Poppins"/>
              </a:defRPr>
            </a:pPr>
            <a:r>
              <a:t>Livraison enrichie</a:t>
            </a:r>
          </a:p>
        </p:txBody>
      </p:sp>
      <p:sp>
        <p:nvSpPr>
          <p:cNvPr id="35" name="TextBox 34"/>
          <p:cNvSpPr txBox="1"/>
          <p:nvPr/>
        </p:nvSpPr>
        <p:spPr>
          <a:xfrm>
            <a:off x="5742432" y="6172200"/>
            <a:ext cx="7772400" cy="292608"/>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Médias, administration, topos</a:t>
            </a:r>
          </a:p>
        </p:txBody>
      </p:sp>
      <p:sp>
        <p:nvSpPr>
          <p:cNvPr id="36" name="Rounded Rectangle 35"/>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37" name="TextBox 36"/>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Les commits datent des versions ; ils ne mesurent pas les heures travaillées.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2"/>
        </a:solidFill>
        <a:effectLst/>
      </p:bgPr>
    </p:bg>
    <p:spTree>
      <p:nvGrpSpPr>
        <p:cNvPr id="1" name=""/>
        <p:cNvGrpSpPr/>
        <p:nvPr/>
      </p:nvGrpSpPr>
      <p:grpSpPr/>
      <p:sp>
        <p:nvSpPr>
          <p:cNvPr id="2" name="Rounded Rectangle 1"/>
          <p:cNvSpPr/>
          <p:nvPr/>
        </p:nvSpPr>
        <p:spPr>
          <a:xfrm>
            <a:off x="594360" y="393192"/>
            <a:ext cx="512064" cy="283464"/>
          </a:xfrm>
          <a:prstGeom prst="roundRect">
            <a:avLst>
              <a:gd name="adj" fmla="val 4000"/>
            </a:avLst>
          </a:prstGeom>
          <a:solidFill>
            <a:srgbClr val="28554B"/>
          </a:solidFill>
          <a:ln>
            <a:noFill/>
          </a:ln>
          <a:effectLst/>
        </p:spPr>
        <p:txBody>
          <a:bodyPr rtlCol="0" anchor="ctr"/>
          <a:lstStyle/>
          <a:p>
            <a:pPr algn="ctr"/>
          </a:p>
        </p:txBody>
      </p:sp>
      <p:sp>
        <p:nvSpPr>
          <p:cNvPr id="3" name="TextBox 2"/>
          <p:cNvSpPr txBox="1"/>
          <p:nvPr/>
        </p:nvSpPr>
        <p:spPr>
          <a:xfrm>
            <a:off x="594360" y="448056"/>
            <a:ext cx="512064" cy="182880"/>
          </a:xfrm>
          <a:prstGeom prst="rect">
            <a:avLst/>
          </a:prstGeom>
          <a:noFill/>
        </p:spPr>
        <p:txBody>
          <a:bodyPr wrap="square" lIns="0" rIns="0" tIns="0" bIns="0">
            <a:spAutoFit/>
          </a:bodyPr>
          <a:lstStyle/>
          <a:p>
            <a:pPr algn="ctr">
              <a:spcAft>
                <a:spcPts val="400"/>
              </a:spcAft>
              <a:defRPr sz="800" b="1">
                <a:solidFill>
                  <a:srgbClr val="FFFFFF"/>
                </a:solidFill>
                <a:latin typeface="Poppins"/>
              </a:defRPr>
            </a:pPr>
            <a:r>
              <a:t>26</a:t>
            </a:r>
          </a:p>
        </p:txBody>
      </p:sp>
      <p:sp>
        <p:nvSpPr>
          <p:cNvPr id="4" name="TextBox 3"/>
          <p:cNvSpPr txBox="1"/>
          <p:nvPr/>
        </p:nvSpPr>
        <p:spPr>
          <a:xfrm>
            <a:off x="1252728" y="438912"/>
            <a:ext cx="12252960" cy="246888"/>
          </a:xfrm>
          <a:prstGeom prst="rect">
            <a:avLst/>
          </a:prstGeom>
          <a:noFill/>
        </p:spPr>
        <p:txBody>
          <a:bodyPr wrap="square" lIns="0" rIns="0" tIns="0" bIns="0">
            <a:spAutoFit/>
          </a:bodyPr>
          <a:lstStyle/>
          <a:p>
            <a:pPr algn="l">
              <a:spcAft>
                <a:spcPts val="400"/>
              </a:spcAft>
              <a:defRPr sz="900" b="0">
                <a:solidFill>
                  <a:srgbClr val="56625B"/>
                </a:solidFill>
                <a:latin typeface="Poppins"/>
              </a:defRPr>
            </a:pPr>
            <a:r>
              <a:t>ANNEXE / C3.3.2 · TRANSMISSION RH</a:t>
            </a:r>
          </a:p>
        </p:txBody>
      </p:sp>
      <p:sp>
        <p:nvSpPr>
          <p:cNvPr id="5" name="TextBox 4"/>
          <p:cNvSpPr txBox="1"/>
          <p:nvPr/>
        </p:nvSpPr>
        <p:spPr>
          <a:xfrm>
            <a:off x="594360" y="950976"/>
            <a:ext cx="13441680" cy="749808"/>
          </a:xfrm>
          <a:prstGeom prst="rect">
            <a:avLst/>
          </a:prstGeom>
          <a:noFill/>
        </p:spPr>
        <p:txBody>
          <a:bodyPr wrap="square" lIns="0" rIns="0" tIns="0" bIns="0">
            <a:spAutoFit/>
          </a:bodyPr>
          <a:lstStyle/>
          <a:p>
            <a:pPr algn="l">
              <a:spcAft>
                <a:spcPts val="400"/>
              </a:spcAft>
              <a:defRPr sz="3200" b="0">
                <a:solidFill>
                  <a:srgbClr val="244B43"/>
                </a:solidFill>
                <a:latin typeface="Archivo Black"/>
              </a:defRPr>
            </a:pPr>
            <a:r>
              <a:t>PRÉPARER UN BESOIN DE RENFORT</a:t>
            </a:r>
          </a:p>
        </p:txBody>
      </p:sp>
      <p:sp>
        <p:nvSpPr>
          <p:cNvPr id="6" name="TextBox 5"/>
          <p:cNvSpPr txBox="1"/>
          <p:nvPr/>
        </p:nvSpPr>
        <p:spPr>
          <a:xfrm>
            <a:off x="621792" y="1737360"/>
            <a:ext cx="13258800" cy="576072"/>
          </a:xfrm>
          <a:prstGeom prst="rect">
            <a:avLst/>
          </a:prstGeom>
          <a:noFill/>
        </p:spPr>
        <p:txBody>
          <a:bodyPr wrap="square" lIns="0" rIns="0" tIns="0" bIns="0">
            <a:spAutoFit/>
          </a:bodyPr>
          <a:lstStyle/>
          <a:p>
            <a:pPr algn="l">
              <a:spcAft>
                <a:spcPts val="400"/>
              </a:spcAft>
              <a:defRPr sz="1600" b="0">
                <a:solidFill>
                  <a:srgbClr val="56625B"/>
                </a:solidFill>
                <a:latin typeface="Poppins"/>
              </a:defRPr>
            </a:pPr>
            <a:r>
              <a:t>Mise en situation · demande de renfort conditionnelle.</a:t>
            </a:r>
          </a:p>
        </p:txBody>
      </p:sp>
      <p:cxnSp>
        <p:nvCxnSpPr>
          <p:cNvPr id="7" name="Connector 6"/>
          <p:cNvCxnSpPr/>
          <p:nvPr/>
        </p:nvCxnSpPr>
        <p:spPr>
          <a:xfrm>
            <a:off x="594360" y="7781544"/>
            <a:ext cx="1005840" cy="0"/>
          </a:xfrm>
          <a:prstGeom prst="line">
            <a:avLst/>
          </a:prstGeom>
          <a:ln w="10795">
            <a:solidFill>
              <a:srgbClr val="28554B"/>
            </a:solidFill>
          </a:ln>
          <a:effectLst/>
        </p:spPr>
      </p:cxnSp>
      <p:sp>
        <p:nvSpPr>
          <p:cNvPr id="8" name="TextBox 7"/>
          <p:cNvSpPr txBox="1"/>
          <p:nvPr/>
        </p:nvSpPr>
        <p:spPr>
          <a:xfrm>
            <a:off x="13395960" y="7744968"/>
            <a:ext cx="640080" cy="237744"/>
          </a:xfrm>
          <a:prstGeom prst="rect">
            <a:avLst/>
          </a:prstGeom>
          <a:noFill/>
        </p:spPr>
        <p:txBody>
          <a:bodyPr wrap="square" lIns="0" rIns="0" tIns="0" bIns="0">
            <a:spAutoFit/>
          </a:bodyPr>
          <a:lstStyle/>
          <a:p>
            <a:pPr algn="r">
              <a:spcAft>
                <a:spcPts val="400"/>
              </a:spcAft>
              <a:defRPr sz="1000" b="0">
                <a:solidFill>
                  <a:srgbClr val="56625B"/>
                </a:solidFill>
                <a:latin typeface="Poppins"/>
              </a:defRPr>
            </a:pPr>
            <a:r>
              <a:t>26</a:t>
            </a:r>
          </a:p>
        </p:txBody>
      </p:sp>
      <p:graphicFrame>
        <p:nvGraphicFramePr>
          <p:cNvPr id="9" name="Table 8"/>
          <p:cNvGraphicFramePr>
            <a:graphicFrameLocks noGrp="1"/>
          </p:cNvGraphicFramePr>
          <p:nvPr/>
        </p:nvGraphicFramePr>
        <p:xfrm>
          <a:off x="594360" y="2423160"/>
          <a:ext cx="13441680" cy="4261103"/>
        </p:xfrm>
        <a:graphic>
          <a:graphicData uri="http://schemas.openxmlformats.org/drawingml/2006/table">
            <a:tbl>
              <a:tblPr firstRow="1" bandRow="1">
                <a:tableStyleId>{5C22544A-7EE6-4342-B048-85BDC9FD1C3A}</a:tableStyleId>
              </a:tblPr>
              <a:tblGrid>
                <a:gridCol w="3200400"/>
                <a:gridCol w="10241280"/>
              </a:tblGrid>
              <a:tr h="608729">
                <a:tc>
                  <a:txBody>
                    <a:bodyPr/>
                    <a:lstStyle/>
                    <a:p>
                      <a:pPr>
                        <a:defRPr sz="1500" b="1">
                          <a:solidFill>
                            <a:srgbClr val="FFFFFF"/>
                          </a:solidFill>
                          <a:latin typeface="Poppins"/>
                        </a:defRPr>
                      </a:pPr>
                      <a:r>
                        <a:t>Rubrique</a:t>
                      </a:r>
                    </a:p>
                  </a:txBody>
                  <a:tcPr marL="137160" marR="109728" marT="64008" marB="54864" anchor="ctr">
                    <a:solidFill>
                      <a:srgbClr val="244B43"/>
                    </a:solidFill>
                    <a:lnL>
                      <a:noFill/>
                    </a:lnL>
                    <a:lnR>
                      <a:noFill/>
                    </a:lnR>
                    <a:lnT>
                      <a:noFill/>
                    </a:lnT>
                    <a:lnB>
                      <a:noFill/>
                    </a:lnB>
                  </a:tcPr>
                </a:tc>
                <a:tc>
                  <a:txBody>
                    <a:bodyPr/>
                    <a:lstStyle/>
                    <a:p>
                      <a:pPr>
                        <a:defRPr sz="1500" b="1">
                          <a:solidFill>
                            <a:srgbClr val="FFFFFF"/>
                          </a:solidFill>
                          <a:latin typeface="Poppins"/>
                        </a:defRPr>
                      </a:pPr>
                      <a:r>
                        <a:t>Besoin à transmettre aux ressources humaines</a:t>
                      </a:r>
                    </a:p>
                  </a:txBody>
                  <a:tcPr marL="137160" marR="109728" marT="64008" marB="54864" anchor="ctr">
                    <a:solidFill>
                      <a:srgbClr val="244B43"/>
                    </a:solidFill>
                    <a:lnL>
                      <a:noFill/>
                    </a:lnL>
                    <a:lnR>
                      <a:noFill/>
                    </a:lnR>
                    <a:lnT>
                      <a:noFill/>
                    </a:lnT>
                    <a:lnB>
                      <a:noFill/>
                    </a:lnB>
                  </a:tcPr>
                </a:tc>
              </a:tr>
              <a:tr h="608729">
                <a:tc>
                  <a:txBody>
                    <a:bodyPr/>
                    <a:lstStyle/>
                    <a:p>
                      <a:pPr>
                        <a:defRPr sz="1500" b="1">
                          <a:solidFill>
                            <a:srgbClr val="244B43"/>
                          </a:solidFill>
                          <a:latin typeface="Poppins"/>
                        </a:defRPr>
                      </a:pPr>
                      <a:r>
                        <a:t>Déclencheur</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Compétence QA critique indisponible après formation et évaluation</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Demandeur</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Dorian formalise ; Inès précise les scénarios à couvrir</a:t>
                      </a:r>
                    </a:p>
                  </a:txBody>
                  <a:tcPr marL="137160" marR="109728" marT="64008" marB="54864" anchor="ctr">
                    <a:solidFill>
                      <a:srgbClr val="E9EFE8"/>
                    </a:solidFill>
                    <a:lnL>
                      <a:noFill/>
                    </a:lnL>
                    <a:lnR>
                      <a:noFill/>
                    </a:lnR>
                    <a:lnT>
                      <a:noFill/>
                    </a:lnT>
                    <a:lnB>
                      <a:noFill/>
                    </a:lnB>
                  </a:tcPr>
                </a:tc>
              </a:tr>
              <a:tr h="608729">
                <a:tc>
                  <a:txBody>
                    <a:bodyPr/>
                    <a:lstStyle/>
                    <a:p>
                      <a:pPr>
                        <a:defRPr sz="1500" b="1">
                          <a:solidFill>
                            <a:srgbClr val="244B43"/>
                          </a:solidFill>
                          <a:latin typeface="Poppins"/>
                        </a:defRPr>
                      </a:pPr>
                      <a:r>
                        <a:t>Mission</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4 h de recette navigateur et clavier avant restitution</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Profil / sélection</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Exercice accessible, qualification d’anomalie et communication écrite</a:t>
                      </a:r>
                    </a:p>
                  </a:txBody>
                  <a:tcPr marL="137160" marR="109728" marT="64008" marB="54864" anchor="ctr">
                    <a:solidFill>
                      <a:srgbClr val="E9EFE8"/>
                    </a:solidFill>
                    <a:lnL>
                      <a:noFill/>
                    </a:lnL>
                    <a:lnR>
                      <a:noFill/>
                    </a:lnR>
                    <a:lnT>
                      <a:noFill/>
                    </a:lnT>
                    <a:lnB>
                      <a:noFill/>
                    </a:lnB>
                  </a:tcPr>
                </a:tc>
              </a:tr>
              <a:tr h="608729">
                <a:tc>
                  <a:txBody>
                    <a:bodyPr/>
                    <a:lstStyle/>
                    <a:p>
                      <a:pPr>
                        <a:defRPr sz="1500" b="1">
                          <a:solidFill>
                            <a:srgbClr val="244B43"/>
                          </a:solidFill>
                          <a:latin typeface="Poppins"/>
                        </a:defRPr>
                      </a:pPr>
                      <a:r>
                        <a:t>Coût indicatif</a:t>
                      </a:r>
                    </a:p>
                  </a:txBody>
                  <a:tcPr marL="137160" marR="109728" marT="64008" marB="54864" anchor="ctr">
                    <a:solidFill>
                      <a:srgbClr val="FFFFFF"/>
                    </a:solidFill>
                    <a:lnL>
                      <a:noFill/>
                    </a:lnL>
                    <a:lnR>
                      <a:noFill/>
                    </a:lnR>
                    <a:lnT>
                      <a:noFill/>
                    </a:lnT>
                    <a:lnB>
                      <a:noFill/>
                    </a:lnB>
                  </a:tcPr>
                </a:tc>
                <a:tc>
                  <a:txBody>
                    <a:bodyPr/>
                    <a:lstStyle/>
                    <a:p>
                      <a:pPr>
                        <a:defRPr sz="1500" b="0">
                          <a:solidFill>
                            <a:srgbClr val="244B43"/>
                          </a:solidFill>
                          <a:latin typeface="Poppins"/>
                        </a:defRPr>
                      </a:pPr>
                      <a:r>
                        <a:t>4 h × 45 € = 180 € ; hors base, accueil à estimer</a:t>
                      </a:r>
                    </a:p>
                  </a:txBody>
                  <a:tcPr marL="137160" marR="109728" marT="64008" marB="54864" anchor="ctr">
                    <a:solidFill>
                      <a:srgbClr val="FFFFFF"/>
                    </a:solidFill>
                    <a:lnL>
                      <a:noFill/>
                    </a:lnL>
                    <a:lnR>
                      <a:noFill/>
                    </a:lnR>
                    <a:lnT>
                      <a:noFill/>
                    </a:lnT>
                    <a:lnB>
                      <a:noFill/>
                    </a:lnB>
                  </a:tcPr>
                </a:tc>
              </a:tr>
              <a:tr h="608729">
                <a:tc>
                  <a:txBody>
                    <a:bodyPr/>
                    <a:lstStyle/>
                    <a:p>
                      <a:pPr>
                        <a:defRPr sz="1500" b="1">
                          <a:solidFill>
                            <a:srgbClr val="244B43"/>
                          </a:solidFill>
                          <a:latin typeface="Poppins"/>
                        </a:defRPr>
                      </a:pPr>
                      <a:r>
                        <a:t>Intégration</a:t>
                      </a:r>
                    </a:p>
                  </a:txBody>
                  <a:tcPr marL="137160" marR="109728" marT="64008" marB="54864" anchor="ctr">
                    <a:solidFill>
                      <a:srgbClr val="E9EFE8"/>
                    </a:solidFill>
                    <a:lnL>
                      <a:noFill/>
                    </a:lnL>
                    <a:lnR>
                      <a:noFill/>
                    </a:lnR>
                    <a:lnT>
                      <a:noFill/>
                    </a:lnT>
                    <a:lnB>
                      <a:noFill/>
                    </a:lnB>
                  </a:tcPr>
                </a:tc>
                <a:tc>
                  <a:txBody>
                    <a:bodyPr/>
                    <a:lstStyle/>
                    <a:p>
                      <a:pPr>
                        <a:defRPr sz="1500" b="0">
                          <a:solidFill>
                            <a:srgbClr val="244B43"/>
                          </a:solidFill>
                          <a:latin typeface="Poppins"/>
                        </a:defRPr>
                      </a:pPr>
                      <a:r>
                        <a:t>Inès accompagne ; Sami limite les accès ; Dorian suit le résultat</a:t>
                      </a:r>
                    </a:p>
                  </a:txBody>
                  <a:tcPr marL="137160" marR="109728" marT="64008" marB="54864" anchor="ctr">
                    <a:solidFill>
                      <a:srgbClr val="E9EFE8"/>
                    </a:solidFill>
                    <a:lnL>
                      <a:noFill/>
                    </a:lnL>
                    <a:lnR>
                      <a:noFill/>
                    </a:lnR>
                    <a:lnT>
                      <a:noFill/>
                    </a:lnT>
                    <a:lnB>
                      <a:noFill/>
                    </a:lnB>
                  </a:tcPr>
                </a:tc>
              </a:tr>
            </a:tbl>
          </a:graphicData>
        </a:graphic>
      </p:graphicFrame>
      <p:sp>
        <p:nvSpPr>
          <p:cNvPr id="10" name="Rounded Rectangle 9"/>
          <p:cNvSpPr/>
          <p:nvPr/>
        </p:nvSpPr>
        <p:spPr>
          <a:xfrm>
            <a:off x="594360" y="6995160"/>
            <a:ext cx="13441680" cy="585216"/>
          </a:xfrm>
          <a:prstGeom prst="roundRect">
            <a:avLst>
              <a:gd name="adj" fmla="val 4000"/>
            </a:avLst>
          </a:prstGeom>
          <a:solidFill>
            <a:srgbClr val="28554B"/>
          </a:solidFill>
          <a:ln>
            <a:noFill/>
          </a:ln>
          <a:effectLst/>
        </p:spPr>
        <p:txBody>
          <a:bodyPr rtlCol="0" anchor="ctr"/>
          <a:lstStyle/>
          <a:p>
            <a:pPr algn="ctr"/>
          </a:p>
        </p:txBody>
      </p:sp>
      <p:sp>
        <p:nvSpPr>
          <p:cNvPr id="11" name="TextBox 10"/>
          <p:cNvSpPr txBox="1"/>
          <p:nvPr/>
        </p:nvSpPr>
        <p:spPr>
          <a:xfrm>
            <a:off x="832104" y="7132320"/>
            <a:ext cx="12966192" cy="402336"/>
          </a:xfrm>
          <a:prstGeom prst="rect">
            <a:avLst/>
          </a:prstGeom>
          <a:noFill/>
        </p:spPr>
        <p:txBody>
          <a:bodyPr wrap="square" lIns="0" rIns="0" tIns="0" bIns="0">
            <a:spAutoFit/>
          </a:bodyPr>
          <a:lstStyle/>
          <a:p>
            <a:pPr algn="ctr">
              <a:spcAft>
                <a:spcPts val="400"/>
              </a:spcAft>
              <a:defRPr sz="1400" b="1">
                <a:solidFill>
                  <a:srgbClr val="FFFFFF"/>
                </a:solidFill>
                <a:latin typeface="Poppins"/>
              </a:defRPr>
            </a:pPr>
            <a:r>
              <a:t>Confirmer la mission, la disponibilité, les modalités et le budget avant engagement.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Spity — Piloter le projet | Bloc 3</dc:title>
  <dc:subject>Soutenance RNCP39583 — Coordonner et piloter Spity</dc:subject>
  <dc:creator>Dorian Joly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