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f111c8477d4a2e" /><Relationship Type="http://schemas.openxmlformats.org/officeDocument/2006/relationships/extended-properties" Target="/docProps/app.xml" Id="R98e0f9bda91640c8" /><Relationship Type="http://schemas.openxmlformats.org/officeDocument/2006/relationships/officeDocument" Target="/ppt/presentation.xml" Id="Rd025633846a44a03" /></Relationships>
</file>

<file path=ppt/presentation.xml><?xml version="1.0" encoding="utf-8"?>
<p:presentation xmlns:p="http://schemas.openxmlformats.org/presentationml/2006/main">
  <p:sldMasterIdLst>
    <p:sldMasterId xmlns:r="http://schemas.openxmlformats.org/officeDocument/2006/relationships" id="2147483648" r:id="Rad90a5f51e2c413c"/>
  </p:sldMasterIdLst>
  <p:notesMasterIdLst>
    <p:notesMasterId xmlns:r="http://schemas.openxmlformats.org/officeDocument/2006/relationships" r:id="Rdfc941818aa34e3a"/>
  </p:notesMasterIdLst>
  <p:sldIdLst>
    <p:sldId xmlns:r="http://schemas.openxmlformats.org/officeDocument/2006/relationships" id="256" r:id="Rdbf76e46985b416e"/>
    <p:sldId xmlns:r="http://schemas.openxmlformats.org/officeDocument/2006/relationships" id="257" r:id="R53b79b830f08429e"/>
    <p:sldId xmlns:r="http://schemas.openxmlformats.org/officeDocument/2006/relationships" id="258" r:id="R47c0eb625ec941b8"/>
    <p:sldId xmlns:r="http://schemas.openxmlformats.org/officeDocument/2006/relationships" id="259" r:id="Rf43d1cd45b0a47fa"/>
    <p:sldId xmlns:r="http://schemas.openxmlformats.org/officeDocument/2006/relationships" id="260" r:id="Rbbad090a4d154ee3"/>
    <p:sldId xmlns:r="http://schemas.openxmlformats.org/officeDocument/2006/relationships" id="261" r:id="R222a1b48e2a4485a"/>
    <p:sldId xmlns:r="http://schemas.openxmlformats.org/officeDocument/2006/relationships" id="262" r:id="R325a7855a41f47b3"/>
    <p:sldId xmlns:r="http://schemas.openxmlformats.org/officeDocument/2006/relationships" id="263" r:id="R70c9ab79bf4f4ea4"/>
    <p:sldId xmlns:r="http://schemas.openxmlformats.org/officeDocument/2006/relationships" id="264" r:id="R9a4c9fc86ecc4b2e"/>
    <p:sldId xmlns:r="http://schemas.openxmlformats.org/officeDocument/2006/relationships" id="265" r:id="R66a1dd6ac4864bc8"/>
    <p:sldId xmlns:r="http://schemas.openxmlformats.org/officeDocument/2006/relationships" id="266" r:id="R08fb95e3d6204d0c"/>
    <p:sldId xmlns:r="http://schemas.openxmlformats.org/officeDocument/2006/relationships" id="267" r:id="R1654e78012154335"/>
    <p:sldId xmlns:r="http://schemas.openxmlformats.org/officeDocument/2006/relationships" id="268" r:id="R93eb1c0f66524696"/>
    <p:sldId xmlns:r="http://schemas.openxmlformats.org/officeDocument/2006/relationships" id="269" r:id="Rec16acc2a8104d03"/>
    <p:sldId xmlns:r="http://schemas.openxmlformats.org/officeDocument/2006/relationships" id="270" r:id="R579085cc4c534b5a"/>
    <p:sldId xmlns:r="http://schemas.openxmlformats.org/officeDocument/2006/relationships" id="271" r:id="R44285ac2316446e0"/>
    <p:sldId xmlns:r="http://schemas.openxmlformats.org/officeDocument/2006/relationships" id="272" r:id="R9c592e4dcb5c4a9e"/>
    <p:sldId xmlns:r="http://schemas.openxmlformats.org/officeDocument/2006/relationships" id="273" r:id="Rb5a9f8d254bb4741"/>
    <p:sldId xmlns:r="http://schemas.openxmlformats.org/officeDocument/2006/relationships" id="274" r:id="R4d82bb731b374ee9"/>
    <p:sldId xmlns:r="http://schemas.openxmlformats.org/officeDocument/2006/relationships" id="275" r:id="R2e535591d54f4d23"/>
    <p:sldId xmlns:r="http://schemas.openxmlformats.org/officeDocument/2006/relationships" id="276" r:id="Ree89b7fef0eb4ff5"/>
    <p:sldId xmlns:r="http://schemas.openxmlformats.org/officeDocument/2006/relationships" id="277" r:id="Rad0504b45709407e"/>
    <p:sldId xmlns:r="http://schemas.openxmlformats.org/officeDocument/2006/relationships" id="278" r:id="Ra0b1f8e9179f4a3c"/>
    <p:sldId xmlns:r="http://schemas.openxmlformats.org/officeDocument/2006/relationships" id="279" r:id="R79a4b0e59c2a4d46"/>
    <p:sldId xmlns:r="http://schemas.openxmlformats.org/officeDocument/2006/relationships" id="280" r:id="R9047d7a4a38d49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7c4738eae9443f" /><Relationship Type="http://schemas.openxmlformats.org/officeDocument/2006/relationships/slideMaster" Target="/ppt/slideMasters/slideMaster1.xml" Id="Rad90a5f51e2c413c" /><Relationship Type="http://schemas.openxmlformats.org/officeDocument/2006/relationships/notesMaster" Target="/ppt/notesMasters/notesMaster1.xml" Id="Rdfc941818aa34e3a" /><Relationship Type="http://schemas.openxmlformats.org/officeDocument/2006/relationships/presProps" Target="/ppt/presProps.xml" Id="R46a81b59b8de41a3" /><Relationship Type="http://schemas.openxmlformats.org/officeDocument/2006/relationships/tableStyles" Target="/ppt/tableStyles.xml" Id="R350b977d743b4639" /><Relationship Type="http://schemas.openxmlformats.org/officeDocument/2006/relationships/slide" Target="/ppt/slides/slide1.xml" Id="Rdbf76e46985b416e" /><Relationship Type="http://schemas.openxmlformats.org/officeDocument/2006/relationships/slide" Target="/ppt/slides/slide2.xml" Id="R53b79b830f08429e" /><Relationship Type="http://schemas.openxmlformats.org/officeDocument/2006/relationships/slide" Target="/ppt/slides/slide3.xml" Id="R47c0eb625ec941b8" /><Relationship Type="http://schemas.openxmlformats.org/officeDocument/2006/relationships/slide" Target="/ppt/slides/slide4.xml" Id="Rf43d1cd45b0a47fa" /><Relationship Type="http://schemas.openxmlformats.org/officeDocument/2006/relationships/slide" Target="/ppt/slides/slide5.xml" Id="Rbbad090a4d154ee3" /><Relationship Type="http://schemas.openxmlformats.org/officeDocument/2006/relationships/slide" Target="/ppt/slides/slide6.xml" Id="R222a1b48e2a4485a" /><Relationship Type="http://schemas.openxmlformats.org/officeDocument/2006/relationships/slide" Target="/ppt/slides/slide7.xml" Id="R325a7855a41f47b3" /><Relationship Type="http://schemas.openxmlformats.org/officeDocument/2006/relationships/slide" Target="/ppt/slides/slide8.xml" Id="R70c9ab79bf4f4ea4" /><Relationship Type="http://schemas.openxmlformats.org/officeDocument/2006/relationships/slide" Target="/ppt/slides/slide9.xml" Id="R9a4c9fc86ecc4b2e" /><Relationship Type="http://schemas.openxmlformats.org/officeDocument/2006/relationships/slide" Target="/ppt/slides/slide10.xml" Id="R66a1dd6ac4864bc8" /><Relationship Type="http://schemas.openxmlformats.org/officeDocument/2006/relationships/slide" Target="/ppt/slides/slide11.xml" Id="R08fb95e3d6204d0c" /><Relationship Type="http://schemas.openxmlformats.org/officeDocument/2006/relationships/slide" Target="/ppt/slides/slide12.xml" Id="R1654e78012154335" /><Relationship Type="http://schemas.openxmlformats.org/officeDocument/2006/relationships/slide" Target="/ppt/slides/slide13.xml" Id="R93eb1c0f66524696" /><Relationship Type="http://schemas.openxmlformats.org/officeDocument/2006/relationships/slide" Target="/ppt/slides/slide14.xml" Id="Rec16acc2a8104d03" /><Relationship Type="http://schemas.openxmlformats.org/officeDocument/2006/relationships/slide" Target="/ppt/slides/slide15.xml" Id="R579085cc4c534b5a" /><Relationship Type="http://schemas.openxmlformats.org/officeDocument/2006/relationships/slide" Target="/ppt/slides/slide16.xml" Id="R44285ac2316446e0" /><Relationship Type="http://schemas.openxmlformats.org/officeDocument/2006/relationships/slide" Target="/ppt/slides/slide17.xml" Id="R9c592e4dcb5c4a9e" /><Relationship Type="http://schemas.openxmlformats.org/officeDocument/2006/relationships/slide" Target="/ppt/slides/slide18.xml" Id="Rb5a9f8d254bb4741" /><Relationship Type="http://schemas.openxmlformats.org/officeDocument/2006/relationships/slide" Target="/ppt/slides/slide19.xml" Id="R4d82bb731b374ee9" /><Relationship Type="http://schemas.openxmlformats.org/officeDocument/2006/relationships/slide" Target="/ppt/slides/slide20.xml" Id="R2e535591d54f4d23" /><Relationship Type="http://schemas.openxmlformats.org/officeDocument/2006/relationships/slide" Target="/ppt/slides/slide21.xml" Id="Ree89b7fef0eb4ff5" /><Relationship Type="http://schemas.openxmlformats.org/officeDocument/2006/relationships/slide" Target="/ppt/slides/slide22.xml" Id="Rad0504b45709407e" /><Relationship Type="http://schemas.openxmlformats.org/officeDocument/2006/relationships/slide" Target="/ppt/slides/slide23.xml" Id="Ra0b1f8e9179f4a3c" /><Relationship Type="http://schemas.openxmlformats.org/officeDocument/2006/relationships/slide" Target="/ppt/slides/slide24.xml" Id="R79a4b0e59c2a4d46" /><Relationship Type="http://schemas.openxmlformats.org/officeDocument/2006/relationships/slide" Target="/ppt/slides/slide25.xml" Id="R9047d7a4a38d49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dba5283899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526b08e90d4d0d" /><Relationship Type="http://schemas.openxmlformats.org/officeDocument/2006/relationships/notesMaster" Target="/ppt/notesMasters/notesMaster1.xml" Id="R303d619293ee41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e8982d7be6495d" /><Relationship Type="http://schemas.openxmlformats.org/officeDocument/2006/relationships/notesMaster" Target="/ppt/notesMasters/notesMaster1.xml" Id="R239019e6fd7641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c5e4352ade4bea" /><Relationship Type="http://schemas.openxmlformats.org/officeDocument/2006/relationships/notesMaster" Target="/ppt/notesMasters/notesMaster1.xml" Id="R2f9db41f9c7144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ecce9890954d1a" /><Relationship Type="http://schemas.openxmlformats.org/officeDocument/2006/relationships/notesMaster" Target="/ppt/notesMasters/notesMaster1.xml" Id="R14b9c741207247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8761d043304d9f" /><Relationship Type="http://schemas.openxmlformats.org/officeDocument/2006/relationships/notesMaster" Target="/ppt/notesMasters/notesMaster1.xml" Id="Red85cdcb2d6b48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657704ef22497a" /><Relationship Type="http://schemas.openxmlformats.org/officeDocument/2006/relationships/notesMaster" Target="/ppt/notesMasters/notesMaster1.xml" Id="R723878c9b77049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d953e7125845d6" /><Relationship Type="http://schemas.openxmlformats.org/officeDocument/2006/relationships/notesMaster" Target="/ppt/notesMasters/notesMaster1.xml" Id="R11d10560c5f845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5e0a16f3f644eb" /><Relationship Type="http://schemas.openxmlformats.org/officeDocument/2006/relationships/notesMaster" Target="/ppt/notesMasters/notesMaster1.xml" Id="R8f3c3d7a80ec4e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6967fced93468a" /><Relationship Type="http://schemas.openxmlformats.org/officeDocument/2006/relationships/notesMaster" Target="/ppt/notesMasters/notesMaster1.xml" Id="R469fb80174ae4a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a54da176b54fa3" /><Relationship Type="http://schemas.openxmlformats.org/officeDocument/2006/relationships/notesMaster" Target="/ppt/notesMasters/notesMaster1.xml" Id="Radce36e9bd8f49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de2e976fad4d85" /><Relationship Type="http://schemas.openxmlformats.org/officeDocument/2006/relationships/notesMaster" Target="/ppt/notesMasters/notesMaster1.xml" Id="R63541c3ded2b4b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e2e3bb05d54b75" /><Relationship Type="http://schemas.openxmlformats.org/officeDocument/2006/relationships/notesMaster" Target="/ppt/notesMasters/notesMaster1.xml" Id="R2579c8f4700741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de779c6b0a49da" /><Relationship Type="http://schemas.openxmlformats.org/officeDocument/2006/relationships/notesMaster" Target="/ppt/notesMasters/notesMaster1.xml" Id="Re0e9acdc53e447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d2298cb0964c44" /><Relationship Type="http://schemas.openxmlformats.org/officeDocument/2006/relationships/notesMaster" Target="/ppt/notesMasters/notesMaster1.xml" Id="Rb08dca041e0d4e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2d6e8f00124327" /><Relationship Type="http://schemas.openxmlformats.org/officeDocument/2006/relationships/notesMaster" Target="/ppt/notesMasters/notesMaster1.xml" Id="R65573018a18c43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562f7aef054490" /><Relationship Type="http://schemas.openxmlformats.org/officeDocument/2006/relationships/notesMaster" Target="/ppt/notesMasters/notesMaster1.xml" Id="Rbfa5bf62e5c841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9466c8afce4ac8" /><Relationship Type="http://schemas.openxmlformats.org/officeDocument/2006/relationships/notesMaster" Target="/ppt/notesMasters/notesMaster1.xml" Id="R258784805e6449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7c42a5802d4601" /><Relationship Type="http://schemas.openxmlformats.org/officeDocument/2006/relationships/notesMaster" Target="/ppt/notesMasters/notesMaster1.xml" Id="Rda35d5ad960241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2540e5be554dd5" /><Relationship Type="http://schemas.openxmlformats.org/officeDocument/2006/relationships/notesMaster" Target="/ppt/notesMasters/notesMaster1.xml" Id="R7d330b0e7ee74d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37c4349a3e482a" /><Relationship Type="http://schemas.openxmlformats.org/officeDocument/2006/relationships/notesMaster" Target="/ppt/notesMasters/notesMaster1.xml" Id="Rf3d1c448322446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45d34dae8c438d" /><Relationship Type="http://schemas.openxmlformats.org/officeDocument/2006/relationships/notesMaster" Target="/ppt/notesMasters/notesMaster1.xml" Id="Rc9bf943a6bf149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009869be4c24be5" /><Relationship Type="http://schemas.openxmlformats.org/officeDocument/2006/relationships/notesMaster" Target="/ppt/notesMasters/notesMaster1.xml" Id="R49ac664a699247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51bfdbbd47497c" /><Relationship Type="http://schemas.openxmlformats.org/officeDocument/2006/relationships/notesMaster" Target="/ppt/notesMasters/notesMaster1.xml" Id="R77dd4472f74c44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a9f1f5234594132" /><Relationship Type="http://schemas.openxmlformats.org/officeDocument/2006/relationships/notesMaster" Target="/ppt/notesMasters/notesMaster1.xml" Id="Re02475decf3b4a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1d41aff80448ed" /><Relationship Type="http://schemas.openxmlformats.org/officeDocument/2006/relationships/notesMaster" Target="/ppt/notesMasters/notesMaster1.xml" Id="R03ba070ff8f642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Le besoin retenu pour cette présentation est concret : préparer une sortie avec des personnes compatibles avec sa pratique. Un grimpeur doit pouvoir comprendre les profils proposés, consulter les informations d'un événement et savoir si son inscription a abouti. Le club a un autre besoin : organiser la sortie et retrouver les participants autorisés.</a:t>
            </a:r>
          </a:p>
          <a:p xmlns:a="http://schemas.openxmlformats.org/drawingml/2006/main">
            <a:r>
              <a:t/>
            </a:r>
          </a:p>
          <a:p xmlns:a="http://schemas.openxmlformats.org/drawingml/2006/main">
            <a:r>
              <a:t>Ces deux points de vue déterminent ce que je vais montrer. Une page qui s'affiche correctement reste insuffisante si l'utilisateur ne comprend pas l'état de sa demande ou le nombre de places disponibles. Je retiens donc des critères observables sur le parcours complet. La capture présente le répertoire de lieux, qui apporte le contexte géographique de la pratique.</a:t>
            </a:r>
          </a:p>
          <a:p xmlns:a="http://schemas.openxmlformats.org/drawingml/2006/main">
            <a:r>
              <a:t/>
            </a:r>
          </a:p>
          <a:p xmlns:a="http://schemas.openxmlformats.org/drawingml/2006/main">
            <a:r>
              <a:t>TRANSITION</a:t>
            </a:r>
          </a:p>
          <a:p xmlns:a="http://schemas.openxmlformats.org/drawingml/2006/main">
            <a:r>
              <a:t>Il faut ensuite préciser sur quelles preuves repose cette présentation.</a:t>
            </a:r>
          </a:p>
          <a:p xmlns:a="http://schemas.openxmlformats.org/drawingml/2006/main">
            <a:r>
              <a:t/>
            </a:r>
          </a:p>
          <a:p xmlns:a="http://schemas.openxmlformats.org/drawingml/2006/main">
            <a:r>
              <a:t>SOURCE ET NATURE</a:t>
            </a:r>
          </a:p>
          <a:p xmlns:a="http://schemas.openxmlformats.org/drawingml/2006/main">
            <a:r>
              <a:t>Produit Spity. DOSSIER_BLOC_03 §1-2. Capture locale du 14 septembre 2026, données de démonstration.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Cette présentation combine deux ensembles que je distingue clairement. D'un côté, le logiciel existe. Le dépôt contient le code, des modifications datées et des résultats de vérification. Je peux montrer ces éléments et préciser leur portée.</a:t>
            </a:r>
          </a:p>
          <a:p xmlns:a="http://schemas.openxmlformats.org/drawingml/2006/main">
            <a:r>
              <a:t/>
            </a:r>
          </a:p>
          <a:p xmlns:a="http://schemas.openxmlformats.org/drawingml/2006/main">
            <a:r>
              <a:t>De l'autre, j'utilise un cas professionnel fictif pour expliquer le pilotage d'une petite équipe. Les rôles, les charges, les coûts et les réunions client de ce cas sont des hypothèses pédagogiques. Le référentiel autorise une mise en situation réelle ou fictive. Je présente donc ces éléments comme un scénario. Les comptes de démonstration ne correspondent pas à des personnes interrogées. Cette distinction permet au jury de comprendre exactement ce qui est observé et ce qui relève de mon raisonnement de pilotage.</a:t>
            </a:r>
          </a:p>
          <a:p xmlns:a="http://schemas.openxmlformats.org/drawingml/2006/main">
            <a:r>
              <a:t/>
            </a:r>
          </a:p>
          <a:p xmlns:a="http://schemas.openxmlformats.org/drawingml/2006/main">
            <a:r>
              <a:t>TRANSITION</a:t>
            </a:r>
          </a:p>
          <a:p xmlns:a="http://schemas.openxmlformats.org/drawingml/2006/main">
            <a:r>
              <a:t>Dans ce cadre, je retiens une organisation simple, adaptée au lot.</a:t>
            </a:r>
          </a:p>
          <a:p xmlns:a="http://schemas.openxmlformats.org/drawingml/2006/main">
            <a:r>
              <a:t/>
            </a:r>
          </a:p>
          <a:p xmlns:a="http://schemas.openxmlformats.org/drawingml/2006/main">
            <a:r>
              <a:t>SOURCE ET NATURE</a:t>
            </a:r>
          </a:p>
          <a:p xmlns:a="http://schemas.openxmlformats.org/drawingml/2006/main">
            <a:r>
              <a:t>Produit réel et mise en situation fictive. Référentiel p. 11. DOSSIER_BLOC_03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Pour ce cas, je retiens Kanban, avec des jalons de validation. Le lot est court, l'effectif réduit et les priorités peuvent évoluer. L'objectif est de rendre le travail visible et d'éviter de commencer trop de fonctions avant de terminer leur vérification.</a:t>
            </a:r>
          </a:p>
          <a:p xmlns:a="http://schemas.openxmlformats.org/drawingml/2006/main">
            <a:r>
              <a:t/>
            </a:r>
          </a:p>
          <a:p xmlns:a="http://schemas.openxmlformats.org/drawingml/2006/main">
            <a:r>
              <a:t>Une tâche entre dans le tableau lorsque son besoin et ses critères sont compréhensibles. Elle passe en cours lorsqu'un responsable dispose de la capacité nécessaire. Elle rejoint ensuite la colonne à vérifier, puis terminé après la recette. Je limite à deux le nombre de tâches de réalisation simultanées. Si une tâche reste bloquée, la priorité est de traiter ce blocage avant d'ouvrir un nouveau chantier.</a:t>
            </a:r>
          </a:p>
          <a:p xmlns:a="http://schemas.openxmlformats.org/drawingml/2006/main">
            <a:r>
              <a:t/>
            </a:r>
          </a:p>
          <a:p xmlns:a="http://schemas.openxmlformats.org/drawingml/2006/main">
            <a:r>
              <a:t>Je conserve des jalons pour le périmètre, les écarts et la réception. Linear sert au suivi des tâches, Git à la traçabilité des changements, et le classeur aux charges et aux coûts. Je n'affirme pas que toutes les cérémonies Scrum ont été pratiquées sur le projet. Le choix présenté ici répond aux contraintes du scénario et reste contrôlable par des critères simples.</a:t>
            </a:r>
          </a:p>
          <a:p xmlns:a="http://schemas.openxmlformats.org/drawingml/2006/main">
            <a:r>
              <a:t/>
            </a:r>
          </a:p>
          <a:p xmlns:a="http://schemas.openxmlformats.org/drawingml/2006/main">
            <a:r>
              <a:t>GESTE OU MANIPULATION</a:t>
            </a:r>
          </a:p>
          <a:p xmlns:a="http://schemas.openxmlformats.org/drawingml/2006/main">
            <a:r>
              <a:t>Montrer les quatre états, puis expliquer le blocage avec un exemple.</a:t>
            </a:r>
          </a:p>
          <a:p xmlns:a="http://schemas.openxmlformats.org/drawingml/2006/main">
            <a:r>
              <a:t/>
            </a:r>
          </a:p>
          <a:p xmlns:a="http://schemas.openxmlformats.org/drawingml/2006/main">
            <a:r>
              <a:t>TRANSITION</a:t>
            </a:r>
          </a:p>
          <a:p xmlns:a="http://schemas.openxmlformats.org/drawingml/2006/main">
            <a:r>
              <a:t>Ces règles de travail se placent dans un planning de quinze jours ouvrés.</a:t>
            </a:r>
          </a:p>
          <a:p xmlns:a="http://schemas.openxmlformats.org/drawingml/2006/main">
            <a:r>
              <a:t/>
            </a:r>
          </a:p>
          <a:p xmlns:a="http://schemas.openxmlformats.org/drawingml/2006/main">
            <a:r>
              <a:t>SOURCE ET NATURE</a:t>
            </a:r>
          </a:p>
          <a:p xmlns:a="http://schemas.openxmlformats.org/drawingml/2006/main">
            <a:r>
              <a:t>C.3.1, simulation pédagogique. DOSSIER_BLOC_03 §3. A01 et 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Le planning couvre quinze jours ouvrés relatifs. J1 à J15 désignent les jours du cas, pas des dates historiques du développement de Spity. Je conserve la référence initiale pour pouvoir expliquer les changements au lieu d'effacer les retards.</a:t>
            </a:r>
          </a:p>
          <a:p xmlns:a="http://schemas.openxmlformats.org/drawingml/2006/main">
            <a:r>
              <a:t/>
            </a:r>
          </a:p>
          <a:p xmlns:a="http://schemas.openxmlformats.org/drawingml/2006/main">
            <a:r>
              <a:t>Le travail commence par l'étude du besoin et la mesure des critères attendus. Il comprend ensuite la conception de l'organisation, la réalisation des parcours, leur recette et la restitution. À J3, le client fictif valide le périmètre. À J8, le parcours partenaire doit être vérifié. J10 sert à examiner les écarts et à arbitrer les demandes nouvelles. La recette se clôt à J14 avant la démonstration de J15.</a:t>
            </a:r>
          </a:p>
          <a:p xmlns:a="http://schemas.openxmlformats.org/drawingml/2006/main">
            <a:r>
              <a:t/>
            </a:r>
          </a:p>
          <a:p xmlns:a="http://schemas.openxmlformats.org/drawingml/2006/main">
            <a:r>
              <a:t>Les dépendances sont essentielles. La recette peut commencer sur les fonctions déjà prêtes, mais sa clôture attend la vérification des événements et des corrections. La préparation des slides peut avancer en parallèle. En revanche, la démonstration finale exige un parcours stabilisé. Le planning relie donc des résultats attendus, des responsabilités et des conditions de passage, plutôt qu'une simple succession de dates.</a:t>
            </a:r>
          </a:p>
          <a:p xmlns:a="http://schemas.openxmlformats.org/drawingml/2006/main">
            <a:r>
              <a:t/>
            </a:r>
          </a:p>
          <a:p xmlns:a="http://schemas.openxmlformats.org/drawingml/2006/main">
            <a:r>
              <a:t>GESTE OU MANIPULATION</a:t>
            </a:r>
          </a:p>
          <a:p xmlns:a="http://schemas.openxmlformats.org/drawingml/2006/main">
            <a:r>
              <a:t>Pointer J10, puis la dépendance entre recette J14 et démonstration J15.</a:t>
            </a:r>
          </a:p>
          <a:p xmlns:a="http://schemas.openxmlformats.org/drawingml/2006/main">
            <a:r>
              <a:t/>
            </a:r>
          </a:p>
          <a:p xmlns:a="http://schemas.openxmlformats.org/drawingml/2006/main">
            <a:r>
              <a:t>TRANSITION</a:t>
            </a:r>
          </a:p>
          <a:p xmlns:a="http://schemas.openxmlformats.org/drawingml/2006/main">
            <a:r>
              <a:t>Pour tenir ces jalons, chacun doit connaître sa responsabilité.</a:t>
            </a:r>
          </a:p>
          <a:p xmlns:a="http://schemas.openxmlformats.org/drawingml/2006/main">
            <a:r>
              <a:t/>
            </a:r>
          </a:p>
          <a:p xmlns:a="http://schemas.openxmlformats.org/drawingml/2006/main">
            <a:r>
              <a:t>SOURCE ET NATURE</a:t>
            </a:r>
          </a:p>
          <a:p xmlns:a="http://schemas.openxmlformats.org/drawingml/2006/main">
            <a:r>
              <a:t>C.3.1, simulation sur quinze jours ouvrés. A01. donnees/pilotage.json.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scénario distingue un chef de projet, un développeur et un testeur UX. Leurs capacités représentent respectivement trente, soixante-douze et trente heures sur le lot. Le client intervient aux points de validation.</a:t>
            </a:r>
          </a:p>
          <a:p xmlns:a="http://schemas.openxmlformats.org/drawingml/2006/main">
            <a:r>
              <a:t/>
            </a:r>
          </a:p>
          <a:p xmlns:a="http://schemas.openxmlformats.org/drawingml/2006/main">
            <a:r>
              <a:t>La matrice RACI précise qui réalise, qui décide, qui doit être consulté et qui doit être informé. Une seule autorité de décision est désignée pour chaque activité. Par exemple, le développeur corrige une fonction, QA vérifie le résultat et le chef de projet suit la clôture. Le client reste responsable de l'acceptation du périmètre.</a:t>
            </a:r>
          </a:p>
          <a:p xmlns:a="http://schemas.openxmlformats.org/drawingml/2006/main">
            <a:r>
              <a:t/>
            </a:r>
          </a:p>
          <a:p xmlns:a="http://schemas.openxmlformats.org/drawingml/2006/main">
            <a:r>
              <a:t>Cette organisation évite les tâches sans responsable et les validations implicites. Les capacités restent des hypothèses du cas. Elles ne correspondent pas à des feuilles de temps réellement renseignées par des collaborateurs.</a:t>
            </a:r>
          </a:p>
          <a:p xmlns:a="http://schemas.openxmlformats.org/drawingml/2006/main">
            <a:r>
              <a:t/>
            </a:r>
          </a:p>
          <a:p xmlns:a="http://schemas.openxmlformats.org/drawingml/2006/main">
            <a:r>
              <a:t>TRANSITION</a:t>
            </a:r>
          </a:p>
          <a:p xmlns:a="http://schemas.openxmlformats.org/drawingml/2006/main">
            <a:r>
              <a:t>Une fois le travail réparti, je peux comparer le prévu et la prévision.</a:t>
            </a:r>
          </a:p>
          <a:p xmlns:a="http://schemas.openxmlformats.org/drawingml/2006/main">
            <a:r>
              <a:t/>
            </a:r>
          </a:p>
          <a:p xmlns:a="http://schemas.openxmlformats.org/drawingml/2006/main">
            <a:r>
              <a:t>SOURCE ET NATURE</a:t>
            </a:r>
          </a:p>
          <a:p xmlns:a="http://schemas.openxmlformats.org/drawingml/2006/main">
            <a:r>
              <a:t>C.3.1, équipe fictive du cas. A02 et 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 tableau de bord est arrêté à J10. La charge initiale du lot est de cent douze heures. Soixante-dix-sept heures sont consommées dans le scénario et le reste à faire est estimé à quarante heures. La prévision à terminaison atteint donc cent dix-sept heures, soit cinq heures de plus que la référence.</a:t>
            </a:r>
          </a:p>
          <a:p xmlns:a="http://schemas.openxmlformats.org/drawingml/2006/main">
            <a:r>
              <a:t/>
            </a:r>
          </a:p>
          <a:p xmlns:a="http://schemas.openxmlformats.org/drawingml/2006/main">
            <a:r>
              <a:t>Je distingue trois notions. Le consommé indique l'effort déjà mobilisé. Le reste à faire exprime l'effort encore nécessaire. Le statut terminé indique qu'un résultat a été vérifié. Cinq tâches sur dix sont terminées, mais ce ratio ne signifie pas que la moitié de la valeur du produit est livrée. Les tâches n'ont pas toutes la même taille.</a:t>
            </a:r>
          </a:p>
          <a:p xmlns:a="http://schemas.openxmlformats.org/drawingml/2006/main">
            <a:r>
              <a:t/>
            </a:r>
          </a:p>
          <a:p xmlns:a="http://schemas.openxmlformats.org/drawingml/2006/main">
            <a:r>
              <a:t>Chaque rôle actualise ses estimations. Deux fois par semaine, le chef de projet vérifie les écarts et leur effet sur les jalons. Par exemple, si une fonction semble presque codée mais que sa recette reste importante, le reste à faire doit encore intégrer ce travail. Je préfère constater cet écart avant la démonstration pour pouvoir décider tant qu'une marge existe.</a:t>
            </a:r>
          </a:p>
          <a:p xmlns:a="http://schemas.openxmlformats.org/drawingml/2006/main">
            <a:r>
              <a:t/>
            </a:r>
          </a:p>
          <a:p xmlns:a="http://schemas.openxmlformats.org/drawingml/2006/main">
            <a:r>
              <a:t>GESTE OU MANIPULATION</a:t>
            </a:r>
          </a:p>
          <a:p xmlns:a="http://schemas.openxmlformats.org/drawingml/2006/main">
            <a:r>
              <a:t>Montrer le calcul 77 + 40 = 117, puis distinguer les heures du taux de tâches terminées.</a:t>
            </a:r>
          </a:p>
          <a:p xmlns:a="http://schemas.openxmlformats.org/drawingml/2006/main">
            <a:r>
              <a:t/>
            </a:r>
          </a:p>
          <a:p xmlns:a="http://schemas.openxmlformats.org/drawingml/2006/main">
            <a:r>
              <a:t>TRANSITION</a:t>
            </a:r>
          </a:p>
          <a:p xmlns:a="http://schemas.openxmlformats.org/drawingml/2006/main">
            <a:r>
              <a:t>La même prévision permet de réévaluer le coût du lot.</a:t>
            </a:r>
          </a:p>
          <a:p xmlns:a="http://schemas.openxmlformats.org/drawingml/2006/main">
            <a:r>
              <a:t/>
            </a:r>
          </a:p>
          <a:p xmlns:a="http://schemas.openxmlformats.org/drawingml/2006/main">
            <a:r>
              <a:t>SOURCE ET NATURE</a:t>
            </a:r>
          </a:p>
          <a:p xmlns:a="http://schemas.openxmlformats.org/drawingml/2006/main">
            <a:r>
              <a:t>C3.2.1, simulation pédagogique. A03. Classeur Pilotage et Planning. Données simulées à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Le budget valorise le travail à partir de taux horaires fictifs. Il ne représente pas des salaires versés ni des factures. La référence initiale comprend quatre mille quatre-vingt-dix euros de travail et cent quatre-vingts euros de frais, soit quatre mille deux cent soixante-dix euros.</a:t>
            </a:r>
          </a:p>
          <a:p xmlns:a="http://schemas.openxmlformats.org/drawingml/2006/main">
            <a:r>
              <a:t/>
            </a:r>
          </a:p>
          <a:p xmlns:a="http://schemas.openxmlformats.org/drawingml/2006/main">
            <a:r>
              <a:t>Avec les charges revues à J10, le travail atteint quatre mille deux cent soixante-cinq euros. Les frais prévisionnels sont de deux cents euros. Le total à terminaison est donc de quatre mille quatre cent soixante-cinq euros. L'écart est de cent quatre-vingt-quinze euros, soit environ quatre virgule six pour cent.</a:t>
            </a:r>
          </a:p>
          <a:p xmlns:a="http://schemas.openxmlformats.org/drawingml/2006/main">
            <a:r>
              <a:t/>
            </a:r>
          </a:p>
          <a:p xmlns:a="http://schemas.openxmlformats.org/drawingml/2006/main">
            <a:r>
              <a:t>La réserve initiale de dix pour cent représente quatre cent vingt-sept euros. Elle porte le plafond à quatre mille six cent quatre-vingt-dix-sept euros. Il reste deux cent trente-deux euros de marge. La réserve n'efface pas le dépassement de la référence. Elle indique seulement que le scénario peut encore l'absorber. Une nouvelle demande doit être comparée à cette marge et à la capacité de l'équipe avant tout engagement.</a:t>
            </a:r>
          </a:p>
          <a:p xmlns:a="http://schemas.openxmlformats.org/drawingml/2006/main">
            <a:r>
              <a:t/>
            </a:r>
          </a:p>
          <a:p xmlns:a="http://schemas.openxmlformats.org/drawingml/2006/main">
            <a:r>
              <a:t>GESTE OU MANIPULATION</a:t>
            </a:r>
          </a:p>
          <a:p xmlns:a="http://schemas.openxmlformats.org/drawingml/2006/main">
            <a:r>
              <a:t>Pointer successivement référence, prévision, plafond et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Classeur Pilotage. Taux et charges du cas fictif.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les trois options et pointer le choix visible dans Git.</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Faire lire les deux dépassements, puis exposer le report.</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Dans la situation fictive, le développeur souhaite avancer sur une nouvelle fonction alors que QA attend une version stable pour terminer la recette. Le désaccord exprime deux besoins légitimes : faire évoluer le produit et sécuriser ce qui doit être présenté.</a:t>
            </a:r>
          </a:p>
          <a:p xmlns:a="http://schemas.openxmlformats.org/drawingml/2006/main">
            <a:r>
              <a:t/>
            </a:r>
          </a:p>
          <a:p xmlns:a="http://schemas.openxmlformats.org/drawingml/2006/main">
            <a:r>
              <a:t>Je commence par demander les faits, les impacts et l'aide nécessaire, sans attribuer une faute personnelle. J'utilise une posture participative pour comparer les estimations. J'adopte ensuite une posture persuasive pour expliquer les conséquences du report au client. Je reste directif sur les critères critiques de livraison, par exemple le contrôle de la capacité d'un événement.</a:t>
            </a:r>
          </a:p>
          <a:p xmlns:a="http://schemas.openxmlformats.org/drawingml/2006/main">
            <a:r>
              <a:t/>
            </a:r>
          </a:p>
          <a:p xmlns:a="http://schemas.openxmlformats.org/drawingml/2006/main">
            <a:r>
              <a:t>La délégation conserve un résultat attendu et un point de contrôle. DEV traite les corrections et QA choisit les cas permettant de les vérifier. La décision rejoint le compte rendu et les tâches concernées.</a:t>
            </a:r>
          </a:p>
          <a:p xmlns:a="http://schemas.openxmlformats.org/drawingml/2006/main">
            <a:r>
              <a:t/>
            </a:r>
          </a:p>
          <a:p xmlns:a="http://schemas.openxmlformats.org/drawingml/2006/main">
            <a:r>
              <a:t>Avec du recul, une réponse uniquement directive aurait pu faire taire le désaccord sans traiter la surcharge. À l'inverse, une discussion sans échéance aurait retardé le lot. Je retiens donc un échange court, préparé avec des faits, puis une décision explicite dont je vérifie l'application.</a:t>
            </a:r>
          </a:p>
          <a:p xmlns:a="http://schemas.openxmlformats.org/drawingml/2006/main">
            <a:r>
              <a:t/>
            </a:r>
          </a:p>
          <a:p xmlns:a="http://schemas.openxmlformats.org/drawingml/2006/main">
            <a:r>
              <a:t>GESTE OU MANIPULATION</a:t>
            </a:r>
          </a:p>
          <a:p xmlns:a="http://schemas.openxmlformats.org/drawingml/2006/main">
            <a:r>
              <a:t>Expliquer ce que chaque rôle cherche à protéger, puis la limite de chaque posture.</a:t>
            </a:r>
          </a:p>
          <a:p xmlns:a="http://schemas.openxmlformats.org/drawingml/2006/main">
            <a:r>
              <a:t/>
            </a:r>
          </a:p>
          <a:p xmlns:a="http://schemas.openxmlformats.org/drawingml/2006/main">
            <a:r>
              <a:t>TRANSITION</a:t>
            </a:r>
          </a:p>
          <a:p xmlns:a="http://schemas.openxmlformats.org/drawingml/2006/main">
            <a:r>
              <a:t>Cette organisation doit permettre à chacun de comprendre et de contribuer.</a:t>
            </a:r>
          </a:p>
          <a:p xmlns:a="http://schemas.openxmlformats.org/drawingml/2006/main">
            <a:r>
              <a:t/>
            </a:r>
          </a:p>
          <a:p xmlns:a="http://schemas.openxmlformats.org/drawingml/2006/main">
            <a:r>
              <a:t>SOURCE ET NATURE</a:t>
            </a:r>
          </a:p>
          <a:p xmlns:a="http://schemas.openxmlformats.org/drawingml/2006/main">
            <a:r>
              <a:t>C3.3.1, situation managériale fictive. A05, situation analysée et analyse critique.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Les outils doivent aider l'équipe à retrouver une décision et à agir. Dans le cas présenté, Linear porte les tâches et les blocages. Git conserve les modifications. Les documents partagés regroupent les décisions et les comptes rendus. La visioconférence sert lorsqu'un échange direct est nécessaire.</a:t>
            </a:r>
          </a:p>
          <a:p xmlns:a="http://schemas.openxmlformats.org/drawingml/2006/main">
            <a:r>
              <a:t/>
            </a:r>
          </a:p>
          <a:p xmlns:a="http://schemas.openxmlformats.org/drawingml/2006/main">
            <a:r>
              <a:t>J'envoie l'ordre du jour avant la réunion et je diffuse une synthèse qui précise l'action, son responsable et son échéance. Une personne absente doit pouvoir comprendre la décision sans reconstituer toute une conversation.</a:t>
            </a:r>
          </a:p>
          <a:p xmlns:a="http://schemas.openxmlformats.org/drawingml/2006/main">
            <a:r>
              <a:t/>
            </a:r>
          </a:p>
          <a:p xmlns:a="http://schemas.openxmlformats.org/drawingml/2006/main">
            <a:r>
              <a:t>Les adaptations se discutent avec la personne concernée. Elles peuvent inclure un support structuré, du sous-titrage, des pauses ou davantage de temps pour un exercice. Je n'attribue pas de situation de handicap à une personne sans information. Le scénario prévoit une organisation adaptable.</a:t>
            </a:r>
          </a:p>
          <a:p xmlns:a="http://schemas.openxmlformats.org/drawingml/2006/main">
            <a:r>
              <a:t/>
            </a:r>
          </a:p>
          <a:p xmlns:a="http://schemas.openxmlformats.org/drawingml/2006/main">
            <a:r>
              <a:t>Dans un contexte international, j'indique le fuseau des rendez-vous, j'explique les acronymes et je permets une préparation asynchrone. Je vérifie la compréhension par reformulation. L'absence de question ou le silence en réunion ne suffisent pas à établir que chacun a compris la priorité ou le résultat attendu.</a:t>
            </a:r>
          </a:p>
          <a:p xmlns:a="http://schemas.openxmlformats.org/drawingml/2006/main">
            <a:r>
              <a:t/>
            </a:r>
          </a:p>
          <a:p xmlns:a="http://schemas.openxmlformats.org/drawingml/2006/main">
            <a:r>
              <a:t>GESTE OU MANIPULATION</a:t>
            </a:r>
          </a:p>
          <a:p xmlns:a="http://schemas.openxmlformats.org/drawingml/2006/main">
            <a:r>
              <a:t>Donner un exemple d’action datée puis un exemple d’adaptation convenue.</a:t>
            </a:r>
          </a:p>
          <a:p xmlns:a="http://schemas.openxmlformats.org/drawingml/2006/main">
            <a:r>
              <a:t/>
            </a:r>
          </a:p>
          <a:p xmlns:a="http://schemas.openxmlformats.org/drawingml/2006/main">
            <a:r>
              <a:t>TRANSITION</a:t>
            </a:r>
          </a:p>
          <a:p xmlns:a="http://schemas.openxmlformats.org/drawingml/2006/main">
            <a:r>
              <a:t>La répartition du travail suppose également de connaître les compétences disponibles.</a:t>
            </a:r>
          </a:p>
          <a:p xmlns:a="http://schemas.openxmlformats.org/drawingml/2006/main">
            <a:r>
              <a:t/>
            </a:r>
          </a:p>
          <a:p xmlns:a="http://schemas.openxmlformats.org/drawingml/2006/main">
            <a:r>
              <a:t>SOURCE ET NATURE</a:t>
            </a:r>
          </a:p>
          <a:p xmlns:a="http://schemas.openxmlformats.org/drawingml/2006/main">
            <a:r>
              <a:t>C3.3.1, dispositions du scénario. A02 et A05, inclusion et contexte international fictif.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J'évalue les besoins avant de choisir une formation. La grille utilise quatre niveaux : non abordé, réalisé avec accompagnement, autonome sur un cas courant, puis capable de traiter des cas complexes et d'accompagner une autre personne.</a:t>
            </a:r>
          </a:p>
          <a:p xmlns:a="http://schemas.openxmlformats.org/drawingml/2006/main">
            <a:r>
              <a:t/>
            </a:r>
          </a:p>
          <a:p xmlns:a="http://schemas.openxmlformats.org/drawingml/2006/main">
            <a:r>
              <a:t>Les niveaux affichés sont hypothétiques. Ils ne constituent pas une évaluation réelle de collaborateurs. Le chef de projet doit progresser sur le suivi des écarts. Le développeur doit maîtriser les inscriptions concurrentes. QA doit pouvoir rejouer la recette et contrôler le parcours au clavier.</a:t>
            </a:r>
          </a:p>
          <a:p xmlns:a="http://schemas.openxmlformats.org/drawingml/2006/main">
            <a:r>
              <a:t/>
            </a:r>
          </a:p>
          <a:p xmlns:a="http://schemas.openxmlformats.org/drawingml/2006/main">
            <a:r>
              <a:t>La cible est l'autonomie sur un cas courant. Elle reste reliée à un résultat utile pour le lot. Cette grille évite de proposer une formation générale sans pouvoir expliquer quel risque ou quelle difficulté elle doit résoudre.</a:t>
            </a:r>
          </a:p>
          <a:p xmlns:a="http://schemas.openxmlformats.org/drawingml/2006/main">
            <a:r>
              <a:t/>
            </a:r>
          </a:p>
          <a:p xmlns:a="http://schemas.openxmlformats.org/drawingml/2006/main">
            <a:r>
              <a:t>TRANSITION</a:t>
            </a:r>
          </a:p>
          <a:p xmlns:a="http://schemas.openxmlformats.org/drawingml/2006/main">
            <a:r>
              <a:t>Je transforme ces écarts en actions courtes, avec une vérification du résultat.</a:t>
            </a:r>
          </a:p>
          <a:p xmlns:a="http://schemas.openxmlformats.org/drawingml/2006/main">
            <a:r>
              <a:t/>
            </a:r>
          </a:p>
          <a:p xmlns:a="http://schemas.openxmlformats.org/drawingml/2006/main">
            <a:r>
              <a:t>SOURCE ET NATURE</a:t>
            </a:r>
          </a:p>
          <a:p xmlns:a="http://schemas.openxmlformats.org/drawingml/2006/main">
            <a:r>
              <a:t>C3.3.2, niveaux hypothétiques du cas. A06, grille de compétences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 plan prévoit une heure pour la lecture du tableau de bord par le chef de projet, deux heures sur la concurrence pour le développeur et trois heures sur la recette et le clavier pour QA. Ces six heures sont déjà incluses dans les tâches du planning. Les ajouter à nouveau créerait un double comptage de la charge.</a:t>
            </a:r>
          </a:p>
          <a:p xmlns:a="http://schemas.openxmlformats.org/drawingml/2006/main">
            <a:r>
              <a:t/>
            </a:r>
          </a:p>
          <a:p xmlns:a="http://schemas.openxmlformats.org/drawingml/2006/main">
            <a:r>
              <a:t>Je définis une preuve de réussite pour chaque action. Le chef de projet modifie le reste à faire et explique le nouvel écart. Le développeur explique pourquoi une seule inscription peut être acceptée sur une dernière place. QA exécute un scénario de manière autonome et décrit un contrôle au clavier.</a:t>
            </a:r>
          </a:p>
          <a:p xmlns:a="http://schemas.openxmlformats.org/drawingml/2006/main">
            <a:r>
              <a:t/>
            </a:r>
          </a:p>
          <a:p xmlns:a="http://schemas.openxmlformats.org/drawingml/2006/main">
            <a:r>
              <a:t>La consultation d'un support ne suffit pas à démontrer l'acquisition. Je prévois une pratique, puis un second cas réalisé avec davantage d'autonomie. Si l'écart persiste, je réévalue l'accompagnement et sa charge.</a:t>
            </a:r>
          </a:p>
          <a:p xmlns:a="http://schemas.openxmlformats.org/drawingml/2006/main">
            <a:r>
              <a:t/>
            </a:r>
          </a:p>
          <a:p xmlns:a="http://schemas.openxmlformats.org/drawingml/2006/main">
            <a:r>
              <a:t>Le cas ne retient pas de recrutement permanent. Si une compétence critique reste indisponible, la demande de renfort aux RH doit préciser la mission, la durée, le budget et le résultat attendu. Cette fiche reste une proposition, sans envoi ni recrutement réellement effectué.</a:t>
            </a:r>
          </a:p>
          <a:p xmlns:a="http://schemas.openxmlformats.org/drawingml/2006/main">
            <a:r>
              <a:t/>
            </a:r>
          </a:p>
          <a:p xmlns:a="http://schemas.openxmlformats.org/drawingml/2006/main">
            <a:r>
              <a:t>GESTE OU MANIPULATION</a:t>
            </a:r>
          </a:p>
          <a:p xmlns:a="http://schemas.openxmlformats.org/drawingml/2006/main">
            <a:r>
              <a:t>Relier une heure de formation à un résultat observable, puis expliquer le non-double-comptage.</a:t>
            </a:r>
          </a:p>
          <a:p xmlns:a="http://schemas.openxmlformats.org/drawingml/2006/main">
            <a:r>
              <a:t/>
            </a:r>
          </a:p>
          <a:p xmlns:a="http://schemas.openxmlformats.org/drawingml/2006/main">
            <a:r>
              <a:t>TRANSITION</a:t>
            </a:r>
          </a:p>
          <a:p xmlns:a="http://schemas.openxmlformats.org/drawingml/2006/main">
            <a:r>
              <a:t>Les résultats du lot doivent enfin être partagés et validés avec le client.</a:t>
            </a:r>
          </a:p>
          <a:p xmlns:a="http://schemas.openxmlformats.org/drawingml/2006/main">
            <a:r>
              <a:t/>
            </a:r>
          </a:p>
          <a:p xmlns:a="http://schemas.openxmlformats.org/drawingml/2006/main">
            <a:r>
              <a:t>SOURCE ET NATURE</a:t>
            </a:r>
          </a:p>
          <a:p xmlns:a="http://schemas.openxmlformats.org/drawingml/2006/main">
            <a:r>
              <a:t>C3.3.2, actions fictives intégrées au lot. A06, plan de développement et fiche RH fictive.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Le suivi client repose sur trois points dans le scénario. Le premier valide le périmètre et les critères attendus. Le deuxième présente l'avancement, les écarts et la décision sur la demande supplémentaire. Le troisième porte sur le parcours démontré et ses réserves.</a:t>
            </a:r>
          </a:p>
          <a:p xmlns:a="http://schemas.openxmlformats.org/drawingml/2006/main">
            <a:r>
              <a:t/>
            </a:r>
          </a:p>
          <a:p xmlns:a="http://schemas.openxmlformats.org/drawingml/2006/main">
            <a:r>
              <a:t>Les trois comptes rendus sont fictifs et aucun accord réel n'est attesté. Leur structure montre toutefois comment préparer un échange utile : ce qui a été présenté, ce qui reste à faire, la difficulté rencontrée et la décision attendue. Une action comprend un responsable et une échéance. Le prochain point de suivi est identifié.</a:t>
            </a:r>
          </a:p>
          <a:p xmlns:a="http://schemas.openxmlformats.org/drawingml/2006/main">
            <a:r>
              <a:t/>
            </a:r>
          </a:p>
          <a:p xmlns:a="http://schemas.openxmlformats.org/drawingml/2006/main">
            <a:r>
              <a:t>Par exemple, le compte rendu J10 reprend la prévision de quatre mille quatre cent soixante-cinq euros et le report du lot supplémentaire. Il conserve le lien entre une donnée de pilotage et une décision de périmètre.</a:t>
            </a:r>
          </a:p>
          <a:p xmlns:a="http://schemas.openxmlformats.org/drawingml/2006/main">
            <a:r>
              <a:t/>
            </a:r>
          </a:p>
          <a:p xmlns:a="http://schemas.openxmlformats.org/drawingml/2006/main">
            <a:r>
              <a:t>La validation se fait par critère, avec les statuts accepté, accepté avec réserve ou refusé. Une réserve devient une action suivie. Ce dispositif permet de rechercher une confirmation explicite, au lieu de déduire l'acceptation du seul fait que le logiciel a été montré.</a:t>
            </a:r>
          </a:p>
          <a:p xmlns:a="http://schemas.openxmlformats.org/drawingml/2006/main">
            <a:r>
              <a:t/>
            </a:r>
          </a:p>
          <a:p xmlns:a="http://schemas.openxmlformats.org/drawingml/2006/main">
            <a:r>
              <a:t>GESTE OU MANIPULATION</a:t>
            </a:r>
          </a:p>
          <a:p xmlns:a="http://schemas.openxmlformats.org/drawingml/2006/main">
            <a:r>
              <a:t>Décrire le compte rendu J10 : écart, décision, responsable et échéance.</a:t>
            </a:r>
          </a:p>
          <a:p xmlns:a="http://schemas.openxmlformats.org/drawingml/2006/main">
            <a:r>
              <a:t/>
            </a:r>
          </a:p>
          <a:p xmlns:a="http://schemas.openxmlformats.org/drawingml/2006/main">
            <a:r>
              <a:t>TRANSITION</a:t>
            </a:r>
          </a:p>
          <a:p xmlns:a="http://schemas.openxmlformats.org/drawingml/2006/main">
            <a:r>
              <a:t>La validation du périmètre et la satisfaction méritent chacune une mesure explicite.</a:t>
            </a:r>
          </a:p>
          <a:p xmlns:a="http://schemas.openxmlformats.org/drawingml/2006/main">
            <a:r>
              <a:t/>
            </a:r>
          </a:p>
          <a:p xmlns:a="http://schemas.openxmlformats.org/drawingml/2006/main">
            <a:r>
              <a:t>SOURCE ET NATURE</a:t>
            </a:r>
          </a:p>
          <a:p xmlns:a="http://schemas.openxmlformats.org/drawingml/2006/main">
            <a:r>
              <a:t>C3.4.1, comptes rendus simulés. A07, CR01 à CR03. Référentiel p. 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Je propose quatre indicateurs complémentaires : la part des critères acceptés, la réussite des parcours sans aide, une note d'utilité et les blocages critiques signalés. Chaque résultat doit être accompagné de la date et du nombre de participants.</a:t>
            </a:r>
          </a:p>
          <a:p xmlns:a="http://schemas.openxmlformats.org/drawingml/2006/main">
            <a:r>
              <a:t/>
            </a:r>
          </a:p>
          <a:p xmlns:a="http://schemas.openxmlformats.org/drawingml/2006/main">
            <a:r>
              <a:t>À ce stade, aucun retour de client réel n'est disponible dans les éléments du dossier. La mesure reste donc non réalisée. Elle ne vaut ni zéro ni cent pour cent. Les résultats des tests techniques ne remplacent pas une appréciation du besoin par un utilisateur.</a:t>
            </a:r>
          </a:p>
          <a:p xmlns:a="http://schemas.openxmlformats.org/drawingml/2006/main">
            <a:r>
              <a:t/>
            </a:r>
          </a:p>
          <a:p xmlns:a="http://schemas.openxmlformats.org/drawingml/2006/main">
            <a:r>
              <a:t>Pendant une session pilote, je demanderais la tâche recherchée, le résultat obtenu et l'obstacle rencontré. Une réserve ou une difficulté doit ensuite rejoindre le suivi du projet avec une action identifiable, puis être vérifiée lors d'un nouveau passage.</a:t>
            </a:r>
          </a:p>
          <a:p xmlns:a="http://schemas.openxmlformats.org/drawingml/2006/main">
            <a:r>
              <a:t/>
            </a:r>
          </a:p>
          <a:p xmlns:a="http://schemas.openxmlformats.org/drawingml/2006/main">
            <a:r>
              <a:t>TRANSITION</a:t>
            </a:r>
          </a:p>
          <a:p xmlns:a="http://schemas.openxmlformats.org/drawingml/2006/main">
            <a:r>
              <a:t>Je vais maintenant montrer le parcours sur lequel portent ces critères.</a:t>
            </a:r>
          </a:p>
          <a:p xmlns:a="http://schemas.openxmlformats.org/drawingml/2006/main">
            <a:r>
              <a:t/>
            </a:r>
          </a:p>
          <a:p xmlns:a="http://schemas.openxmlformats.org/drawingml/2006/main">
            <a:r>
              <a:t>SOURCE ET NATURE</a:t>
            </a:r>
          </a:p>
          <a:p xmlns:a="http://schemas.openxmlformats.org/drawingml/2006/main">
            <a:r>
              <a:t>C3.4.1, aucun résultat client réel disponible. A07, indicateurs et questionnaire proposés.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maintenant au logiciel. La démonstration utilise des comptes locaux et des données de test. Je vais d'abord suivre le point de vue du grimpeur, puis celui du club. Les critères que je garde en tête sont la compréhension des états, la cohérence de l'inscription et la visibilité du participant pour le bon rôle.</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Cette présentation relie le besoin utilisateur à l'organisation du travail, puis aux décisions et à la validation. Le planning rend les dépendances visibles. Le tableau de bord permet d'anticiper les écarts. L'arbitrage tient compte de la capacité et des critères déjà engagés.</a:t>
            </a:r>
          </a:p>
          <a:p xmlns:a="http://schemas.openxmlformats.org/drawingml/2006/main">
            <a:r>
              <a:t/>
            </a:r>
          </a:p>
          <a:p xmlns:a="http://schemas.openxmlformats.org/drawingml/2006/main">
            <a:r>
              <a:t>Je distingue les preuves techniques observables du cas pédagogique utilisé pour le management, le budget et les échanges client. La satisfaction réelle reste à mesurer et les contributions personnelles doivent correspondre aux faits disponibles.</a:t>
            </a:r>
          </a:p>
          <a:p xmlns:a="http://schemas.openxmlformats.org/drawingml/2006/main">
            <a:r>
              <a:t/>
            </a:r>
          </a:p>
          <a:p xmlns:a="http://schemas.openxmlformats.org/drawingml/2006/main">
            <a:r>
              <a:t>L'amélioration prioritaire serait de recueillir des retours utilisateurs structurés et d'alimenter le suivi avec ces résultats. Je peux maintenant revenir sur une hypothèse du classeur, le choix d'un arbitrage ou l'un des critères de démonstration. Merci pour votre attention.</a:t>
            </a:r>
          </a:p>
          <a:p xmlns:a="http://schemas.openxmlformats.org/drawingml/2006/main">
            <a:r>
              <a:t/>
            </a:r>
          </a:p>
          <a:p xmlns:a="http://schemas.openxmlformats.org/drawingml/2006/main">
            <a:r>
              <a:t>GESTE OU MANIPULATION</a:t>
            </a:r>
          </a:p>
          <a:p xmlns:a="http://schemas.openxmlformats.org/drawingml/2006/main">
            <a:r>
              <a:t>Terminer à 30:00. Les annexes restent disponibles uniquement pour les questions.</a:t>
            </a:r>
          </a:p>
          <a:p xmlns:a="http://schemas.openxmlformats.org/drawingml/2006/main">
            <a:r>
              <a:t/>
            </a:r>
          </a:p>
          <a:p xmlns:a="http://schemas.openxmlformats.org/drawingml/2006/main">
            <a:r>
              <a:t>TRANSITION</a:t>
            </a:r>
          </a:p>
          <a:p xmlns:a="http://schemas.openxmlformats.org/drawingml/2006/main">
            <a:r>
              <a:t>Je suis prêt à répondre à vos questions.</a:t>
            </a:r>
          </a:p>
          <a:p xmlns:a="http://schemas.openxmlformats.org/drawingml/2006/main">
            <a:r>
              <a:t/>
            </a:r>
          </a:p>
          <a:p xmlns:a="http://schemas.openxmlformats.org/drawingml/2006/main">
            <a:r>
              <a:t>SOURCE ET NATURE</a:t>
            </a:r>
          </a:p>
          <a:p xmlns:a="http://schemas.openxmlformats.org/drawingml/2006/main">
            <a:r>
              <a:t>Bilan et ouverture des quinze minutes de questions. MATRICE_PREUVES, VERIFICATION et A01 à 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Questions du jury. Durée prévue : 00:00.</a:t>
            </a:r>
          </a:p>
          <a:p xmlns:a="http://schemas.openxmlformats.org/drawingml/2006/main">
            <a:r>
              <a:t/>
            </a:r>
          </a:p>
          <a:p xmlns:a="http://schemas.openxmlformats.org/drawingml/2006/main">
            <a:r>
              <a:t>TEXTE ORAL</a:t>
            </a:r>
          </a:p>
          <a:p xmlns:a="http://schemas.openxmlformats.org/drawingml/2006/main">
            <a:r>
              <a:t>Cette annexe sert à retrouver rapidement une pièce. La matrice du dossier détaille la nature de chaque preuve et les limites des situations fictives. La mention Acquis relève du jury.</a:t>
            </a:r>
          </a:p>
          <a:p xmlns:a="http://schemas.openxmlformats.org/drawingml/2006/main">
            <a:r>
              <a:t/>
            </a:r>
          </a:p>
          <a:p xmlns:a="http://schemas.openxmlformats.org/drawingml/2006/main">
            <a:r>
              <a:t>SOURCE ET NATURE</a:t>
            </a:r>
          </a:p>
          <a:p xmlns:a="http://schemas.openxmlformats.org/drawingml/2006/main">
            <a:r>
              <a:t>Annexe pour les questions. MATRICE_PREUVES. Référentiel p. 11-14 et grille BC03.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Questions du jury. Durée prévue : 00:00.</a:t>
            </a:r>
          </a:p>
          <a:p xmlns:a="http://schemas.openxmlformats.org/drawingml/2006/main">
            <a:r>
              <a:t/>
            </a:r>
          </a:p>
          <a:p xmlns:a="http://schemas.openxmlformats.org/drawingml/2006/main">
            <a:r>
              <a:t>TEXTE ORAL</a:t>
            </a:r>
          </a:p>
          <a:p xmlns:a="http://schemas.openxmlformats.org/drawingml/2006/main">
            <a:r>
              <a:t>Les charges incluent les temps de formation. Les quatre postes totalisent 4 465 euros. Les taux sont fictifs et le montant est une valorisation économique du cas, sans facture réelle correspondante.</a:t>
            </a:r>
          </a:p>
          <a:p xmlns:a="http://schemas.openxmlformats.org/drawingml/2006/main">
            <a:r>
              <a:t/>
            </a:r>
          </a:p>
          <a:p xmlns:a="http://schemas.openxmlformats.org/drawingml/2006/main">
            <a:r>
              <a:t>SOURCE ET NATURE</a:t>
            </a:r>
          </a:p>
          <a:p xmlns:a="http://schemas.openxmlformats.org/drawingml/2006/main">
            <a:r>
              <a:t>Annexe, données fictives en euros. A03 et classeur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Questions du jury. Durée prévue : 00:00.</a:t>
            </a:r>
          </a:p>
          <a:p xmlns:a="http://schemas.openxmlformats.org/drawingml/2006/main">
            <a:r>
              <a:t/>
            </a:r>
          </a:p>
          <a:p xmlns:a="http://schemas.openxmlformats.org/drawingml/2006/main">
            <a:r>
              <a:t>TEXTE ORAL</a:t>
            </a:r>
          </a:p>
          <a:p xmlns:a="http://schemas.openxmlformats.org/drawingml/2006/main">
            <a:r>
              <a:t>Le règlement spécial n’a pas été fourni. Les contrôles datés ne prouvent pas le fonctionnement d’une autre version. La recette locale et le cas standalone historique correspondent à deux contextes explicitement séparés.</a:t>
            </a:r>
          </a:p>
          <a:p xmlns:a="http://schemas.openxmlformats.org/drawingml/2006/main">
            <a:r>
              <a:t/>
            </a:r>
          </a:p>
          <a:p xmlns:a="http://schemas.openxmlformats.org/drawingml/2006/main">
            <a:r>
              <a:t>SOURCE ET NATURE</a:t>
            </a:r>
          </a:p>
          <a:p xmlns:a="http://schemas.openxmlformats.org/drawingml/2006/main">
            <a:r>
              <a:t>Annexe documentaire. Trois PDF fournis par le candidat. VERIFICATION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fa7d8ae9b541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2de6d19bec406c" /><Relationship Type="http://schemas.openxmlformats.org/officeDocument/2006/relationships/slideLayout" Target="/ppt/slideLayouts/slideLayout1.xml" Id="R9fc09a7328c544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c09a7328c544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8806ec69154e96" /><Relationship Type="http://schemas.openxmlformats.org/officeDocument/2006/relationships/image" Target="/ppt/media/image.jpeg" Id="Rd18220fed5d24309" /><Relationship Type="http://schemas.openxmlformats.org/officeDocument/2006/relationships/notesSlide" Target="/ppt/notesSlides/notesSlide1.xml" Id="R26e81d70950949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4d645e15394fb3" /><Relationship Type="http://schemas.openxmlformats.org/officeDocument/2006/relationships/image" Target="/ppt/media/image.png" Id="R6ab9ec838a544347" /><Relationship Type="http://schemas.openxmlformats.org/officeDocument/2006/relationships/notesSlide" Target="/ppt/notesSlides/notesSlide2.xml" Id="Rf1e95d663ff648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75fe4496f846aa" /><Relationship Type="http://schemas.openxmlformats.org/officeDocument/2006/relationships/notesSlide" Target="/ppt/notesSlides/notesSlide3.xml" Id="Rf8403ede71e440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faa823be324f08" /><Relationship Type="http://schemas.openxmlformats.org/officeDocument/2006/relationships/notesSlide" Target="/ppt/notesSlides/notesSlide4.xml" Id="R06e2db03c48d40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27666d64b14625" /><Relationship Type="http://schemas.openxmlformats.org/officeDocument/2006/relationships/notesSlide" Target="/ppt/notesSlides/notesSlide5.xml" Id="R60af3252b65243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d48ac54cbc43a2" /><Relationship Type="http://schemas.openxmlformats.org/officeDocument/2006/relationships/notesSlide" Target="/ppt/notesSlides/notesSlide6.xml" Id="R2e9e0cc7affe44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e4a2812ea64079" /><Relationship Type="http://schemas.openxmlformats.org/officeDocument/2006/relationships/notesSlide" Target="/ppt/notesSlides/notesSlide7.xml" Id="R28ad18f56f2141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c1dadbef834cc8" /><Relationship Type="http://schemas.openxmlformats.org/officeDocument/2006/relationships/notesSlide" Target="/ppt/notesSlides/notesSlide8.xml" Id="Rcd192b43912f41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7448794cdd41be" /><Relationship Type="http://schemas.openxmlformats.org/officeDocument/2006/relationships/notesSlide" Target="/ppt/notesSlides/notesSlide9.xml" Id="Rb0a9e748b54d49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c22c594bcc4adb" /><Relationship Type="http://schemas.openxmlformats.org/officeDocument/2006/relationships/notesSlide" Target="/ppt/notesSlides/notesSlide10.xml" Id="R07ad1308ca1645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5f979269634946" /><Relationship Type="http://schemas.openxmlformats.org/officeDocument/2006/relationships/notesSlide" Target="/ppt/notesSlides/notesSlide11.xml" Id="R953deee7c1c54e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9e757ef40a4ebb" /><Relationship Type="http://schemas.openxmlformats.org/officeDocument/2006/relationships/notesSlide" Target="/ppt/notesSlides/notesSlide12.xml" Id="R1274a999b54c49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25af1e866c4a31" /><Relationship Type="http://schemas.openxmlformats.org/officeDocument/2006/relationships/notesSlide" Target="/ppt/notesSlides/notesSlide13.xml" Id="R1acf6922a70d43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405efdb86d4716" /><Relationship Type="http://schemas.openxmlformats.org/officeDocument/2006/relationships/notesSlide" Target="/ppt/notesSlides/notesSlide14.xml" Id="Rfd5f472a54f64f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2a1fe23b5d40e1" /><Relationship Type="http://schemas.openxmlformats.org/officeDocument/2006/relationships/notesSlide" Target="/ppt/notesSlides/notesSlide15.xml" Id="Rdf56a7bdf7c149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b9c604b4024bb4" /><Relationship Type="http://schemas.openxmlformats.org/officeDocument/2006/relationships/notesSlide" Target="/ppt/notesSlides/notesSlide16.xml" Id="R9afe81195f3549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993605221e4d5c" /><Relationship Type="http://schemas.openxmlformats.org/officeDocument/2006/relationships/notesSlide" Target="/ppt/notesSlides/notesSlide17.xml" Id="Refea30eff7364b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29dce3aa6b4cb5" /><Relationship Type="http://schemas.openxmlformats.org/officeDocument/2006/relationships/notesSlide" Target="/ppt/notesSlides/notesSlide18.xml" Id="Rb6ef1e96fcf545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d58d4f04a744a48" /><Relationship Type="http://schemas.openxmlformats.org/officeDocument/2006/relationships/notesSlide" Target="/ppt/notesSlides/notesSlide19.xml" Id="R2ec36bf7276249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4b9512f9da34936" /><Relationship Type="http://schemas.openxmlformats.org/officeDocument/2006/relationships/image" Target="/ppt/media/image2.png" Id="R61557d24db6f4884" /><Relationship Type="http://schemas.openxmlformats.org/officeDocument/2006/relationships/notesSlide" Target="/ppt/notesSlides/notesSlide20.xml" Id="Ra5983332aabe4c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44686a9a0d1496a" /><Relationship Type="http://schemas.openxmlformats.org/officeDocument/2006/relationships/image" Target="/ppt/media/image3.png" Id="R18f37f3e0d444db7" /><Relationship Type="http://schemas.openxmlformats.org/officeDocument/2006/relationships/notesSlide" Target="/ppt/notesSlides/notesSlide21.xml" Id="R0c71ee0980dc40a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2031531e17547e2" /><Relationship Type="http://schemas.openxmlformats.org/officeDocument/2006/relationships/notesSlide" Target="/ppt/notesSlides/notesSlide22.xml" Id="R13d9c03c2fba46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5c9579967e24e47" /><Relationship Type="http://schemas.openxmlformats.org/officeDocument/2006/relationships/notesSlide" Target="/ppt/notesSlides/notesSlide23.xml" Id="R077e35529d9b47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dc43ff89c8f4e99" /><Relationship Type="http://schemas.openxmlformats.org/officeDocument/2006/relationships/notesSlide" Target="/ppt/notesSlides/notesSlide24.xml" Id="R61ca7f41e4b942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287442001c34521" /><Relationship Type="http://schemas.openxmlformats.org/officeDocument/2006/relationships/notesSlide" Target="/ppt/notesSlides/notesSlide25.xml" Id="Rf034e909cce24110" /></Relationships>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18220fed5d24309"/>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BD8CE0-088B-4DF3-A6FD-96798B4BC114}"/>
              </a:ext>
            </a:extLst>
          </p:cNvPr>
          <p:cNvSpPr>
            <a:spLocks xmlns:a="http://schemas.openxmlformats.org/drawingml/2006/main" noGrp="1"/>
          </p:cNvSpPr>
          <p:nvPr/>
        </p:nvSpPr>
        <p:spPr>
          <a:xfrm xmlns:a="http://schemas.openxmlformats.org/drawingml/2006/main">
            <a:off x="609600" y="91440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F5D99083-7C06-48DB-A3B3-1EF1B652AFD9}"/>
              </a:ext>
            </a:extLst>
          </p:cNvPr>
          <p:cNvSpPr>
            <a:spLocks xmlns:a="http://schemas.openxmlformats.org/drawingml/2006/main" noGrp="1"/>
          </p:cNvSpPr>
          <p:nvPr/>
        </p:nvSpPr>
        <p:spPr>
          <a:xfrm xmlns:a="http://schemas.openxmlformats.org/drawingml/2006/main">
            <a:off x="609600" y="232410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Coordonner et piloter</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un projet logiciel</a:t>
            </a:r>
          </a:p>
        </p:txBody>
      </p:sp>
      <p:sp>
        <p:nvSpPr>
          <p:cNvPr id="4" name="">
            <a:extLst xmlns:a="http://schemas.openxmlformats.org/drawingml/2006/main">
              <a:ext uri="{FF2B5EF4-FFF2-40B4-BE49-F238E27FC236}">
                <a16:creationId xmlns:a16="http://schemas.microsoft.com/office/drawing/2014/main" id="{049157CE-93AD-47A6-937F-636687B0A02E}"/>
              </a:ext>
            </a:extLst>
          </p:cNvPr>
          <p:cNvSpPr>
            <a:spLocks xmlns:a="http://schemas.openxmlformats.org/drawingml/2006/main" noGrp="1"/>
          </p:cNvSpPr>
          <p:nvPr/>
        </p:nvSpPr>
        <p:spPr>
          <a:xfrm xmlns:a="http://schemas.openxmlformats.org/drawingml/2006/main">
            <a:off x="609600" y="481965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AE5DE"/>
                </a:solidFill>
                <a:latin typeface="Arial"/>
                <a:ea typeface="Arial"/>
                <a:cs typeface="Arial"/>
              </a:defRPr>
            </a:pPr>
            <a:r>
              <a:rPr sz="2100" b="0">
                <a:solidFill>
                  <a:srgbClr val="DAE5DE"/>
                </a:solidFill>
                <a:latin typeface="Arial"/>
                <a:ea typeface="Arial"/>
                <a:cs typeface="Arial"/>
              </a:rPr>
              <a:t>Dorian Joly</a:t>
            </a:r>
          </a:p>
          <a:p xmlns:a="http://schemas.openxmlformats.org/drawingml/2006/main">
            <a:pPr>
              <a:defRPr sz="2100" b="0">
                <a:solidFill>
                  <a:srgbClr val="DAE5DE"/>
                </a:solidFill>
                <a:latin typeface="Arial"/>
                <a:ea typeface="Arial"/>
                <a:cs typeface="Arial"/>
              </a:defRPr>
            </a:pPr>
            <a:r>
              <a:rPr sz="2100" b="0">
                <a:solidFill>
                  <a:srgbClr val="DAE5DE"/>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4BAD58B3-0570-44EE-BEEF-B872D915B74B}"/>
              </a:ext>
            </a:extLst>
          </p:cNvPr>
          <p:cNvSpPr>
            <a:spLocks xmlns:a="http://schemas.openxmlformats.org/drawingml/2006/main" noGrp="1"/>
          </p:cNvSpPr>
          <p:nvPr/>
        </p:nvSpPr>
        <p:spPr>
          <a:xfrm xmlns:a="http://schemas.openxmlformats.org/drawingml/2006/main">
            <a:off x="609600" y="61436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AE5DE"/>
                </a:solidFill>
                <a:latin typeface="Arial"/>
                <a:ea typeface="Arial"/>
                <a:cs typeface="Arial"/>
              </a:defRPr>
            </a:pPr>
            <a:r>
              <a:rPr sz="1800" b="0">
                <a:solidFill>
                  <a:srgbClr val="DAE5DE"/>
                </a:solidFill>
                <a:latin typeface="Arial"/>
                <a:ea typeface="Arial"/>
                <a:cs typeface="Arial"/>
              </a:rPr>
              <a:t>30 minutes, démonstration incluse</a:t>
            </a:r>
          </a:p>
        </p:txBody>
      </p:sp>
    </p:spTree>
    <p:extLst>
      <p:ext uri="{BB962C8B-B14F-4D97-AF65-F5344CB8AC3E}">
        <p14:creationId xmlns:p14="http://schemas.microsoft.com/office/powerpoint/2010/main" val="4854791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FB5C59-320D-4A31-AC9B-0630417459D8}"/>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Le besoin des grimpeurs et des clubs</a:t>
            </a:r>
          </a:p>
        </p:txBody>
      </p:sp>
      <p:sp>
        <p:nvSpPr>
          <p:cNvPr id="2" name="">
            <a:extLst xmlns:a="http://schemas.openxmlformats.org/drawingml/2006/main">
              <a:ext uri="{FF2B5EF4-FFF2-40B4-BE49-F238E27FC236}">
                <a16:creationId xmlns:a16="http://schemas.microsoft.com/office/drawing/2014/main" id="{BAC36DCA-7554-4469-ACC4-A38302A2FBF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Produit Spity    00:30 à 01:30    2</a:t>
            </a:r>
          </a:p>
        </p:txBody>
      </p:sp>
      <p:sp>
        <p:nvSpPr>
          <p:cNvPr id="3" name="">
            <a:extLst xmlns:a="http://schemas.openxmlformats.org/drawingml/2006/main">
              <a:ext uri="{FF2B5EF4-FFF2-40B4-BE49-F238E27FC236}">
                <a16:creationId xmlns:a16="http://schemas.microsoft.com/office/drawing/2014/main" id="{CF75028C-E5E0-48FA-9F02-3508ED437BA7}"/>
              </a:ext>
            </a:extLst>
          </p:cNvPr>
          <p:cNvSpPr>
            <a:spLocks xmlns:a="http://schemas.openxmlformats.org/drawingml/2006/main" noGrp="1"/>
          </p:cNvSpPr>
          <p:nvPr/>
        </p:nvSpPr>
        <p:spPr>
          <a:xfrm xmlns:a="http://schemas.openxmlformats.org/drawingml/2006/main">
            <a:off x="609600" y="21526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Grimpeur</a:t>
            </a:r>
          </a:p>
        </p:txBody>
      </p:sp>
      <p:sp>
        <p:nvSpPr>
          <p:cNvPr id="4" name="">
            <a:extLst xmlns:a="http://schemas.openxmlformats.org/drawingml/2006/main">
              <a:ext uri="{FF2B5EF4-FFF2-40B4-BE49-F238E27FC236}">
                <a16:creationId xmlns:a16="http://schemas.microsoft.com/office/drawing/2014/main" id="{5A854223-229D-43C2-9EF7-705FB760181E}"/>
              </a:ext>
            </a:extLst>
          </p:cNvPr>
          <p:cNvSpPr>
            <a:spLocks xmlns:a="http://schemas.openxmlformats.org/drawingml/2006/main" noGrp="1"/>
          </p:cNvSpPr>
          <p:nvPr/>
        </p:nvSpPr>
        <p:spPr>
          <a:xfrm xmlns:a="http://schemas.openxmlformats.org/drawingml/2006/main">
            <a:off x="609600" y="29813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2D"/>
                </a:solidFill>
                <a:latin typeface="Arial"/>
                <a:ea typeface="Arial"/>
                <a:cs typeface="Arial"/>
              </a:defRPr>
            </a:pPr>
            <a:r>
              <a:rPr sz="2025" b="0">
                <a:solidFill>
                  <a:srgbClr val="18312D"/>
                </a:solidFill>
                <a:latin typeface="Arial"/>
                <a:ea typeface="Arial"/>
                <a:cs typeface="Arial"/>
              </a:rPr>
              <a:t>Trouver un partenaire et rejoindre une sortie.</a:t>
            </a:r>
          </a:p>
        </p:txBody>
      </p:sp>
      <p:sp>
        <p:nvSpPr>
          <p:cNvPr id="5" name="">
            <a:extLst xmlns:a="http://schemas.openxmlformats.org/drawingml/2006/main">
              <a:ext uri="{FF2B5EF4-FFF2-40B4-BE49-F238E27FC236}">
                <a16:creationId xmlns:a16="http://schemas.microsoft.com/office/drawing/2014/main" id="{7BE227BE-7B58-475D-A745-EC98060CE469}"/>
              </a:ext>
            </a:extLst>
          </p:cNvPr>
          <p:cNvSpPr>
            <a:spLocks xmlns:a="http://schemas.openxmlformats.org/drawingml/2006/main" noGrp="1"/>
          </p:cNvSpPr>
          <p:nvPr/>
        </p:nvSpPr>
        <p:spPr>
          <a:xfrm xmlns:a="http://schemas.openxmlformats.org/drawingml/2006/main">
            <a:off x="609600" y="38671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Club</a:t>
            </a:r>
          </a:p>
        </p:txBody>
      </p:sp>
      <p:sp>
        <p:nvSpPr>
          <p:cNvPr id="6" name="">
            <a:extLst xmlns:a="http://schemas.openxmlformats.org/drawingml/2006/main">
              <a:ext uri="{FF2B5EF4-FFF2-40B4-BE49-F238E27FC236}">
                <a16:creationId xmlns:a16="http://schemas.microsoft.com/office/drawing/2014/main" id="{BCE4FB4B-33BB-487C-84EC-A1EA392B16ED}"/>
              </a:ext>
            </a:extLst>
          </p:cNvPr>
          <p:cNvSpPr>
            <a:spLocks xmlns:a="http://schemas.openxmlformats.org/drawingml/2006/main" noGrp="1"/>
          </p:cNvSpPr>
          <p:nvPr/>
        </p:nvSpPr>
        <p:spPr>
          <a:xfrm xmlns:a="http://schemas.openxmlformats.org/drawingml/2006/main">
            <a:off x="609600" y="46958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2D"/>
                </a:solidFill>
                <a:latin typeface="Arial"/>
                <a:ea typeface="Arial"/>
                <a:cs typeface="Arial"/>
              </a:defRPr>
            </a:pPr>
            <a:r>
              <a:rPr sz="2025" b="0">
                <a:solidFill>
                  <a:srgbClr val="18312D"/>
                </a:solidFill>
                <a:latin typeface="Arial"/>
                <a:ea typeface="Arial"/>
                <a:cs typeface="Arial"/>
              </a:rPr>
              <a:t>Organiser un événement et suivre les participants.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ab9ec838a544347"/>
          <a:stretch xmlns:a="http://schemas.openxmlformats.org/drawingml/2006/main"/>
        </p:blipFill>
        <p:spPr>
          <a:xfrm xmlns:a="http://schemas.openxmlformats.org/drawingml/2006/main">
            <a:off x="4908995" y="1714500"/>
            <a:ext cx="6460236" cy="4486275"/>
          </a:xfrm>
          <a:prstGeom xmlns:a="http://schemas.openxmlformats.org/drawingml/2006/main" prst="rect">
            <a:avLst/>
          </a:prstGeom>
        </p:spPr>
      </p:pic>
    </p:spTree>
    <p:extLst>
      <p:ext uri="{BB962C8B-B14F-4D97-AF65-F5344CB8AC3E}">
        <p14:creationId xmlns:p14="http://schemas.microsoft.com/office/powerpoint/2010/main" val="2931060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D7642D-F860-4B9A-8109-73A1171CD94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Périmètre et nature des preuves</a:t>
            </a:r>
          </a:p>
        </p:txBody>
      </p:sp>
      <p:sp>
        <p:nvSpPr>
          <p:cNvPr id="2" name="">
            <a:extLst xmlns:a="http://schemas.openxmlformats.org/drawingml/2006/main">
              <a:ext uri="{FF2B5EF4-FFF2-40B4-BE49-F238E27FC236}">
                <a16:creationId xmlns:a16="http://schemas.microsoft.com/office/drawing/2014/main" id="{C818E5D5-C253-4FA8-A5E5-9BB54C454C6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Produit réel et mise en situation fictive    01:30 à 02:30    3</a:t>
            </a:r>
          </a:p>
        </p:txBody>
      </p:sp>
      <p:sp>
        <p:nvSpPr>
          <p:cNvPr id="3" name="">
            <a:extLst xmlns:a="http://schemas.openxmlformats.org/drawingml/2006/main">
              <a:ext uri="{FF2B5EF4-FFF2-40B4-BE49-F238E27FC236}">
                <a16:creationId xmlns:a16="http://schemas.microsoft.com/office/drawing/2014/main" id="{29AF9A6B-337F-4602-AB1E-F33455803C90}"/>
              </a:ext>
            </a:extLst>
          </p:cNvPr>
          <p:cNvSpPr>
            <a:spLocks xmlns:a="http://schemas.openxmlformats.org/drawingml/2006/main" noGrp="1"/>
          </p:cNvSpPr>
          <p:nvPr/>
        </p:nvSpPr>
        <p:spPr>
          <a:xfrm xmlns:a="http://schemas.openxmlformats.org/drawingml/2006/main">
            <a:off x="6858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Éléments observés</a:t>
            </a:r>
          </a:p>
        </p:txBody>
      </p:sp>
      <p:sp>
        <p:nvSpPr>
          <p:cNvPr id="4" name="">
            <a:extLst xmlns:a="http://schemas.openxmlformats.org/drawingml/2006/main">
              <a:ext uri="{FF2B5EF4-FFF2-40B4-BE49-F238E27FC236}">
                <a16:creationId xmlns:a16="http://schemas.microsoft.com/office/drawing/2014/main" id="{5DD4AE8E-9871-45F6-B232-11CBB552071F}"/>
              </a:ext>
            </a:extLst>
          </p:cNvPr>
          <p:cNvSpPr>
            <a:spLocks xmlns:a="http://schemas.openxmlformats.org/drawingml/2006/main" noGrp="1"/>
          </p:cNvSpPr>
          <p:nvPr/>
        </p:nvSpPr>
        <p:spPr>
          <a:xfrm xmlns:a="http://schemas.openxmlformats.org/drawingml/2006/main">
            <a:off x="6858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Code, historique Git et tests datés.</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Application et comptes de démonstration.</a:t>
            </a:r>
          </a:p>
        </p:txBody>
      </p:sp>
      <p:sp>
        <p:nvSpPr>
          <p:cNvPr id="5" name="">
            <a:extLst xmlns:a="http://schemas.openxmlformats.org/drawingml/2006/main">
              <a:ext uri="{FF2B5EF4-FFF2-40B4-BE49-F238E27FC236}">
                <a16:creationId xmlns:a16="http://schemas.microsoft.com/office/drawing/2014/main" id="{0E19B274-862B-4A7D-A72F-E718BCED9B0F}"/>
              </a:ext>
            </a:extLst>
          </p:cNvPr>
          <p:cNvSpPr>
            <a:spLocks xmlns:a="http://schemas.openxmlformats.org/drawingml/2006/main" noGrp="1"/>
          </p:cNvSpPr>
          <p:nvPr/>
        </p:nvSpPr>
        <p:spPr>
          <a:xfrm xmlns:a="http://schemas.openxmlformats.org/drawingml/2006/main">
            <a:off x="63246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Cas pédagogique</a:t>
            </a:r>
          </a:p>
        </p:txBody>
      </p:sp>
      <p:sp>
        <p:nvSpPr>
          <p:cNvPr id="6" name="">
            <a:extLst xmlns:a="http://schemas.openxmlformats.org/drawingml/2006/main">
              <a:ext uri="{FF2B5EF4-FFF2-40B4-BE49-F238E27FC236}">
                <a16:creationId xmlns:a16="http://schemas.microsoft.com/office/drawing/2014/main" id="{A3DB4649-8C49-4AD3-8653-F027AADEB7AB}"/>
              </a:ext>
            </a:extLst>
          </p:cNvPr>
          <p:cNvSpPr>
            <a:spLocks xmlns:a="http://schemas.openxmlformats.org/drawingml/2006/main" noGrp="1"/>
          </p:cNvSpPr>
          <p:nvPr/>
        </p:nvSpPr>
        <p:spPr>
          <a:xfrm xmlns:a="http://schemas.openxmlformats.org/drawingml/2006/main">
            <a:off x="63246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Équipe CP, DEV et QA.</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Planning, coûts et réunions simulés.</a:t>
            </a:r>
          </a:p>
        </p:txBody>
      </p:sp>
    </p:spTree>
    <p:extLst>
      <p:ext uri="{BB962C8B-B14F-4D97-AF65-F5344CB8AC3E}">
        <p14:creationId xmlns:p14="http://schemas.microsoft.com/office/powerpoint/2010/main" val="15068233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FD3607-302C-4B4F-BA8A-679239FD667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Kanban et critères de fin</a:t>
            </a:r>
          </a:p>
        </p:txBody>
      </p:sp>
      <p:sp>
        <p:nvSpPr>
          <p:cNvPr id="2" name="">
            <a:extLst xmlns:a="http://schemas.openxmlformats.org/drawingml/2006/main">
              <a:ext uri="{FF2B5EF4-FFF2-40B4-BE49-F238E27FC236}">
                <a16:creationId xmlns:a16="http://schemas.microsoft.com/office/drawing/2014/main" id="{0EFCDC2B-D991-443C-8EF6-FFD0FC832C8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C.3.1, simulation pédagogique    02:30 à 04:00    4</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2857500"/>
                <a:gridCol w="8115300"/>
              </a:tblGrid>
              <a:tr h="666750">
                <a:tc>
                  <a:txBody>
                    <a:bodyPr/>
                    <a:lstStyle/>
                    <a:p>
                      <a:r>
                        <a:rPr sz="1800" b="1">
                          <a:solidFill>
                            <a:srgbClr val="FFFFFF"/>
                          </a:solidFill>
                          <a:latin typeface="Arial"/>
                          <a:ea typeface="Arial"/>
                          <a:cs typeface="Arial"/>
                        </a:rPr>
                        <a:t>État</a:t>
                      </a:r>
                    </a:p>
                  </a:txBody>
                  <a:tcPr marL="91440" marR="91440" marT="45720" marB="45720">
                    <a:solidFill>
                      <a:srgbClr val="246B58"/>
                    </a:solidFill>
                  </a:tcPr>
                </a:tc>
                <a:tc>
                  <a:txBody>
                    <a:bodyPr/>
                    <a:lstStyle/>
                    <a:p>
                      <a:r>
                        <a:rPr sz="1800" b="1">
                          <a:solidFill>
                            <a:srgbClr val="FFFFFF"/>
                          </a:solidFill>
                          <a:latin typeface="Arial"/>
                          <a:ea typeface="Arial"/>
                          <a:cs typeface="Arial"/>
                        </a:rPr>
                        <a:t>Condition</a:t>
                      </a:r>
                    </a:p>
                  </a:txBody>
                  <a:tcPr marL="91440" marR="91440" marT="45720" marB="45720">
                    <a:solidFill>
                      <a:srgbClr val="246B58"/>
                    </a:solidFill>
                  </a:tcPr>
                </a:tc>
              </a:tr>
              <a:tr h="666750">
                <a:tc>
                  <a:txBody>
                    <a:bodyPr/>
                    <a:lstStyle/>
                    <a:p>
                      <a:r>
                        <a:rPr sz="1800" b="0">
                          <a:solidFill>
                            <a:srgbClr val="18312D"/>
                          </a:solidFill>
                          <a:latin typeface="Arial"/>
                          <a:ea typeface="Arial"/>
                          <a:cs typeface="Arial"/>
                        </a:rPr>
                        <a:t>À faire</a:t>
                      </a:r>
                    </a:p>
                  </a:txBody>
                  <a:tcPr marL="91440" marR="91440" marT="45720" marB="45720">
                    <a:solidFill>
                      <a:srgbClr val="EDF3EF"/>
                    </a:solidFill>
                  </a:tcPr>
                </a:tc>
                <a:tc>
                  <a:txBody>
                    <a:bodyPr/>
                    <a:lstStyle/>
                    <a:p>
                      <a:r>
                        <a:rPr sz="1800" b="0">
                          <a:solidFill>
                            <a:srgbClr val="18312D"/>
                          </a:solidFill>
                          <a:latin typeface="Arial"/>
                          <a:ea typeface="Arial"/>
                          <a:cs typeface="Arial"/>
                        </a:rPr>
                        <a:t>Besoin et critères explicites</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En cours</a:t>
                      </a:r>
                    </a:p>
                  </a:txBody>
                  <a:tcPr marL="91440" marR="91440" marT="45720" marB="45720">
                    <a:solidFill>
                      <a:srgbClr val="FFFFFF"/>
                    </a:solidFill>
                  </a:tcPr>
                </a:tc>
                <a:tc>
                  <a:txBody>
                    <a:bodyPr/>
                    <a:lstStyle/>
                    <a:p>
                      <a:r>
                        <a:rPr sz="1800" b="0">
                          <a:solidFill>
                            <a:srgbClr val="18312D"/>
                          </a:solidFill>
                          <a:latin typeface="Arial"/>
                          <a:ea typeface="Arial"/>
                          <a:cs typeface="Arial"/>
                        </a:rPr>
                        <a:t>Responsable et capacité disponibles</a:t>
                      </a:r>
                    </a:p>
                  </a:txBody>
                  <a:tcPr marL="91440" marR="91440" marT="45720" marB="45720">
                    <a:solidFill>
                      <a:srgbClr val="FFFFFF"/>
                    </a:solidFill>
                  </a:tcPr>
                </a:tc>
              </a:tr>
              <a:tr h="666750">
                <a:tc>
                  <a:txBody>
                    <a:bodyPr/>
                    <a:lstStyle/>
                    <a:p>
                      <a:r>
                        <a:rPr sz="1800" b="0">
                          <a:solidFill>
                            <a:srgbClr val="18312D"/>
                          </a:solidFill>
                          <a:latin typeface="Arial"/>
                          <a:ea typeface="Arial"/>
                          <a:cs typeface="Arial"/>
                        </a:rPr>
                        <a:t>À vérifier</a:t>
                      </a:r>
                    </a:p>
                  </a:txBody>
                  <a:tcPr marL="91440" marR="91440" marT="45720" marB="45720">
                    <a:solidFill>
                      <a:srgbClr val="EDF3EF"/>
                    </a:solidFill>
                  </a:tcPr>
                </a:tc>
                <a:tc>
                  <a:txBody>
                    <a:bodyPr/>
                    <a:lstStyle/>
                    <a:p>
                      <a:r>
                        <a:rPr sz="1800" b="0">
                          <a:solidFill>
                            <a:srgbClr val="18312D"/>
                          </a:solidFill>
                          <a:latin typeface="Arial"/>
                          <a:ea typeface="Arial"/>
                          <a:cs typeface="Arial"/>
                        </a:rPr>
                        <a:t>Fonction prête pour la recette</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Terminé</a:t>
                      </a:r>
                    </a:p>
                  </a:txBody>
                  <a:tcPr marL="91440" marR="91440" marT="45720" marB="45720">
                    <a:solidFill>
                      <a:srgbClr val="FFFFFF"/>
                    </a:solidFill>
                  </a:tcPr>
                </a:tc>
                <a:tc>
                  <a:txBody>
                    <a:bodyPr/>
                    <a:lstStyle/>
                    <a:p>
                      <a:r>
                        <a:rPr sz="1800" b="0">
                          <a:solidFill>
                            <a:srgbClr val="18312D"/>
                          </a:solidFill>
                          <a:latin typeface="Arial"/>
                          <a:ea typeface="Arial"/>
                          <a:cs typeface="Arial"/>
                        </a:rPr>
                        <a:t>Critères vérifiés et réserves traitées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0ED9F90-0A44-4BE7-9B98-968FB01BAECB}"/>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Deux tâches de réalisation simultanées au maximum</a:t>
            </a:r>
          </a:p>
        </p:txBody>
      </p:sp>
    </p:spTree>
    <p:extLst>
      <p:ext uri="{BB962C8B-B14F-4D97-AF65-F5344CB8AC3E}">
        <p14:creationId xmlns:p14="http://schemas.microsoft.com/office/powerpoint/2010/main" val="8260077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9A50A2D-6474-4A3D-8BF3-985A76A3264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Planning et jalons du lot</a:t>
            </a:r>
          </a:p>
        </p:txBody>
      </p:sp>
      <p:sp>
        <p:nvSpPr>
          <p:cNvPr id="2" name="">
            <a:extLst xmlns:a="http://schemas.openxmlformats.org/drawingml/2006/main">
              <a:ext uri="{FF2B5EF4-FFF2-40B4-BE49-F238E27FC236}">
                <a16:creationId xmlns:a16="http://schemas.microsoft.com/office/drawing/2014/main" id="{2575D6E3-2E31-425D-9294-C16106F7D6A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C.3.1, simulation sur quinze jours ouvrés    04:00 à 05:30    5</a:t>
            </a:r>
          </a:p>
        </p:txBody>
      </p:sp>
      <p:graphicFrame>
        <p:nvGraphicFramePr>
          <p:cNvPr id="6" name=""/>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a:tblGrid>
                <a:gridCol w="1524000"/>
                <a:gridCol w="6286500"/>
                <a:gridCol w="3162300"/>
              </a:tblGrid>
              <a:tr h="682625">
                <a:tc>
                  <a:txBody>
                    <a:bodyPr/>
                    <a:lstStyle/>
                    <a:p>
                      <a:r>
                        <a:rPr sz="1800" b="1">
                          <a:solidFill>
                            <a:srgbClr val="FFFFFF"/>
                          </a:solidFill>
                          <a:latin typeface="Arial"/>
                          <a:ea typeface="Arial"/>
                          <a:cs typeface="Arial"/>
                        </a:rPr>
                        <a:t>Jalon</a:t>
                      </a:r>
                    </a:p>
                  </a:txBody>
                  <a:tcPr marL="91440" marR="91440" marT="45720" marB="45720">
                    <a:solidFill>
                      <a:srgbClr val="246B58"/>
                    </a:solidFill>
                  </a:tcPr>
                </a:tc>
                <a:tc>
                  <a:txBody>
                    <a:bodyPr/>
                    <a:lstStyle/>
                    <a:p>
                      <a:r>
                        <a:rPr sz="1800" b="1">
                          <a:solidFill>
                            <a:srgbClr val="FFFFFF"/>
                          </a:solidFill>
                          <a:latin typeface="Arial"/>
                          <a:ea typeface="Arial"/>
                          <a:cs typeface="Arial"/>
                        </a:rPr>
                        <a:t>Résultat attendu</a:t>
                      </a:r>
                    </a:p>
                  </a:txBody>
                  <a:tcPr marL="91440" marR="91440" marT="45720" marB="45720">
                    <a:solidFill>
                      <a:srgbClr val="246B58"/>
                    </a:solidFill>
                  </a:tcPr>
                </a:tc>
                <a:tc>
                  <a:txBody>
                    <a:bodyPr/>
                    <a:lstStyle/>
                    <a:p>
                      <a:r>
                        <a:rPr sz="1800" b="1">
                          <a:solidFill>
                            <a:srgbClr val="FFFFFF"/>
                          </a:solidFill>
                          <a:latin typeface="Arial"/>
                          <a:ea typeface="Arial"/>
                          <a:cs typeface="Arial"/>
                        </a:rPr>
                        <a:t>Validation</a:t>
                      </a:r>
                    </a:p>
                  </a:txBody>
                  <a:tcPr marL="91440" marR="91440" marT="45720" marB="45720">
                    <a:solidFill>
                      <a:srgbClr val="246B58"/>
                    </a:solidFill>
                  </a:tcPr>
                </a:tc>
              </a:tr>
              <a:tr h="682625">
                <a:tc>
                  <a:txBody>
                    <a:bodyPr/>
                    <a:lstStyle/>
                    <a:p>
                      <a:r>
                        <a:rPr sz="1800" b="0">
                          <a:solidFill>
                            <a:srgbClr val="18312D"/>
                          </a:solidFill>
                          <a:latin typeface="Arial"/>
                          <a:ea typeface="Arial"/>
                          <a:cs typeface="Arial"/>
                        </a:rPr>
                        <a:t>J3</a:t>
                      </a:r>
                    </a:p>
                  </a:txBody>
                  <a:tcPr marL="91440" marR="91440" marT="45720" marB="45720">
                    <a:solidFill>
                      <a:srgbClr val="EDF3EF"/>
                    </a:solidFill>
                  </a:tcPr>
                </a:tc>
                <a:tc>
                  <a:txBody>
                    <a:bodyPr/>
                    <a:lstStyle/>
                    <a:p>
                      <a:r>
                        <a:rPr sz="1800" b="0">
                          <a:solidFill>
                            <a:srgbClr val="18312D"/>
                          </a:solidFill>
                          <a:latin typeface="Arial"/>
                          <a:ea typeface="Arial"/>
                          <a:cs typeface="Arial"/>
                        </a:rPr>
                        <a:t>Périmètre et critères</a:t>
                      </a:r>
                    </a:p>
                  </a:txBody>
                  <a:tcPr marL="91440" marR="91440" marT="45720" marB="45720">
                    <a:solidFill>
                      <a:srgbClr val="EDF3EF"/>
                    </a:solidFill>
                  </a:tcPr>
                </a:tc>
                <a:tc>
                  <a:txBody>
                    <a:bodyPr/>
                    <a:lstStyle/>
                    <a:p>
                      <a:r>
                        <a:rPr sz="1800" b="0">
                          <a:solidFill>
                            <a:srgbClr val="18312D"/>
                          </a:solidFill>
                          <a:latin typeface="Arial"/>
                          <a:ea typeface="Arial"/>
                          <a:cs typeface="Arial"/>
                        </a:rPr>
                        <a:t>Client fictif</a:t>
                      </a:r>
                    </a:p>
                  </a:txBody>
                  <a:tcPr marL="91440" marR="91440" marT="45720" marB="45720">
                    <a:solidFill>
                      <a:srgbClr val="EDF3EF"/>
                    </a:solidFill>
                  </a:tcPr>
                </a:tc>
              </a:tr>
              <a:tr h="682625">
                <a:tc>
                  <a:txBody>
                    <a:bodyPr/>
                    <a:lstStyle/>
                    <a:p>
                      <a:r>
                        <a:rPr sz="1800" b="0">
                          <a:solidFill>
                            <a:srgbClr val="18312D"/>
                          </a:solidFill>
                          <a:latin typeface="Arial"/>
                          <a:ea typeface="Arial"/>
                          <a:cs typeface="Arial"/>
                        </a:rPr>
                        <a:t>J8</a:t>
                      </a:r>
                    </a:p>
                  </a:txBody>
                  <a:tcPr marL="91440" marR="91440" marT="45720" marB="45720">
                    <a:solidFill>
                      <a:srgbClr val="FFFFFF"/>
                    </a:solidFill>
                  </a:tcPr>
                </a:tc>
                <a:tc>
                  <a:txBody>
                    <a:bodyPr/>
                    <a:lstStyle/>
                    <a:p>
                      <a:r>
                        <a:rPr sz="1800" b="0">
                          <a:solidFill>
                            <a:srgbClr val="18312D"/>
                          </a:solidFill>
                          <a:latin typeface="Arial"/>
                          <a:ea typeface="Arial"/>
                          <a:cs typeface="Arial"/>
                        </a:rPr>
                        <a:t>Parcours partenaire</a:t>
                      </a:r>
                    </a:p>
                  </a:txBody>
                  <a:tcPr marL="91440" marR="91440" marT="45720" marB="45720">
                    <a:solidFill>
                      <a:srgbClr val="FFFFFF"/>
                    </a:solidFill>
                  </a:tcPr>
                </a:tc>
                <a:tc>
                  <a:txBody>
                    <a:bodyPr/>
                    <a:lstStyle/>
                    <a:p>
                      <a:r>
                        <a:rPr sz="1800" b="0">
                          <a:solidFill>
                            <a:srgbClr val="18312D"/>
                          </a:solidFill>
                          <a:latin typeface="Arial"/>
                          <a:ea typeface="Arial"/>
                          <a:cs typeface="Arial"/>
                        </a:rPr>
                        <a:t>CP et QA</a:t>
                      </a:r>
                    </a:p>
                  </a:txBody>
                  <a:tcPr marL="91440" marR="91440" marT="45720" marB="45720">
                    <a:solidFill>
                      <a:srgbClr val="FFFFF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DF3EF"/>
                    </a:solidFill>
                  </a:tcPr>
                </a:tc>
                <a:tc>
                  <a:txBody>
                    <a:bodyPr/>
                    <a:lstStyle/>
                    <a:p>
                      <a:r>
                        <a:rPr sz="1800" b="0">
                          <a:solidFill>
                            <a:srgbClr val="18312D"/>
                          </a:solidFill>
                          <a:latin typeface="Arial"/>
                          <a:ea typeface="Arial"/>
                          <a:cs typeface="Arial"/>
                        </a:rPr>
                        <a:t>Écarts et arbitrages</a:t>
                      </a:r>
                    </a:p>
                  </a:txBody>
                  <a:tcPr marL="91440" marR="91440" marT="45720" marB="45720">
                    <a:solidFill>
                      <a:srgbClr val="EDF3EF"/>
                    </a:solidFill>
                  </a:tcPr>
                </a:tc>
                <a:tc>
                  <a:txBody>
                    <a:bodyPr/>
                    <a:lstStyle/>
                    <a:p>
                      <a:r>
                        <a:rPr sz="1800" b="0">
                          <a:solidFill>
                            <a:srgbClr val="18312D"/>
                          </a:solidFill>
                          <a:latin typeface="Arial"/>
                          <a:ea typeface="Arial"/>
                          <a:cs typeface="Arial"/>
                        </a:rPr>
                        <a:t>CP et client</a:t>
                      </a:r>
                    </a:p>
                  </a:txBody>
                  <a:tcPr marL="91440" marR="91440" marT="45720" marB="45720">
                    <a:solidFill>
                      <a:srgbClr val="EDF3EF"/>
                    </a:solidFill>
                  </a:tcPr>
                </a:tc>
              </a:tr>
              <a:tr h="682625">
                <a:tc>
                  <a:txBody>
                    <a:bodyPr/>
                    <a:lstStyle/>
                    <a:p>
                      <a:r>
                        <a:rPr sz="1800" b="0">
                          <a:solidFill>
                            <a:srgbClr val="18312D"/>
                          </a:solidFill>
                          <a:latin typeface="Arial"/>
                          <a:ea typeface="Arial"/>
                          <a:cs typeface="Arial"/>
                        </a:rPr>
                        <a:t>J14</a:t>
                      </a:r>
                    </a:p>
                  </a:txBody>
                  <a:tcPr marL="91440" marR="91440" marT="45720" marB="45720">
                    <a:solidFill>
                      <a:srgbClr val="FFFFFF"/>
                    </a:solidFill>
                  </a:tcPr>
                </a:tc>
                <a:tc>
                  <a:txBody>
                    <a:bodyPr/>
                    <a:lstStyle/>
                    <a:p>
                      <a:r>
                        <a:rPr sz="1800" b="0">
                          <a:solidFill>
                            <a:srgbClr val="18312D"/>
                          </a:solidFill>
                          <a:latin typeface="Arial"/>
                          <a:ea typeface="Arial"/>
                          <a:cs typeface="Arial"/>
                        </a:rPr>
                        <a:t>Recette et corrections</a:t>
                      </a:r>
                    </a:p>
                  </a:txBody>
                  <a:tcPr marL="91440" marR="91440" marT="45720" marB="45720">
                    <a:solidFill>
                      <a:srgbClr val="FFFFFF"/>
                    </a:solidFill>
                  </a:tcPr>
                </a:tc>
                <a:tc>
                  <a:txBody>
                    <a:bodyPr/>
                    <a:lstStyle/>
                    <a:p>
                      <a:r>
                        <a:rPr sz="1800" b="0">
                          <a:solidFill>
                            <a:srgbClr val="18312D"/>
                          </a:solidFill>
                          <a:latin typeface="Arial"/>
                          <a:ea typeface="Arial"/>
                          <a:cs typeface="Arial"/>
                        </a:rPr>
                        <a:t>CP et QA</a:t>
                      </a:r>
                    </a:p>
                  </a:txBody>
                  <a:tcPr marL="91440" marR="91440" marT="45720" marB="45720">
                    <a:solidFill>
                      <a:srgbClr val="FFFFFF"/>
                    </a:solidFill>
                  </a:tcPr>
                </a:tc>
              </a:tr>
              <a:tr h="682625">
                <a:tc>
                  <a:txBody>
                    <a:bodyPr/>
                    <a:lstStyle/>
                    <a:p>
                      <a:r>
                        <a:rPr sz="1800" b="0">
                          <a:solidFill>
                            <a:srgbClr val="18312D"/>
                          </a:solidFill>
                          <a:latin typeface="Arial"/>
                          <a:ea typeface="Arial"/>
                          <a:cs typeface="Arial"/>
                        </a:rPr>
                        <a:t>J15</a:t>
                      </a:r>
                    </a:p>
                  </a:txBody>
                  <a:tcPr marL="91440" marR="91440" marT="45720" marB="45720">
                    <a:solidFill>
                      <a:srgbClr val="EDF3EF"/>
                    </a:solidFill>
                  </a:tcPr>
                </a:tc>
                <a:tc>
                  <a:txBody>
                    <a:bodyPr/>
                    <a:lstStyle/>
                    <a:p>
                      <a:r>
                        <a:rPr sz="1800" b="0">
                          <a:solidFill>
                            <a:srgbClr val="18312D"/>
                          </a:solidFill>
                          <a:latin typeface="Arial"/>
                          <a:ea typeface="Arial"/>
                          <a:cs typeface="Arial"/>
                        </a:rPr>
                        <a:t>Démonstration et réserves</a:t>
                      </a:r>
                    </a:p>
                  </a:txBody>
                  <a:tcPr marL="91440" marR="91440" marT="45720" marB="45720">
                    <a:solidFill>
                      <a:srgbClr val="EDF3EF"/>
                    </a:solidFill>
                  </a:tcPr>
                </a:tc>
                <a:tc>
                  <a:txBody>
                    <a:bodyPr/>
                    <a:lstStyle/>
                    <a:p>
                      <a:r>
                        <a:rPr sz="1800" b="0">
                          <a:solidFill>
                            <a:srgbClr val="18312D"/>
                          </a:solidFill>
                          <a:latin typeface="Arial"/>
                          <a:ea typeface="Arial"/>
                          <a:cs typeface="Arial"/>
                        </a:rPr>
                        <a:t>Client fictif</a:t>
                      </a:r>
                    </a:p>
                  </a:txBody>
                  <a:tcPr marL="91440" marR="91440" marT="45720" marB="45720">
                    <a:solidFill>
                      <a:srgbClr val="EDF3EF"/>
                    </a:solidFill>
                  </a:tcPr>
                </a:tc>
              </a:tr>
            </a:tbl>
          </a:graphicData>
        </a:graphic>
      </p:graphicFrame>
    </p:spTree>
    <p:extLst>
      <p:ext uri="{BB962C8B-B14F-4D97-AF65-F5344CB8AC3E}">
        <p14:creationId xmlns:p14="http://schemas.microsoft.com/office/powerpoint/2010/main" val="19562158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84B3BB-8E94-4085-A269-936A5A5386C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Rôles et responsabilités</a:t>
            </a:r>
          </a:p>
        </p:txBody>
      </p:sp>
      <p:sp>
        <p:nvSpPr>
          <p:cNvPr id="2" name="">
            <a:extLst xmlns:a="http://schemas.openxmlformats.org/drawingml/2006/main">
              <a:ext uri="{FF2B5EF4-FFF2-40B4-BE49-F238E27FC236}">
                <a16:creationId xmlns:a16="http://schemas.microsoft.com/office/drawing/2014/main" id="{7FF6C290-6166-47E5-870B-D3EC33F227C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C.3.1, équipe fictive du cas    05:30 à 06:30    6</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3333750"/>
                <a:gridCol w="5334000"/>
                <a:gridCol w="2305050"/>
              </a:tblGrid>
              <a:tr h="666750">
                <a:tc>
                  <a:txBody>
                    <a:bodyPr/>
                    <a:lstStyle/>
                    <a:p>
                      <a:r>
                        <a:rPr sz="1800" b="1">
                          <a:solidFill>
                            <a:srgbClr val="FFFFFF"/>
                          </a:solidFill>
                          <a:latin typeface="Arial"/>
                          <a:ea typeface="Arial"/>
                          <a:cs typeface="Arial"/>
                        </a:rPr>
                        <a:t>Rôle</a:t>
                      </a:r>
                    </a:p>
                  </a:txBody>
                  <a:tcPr marL="91440" marR="91440" marT="45720" marB="45720">
                    <a:solidFill>
                      <a:srgbClr val="246B58"/>
                    </a:solidFill>
                  </a:tcPr>
                </a:tc>
                <a:tc>
                  <a:txBody>
                    <a:bodyPr/>
                    <a:lstStyle/>
                    <a:p>
                      <a:r>
                        <a:rPr sz="1800" b="1">
                          <a:solidFill>
                            <a:srgbClr val="FFFFFF"/>
                          </a:solidFill>
                          <a:latin typeface="Arial"/>
                          <a:ea typeface="Arial"/>
                          <a:cs typeface="Arial"/>
                        </a:rPr>
                        <a:t>Responsabilité</a:t>
                      </a:r>
                    </a:p>
                  </a:txBody>
                  <a:tcPr marL="91440" marR="91440" marT="45720" marB="45720">
                    <a:solidFill>
                      <a:srgbClr val="246B58"/>
                    </a:solidFill>
                  </a:tcPr>
                </a:tc>
                <a:tc>
                  <a:txBody>
                    <a:bodyPr/>
                    <a:lstStyle/>
                    <a:p>
                      <a:r>
                        <a:rPr sz="1800" b="1">
                          <a:solidFill>
                            <a:srgbClr val="FFFFFF"/>
                          </a:solidFill>
                          <a:latin typeface="Arial"/>
                          <a:ea typeface="Arial"/>
                          <a:cs typeface="Arial"/>
                        </a:rPr>
                        <a:t>Capacité</a:t>
                      </a:r>
                    </a:p>
                  </a:txBody>
                  <a:tcPr marL="91440" marR="91440" marT="45720" marB="45720">
                    <a:solidFill>
                      <a:srgbClr val="246B58"/>
                    </a:solidFill>
                  </a:tcPr>
                </a:tc>
              </a:tr>
              <a:tr h="666750">
                <a:tc>
                  <a:txBody>
                    <a:bodyPr/>
                    <a:lstStyle/>
                    <a:p>
                      <a:r>
                        <a:rPr sz="1800" b="0">
                          <a:solidFill>
                            <a:srgbClr val="18312D"/>
                          </a:solidFill>
                          <a:latin typeface="Arial"/>
                          <a:ea typeface="Arial"/>
                          <a:cs typeface="Arial"/>
                        </a:rPr>
                        <a:t>Chef de projet</a:t>
                      </a:r>
                    </a:p>
                  </a:txBody>
                  <a:tcPr marL="91440" marR="91440" marT="45720" marB="45720">
                    <a:solidFill>
                      <a:srgbClr val="EDF3EF"/>
                    </a:solidFill>
                  </a:tcPr>
                </a:tc>
                <a:tc>
                  <a:txBody>
                    <a:bodyPr/>
                    <a:lstStyle/>
                    <a:p>
                      <a:r>
                        <a:rPr sz="1800" b="0">
                          <a:solidFill>
                            <a:srgbClr val="18312D"/>
                          </a:solidFill>
                          <a:latin typeface="Arial"/>
                          <a:ea typeface="Arial"/>
                          <a:cs typeface="Arial"/>
                        </a:rPr>
                        <a:t>Organiser et arbitrer</a:t>
                      </a:r>
                    </a:p>
                  </a:txBody>
                  <a:tcPr marL="91440" marR="91440" marT="45720" marB="45720">
                    <a:solidFill>
                      <a:srgbClr val="EDF3EF"/>
                    </a:solidFill>
                  </a:tcPr>
                </a:tc>
                <a:tc>
                  <a:txBody>
                    <a:bodyPr/>
                    <a:lstStyle/>
                    <a:p>
                      <a:r>
                        <a:rPr sz="1800" b="0">
                          <a:solidFill>
                            <a:srgbClr val="18312D"/>
                          </a:solidFill>
                          <a:latin typeface="Arial"/>
                          <a:ea typeface="Arial"/>
                          <a:cs typeface="Arial"/>
                        </a:rPr>
                        <a:t>30 h</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Développeur</a:t>
                      </a:r>
                    </a:p>
                  </a:txBody>
                  <a:tcPr marL="91440" marR="91440" marT="45720" marB="45720">
                    <a:solidFill>
                      <a:srgbClr val="FFFFFF"/>
                    </a:solidFill>
                  </a:tcPr>
                </a:tc>
                <a:tc>
                  <a:txBody>
                    <a:bodyPr/>
                    <a:lstStyle/>
                    <a:p>
                      <a:r>
                        <a:rPr sz="1800" b="0">
                          <a:solidFill>
                            <a:srgbClr val="18312D"/>
                          </a:solidFill>
                          <a:latin typeface="Arial"/>
                          <a:ea typeface="Arial"/>
                          <a:cs typeface="Arial"/>
                        </a:rPr>
                        <a:t>Réaliser et corriger</a:t>
                      </a:r>
                    </a:p>
                  </a:txBody>
                  <a:tcPr marL="91440" marR="91440" marT="45720" marB="45720">
                    <a:solidFill>
                      <a:srgbClr val="FFFFFF"/>
                    </a:solidFill>
                  </a:tcPr>
                </a:tc>
                <a:tc>
                  <a:txBody>
                    <a:bodyPr/>
                    <a:lstStyle/>
                    <a:p>
                      <a:r>
                        <a:rPr sz="1800" b="0">
                          <a:solidFill>
                            <a:srgbClr val="18312D"/>
                          </a:solidFill>
                          <a:latin typeface="Arial"/>
                          <a:ea typeface="Arial"/>
                          <a:cs typeface="Arial"/>
                        </a:rPr>
                        <a:t>72 h</a:t>
                      </a:r>
                    </a:p>
                  </a:txBody>
                  <a:tcPr marL="91440" marR="91440" marT="45720" marB="45720">
                    <a:solidFill>
                      <a:srgbClr val="FFFFFF"/>
                    </a:solidFill>
                  </a:tcPr>
                </a:tc>
              </a:tr>
              <a:tr h="666750">
                <a:tc>
                  <a:txBody>
                    <a:bodyPr/>
                    <a:lstStyle/>
                    <a:p>
                      <a:r>
                        <a:rPr sz="1800" b="0">
                          <a:solidFill>
                            <a:srgbClr val="18312D"/>
                          </a:solidFill>
                          <a:latin typeface="Arial"/>
                          <a:ea typeface="Arial"/>
                          <a:cs typeface="Arial"/>
                        </a:rPr>
                        <a:t>Testeur UX</a:t>
                      </a:r>
                    </a:p>
                  </a:txBody>
                  <a:tcPr marL="91440" marR="91440" marT="45720" marB="45720">
                    <a:solidFill>
                      <a:srgbClr val="EDF3EF"/>
                    </a:solidFill>
                  </a:tcPr>
                </a:tc>
                <a:tc>
                  <a:txBody>
                    <a:bodyPr/>
                    <a:lstStyle/>
                    <a:p>
                      <a:r>
                        <a:rPr sz="1800" b="0">
                          <a:solidFill>
                            <a:srgbClr val="18312D"/>
                          </a:solidFill>
                          <a:latin typeface="Arial"/>
                          <a:ea typeface="Arial"/>
                          <a:cs typeface="Arial"/>
                        </a:rPr>
                        <a:t>Recetter les parcours</a:t>
                      </a:r>
                    </a:p>
                  </a:txBody>
                  <a:tcPr marL="91440" marR="91440" marT="45720" marB="45720">
                    <a:solidFill>
                      <a:srgbClr val="EDF3EF"/>
                    </a:solidFill>
                  </a:tcPr>
                </a:tc>
                <a:tc>
                  <a:txBody>
                    <a:bodyPr/>
                    <a:lstStyle/>
                    <a:p>
                      <a:r>
                        <a:rPr sz="1800" b="0">
                          <a:solidFill>
                            <a:srgbClr val="18312D"/>
                          </a:solidFill>
                          <a:latin typeface="Arial"/>
                          <a:ea typeface="Arial"/>
                          <a:cs typeface="Arial"/>
                        </a:rPr>
                        <a:t>30 h</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Client</a:t>
                      </a:r>
                    </a:p>
                  </a:txBody>
                  <a:tcPr marL="91440" marR="91440" marT="45720" marB="45720">
                    <a:solidFill>
                      <a:srgbClr val="FFFFFF"/>
                    </a:solidFill>
                  </a:tcPr>
                </a:tc>
                <a:tc>
                  <a:txBody>
                    <a:bodyPr/>
                    <a:lstStyle/>
                    <a:p>
                      <a:r>
                        <a:rPr sz="1800" b="0">
                          <a:solidFill>
                            <a:srgbClr val="18312D"/>
                          </a:solidFill>
                          <a:latin typeface="Arial"/>
                          <a:ea typeface="Arial"/>
                          <a:cs typeface="Arial"/>
                        </a:rPr>
                        <a:t>Valider le périmètre</a:t>
                      </a:r>
                    </a:p>
                  </a:txBody>
                  <a:tcPr marL="91440" marR="91440" marT="45720" marB="45720">
                    <a:solidFill>
                      <a:srgbClr val="FFFFFF"/>
                    </a:solidFill>
                  </a:tcPr>
                </a:tc>
                <a:tc>
                  <a:txBody>
                    <a:bodyPr/>
                    <a:lstStyle/>
                    <a:p>
                      <a:r>
                        <a:rPr sz="1800" b="0">
                          <a:solidFill>
                            <a:srgbClr val="18312D"/>
                          </a:solidFill>
                          <a:latin typeface="Arial"/>
                          <a:ea typeface="Arial"/>
                          <a:cs typeface="Arial"/>
                        </a:rPr>
                        <a:t>3 points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8D1E458-CEA1-4111-8436-69DD08B5666E}"/>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Une seule autorité de décision par activité dans la matrice RACI</a:t>
            </a:r>
          </a:p>
        </p:txBody>
      </p:sp>
    </p:spTree>
    <p:extLst>
      <p:ext uri="{BB962C8B-B14F-4D97-AF65-F5344CB8AC3E}">
        <p14:creationId xmlns:p14="http://schemas.microsoft.com/office/powerpoint/2010/main" val="9992965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9AAF2C-9029-4DF5-8A07-B34F8C6CB99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Avancement à J10</a:t>
            </a:r>
          </a:p>
        </p:txBody>
      </p:sp>
      <p:sp>
        <p:nvSpPr>
          <p:cNvPr id="2" name="">
            <a:extLst xmlns:a="http://schemas.openxmlformats.org/drawingml/2006/main">
              <a:ext uri="{FF2B5EF4-FFF2-40B4-BE49-F238E27FC236}">
                <a16:creationId xmlns:a16="http://schemas.microsoft.com/office/drawing/2014/main" id="{4CEE50A1-A80A-4382-904D-420C25B47D0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C3.2.1, simulation pédagogique    06:30 à 08:00    7</a:t>
            </a:r>
          </a:p>
        </p:txBody>
      </p:sp>
      <p:sp>
        <p:nvSpPr>
          <p:cNvPr id="3" name="">
            <a:extLst xmlns:a="http://schemas.openxmlformats.org/drawingml/2006/main">
              <a:ext uri="{FF2B5EF4-FFF2-40B4-BE49-F238E27FC236}">
                <a16:creationId xmlns:a16="http://schemas.microsoft.com/office/drawing/2014/main" id="{E75C08F7-53D1-47FA-9999-924A046286C2}"/>
              </a:ext>
            </a:extLst>
          </p:cNvPr>
          <p:cNvSpPr>
            <a:spLocks xmlns:a="http://schemas.openxmlformats.org/drawingml/2006/main" noGrp="1"/>
          </p:cNvSpPr>
          <p:nvPr/>
        </p:nvSpPr>
        <p:spPr>
          <a:xfrm xmlns:a="http://schemas.openxmlformats.org/drawingml/2006/main">
            <a:off x="685800" y="2152650"/>
            <a:ext cx="323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246B58"/>
                </a:solidFill>
                <a:latin typeface="Arial"/>
                <a:ea typeface="Arial"/>
                <a:cs typeface="Arial"/>
              </a:defRPr>
            </a:pPr>
            <a:r>
              <a:rPr sz="4650" b="1">
                <a:solidFill>
                  <a:srgbClr val="246B58"/>
                </a:solidFill>
                <a:latin typeface="Arial"/>
                <a:ea typeface="Arial"/>
                <a:cs typeface="Arial"/>
              </a:rPr>
              <a:t>112 h</a:t>
            </a:r>
          </a:p>
        </p:txBody>
      </p:sp>
      <p:sp>
        <p:nvSpPr>
          <p:cNvPr id="4" name="">
            <a:extLst xmlns:a="http://schemas.openxmlformats.org/drawingml/2006/main">
              <a:ext uri="{FF2B5EF4-FFF2-40B4-BE49-F238E27FC236}">
                <a16:creationId xmlns:a16="http://schemas.microsoft.com/office/drawing/2014/main" id="{6623DCA8-1EB2-4E4B-B0D2-8C29BF927EBB}"/>
              </a:ext>
            </a:extLst>
          </p:cNvPr>
          <p:cNvSpPr>
            <a:spLocks xmlns:a="http://schemas.openxmlformats.org/drawingml/2006/main" noGrp="1"/>
          </p:cNvSpPr>
          <p:nvPr/>
        </p:nvSpPr>
        <p:spPr>
          <a:xfrm xmlns:a="http://schemas.openxmlformats.org/drawingml/2006/main">
            <a:off x="685800" y="31813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12D"/>
                </a:solidFill>
                <a:latin typeface="Arial"/>
                <a:ea typeface="Arial"/>
                <a:cs typeface="Arial"/>
              </a:defRPr>
            </a:pPr>
            <a:r>
              <a:rPr sz="2175" b="0">
                <a:solidFill>
                  <a:srgbClr val="18312D"/>
                </a:solidFill>
                <a:latin typeface="Arial"/>
                <a:ea typeface="Arial"/>
                <a:cs typeface="Arial"/>
              </a:rPr>
              <a:t>Charge initiale</a:t>
            </a:r>
          </a:p>
        </p:txBody>
      </p:sp>
      <p:sp>
        <p:nvSpPr>
          <p:cNvPr id="5" name="">
            <a:extLst xmlns:a="http://schemas.openxmlformats.org/drawingml/2006/main">
              <a:ext uri="{FF2B5EF4-FFF2-40B4-BE49-F238E27FC236}">
                <a16:creationId xmlns:a16="http://schemas.microsoft.com/office/drawing/2014/main" id="{93462BB3-D4A9-4791-8F4B-62CBFDAAEE2B}"/>
              </a:ext>
            </a:extLst>
          </p:cNvPr>
          <p:cNvSpPr>
            <a:spLocks xmlns:a="http://schemas.openxmlformats.org/drawingml/2006/main" noGrp="1"/>
          </p:cNvSpPr>
          <p:nvPr/>
        </p:nvSpPr>
        <p:spPr>
          <a:xfrm xmlns:a="http://schemas.openxmlformats.org/drawingml/2006/main">
            <a:off x="4391025" y="2152650"/>
            <a:ext cx="323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246B58"/>
                </a:solidFill>
                <a:latin typeface="Arial"/>
                <a:ea typeface="Arial"/>
                <a:cs typeface="Arial"/>
              </a:defRPr>
            </a:pPr>
            <a:r>
              <a:rPr sz="4650" b="1">
                <a:solidFill>
                  <a:srgbClr val="246B58"/>
                </a:solidFill>
                <a:latin typeface="Arial"/>
                <a:ea typeface="Arial"/>
                <a:cs typeface="Arial"/>
              </a:rPr>
              <a:t>77 h</a:t>
            </a:r>
          </a:p>
        </p:txBody>
      </p:sp>
      <p:sp>
        <p:nvSpPr>
          <p:cNvPr id="6" name="">
            <a:extLst xmlns:a="http://schemas.openxmlformats.org/drawingml/2006/main">
              <a:ext uri="{FF2B5EF4-FFF2-40B4-BE49-F238E27FC236}">
                <a16:creationId xmlns:a16="http://schemas.microsoft.com/office/drawing/2014/main" id="{5C076CF5-CBC4-4191-86DF-1094D4BF2311}"/>
              </a:ext>
            </a:extLst>
          </p:cNvPr>
          <p:cNvSpPr>
            <a:spLocks xmlns:a="http://schemas.openxmlformats.org/drawingml/2006/main" noGrp="1"/>
          </p:cNvSpPr>
          <p:nvPr/>
        </p:nvSpPr>
        <p:spPr>
          <a:xfrm xmlns:a="http://schemas.openxmlformats.org/drawingml/2006/main">
            <a:off x="4391025" y="31813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12D"/>
                </a:solidFill>
                <a:latin typeface="Arial"/>
                <a:ea typeface="Arial"/>
                <a:cs typeface="Arial"/>
              </a:defRPr>
            </a:pPr>
            <a:r>
              <a:rPr sz="2175" b="0">
                <a:solidFill>
                  <a:srgbClr val="18312D"/>
                </a:solidFill>
                <a:latin typeface="Arial"/>
                <a:ea typeface="Arial"/>
                <a:cs typeface="Arial"/>
              </a:rPr>
              <a:t>Charge consommée</a:t>
            </a:r>
          </a:p>
        </p:txBody>
      </p:sp>
      <p:sp>
        <p:nvSpPr>
          <p:cNvPr id="7" name="">
            <a:extLst xmlns:a="http://schemas.openxmlformats.org/drawingml/2006/main">
              <a:ext uri="{FF2B5EF4-FFF2-40B4-BE49-F238E27FC236}">
                <a16:creationId xmlns:a16="http://schemas.microsoft.com/office/drawing/2014/main" id="{F1F03686-E8B0-42B8-B6D5-B52732F61EF8}"/>
              </a:ext>
            </a:extLst>
          </p:cNvPr>
          <p:cNvSpPr>
            <a:spLocks xmlns:a="http://schemas.openxmlformats.org/drawingml/2006/main" noGrp="1"/>
          </p:cNvSpPr>
          <p:nvPr/>
        </p:nvSpPr>
        <p:spPr>
          <a:xfrm xmlns:a="http://schemas.openxmlformats.org/drawingml/2006/main">
            <a:off x="8096250" y="2152650"/>
            <a:ext cx="323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246B58"/>
                </a:solidFill>
                <a:latin typeface="Arial"/>
                <a:ea typeface="Arial"/>
                <a:cs typeface="Arial"/>
              </a:defRPr>
            </a:pPr>
            <a:r>
              <a:rPr sz="4650" b="1">
                <a:solidFill>
                  <a:srgbClr val="246B58"/>
                </a:solidFill>
                <a:latin typeface="Arial"/>
                <a:ea typeface="Arial"/>
                <a:cs typeface="Arial"/>
              </a:rPr>
              <a:t>40 h</a:t>
            </a:r>
          </a:p>
        </p:txBody>
      </p:sp>
      <p:sp>
        <p:nvSpPr>
          <p:cNvPr id="8" name="">
            <a:extLst xmlns:a="http://schemas.openxmlformats.org/drawingml/2006/main">
              <a:ext uri="{FF2B5EF4-FFF2-40B4-BE49-F238E27FC236}">
                <a16:creationId xmlns:a16="http://schemas.microsoft.com/office/drawing/2014/main" id="{DC40A5C8-51FA-49D1-8F50-66427EFB1884}"/>
              </a:ext>
            </a:extLst>
          </p:cNvPr>
          <p:cNvSpPr>
            <a:spLocks xmlns:a="http://schemas.openxmlformats.org/drawingml/2006/main" noGrp="1"/>
          </p:cNvSpPr>
          <p:nvPr/>
        </p:nvSpPr>
        <p:spPr>
          <a:xfrm xmlns:a="http://schemas.openxmlformats.org/drawingml/2006/main">
            <a:off x="8096250" y="31813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12D"/>
                </a:solidFill>
                <a:latin typeface="Arial"/>
                <a:ea typeface="Arial"/>
                <a:cs typeface="Arial"/>
              </a:defRPr>
            </a:pPr>
            <a:r>
              <a:rPr sz="2175" b="0">
                <a:solidFill>
                  <a:srgbClr val="18312D"/>
                </a:solidFill>
                <a:latin typeface="Arial"/>
                <a:ea typeface="Arial"/>
                <a:cs typeface="Arial"/>
              </a:rPr>
              <a:t>Reste à faire</a:t>
            </a:r>
          </a:p>
        </p:txBody>
      </p:sp>
      <p:sp>
        <p:nvSpPr>
          <p:cNvPr id="9" name="">
            <a:extLst xmlns:a="http://schemas.openxmlformats.org/drawingml/2006/main">
              <a:ext uri="{FF2B5EF4-FFF2-40B4-BE49-F238E27FC236}">
                <a16:creationId xmlns:a16="http://schemas.microsoft.com/office/drawing/2014/main" id="{8729E951-8484-4874-8DF1-601065EB70D4}"/>
              </a:ext>
            </a:extLst>
          </p:cNvPr>
          <p:cNvSpPr>
            <a:spLocks xmlns:a="http://schemas.openxmlformats.org/drawingml/2006/main" noGrp="1"/>
          </p:cNvSpPr>
          <p:nvPr/>
        </p:nvSpPr>
        <p:spPr>
          <a:xfrm xmlns:a="http://schemas.openxmlformats.org/drawingml/2006/main">
            <a:off x="685800" y="45529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12D"/>
                </a:solidFill>
                <a:latin typeface="Arial"/>
                <a:ea typeface="Arial"/>
                <a:cs typeface="Arial"/>
              </a:defRPr>
            </a:pPr>
            <a:r>
              <a:rPr sz="2400" b="1">
                <a:solidFill>
                  <a:srgbClr val="18312D"/>
                </a:solidFill>
                <a:latin typeface="Arial"/>
                <a:ea typeface="Arial"/>
                <a:cs typeface="Arial"/>
              </a:rPr>
              <a:t>Prévision à terminaison : 117 h, soit 5 h de plus que prévu</a:t>
            </a:r>
          </a:p>
        </p:txBody>
      </p:sp>
      <p:sp>
        <p:nvSpPr>
          <p:cNvPr id="10" name="">
            <a:extLst xmlns:a="http://schemas.openxmlformats.org/drawingml/2006/main">
              <a:ext uri="{FF2B5EF4-FFF2-40B4-BE49-F238E27FC236}">
                <a16:creationId xmlns:a16="http://schemas.microsoft.com/office/drawing/2014/main" id="{BCD0CE67-CF8B-4FAF-B999-A4B444A51EB1}"/>
              </a:ext>
            </a:extLst>
          </p:cNvPr>
          <p:cNvSpPr>
            <a:spLocks xmlns:a="http://schemas.openxmlformats.org/drawingml/2006/main" noGrp="1"/>
          </p:cNvSpPr>
          <p:nvPr/>
        </p:nvSpPr>
        <p:spPr>
          <a:xfrm xmlns:a="http://schemas.openxmlformats.org/drawingml/2006/main">
            <a:off x="685800" y="563880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6B58"/>
                </a:solidFill>
                <a:latin typeface="Arial"/>
                <a:ea typeface="Arial"/>
                <a:cs typeface="Arial"/>
              </a:defRPr>
            </a:pPr>
            <a:r>
              <a:rPr sz="1800" b="0">
                <a:solidFill>
                  <a:srgbClr val="246B58"/>
                </a:solidFill>
                <a:latin typeface="Arial"/>
                <a:ea typeface="Arial"/>
                <a:cs typeface="Arial"/>
              </a:rPr>
              <a:t>5 tâches terminées sur 10. Les tâches ont des tailles différentes.</a:t>
            </a:r>
          </a:p>
        </p:txBody>
      </p:sp>
    </p:spTree>
    <p:extLst>
      <p:ext uri="{BB962C8B-B14F-4D97-AF65-F5344CB8AC3E}">
        <p14:creationId xmlns:p14="http://schemas.microsoft.com/office/powerpoint/2010/main" val="5170267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6D9FA9-BB0E-43CE-9A26-4AE0C656F6B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Budget prévisionnel du cas</a:t>
            </a:r>
          </a:p>
        </p:txBody>
      </p:sp>
      <p:sp>
        <p:nvSpPr>
          <p:cNvPr id="2" name="">
            <a:extLst xmlns:a="http://schemas.openxmlformats.org/drawingml/2006/main">
              <a:ext uri="{FF2B5EF4-FFF2-40B4-BE49-F238E27FC236}">
                <a16:creationId xmlns:a16="http://schemas.microsoft.com/office/drawing/2014/main" id="{59F13162-7664-4982-A200-7410B713367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C3.2.1, montants fictifs en euros    08:00 à 09:30    8</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4572000"/>
                <a:gridCol w="2286000"/>
                <a:gridCol w="4114800"/>
              </a:tblGrid>
              <a:tr h="666750">
                <a:tc>
                  <a:txBody>
                    <a:bodyPr/>
                    <a:lstStyle/>
                    <a:p>
                      <a:r>
                        <a:rPr sz="1800" b="1">
                          <a:solidFill>
                            <a:srgbClr val="FFFFFF"/>
                          </a:solidFill>
                          <a:latin typeface="Arial"/>
                          <a:ea typeface="Arial"/>
                          <a:cs typeface="Arial"/>
                        </a:rPr>
                        <a:t>Repère</a:t>
                      </a:r>
                    </a:p>
                  </a:txBody>
                  <a:tcPr marL="91440" marR="91440" marT="45720" marB="45720">
                    <a:solidFill>
                      <a:srgbClr val="246B58"/>
                    </a:solidFill>
                  </a:tcPr>
                </a:tc>
                <a:tc>
                  <a:txBody>
                    <a:bodyPr/>
                    <a:lstStyle/>
                    <a:p>
                      <a:r>
                        <a:rPr sz="1800" b="1">
                          <a:solidFill>
                            <a:srgbClr val="FFFFFF"/>
                          </a:solidFill>
                          <a:latin typeface="Arial"/>
                          <a:ea typeface="Arial"/>
                          <a:cs typeface="Arial"/>
                        </a:rPr>
                        <a:t>Montant</a:t>
                      </a:r>
                    </a:p>
                  </a:txBody>
                  <a:tcPr marL="91440" marR="91440" marT="45720" marB="45720">
                    <a:solidFill>
                      <a:srgbClr val="246B58"/>
                    </a:solidFill>
                  </a:tcPr>
                </a:tc>
                <a:tc>
                  <a:txBody>
                    <a:bodyPr/>
                    <a:lstStyle/>
                    <a:p>
                      <a:r>
                        <a:rPr sz="1800" b="1">
                          <a:solidFill>
                            <a:srgbClr val="FFFFFF"/>
                          </a:solidFill>
                          <a:latin typeface="Arial"/>
                          <a:ea typeface="Arial"/>
                          <a:cs typeface="Arial"/>
                        </a:rPr>
                        <a:t>Lecture</a:t>
                      </a:r>
                    </a:p>
                  </a:txBody>
                  <a:tcPr marL="91440" marR="91440" marT="45720" marB="45720">
                    <a:solidFill>
                      <a:srgbClr val="246B58"/>
                    </a:solidFill>
                  </a:tcPr>
                </a:tc>
              </a:tr>
              <a:tr h="666750">
                <a:tc>
                  <a:txBody>
                    <a:bodyPr/>
                    <a:lstStyle/>
                    <a:p>
                      <a:r>
                        <a:rPr sz="1800" b="0">
                          <a:solidFill>
                            <a:srgbClr val="18312D"/>
                          </a:solidFill>
                          <a:latin typeface="Arial"/>
                          <a:ea typeface="Arial"/>
                          <a:cs typeface="Arial"/>
                        </a:rPr>
                        <a:t>Budget initial hors réserve</a:t>
                      </a:r>
                    </a:p>
                  </a:txBody>
                  <a:tcPr marL="91440" marR="91440" marT="45720" marB="45720">
                    <a:solidFill>
                      <a:srgbClr val="EDF3EF"/>
                    </a:solidFill>
                  </a:tcPr>
                </a:tc>
                <a:tc>
                  <a:txBody>
                    <a:bodyPr/>
                    <a:lstStyle/>
                    <a:p>
                      <a:r>
                        <a:rPr sz="1800" b="0">
                          <a:solidFill>
                            <a:srgbClr val="18312D"/>
                          </a:solidFill>
                          <a:latin typeface="Arial"/>
                          <a:ea typeface="Arial"/>
                          <a:cs typeface="Arial"/>
                        </a:rPr>
                        <a:t>4 270 €</a:t>
                      </a:r>
                    </a:p>
                  </a:txBody>
                  <a:tcPr marL="91440" marR="91440" marT="45720" marB="45720">
                    <a:solidFill>
                      <a:srgbClr val="EDF3EF"/>
                    </a:solidFill>
                  </a:tcPr>
                </a:tc>
                <a:tc>
                  <a:txBody>
                    <a:bodyPr/>
                    <a:lstStyle/>
                    <a:p>
                      <a:r>
                        <a:rPr sz="1800" b="0">
                          <a:solidFill>
                            <a:srgbClr val="18312D"/>
                          </a:solidFill>
                          <a:latin typeface="Arial"/>
                          <a:ea typeface="Arial"/>
                          <a:cs typeface="Arial"/>
                        </a:rPr>
                        <a:t>Référence du lot</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Prévision à terminaison</a:t>
                      </a:r>
                    </a:p>
                  </a:txBody>
                  <a:tcPr marL="91440" marR="91440" marT="45720" marB="45720">
                    <a:solidFill>
                      <a:srgbClr val="FFFFFF"/>
                    </a:solidFill>
                  </a:tcPr>
                </a:tc>
                <a:tc>
                  <a:txBody>
                    <a:bodyPr/>
                    <a:lstStyle/>
                    <a:p>
                      <a:r>
                        <a:rPr sz="1800" b="0">
                          <a:solidFill>
                            <a:srgbClr val="18312D"/>
                          </a:solidFill>
                          <a:latin typeface="Arial"/>
                          <a:ea typeface="Arial"/>
                          <a:cs typeface="Arial"/>
                        </a:rPr>
                        <a:t>4 465 €</a:t>
                      </a:r>
                    </a:p>
                  </a:txBody>
                  <a:tcPr marL="91440" marR="91440" marT="45720" marB="45720">
                    <a:solidFill>
                      <a:srgbClr val="FFFFFF"/>
                    </a:solidFill>
                  </a:tcPr>
                </a:tc>
                <a:tc>
                  <a:txBody>
                    <a:bodyPr/>
                    <a:lstStyle/>
                    <a:p>
                      <a:r>
                        <a:rPr sz="1800" b="0">
                          <a:solidFill>
                            <a:srgbClr val="18312D"/>
                          </a:solidFill>
                          <a:latin typeface="Arial"/>
                          <a:ea typeface="Arial"/>
                          <a:cs typeface="Arial"/>
                        </a:rPr>
                        <a:t>Écart de +195 €</a:t>
                      </a:r>
                    </a:p>
                  </a:txBody>
                  <a:tcPr marL="91440" marR="91440" marT="45720" marB="45720">
                    <a:solidFill>
                      <a:srgbClr val="FFFFFF"/>
                    </a:solidFill>
                  </a:tcPr>
                </a:tc>
              </a:tr>
              <a:tr h="666750">
                <a:tc>
                  <a:txBody>
                    <a:bodyPr/>
                    <a:lstStyle/>
                    <a:p>
                      <a:r>
                        <a:rPr sz="1800" b="0">
                          <a:solidFill>
                            <a:srgbClr val="18312D"/>
                          </a:solidFill>
                          <a:latin typeface="Arial"/>
                          <a:ea typeface="Arial"/>
                          <a:cs typeface="Arial"/>
                        </a:rPr>
                        <a:t>Plafond avec réserve</a:t>
                      </a:r>
                    </a:p>
                  </a:txBody>
                  <a:tcPr marL="91440" marR="91440" marT="45720" marB="45720">
                    <a:solidFill>
                      <a:srgbClr val="EDF3EF"/>
                    </a:solidFill>
                  </a:tcPr>
                </a:tc>
                <a:tc>
                  <a:txBody>
                    <a:bodyPr/>
                    <a:lstStyle/>
                    <a:p>
                      <a:r>
                        <a:rPr sz="1800" b="0">
                          <a:solidFill>
                            <a:srgbClr val="18312D"/>
                          </a:solidFill>
                          <a:latin typeface="Arial"/>
                          <a:ea typeface="Arial"/>
                          <a:cs typeface="Arial"/>
                        </a:rPr>
                        <a:t>4 697 €</a:t>
                      </a:r>
                    </a:p>
                  </a:txBody>
                  <a:tcPr marL="91440" marR="91440" marT="45720" marB="45720">
                    <a:solidFill>
                      <a:srgbClr val="EDF3EF"/>
                    </a:solidFill>
                  </a:tcPr>
                </a:tc>
                <a:tc>
                  <a:txBody>
                    <a:bodyPr/>
                    <a:lstStyle/>
                    <a:p>
                      <a:r>
                        <a:rPr sz="1800" b="0">
                          <a:solidFill>
                            <a:srgbClr val="18312D"/>
                          </a:solidFill>
                          <a:latin typeface="Arial"/>
                          <a:ea typeface="Arial"/>
                          <a:cs typeface="Arial"/>
                        </a:rPr>
                        <a:t>Réserve initiale de 427 €</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Marge sous le plafond</a:t>
                      </a:r>
                    </a:p>
                  </a:txBody>
                  <a:tcPr marL="91440" marR="91440" marT="45720" marB="45720">
                    <a:solidFill>
                      <a:srgbClr val="FFFFFF"/>
                    </a:solidFill>
                  </a:tcPr>
                </a:tc>
                <a:tc>
                  <a:txBody>
                    <a:bodyPr/>
                    <a:lstStyle/>
                    <a:p>
                      <a:r>
                        <a:rPr sz="1800" b="0">
                          <a:solidFill>
                            <a:srgbClr val="18312D"/>
                          </a:solidFill>
                          <a:latin typeface="Arial"/>
                          <a:ea typeface="Arial"/>
                          <a:cs typeface="Arial"/>
                        </a:rPr>
                        <a:t>232 €</a:t>
                      </a:r>
                    </a:p>
                  </a:txBody>
                  <a:tcPr marL="91440" marR="91440" marT="45720" marB="45720">
                    <a:solidFill>
                      <a:srgbClr val="FFFFFF"/>
                    </a:solidFill>
                  </a:tcPr>
                </a:tc>
                <a:tc>
                  <a:txBody>
                    <a:bodyPr/>
                    <a:lstStyle/>
                    <a:p>
                      <a:r>
                        <a:rPr sz="1800" b="0">
                          <a:solidFill>
                            <a:srgbClr val="18312D"/>
                          </a:solidFill>
                          <a:latin typeface="Arial"/>
                          <a:ea typeface="Arial"/>
                          <a:cs typeface="Arial"/>
                        </a:rPr>
                        <a:t>Capacité financière restante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2071097-D7E5-4EA3-B458-589947903138}"/>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Le dépassement reste visible même lorsque la réserve peut l’absorber</a:t>
            </a:r>
          </a:p>
        </p:txBody>
      </p:sp>
    </p:spTree>
    <p:extLst>
      <p:ext uri="{BB962C8B-B14F-4D97-AF65-F5344CB8AC3E}">
        <p14:creationId xmlns:p14="http://schemas.microsoft.com/office/powerpoint/2010/main" val="19903781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B20BAB-A12D-444F-BF1D-2E94096D472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Charge et capacité par rôle</a:t>
            </a:r>
          </a:p>
        </p:txBody>
      </p:sp>
      <p:sp>
        <p:nvSpPr>
          <p:cNvPr id="2" name="">
            <a:extLst xmlns:a="http://schemas.openxmlformats.org/drawingml/2006/main">
              <a:ext uri="{FF2B5EF4-FFF2-40B4-BE49-F238E27FC236}">
                <a16:creationId xmlns:a16="http://schemas.microsoft.com/office/drawing/2014/main" id="{A1443B86-0FC3-4153-B977-A96C6A34A79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C3.2.1, simulation pédagogique    09:30 à 10:30    9</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4572000"/>
                <a:gridCol w="2133600"/>
                <a:gridCol w="2133600"/>
                <a:gridCol w="2133600"/>
              </a:tblGrid>
              <a:tr h="833438">
                <a:tc>
                  <a:txBody>
                    <a:bodyPr/>
                    <a:lstStyle/>
                    <a:p>
                      <a:r>
                        <a:rPr sz="1800" b="1">
                          <a:solidFill>
                            <a:srgbClr val="FFFFFF"/>
                          </a:solidFill>
                          <a:latin typeface="Arial"/>
                          <a:ea typeface="Arial"/>
                          <a:cs typeface="Arial"/>
                        </a:rPr>
                        <a:t>Rôle</a:t>
                      </a:r>
                    </a:p>
                  </a:txBody>
                  <a:tcPr marL="91440" marR="91440" marT="45720" marB="45720">
                    <a:solidFill>
                      <a:srgbClr val="246B58"/>
                    </a:solidFill>
                  </a:tcPr>
                </a:tc>
                <a:tc>
                  <a:txBody>
                    <a:bodyPr/>
                    <a:lstStyle/>
                    <a:p>
                      <a:r>
                        <a:rPr sz="1800" b="1">
                          <a:solidFill>
                            <a:srgbClr val="FFFFFF"/>
                          </a:solidFill>
                          <a:latin typeface="Arial"/>
                          <a:ea typeface="Arial"/>
                          <a:cs typeface="Arial"/>
                        </a:rPr>
                        <a:t>Prévision</a:t>
                      </a:r>
                    </a:p>
                  </a:txBody>
                  <a:tcPr marL="91440" marR="91440" marT="45720" marB="45720">
                    <a:solidFill>
                      <a:srgbClr val="246B58"/>
                    </a:solidFill>
                  </a:tcPr>
                </a:tc>
                <a:tc>
                  <a:txBody>
                    <a:bodyPr/>
                    <a:lstStyle/>
                    <a:p>
                      <a:r>
                        <a:rPr sz="1800" b="1">
                          <a:solidFill>
                            <a:srgbClr val="FFFFFF"/>
                          </a:solidFill>
                          <a:latin typeface="Arial"/>
                          <a:ea typeface="Arial"/>
                          <a:cs typeface="Arial"/>
                        </a:rPr>
                        <a:t>Capacité</a:t>
                      </a:r>
                    </a:p>
                  </a:txBody>
                  <a:tcPr marL="91440" marR="91440" marT="45720" marB="45720">
                    <a:solidFill>
                      <a:srgbClr val="246B58"/>
                    </a:solidFill>
                  </a:tcPr>
                </a:tc>
                <a:tc>
                  <a:txBody>
                    <a:bodyPr/>
                    <a:lstStyle/>
                    <a:p>
                      <a:r>
                        <a:rPr sz="1800" b="1">
                          <a:solidFill>
                            <a:srgbClr val="FFFFFF"/>
                          </a:solidFill>
                          <a:latin typeface="Arial"/>
                          <a:ea typeface="Arial"/>
                          <a:cs typeface="Arial"/>
                        </a:rPr>
                        <a:t>Marge</a:t>
                      </a:r>
                    </a:p>
                  </a:txBody>
                  <a:tcPr marL="91440" marR="91440" marT="45720" marB="45720">
                    <a:solidFill>
                      <a:srgbClr val="246B58"/>
                    </a:solidFill>
                  </a:tcPr>
                </a:tc>
              </a:tr>
              <a:tr h="833438">
                <a:tc>
                  <a:txBody>
                    <a:bodyPr/>
                    <a:lstStyle/>
                    <a:p>
                      <a:r>
                        <a:rPr sz="1800" b="0">
                          <a:solidFill>
                            <a:srgbClr val="18312D"/>
                          </a:solidFill>
                          <a:latin typeface="Arial"/>
                          <a:ea typeface="Arial"/>
                          <a:cs typeface="Arial"/>
                        </a:rPr>
                        <a:t>Chef de projet</a:t>
                      </a:r>
                    </a:p>
                  </a:txBody>
                  <a:tcPr marL="91440" marR="91440" marT="45720" marB="45720">
                    <a:solidFill>
                      <a:srgbClr val="EDF3EF"/>
                    </a:solidFill>
                  </a:tcPr>
                </a:tc>
                <a:tc>
                  <a:txBody>
                    <a:bodyPr/>
                    <a:lstStyle/>
                    <a:p>
                      <a:r>
                        <a:rPr sz="1800" b="0">
                          <a:solidFill>
                            <a:srgbClr val="18312D"/>
                          </a:solidFill>
                          <a:latin typeface="Arial"/>
                          <a:ea typeface="Arial"/>
                          <a:cs typeface="Arial"/>
                        </a:rPr>
                        <a:t>29 h</a:t>
                      </a:r>
                    </a:p>
                  </a:txBody>
                  <a:tcPr marL="91440" marR="91440" marT="45720" marB="45720">
                    <a:solidFill>
                      <a:srgbClr val="EDF3EF"/>
                    </a:solidFill>
                  </a:tcPr>
                </a:tc>
                <a:tc>
                  <a:txBody>
                    <a:bodyPr/>
                    <a:lstStyle/>
                    <a:p>
                      <a:r>
                        <a:rPr sz="1800" b="0">
                          <a:solidFill>
                            <a:srgbClr val="18312D"/>
                          </a:solidFill>
                          <a:latin typeface="Arial"/>
                          <a:ea typeface="Arial"/>
                          <a:cs typeface="Arial"/>
                        </a:rPr>
                        <a:t>30 h</a:t>
                      </a:r>
                    </a:p>
                  </a:txBody>
                  <a:tcPr marL="91440" marR="91440" marT="45720" marB="45720">
                    <a:solidFill>
                      <a:srgbClr val="EDF3EF"/>
                    </a:solidFill>
                  </a:tcPr>
                </a:tc>
                <a:tc>
                  <a:txBody>
                    <a:bodyPr/>
                    <a:lstStyle/>
                    <a:p>
                      <a:r>
                        <a:rPr sz="1800" b="0">
                          <a:solidFill>
                            <a:srgbClr val="18312D"/>
                          </a:solidFill>
                          <a:latin typeface="Arial"/>
                          <a:ea typeface="Arial"/>
                          <a:cs typeface="Arial"/>
                        </a:rPr>
                        <a:t>1 h</a:t>
                      </a:r>
                    </a:p>
                  </a:txBody>
                  <a:tcPr marL="91440" marR="91440" marT="45720" marB="45720">
                    <a:solidFill>
                      <a:srgbClr val="EDF3EF"/>
                    </a:solidFill>
                  </a:tcPr>
                </a:tc>
              </a:tr>
              <a:tr h="833438">
                <a:tc>
                  <a:txBody>
                    <a:bodyPr/>
                    <a:lstStyle/>
                    <a:p>
                      <a:r>
                        <a:rPr sz="1800" b="0">
                          <a:solidFill>
                            <a:srgbClr val="18312D"/>
                          </a:solidFill>
                          <a:latin typeface="Arial"/>
                          <a:ea typeface="Arial"/>
                          <a:cs typeface="Arial"/>
                        </a:rPr>
                        <a:t>Développeur</a:t>
                      </a:r>
                    </a:p>
                  </a:txBody>
                  <a:tcPr marL="91440" marR="91440" marT="45720" marB="45720">
                    <a:solidFill>
                      <a:srgbClr val="FFFFFF"/>
                    </a:solidFill>
                  </a:tcPr>
                </a:tc>
                <a:tc>
                  <a:txBody>
                    <a:bodyPr/>
                    <a:lstStyle/>
                    <a:p>
                      <a:r>
                        <a:rPr sz="1800" b="0">
                          <a:solidFill>
                            <a:srgbClr val="18312D"/>
                          </a:solidFill>
                          <a:latin typeface="Arial"/>
                          <a:ea typeface="Arial"/>
                          <a:cs typeface="Arial"/>
                        </a:rPr>
                        <a:t>64 h</a:t>
                      </a:r>
                    </a:p>
                  </a:txBody>
                  <a:tcPr marL="91440" marR="91440" marT="45720" marB="45720">
                    <a:solidFill>
                      <a:srgbClr val="FFFFFF"/>
                    </a:solidFill>
                  </a:tcPr>
                </a:tc>
                <a:tc>
                  <a:txBody>
                    <a:bodyPr/>
                    <a:lstStyle/>
                    <a:p>
                      <a:r>
                        <a:rPr sz="1800" b="0">
                          <a:solidFill>
                            <a:srgbClr val="18312D"/>
                          </a:solidFill>
                          <a:latin typeface="Arial"/>
                          <a:ea typeface="Arial"/>
                          <a:cs typeface="Arial"/>
                        </a:rPr>
                        <a:t>72 h</a:t>
                      </a:r>
                    </a:p>
                  </a:txBody>
                  <a:tcPr marL="91440" marR="91440" marT="45720" marB="45720">
                    <a:solidFill>
                      <a:srgbClr val="FFFFFF"/>
                    </a:solidFill>
                  </a:tcPr>
                </a:tc>
                <a:tc>
                  <a:txBody>
                    <a:bodyPr/>
                    <a:lstStyle/>
                    <a:p>
                      <a:r>
                        <a:rPr sz="1800" b="0">
                          <a:solidFill>
                            <a:srgbClr val="18312D"/>
                          </a:solidFill>
                          <a:latin typeface="Arial"/>
                          <a:ea typeface="Arial"/>
                          <a:cs typeface="Arial"/>
                        </a:rPr>
                        <a:t>8 h</a:t>
                      </a:r>
                    </a:p>
                  </a:txBody>
                  <a:tcPr marL="91440" marR="91440" marT="45720" marB="45720">
                    <a:solidFill>
                      <a:srgbClr val="FFFFFF"/>
                    </a:solidFill>
                  </a:tcPr>
                </a:tc>
              </a:tr>
              <a:tr h="833438">
                <a:tc>
                  <a:txBody>
                    <a:bodyPr/>
                    <a:lstStyle/>
                    <a:p>
                      <a:r>
                        <a:rPr sz="1800" b="0">
                          <a:solidFill>
                            <a:srgbClr val="18312D"/>
                          </a:solidFill>
                          <a:latin typeface="Arial"/>
                          <a:ea typeface="Arial"/>
                          <a:cs typeface="Arial"/>
                        </a:rPr>
                        <a:t>Testeur UX</a:t>
                      </a:r>
                    </a:p>
                  </a:txBody>
                  <a:tcPr marL="91440" marR="91440" marT="45720" marB="45720">
                    <a:solidFill>
                      <a:srgbClr val="EDF3EF"/>
                    </a:solidFill>
                  </a:tcPr>
                </a:tc>
                <a:tc>
                  <a:txBody>
                    <a:bodyPr/>
                    <a:lstStyle/>
                    <a:p>
                      <a:r>
                        <a:rPr sz="1800" b="0">
                          <a:solidFill>
                            <a:srgbClr val="18312D"/>
                          </a:solidFill>
                          <a:latin typeface="Arial"/>
                          <a:ea typeface="Arial"/>
                          <a:cs typeface="Arial"/>
                        </a:rPr>
                        <a:t>24 h</a:t>
                      </a:r>
                    </a:p>
                  </a:txBody>
                  <a:tcPr marL="91440" marR="91440" marT="45720" marB="45720">
                    <a:solidFill>
                      <a:srgbClr val="EDF3EF"/>
                    </a:solidFill>
                  </a:tcPr>
                </a:tc>
                <a:tc>
                  <a:txBody>
                    <a:bodyPr/>
                    <a:lstStyle/>
                    <a:p>
                      <a:r>
                        <a:rPr sz="1800" b="0">
                          <a:solidFill>
                            <a:srgbClr val="18312D"/>
                          </a:solidFill>
                          <a:latin typeface="Arial"/>
                          <a:ea typeface="Arial"/>
                          <a:cs typeface="Arial"/>
                        </a:rPr>
                        <a:t>30 h</a:t>
                      </a:r>
                    </a:p>
                  </a:txBody>
                  <a:tcPr marL="91440" marR="91440" marT="45720" marB="45720">
                    <a:solidFill>
                      <a:srgbClr val="EDF3EF"/>
                    </a:solidFill>
                  </a:tcPr>
                </a:tc>
                <a:tc>
                  <a:txBody>
                    <a:bodyPr/>
                    <a:lstStyle/>
                    <a:p>
                      <a:r>
                        <a:rPr sz="1800" b="0">
                          <a:solidFill>
                            <a:srgbClr val="18312D"/>
                          </a:solidFill>
                          <a:latin typeface="Arial"/>
                          <a:ea typeface="Arial"/>
                          <a:cs typeface="Arial"/>
                        </a:rPr>
                        <a:t>6 h</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DD383E0B-D5CD-405E-967E-D3AE6F770591}"/>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La capacité disponible dépend des compétences et des responsabilités</a:t>
            </a:r>
          </a:p>
        </p:txBody>
      </p:sp>
    </p:spTree>
    <p:extLst>
      <p:ext uri="{BB962C8B-B14F-4D97-AF65-F5344CB8AC3E}">
        <p14:creationId xmlns:p14="http://schemas.microsoft.com/office/powerpoint/2010/main" val="2107880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68CDF40-6ADE-4C92-8D9A-F1BE62F3B90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Risques et réponses prévues</a:t>
            </a:r>
          </a:p>
        </p:txBody>
      </p:sp>
      <p:sp>
        <p:nvSpPr>
          <p:cNvPr id="2" name="">
            <a:extLst xmlns:a="http://schemas.openxmlformats.org/drawingml/2006/main">
              <a:ext uri="{FF2B5EF4-FFF2-40B4-BE49-F238E27FC236}">
                <a16:creationId xmlns:a16="http://schemas.microsoft.com/office/drawing/2014/main" id="{A3BBA026-93B7-4E1B-AFEF-1BD4FDC248B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C3.2.1, extrait du registre fictif    10:30 à 11:30    10</a:t>
            </a:r>
          </a:p>
        </p:txBody>
      </p:sp>
      <p:graphicFrame>
        <p:nvGraphicFramePr>
          <p:cNvPr id="6" name=""/>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a:tblGrid>
                <a:gridCol w="3143250"/>
                <a:gridCol w="3333750"/>
                <a:gridCol w="4495800"/>
              </a:tblGrid>
              <a:tr h="1023938">
                <a:tc>
                  <a:txBody>
                    <a:bodyPr/>
                    <a:lstStyle/>
                    <a:p>
                      <a:r>
                        <a:rPr sz="1800" b="1">
                          <a:solidFill>
                            <a:srgbClr val="FFFFFF"/>
                          </a:solidFill>
                          <a:latin typeface="Arial"/>
                          <a:ea typeface="Arial"/>
                          <a:cs typeface="Arial"/>
                        </a:rPr>
                        <a:t>Risque</a:t>
                      </a:r>
                    </a:p>
                  </a:txBody>
                  <a:tcPr marL="91440" marR="91440" marT="45720" marB="45720">
                    <a:solidFill>
                      <a:srgbClr val="246B58"/>
                    </a:solidFill>
                  </a:tcPr>
                </a:tc>
                <a:tc>
                  <a:txBody>
                    <a:bodyPr/>
                    <a:lstStyle/>
                    <a:p>
                      <a:r>
                        <a:rPr sz="1800" b="1">
                          <a:solidFill>
                            <a:srgbClr val="FFFFFF"/>
                          </a:solidFill>
                          <a:latin typeface="Arial"/>
                          <a:ea typeface="Arial"/>
                          <a:cs typeface="Arial"/>
                        </a:rPr>
                        <a:t>Déclencheur</a:t>
                      </a:r>
                    </a:p>
                  </a:txBody>
                  <a:tcPr marL="91440" marR="91440" marT="45720" marB="45720">
                    <a:solidFill>
                      <a:srgbClr val="246B58"/>
                    </a:solidFill>
                  </a:tcPr>
                </a:tc>
                <a:tc>
                  <a:txBody>
                    <a:bodyPr/>
                    <a:lstStyle/>
                    <a:p>
                      <a:r>
                        <a:rPr sz="1800" b="1">
                          <a:solidFill>
                            <a:srgbClr val="FFFFFF"/>
                          </a:solidFill>
                          <a:latin typeface="Arial"/>
                          <a:ea typeface="Arial"/>
                          <a:cs typeface="Arial"/>
                        </a:rPr>
                        <a:t>Réponse</a:t>
                      </a:r>
                    </a:p>
                  </a:txBody>
                  <a:tcPr marL="91440" marR="91440" marT="45720" marB="45720">
                    <a:solidFill>
                      <a:srgbClr val="246B58"/>
                    </a:solidFill>
                  </a:tcPr>
                </a:tc>
              </a:tr>
              <a:tr h="1023938">
                <a:tc>
                  <a:txBody>
                    <a:bodyPr/>
                    <a:lstStyle/>
                    <a:p>
                      <a:r>
                        <a:rPr sz="1800" b="0">
                          <a:solidFill>
                            <a:srgbClr val="18312D"/>
                          </a:solidFill>
                          <a:latin typeface="Arial"/>
                          <a:ea typeface="Arial"/>
                          <a:cs typeface="Arial"/>
                        </a:rPr>
                        <a:t>Démonstration indisponible</a:t>
                      </a:r>
                    </a:p>
                  </a:txBody>
                  <a:tcPr marL="91440" marR="91440" marT="45720" marB="45720">
                    <a:solidFill>
                      <a:srgbClr val="EDF3EF"/>
                    </a:solidFill>
                  </a:tcPr>
                </a:tc>
                <a:tc>
                  <a:txBody>
                    <a:bodyPr/>
                    <a:lstStyle/>
                    <a:p>
                      <a:r>
                        <a:rPr sz="1800" b="0">
                          <a:solidFill>
                            <a:srgbClr val="18312D"/>
                          </a:solidFill>
                          <a:latin typeface="Arial"/>
                          <a:ea typeface="Arial"/>
                          <a:cs typeface="Arial"/>
                        </a:rPr>
                        <a:t>Sonde de santé en échec</a:t>
                      </a:r>
                    </a:p>
                  </a:txBody>
                  <a:tcPr marL="91440" marR="91440" marT="45720" marB="45720">
                    <a:solidFill>
                      <a:srgbClr val="EDF3EF"/>
                    </a:solidFill>
                  </a:tcPr>
                </a:tc>
                <a:tc>
                  <a:txBody>
                    <a:bodyPr/>
                    <a:lstStyle/>
                    <a:p>
                      <a:r>
                        <a:rPr sz="1800" b="0">
                          <a:solidFill>
                            <a:srgbClr val="18312D"/>
                          </a:solidFill>
                          <a:latin typeface="Arial"/>
                          <a:ea typeface="Arial"/>
                          <a:cs typeface="Arial"/>
                        </a:rPr>
                        <a:t>Vérifier l’environnement et préparer le secours</a:t>
                      </a:r>
                    </a:p>
                  </a:txBody>
                  <a:tcPr marL="91440" marR="91440" marT="45720" marB="45720">
                    <a:solidFill>
                      <a:srgbClr val="EDF3EF"/>
                    </a:solidFill>
                  </a:tcPr>
                </a:tc>
              </a:tr>
              <a:tr h="1023938">
                <a:tc>
                  <a:txBody>
                    <a:bodyPr/>
                    <a:lstStyle/>
                    <a:p>
                      <a:r>
                        <a:rPr sz="1800" b="0">
                          <a:solidFill>
                            <a:srgbClr val="18312D"/>
                          </a:solidFill>
                          <a:latin typeface="Arial"/>
                          <a:ea typeface="Arial"/>
                          <a:cs typeface="Arial"/>
                        </a:rPr>
                        <a:t>Surcharge du chef de projet</a:t>
                      </a:r>
                    </a:p>
                  </a:txBody>
                  <a:tcPr marL="91440" marR="91440" marT="45720" marB="45720">
                    <a:solidFill>
                      <a:srgbClr val="FFFFFF"/>
                    </a:solidFill>
                  </a:tcPr>
                </a:tc>
                <a:tc>
                  <a:txBody>
                    <a:bodyPr/>
                    <a:lstStyle/>
                    <a:p>
                      <a:r>
                        <a:rPr sz="1800" b="0">
                          <a:solidFill>
                            <a:srgbClr val="18312D"/>
                          </a:solidFill>
                          <a:latin typeface="Arial"/>
                          <a:ea typeface="Arial"/>
                          <a:cs typeface="Arial"/>
                        </a:rPr>
                        <a:t>Charge au-delà de 90 %</a:t>
                      </a:r>
                    </a:p>
                  </a:txBody>
                  <a:tcPr marL="91440" marR="91440" marT="45720" marB="45720">
                    <a:solidFill>
                      <a:srgbClr val="FFFFFF"/>
                    </a:solidFill>
                  </a:tcPr>
                </a:tc>
                <a:tc>
                  <a:txBody>
                    <a:bodyPr/>
                    <a:lstStyle/>
                    <a:p>
                      <a:r>
                        <a:rPr sz="1800" b="0">
                          <a:solidFill>
                            <a:srgbClr val="18312D"/>
                          </a:solidFill>
                          <a:latin typeface="Arial"/>
                          <a:ea typeface="Arial"/>
                          <a:cs typeface="Arial"/>
                        </a:rPr>
                        <a:t>Limiter les demandes et répartir la préparation</a:t>
                      </a:r>
                    </a:p>
                  </a:txBody>
                  <a:tcPr marL="91440" marR="91440" marT="45720" marB="45720">
                    <a:solidFill>
                      <a:srgbClr val="FFFFFF"/>
                    </a:solidFill>
                  </a:tcPr>
                </a:tc>
              </a:tr>
              <a:tr h="1023938">
                <a:tc>
                  <a:txBody>
                    <a:bodyPr/>
                    <a:lstStyle/>
                    <a:p>
                      <a:r>
                        <a:rPr sz="1800" b="0">
                          <a:solidFill>
                            <a:srgbClr val="18312D"/>
                          </a:solidFill>
                          <a:latin typeface="Arial"/>
                          <a:ea typeface="Arial"/>
                          <a:cs typeface="Arial"/>
                        </a:rPr>
                        <a:t>Demande nouvelle</a:t>
                      </a:r>
                    </a:p>
                  </a:txBody>
                  <a:tcPr marL="91440" marR="91440" marT="45720" marB="45720">
                    <a:solidFill>
                      <a:srgbClr val="EDF3EF"/>
                    </a:solidFill>
                  </a:tcPr>
                </a:tc>
                <a:tc>
                  <a:txBody>
                    <a:bodyPr/>
                    <a:lstStyle/>
                    <a:p>
                      <a:r>
                        <a:rPr sz="1800" b="0">
                          <a:solidFill>
                            <a:srgbClr val="18312D"/>
                          </a:solidFill>
                          <a:latin typeface="Arial"/>
                          <a:ea typeface="Arial"/>
                          <a:cs typeface="Arial"/>
                        </a:rPr>
                        <a:t>Capacité ou budget dépassé</a:t>
                      </a:r>
                    </a:p>
                  </a:txBody>
                  <a:tcPr marL="91440" marR="91440" marT="45720" marB="45720">
                    <a:solidFill>
                      <a:srgbClr val="EDF3EF"/>
                    </a:solidFill>
                  </a:tcPr>
                </a:tc>
                <a:tc>
                  <a:txBody>
                    <a:bodyPr/>
                    <a:lstStyle/>
                    <a:p>
                      <a:r>
                        <a:rPr sz="1800" b="0">
                          <a:solidFill>
                            <a:srgbClr val="18312D"/>
                          </a:solidFill>
                          <a:latin typeface="Arial"/>
                          <a:ea typeface="Arial"/>
                          <a:cs typeface="Arial"/>
                        </a:rPr>
                        <a:t>Arbitrer avant engagement</a:t>
                      </a:r>
                    </a:p>
                  </a:txBody>
                  <a:tcPr marL="91440" marR="91440" marT="45720" marB="45720">
                    <a:solidFill>
                      <a:srgbClr val="EDF3EF"/>
                    </a:solidFill>
                  </a:tcPr>
                </a:tc>
              </a:tr>
            </a:tbl>
          </a:graphicData>
        </a:graphic>
      </p:graphicFrame>
    </p:spTree>
    <p:extLst>
      <p:ext uri="{BB962C8B-B14F-4D97-AF65-F5344CB8AC3E}">
        <p14:creationId xmlns:p14="http://schemas.microsoft.com/office/powerpoint/2010/main" val="20379735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C5FFDD-C72F-46BD-8EAB-FBCB4F6E652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Arbitrage technique sur la recette</a:t>
            </a:r>
          </a:p>
        </p:txBody>
      </p:sp>
      <p:sp>
        <p:nvSpPr>
          <p:cNvPr id="2" name="">
            <a:extLst xmlns:a="http://schemas.openxmlformats.org/drawingml/2006/main">
              <a:ext uri="{FF2B5EF4-FFF2-40B4-BE49-F238E27FC236}">
                <a16:creationId xmlns:a16="http://schemas.microsoft.com/office/drawing/2014/main" id="{4D8B14CE-C763-4AB3-9FA7-48F1CBC907E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C3.2.2, fait Git et analyse rétrospective    11:30 à 13:30    11</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3238500"/>
                <a:gridCol w="4095750"/>
                <a:gridCol w="3638550"/>
              </a:tblGrid>
              <a:tr h="833438">
                <a:tc>
                  <a:txBody>
                    <a:bodyPr/>
                    <a:lstStyle/>
                    <a:p>
                      <a:r>
                        <a:rPr sz="1800" b="1">
                          <a:solidFill>
                            <a:srgbClr val="FFFFFF"/>
                          </a:solidFill>
                          <a:latin typeface="Arial"/>
                          <a:ea typeface="Arial"/>
                          <a:cs typeface="Arial"/>
                        </a:rPr>
                        <a:t>Option</a:t>
                      </a:r>
                    </a:p>
                  </a:txBody>
                  <a:tcPr marL="91440" marR="91440" marT="45720" marB="45720">
                    <a:solidFill>
                      <a:srgbClr val="246B58"/>
                    </a:solidFill>
                  </a:tcPr>
                </a:tc>
                <a:tc>
                  <a:txBody>
                    <a:bodyPr/>
                    <a:lstStyle/>
                    <a:p>
                      <a:r>
                        <a:rPr sz="1800" b="1">
                          <a:solidFill>
                            <a:srgbClr val="FFFFFF"/>
                          </a:solidFill>
                          <a:latin typeface="Arial"/>
                          <a:ea typeface="Arial"/>
                          <a:cs typeface="Arial"/>
                        </a:rPr>
                        <a:t>Intérêt</a:t>
                      </a:r>
                    </a:p>
                  </a:txBody>
                  <a:tcPr marL="91440" marR="91440" marT="45720" marB="45720">
                    <a:solidFill>
                      <a:srgbClr val="246B58"/>
                    </a:solidFill>
                  </a:tcPr>
                </a:tc>
                <a:tc>
                  <a:txBody>
                    <a:bodyPr/>
                    <a:lstStyle/>
                    <a:p>
                      <a:r>
                        <a:rPr sz="1800" b="1">
                          <a:solidFill>
                            <a:srgbClr val="FFFFFF"/>
                          </a:solidFill>
                          <a:latin typeface="Arial"/>
                          <a:ea typeface="Arial"/>
                          <a:cs typeface="Arial"/>
                        </a:rPr>
                        <a:t>Limite</a:t>
                      </a:r>
                    </a:p>
                  </a:txBody>
                  <a:tcPr marL="91440" marR="91440" marT="45720" marB="45720">
                    <a:solidFill>
                      <a:srgbClr val="246B58"/>
                    </a:solidFill>
                  </a:tcPr>
                </a:tc>
              </a:tr>
              <a:tr h="833438">
                <a:tc>
                  <a:txBody>
                    <a:bodyPr/>
                    <a:lstStyle/>
                    <a:p>
                      <a:r>
                        <a:rPr sz="1800" b="0">
                          <a:solidFill>
                            <a:srgbClr val="18312D"/>
                          </a:solidFill>
                          <a:latin typeface="Arial"/>
                          <a:ea typeface="Arial"/>
                          <a:cs typeface="Arial"/>
                        </a:rPr>
                        <a:t>Ajouter des retries</a:t>
                      </a:r>
                    </a:p>
                  </a:txBody>
                  <a:tcPr marL="91440" marR="91440" marT="45720" marB="45720">
                    <a:solidFill>
                      <a:srgbClr val="EDF3EF"/>
                    </a:solidFill>
                  </a:tcPr>
                </a:tc>
                <a:tc>
                  <a:txBody>
                    <a:bodyPr/>
                    <a:lstStyle/>
                    <a:p>
                      <a:r>
                        <a:rPr sz="1800" b="0">
                          <a:solidFill>
                            <a:srgbClr val="18312D"/>
                          </a:solidFill>
                          <a:latin typeface="Arial"/>
                          <a:ea typeface="Arial"/>
                          <a:cs typeface="Arial"/>
                        </a:rPr>
                        <a:t>Absorber certains délais</a:t>
                      </a:r>
                    </a:p>
                  </a:txBody>
                  <a:tcPr marL="91440" marR="91440" marT="45720" marB="45720">
                    <a:solidFill>
                      <a:srgbClr val="EDF3EF"/>
                    </a:solidFill>
                  </a:tcPr>
                </a:tc>
                <a:tc>
                  <a:txBody>
                    <a:bodyPr/>
                    <a:lstStyle/>
                    <a:p>
                      <a:r>
                        <a:rPr sz="1800" b="0">
                          <a:solidFill>
                            <a:srgbClr val="18312D"/>
                          </a:solidFill>
                          <a:latin typeface="Arial"/>
                          <a:ea typeface="Arial"/>
                          <a:cs typeface="Arial"/>
                        </a:rPr>
                        <a:t>Risque de masquer la cause</a:t>
                      </a:r>
                    </a:p>
                  </a:txBody>
                  <a:tcPr marL="91440" marR="91440" marT="45720" marB="45720">
                    <a:solidFill>
                      <a:srgbClr val="EDF3EF"/>
                    </a:solidFill>
                  </a:tcPr>
                </a:tc>
              </a:tr>
              <a:tr h="833438">
                <a:tc>
                  <a:txBody>
                    <a:bodyPr/>
                    <a:lstStyle/>
                    <a:p>
                      <a:r>
                        <a:rPr sz="1800" b="0">
                          <a:solidFill>
                            <a:srgbClr val="18312D"/>
                          </a:solidFill>
                          <a:latin typeface="Arial"/>
                          <a:ea typeface="Arial"/>
                          <a:cs typeface="Arial"/>
                        </a:rPr>
                        <a:t>Préchauffer le serveur dev</a:t>
                      </a:r>
                    </a:p>
                  </a:txBody>
                  <a:tcPr marL="91440" marR="91440" marT="45720" marB="45720">
                    <a:solidFill>
                      <a:srgbClr val="FFFFFF"/>
                    </a:solidFill>
                  </a:tcPr>
                </a:tc>
                <a:tc>
                  <a:txBody>
                    <a:bodyPr/>
                    <a:lstStyle/>
                    <a:p>
                      <a:r>
                        <a:rPr sz="1800" b="0">
                          <a:solidFill>
                            <a:srgbClr val="18312D"/>
                          </a:solidFill>
                          <a:latin typeface="Arial"/>
                          <a:ea typeface="Arial"/>
                          <a:cs typeface="Arial"/>
                        </a:rPr>
                        <a:t>Limiter les compilations</a:t>
                      </a:r>
                    </a:p>
                  </a:txBody>
                  <a:tcPr marL="91440" marR="91440" marT="45720" marB="45720">
                    <a:solidFill>
                      <a:srgbClr val="FFFFFF"/>
                    </a:solidFill>
                  </a:tcPr>
                </a:tc>
                <a:tc>
                  <a:txBody>
                    <a:bodyPr/>
                    <a:lstStyle/>
                    <a:p>
                      <a:r>
                        <a:rPr sz="1800" b="0">
                          <a:solidFill>
                            <a:srgbClr val="18312D"/>
                          </a:solidFill>
                          <a:latin typeface="Arial"/>
                          <a:ea typeface="Arial"/>
                          <a:cs typeface="Arial"/>
                        </a:rPr>
                        <a:t>Dépend des routes préparées</a:t>
                      </a:r>
                    </a:p>
                  </a:txBody>
                  <a:tcPr marL="91440" marR="91440" marT="45720" marB="45720">
                    <a:solidFill>
                      <a:srgbClr val="FFFFFF"/>
                    </a:solidFill>
                  </a:tcPr>
                </a:tc>
              </a:tr>
              <a:tr h="833438">
                <a:tc>
                  <a:txBody>
                    <a:bodyPr/>
                    <a:lstStyle/>
                    <a:p>
                      <a:r>
                        <a:rPr sz="1800" b="0">
                          <a:solidFill>
                            <a:srgbClr val="18312D"/>
                          </a:solidFill>
                          <a:latin typeface="Arial"/>
                          <a:ea typeface="Arial"/>
                          <a:cs typeface="Arial"/>
                        </a:rPr>
                        <a:t>Tester le standalone</a:t>
                      </a:r>
                    </a:p>
                  </a:txBody>
                  <a:tcPr marL="91440" marR="91440" marT="45720" marB="45720">
                    <a:solidFill>
                      <a:srgbClr val="EDF3EF"/>
                    </a:solidFill>
                  </a:tcPr>
                </a:tc>
                <a:tc>
                  <a:txBody>
                    <a:bodyPr/>
                    <a:lstStyle/>
                    <a:p>
                      <a:r>
                        <a:rPr sz="1800" b="0">
                          <a:solidFill>
                            <a:srgbClr val="18312D"/>
                          </a:solidFill>
                          <a:latin typeface="Arial"/>
                          <a:ea typeface="Arial"/>
                          <a:cs typeface="Arial"/>
                        </a:rPr>
                        <a:t>Se rapprocher du livrable</a:t>
                      </a:r>
                    </a:p>
                  </a:txBody>
                  <a:tcPr marL="91440" marR="91440" marT="45720" marB="45720">
                    <a:solidFill>
                      <a:srgbClr val="EDF3EF"/>
                    </a:solidFill>
                  </a:tcPr>
                </a:tc>
                <a:tc>
                  <a:txBody>
                    <a:bodyPr/>
                    <a:lstStyle/>
                    <a:p>
                      <a:r>
                        <a:rPr sz="1800" b="0">
                          <a:solidFill>
                            <a:srgbClr val="18312D"/>
                          </a:solidFill>
                          <a:latin typeface="Arial"/>
                          <a:ea typeface="Arial"/>
                          <a:cs typeface="Arial"/>
                        </a:rPr>
                        <a:t>Construction préalable</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6F071FA8-30FC-4EEB-A412-2CA17625103D}"/>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Commit 689e59d du 20 juillet 2026 : recette CI sur le build standalone</a:t>
            </a:r>
          </a:p>
        </p:txBody>
      </p:sp>
    </p:spTree>
    <p:extLst>
      <p:ext uri="{BB962C8B-B14F-4D97-AF65-F5344CB8AC3E}">
        <p14:creationId xmlns:p14="http://schemas.microsoft.com/office/powerpoint/2010/main" val="10311740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0DE765-030B-451B-856E-CACC25E7691D}"/>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Arbitrage d’une demande supplémentaire</a:t>
            </a:r>
          </a:p>
        </p:txBody>
      </p:sp>
      <p:sp>
        <p:nvSpPr>
          <p:cNvPr id="2" name="">
            <a:extLst xmlns:a="http://schemas.openxmlformats.org/drawingml/2006/main">
              <a:ext uri="{FF2B5EF4-FFF2-40B4-BE49-F238E27FC236}">
                <a16:creationId xmlns:a16="http://schemas.microsoft.com/office/drawing/2014/main" id="{CE16A1FF-4853-405D-934B-9E3114F9A7D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C3.2.2, demande fictive à J10    13:30 à 15:00    12</a:t>
            </a:r>
          </a:p>
        </p:txBody>
      </p:sp>
      <p:graphicFrame>
        <p:nvGraphicFramePr>
          <p:cNvPr id="8" name=""/>
          <p:cNvGraphicFramePr/>
          <p:nvPr/>
        </p:nvGraphicFramePr>
        <p:xfrm>
          <a:off xmlns:a="http://schemas.openxmlformats.org/drawingml/2006/main" x="609600" y="1714500"/>
          <a:ext xmlns:a="http://schemas.openxmlformats.org/drawingml/2006/main" cx="10972800" cy="2857500"/>
        </p:xfrm>
        <a:graphic xmlns:a="http://schemas.openxmlformats.org/drawingml/2006/main">
          <a:graphicData uri="http://schemas.openxmlformats.org/drawingml/2006/table">
            <a:tbl>
              <a:tblPr/>
              <a:tblGrid>
                <a:gridCol w="5048250"/>
                <a:gridCol w="2962275"/>
                <a:gridCol w="2962275"/>
              </a:tblGrid>
              <a:tr h="714375">
                <a:tc>
                  <a:txBody>
                    <a:bodyPr/>
                    <a:lstStyle/>
                    <a:p>
                      <a:r>
                        <a:rPr sz="1800" b="1">
                          <a:solidFill>
                            <a:srgbClr val="FFFFFF"/>
                          </a:solidFill>
                          <a:latin typeface="Arial"/>
                          <a:ea typeface="Arial"/>
                          <a:cs typeface="Arial"/>
                        </a:rPr>
                        <a:t>Effet de la demande</a:t>
                      </a:r>
                    </a:p>
                  </a:txBody>
                  <a:tcPr marL="91440" marR="91440" marT="45720" marB="45720">
                    <a:solidFill>
                      <a:srgbClr val="246B58"/>
                    </a:solidFill>
                  </a:tcPr>
                </a:tc>
                <a:tc>
                  <a:txBody>
                    <a:bodyPr/>
                    <a:lstStyle/>
                    <a:p>
                      <a:r>
                        <a:rPr sz="1800" b="1">
                          <a:solidFill>
                            <a:srgbClr val="FFFFFF"/>
                          </a:solidFill>
                          <a:latin typeface="Arial"/>
                          <a:ea typeface="Arial"/>
                          <a:cs typeface="Arial"/>
                        </a:rPr>
                        <a:t>Avant</a:t>
                      </a:r>
                    </a:p>
                  </a:txBody>
                  <a:tcPr marL="91440" marR="91440" marT="45720" marB="45720">
                    <a:solidFill>
                      <a:srgbClr val="246B58"/>
                    </a:solidFill>
                  </a:tcPr>
                </a:tc>
                <a:tc>
                  <a:txBody>
                    <a:bodyPr/>
                    <a:lstStyle/>
                    <a:p>
                      <a:r>
                        <a:rPr sz="1800" b="1">
                          <a:solidFill>
                            <a:srgbClr val="FFFFFF"/>
                          </a:solidFill>
                          <a:latin typeface="Arial"/>
                          <a:ea typeface="Arial"/>
                          <a:cs typeface="Arial"/>
                        </a:rPr>
                        <a:t>Après ajout</a:t>
                      </a:r>
                    </a:p>
                  </a:txBody>
                  <a:tcPr marL="91440" marR="91440" marT="45720" marB="45720">
                    <a:solidFill>
                      <a:srgbClr val="246B58"/>
                    </a:solidFill>
                  </a:tcPr>
                </a:tc>
              </a:tr>
              <a:tr h="714375">
                <a:tc>
                  <a:txBody>
                    <a:bodyPr/>
                    <a:lstStyle/>
                    <a:p>
                      <a:r>
                        <a:rPr sz="1800" b="0">
                          <a:solidFill>
                            <a:srgbClr val="18312D"/>
                          </a:solidFill>
                          <a:latin typeface="Arial"/>
                          <a:ea typeface="Arial"/>
                          <a:cs typeface="Arial"/>
                        </a:rPr>
                        <a:t>Coût à terminaison</a:t>
                      </a:r>
                    </a:p>
                  </a:txBody>
                  <a:tcPr marL="91440" marR="91440" marT="45720" marB="45720">
                    <a:solidFill>
                      <a:srgbClr val="EDF3EF"/>
                    </a:solidFill>
                  </a:tcPr>
                </a:tc>
                <a:tc>
                  <a:txBody>
                    <a:bodyPr/>
                    <a:lstStyle/>
                    <a:p>
                      <a:r>
                        <a:rPr sz="1800" b="0">
                          <a:solidFill>
                            <a:srgbClr val="18312D"/>
                          </a:solidFill>
                          <a:latin typeface="Arial"/>
                          <a:ea typeface="Arial"/>
                          <a:cs typeface="Arial"/>
                        </a:rPr>
                        <a:t>4 465 €</a:t>
                      </a:r>
                    </a:p>
                  </a:txBody>
                  <a:tcPr marL="91440" marR="91440" marT="45720" marB="45720">
                    <a:solidFill>
                      <a:srgbClr val="EDF3EF"/>
                    </a:solidFill>
                  </a:tcPr>
                </a:tc>
                <a:tc>
                  <a:txBody>
                    <a:bodyPr/>
                    <a:lstStyle/>
                    <a:p>
                      <a:r>
                        <a:rPr sz="1800" b="0">
                          <a:solidFill>
                            <a:srgbClr val="18312D"/>
                          </a:solidFill>
                          <a:latin typeface="Arial"/>
                          <a:ea typeface="Arial"/>
                          <a:cs typeface="Arial"/>
                        </a:rPr>
                        <a:t>5 005 €</a:t>
                      </a:r>
                    </a:p>
                  </a:txBody>
                  <a:tcPr marL="91440" marR="91440" marT="45720" marB="45720">
                    <a:solidFill>
                      <a:srgbClr val="EDF3EF"/>
                    </a:solidFill>
                  </a:tcPr>
                </a:tc>
              </a:tr>
              <a:tr h="714375">
                <a:tc>
                  <a:txBody>
                    <a:bodyPr/>
                    <a:lstStyle/>
                    <a:p>
                      <a:r>
                        <a:rPr sz="1800" b="0">
                          <a:solidFill>
                            <a:srgbClr val="18312D"/>
                          </a:solidFill>
                          <a:latin typeface="Arial"/>
                          <a:ea typeface="Arial"/>
                          <a:cs typeface="Arial"/>
                        </a:rPr>
                        <a:t>Charge du développeur</a:t>
                      </a:r>
                    </a:p>
                  </a:txBody>
                  <a:tcPr marL="91440" marR="91440" marT="45720" marB="45720">
                    <a:solidFill>
                      <a:srgbClr val="FFFFFF"/>
                    </a:solidFill>
                  </a:tcPr>
                </a:tc>
                <a:tc>
                  <a:txBody>
                    <a:bodyPr/>
                    <a:lstStyle/>
                    <a:p>
                      <a:r>
                        <a:rPr sz="1800" b="0">
                          <a:solidFill>
                            <a:srgbClr val="18312D"/>
                          </a:solidFill>
                          <a:latin typeface="Arial"/>
                          <a:ea typeface="Arial"/>
                          <a:cs typeface="Arial"/>
                        </a:rPr>
                        <a:t>64 h</a:t>
                      </a:r>
                    </a:p>
                  </a:txBody>
                  <a:tcPr marL="91440" marR="91440" marT="45720" marB="45720">
                    <a:solidFill>
                      <a:srgbClr val="FFFFFF"/>
                    </a:solidFill>
                  </a:tcPr>
                </a:tc>
                <a:tc>
                  <a:txBody>
                    <a:bodyPr/>
                    <a:lstStyle/>
                    <a:p>
                      <a:r>
                        <a:rPr sz="1800" b="0">
                          <a:solidFill>
                            <a:srgbClr val="18312D"/>
                          </a:solidFill>
                          <a:latin typeface="Arial"/>
                          <a:ea typeface="Arial"/>
                          <a:cs typeface="Arial"/>
                        </a:rPr>
                        <a:t>76 h</a:t>
                      </a:r>
                    </a:p>
                  </a:txBody>
                  <a:tcPr marL="91440" marR="91440" marT="45720" marB="45720">
                    <a:solidFill>
                      <a:srgbClr val="FFFFFF"/>
                    </a:solidFill>
                  </a:tcPr>
                </a:tc>
              </a:tr>
              <a:tr h="714375">
                <a:tc>
                  <a:txBody>
                    <a:bodyPr/>
                    <a:lstStyle/>
                    <a:p>
                      <a:r>
                        <a:rPr sz="1800" b="0">
                          <a:solidFill>
                            <a:srgbClr val="18312D"/>
                          </a:solidFill>
                          <a:latin typeface="Arial"/>
                          <a:ea typeface="Arial"/>
                          <a:cs typeface="Arial"/>
                        </a:rPr>
                        <a:t>Capacité du développeur</a:t>
                      </a:r>
                    </a:p>
                  </a:txBody>
                  <a:tcPr marL="91440" marR="91440" marT="45720" marB="45720">
                    <a:solidFill>
                      <a:srgbClr val="EDF3EF"/>
                    </a:solidFill>
                  </a:tcPr>
                </a:tc>
                <a:tc>
                  <a:txBody>
                    <a:bodyPr/>
                    <a:lstStyle/>
                    <a:p>
                      <a:r>
                        <a:rPr sz="1800" b="0">
                          <a:solidFill>
                            <a:srgbClr val="18312D"/>
                          </a:solidFill>
                          <a:latin typeface="Arial"/>
                          <a:ea typeface="Arial"/>
                          <a:cs typeface="Arial"/>
                        </a:rPr>
                        <a:t>72 h</a:t>
                      </a:r>
                    </a:p>
                  </a:txBody>
                  <a:tcPr marL="91440" marR="91440" marT="45720" marB="45720">
                    <a:solidFill>
                      <a:srgbClr val="EDF3EF"/>
                    </a:solidFill>
                  </a:tcPr>
                </a:tc>
                <a:tc>
                  <a:txBody>
                    <a:bodyPr/>
                    <a:lstStyle/>
                    <a:p>
                      <a:r>
                        <a:rPr sz="1800" b="0">
                          <a:solidFill>
                            <a:srgbClr val="18312D"/>
                          </a:solidFill>
                          <a:latin typeface="Arial"/>
                          <a:ea typeface="Arial"/>
                          <a:cs typeface="Arial"/>
                        </a:rPr>
                        <a:t>72 h</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ABBC9B1F-846C-4C2D-BEB1-342E9C58032C}"/>
              </a:ext>
            </a:extLst>
          </p:cNvPr>
          <p:cNvSpPr>
            <a:spLocks xmlns:a="http://schemas.openxmlformats.org/drawingml/2006/main" noGrp="1"/>
          </p:cNvSpPr>
          <p:nvPr/>
        </p:nvSpPr>
        <p:spPr>
          <a:xfrm xmlns:a="http://schemas.openxmlformats.org/drawingml/2006/main">
            <a:off x="685800" y="49053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Décision du cas : reporter le lot et conserver les critères de recette</a:t>
            </a:r>
          </a:p>
        </p:txBody>
      </p:sp>
      <p:sp>
        <p:nvSpPr>
          <p:cNvPr id="5" name="">
            <a:extLst xmlns:a="http://schemas.openxmlformats.org/drawingml/2006/main">
              <a:ext uri="{FF2B5EF4-FFF2-40B4-BE49-F238E27FC236}">
                <a16:creationId xmlns:a16="http://schemas.microsoft.com/office/drawing/2014/main" id="{FE0F805E-4E95-4449-8733-7737AC034B7B}"/>
              </a:ext>
            </a:extLst>
          </p:cNvPr>
          <p:cNvSpPr>
            <a:spLocks xmlns:a="http://schemas.openxmlformats.org/drawingml/2006/main" noGrp="1"/>
          </p:cNvSpPr>
          <p:nvPr/>
        </p:nvSpPr>
        <p:spPr>
          <a:xfrm xmlns:a="http://schemas.openxmlformats.org/drawingml/2006/main">
            <a:off x="685800" y="58388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12D"/>
                </a:solidFill>
                <a:latin typeface="Arial"/>
                <a:ea typeface="Arial"/>
                <a:cs typeface="Arial"/>
              </a:defRPr>
            </a:pPr>
            <a:r>
              <a:rPr sz="1725" b="0">
                <a:solidFill>
                  <a:srgbClr val="18312D"/>
                </a:solidFill>
                <a:latin typeface="Arial"/>
                <a:ea typeface="Arial"/>
                <a:cs typeface="Arial"/>
              </a:rPr>
              <a:t>12 h DEV + 4 h QA = 540 €. Le plafond serait dépassé de 308 €.</a:t>
            </a:r>
          </a:p>
        </p:txBody>
      </p:sp>
    </p:spTree>
    <p:extLst>
      <p:ext uri="{BB962C8B-B14F-4D97-AF65-F5344CB8AC3E}">
        <p14:creationId xmlns:p14="http://schemas.microsoft.com/office/powerpoint/2010/main" val="20534918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A01010-5DA2-43D6-ABBE-9286EB8D2C9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Management et désaccord DEV / QA</a:t>
            </a:r>
          </a:p>
        </p:txBody>
      </p:sp>
      <p:sp>
        <p:nvSpPr>
          <p:cNvPr id="2" name="">
            <a:extLst xmlns:a="http://schemas.openxmlformats.org/drawingml/2006/main">
              <a:ext uri="{FF2B5EF4-FFF2-40B4-BE49-F238E27FC236}">
                <a16:creationId xmlns:a16="http://schemas.microsoft.com/office/drawing/2014/main" id="{AD576D4C-641D-410B-8648-316D4E34E27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C3.3.1, situation managériale fictive    15:00 à 16:30    13</a:t>
            </a:r>
          </a:p>
        </p:txBody>
      </p:sp>
      <p:sp>
        <p:nvSpPr>
          <p:cNvPr id="3" name="">
            <a:extLst xmlns:a="http://schemas.openxmlformats.org/drawingml/2006/main">
              <a:ext uri="{FF2B5EF4-FFF2-40B4-BE49-F238E27FC236}">
                <a16:creationId xmlns:a16="http://schemas.microsoft.com/office/drawing/2014/main" id="{DE8DDF91-AC0C-4A68-8AA6-FC5FC8B6003F}"/>
              </a:ext>
            </a:extLst>
          </p:cNvPr>
          <p:cNvSpPr>
            <a:spLocks xmlns:a="http://schemas.openxmlformats.org/drawingml/2006/main" noGrp="1"/>
          </p:cNvSpPr>
          <p:nvPr/>
        </p:nvSpPr>
        <p:spPr>
          <a:xfrm xmlns:a="http://schemas.openxmlformats.org/drawingml/2006/main">
            <a:off x="6858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Situation</a:t>
            </a:r>
          </a:p>
        </p:txBody>
      </p:sp>
      <p:sp>
        <p:nvSpPr>
          <p:cNvPr id="4" name="">
            <a:extLst xmlns:a="http://schemas.openxmlformats.org/drawingml/2006/main">
              <a:ext uri="{FF2B5EF4-FFF2-40B4-BE49-F238E27FC236}">
                <a16:creationId xmlns:a16="http://schemas.microsoft.com/office/drawing/2014/main" id="{DEC16A94-2506-4E97-9461-0438C548C662}"/>
              </a:ext>
            </a:extLst>
          </p:cNvPr>
          <p:cNvSpPr>
            <a:spLocks xmlns:a="http://schemas.openxmlformats.org/drawingml/2006/main" noGrp="1"/>
          </p:cNvSpPr>
          <p:nvPr/>
        </p:nvSpPr>
        <p:spPr>
          <a:xfrm xmlns:a="http://schemas.openxmlformats.org/drawingml/2006/main">
            <a:off x="6858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DEV souhaite ajouter une fonction.</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QA attend un parcours stable pour la recette.</a:t>
            </a:r>
          </a:p>
        </p:txBody>
      </p:sp>
      <p:sp>
        <p:nvSpPr>
          <p:cNvPr id="5" name="">
            <a:extLst xmlns:a="http://schemas.openxmlformats.org/drawingml/2006/main">
              <a:ext uri="{FF2B5EF4-FFF2-40B4-BE49-F238E27FC236}">
                <a16:creationId xmlns:a16="http://schemas.microsoft.com/office/drawing/2014/main" id="{E0B52676-233E-44D0-8D4E-439D570F7B2B}"/>
              </a:ext>
            </a:extLst>
          </p:cNvPr>
          <p:cNvSpPr>
            <a:spLocks xmlns:a="http://schemas.openxmlformats.org/drawingml/2006/main" noGrp="1"/>
          </p:cNvSpPr>
          <p:nvPr/>
        </p:nvSpPr>
        <p:spPr>
          <a:xfrm xmlns:a="http://schemas.openxmlformats.org/drawingml/2006/main">
            <a:off x="63246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Conduite retenue</a:t>
            </a:r>
          </a:p>
        </p:txBody>
      </p:sp>
      <p:sp>
        <p:nvSpPr>
          <p:cNvPr id="6" name="">
            <a:extLst xmlns:a="http://schemas.openxmlformats.org/drawingml/2006/main">
              <a:ext uri="{FF2B5EF4-FFF2-40B4-BE49-F238E27FC236}">
                <a16:creationId xmlns:a16="http://schemas.microsoft.com/office/drawing/2014/main" id="{021C1A51-8EA7-4BDB-95AA-202EA9A7EFF4}"/>
              </a:ext>
            </a:extLst>
          </p:cNvPr>
          <p:cNvSpPr>
            <a:spLocks xmlns:a="http://schemas.openxmlformats.org/drawingml/2006/main" noGrp="1"/>
          </p:cNvSpPr>
          <p:nvPr/>
        </p:nvSpPr>
        <p:spPr>
          <a:xfrm xmlns:a="http://schemas.openxmlformats.org/drawingml/2006/main">
            <a:off x="63246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Faire expliciter les impacts.</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Décider sur la charge et les critères.</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Consigner la décision et suivre son effet.</a:t>
            </a:r>
          </a:p>
        </p:txBody>
      </p:sp>
    </p:spTree>
    <p:extLst>
      <p:ext uri="{BB962C8B-B14F-4D97-AF65-F5344CB8AC3E}">
        <p14:creationId xmlns:p14="http://schemas.microsoft.com/office/powerpoint/2010/main" val="11040330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4788E8-BEDA-495C-8CFB-AB497E0E86F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Communication et adaptations</a:t>
            </a:r>
          </a:p>
        </p:txBody>
      </p:sp>
      <p:sp>
        <p:nvSpPr>
          <p:cNvPr id="2" name="">
            <a:extLst xmlns:a="http://schemas.openxmlformats.org/drawingml/2006/main">
              <a:ext uri="{FF2B5EF4-FFF2-40B4-BE49-F238E27FC236}">
                <a16:creationId xmlns:a16="http://schemas.microsoft.com/office/drawing/2014/main" id="{8EF707BF-04B9-4DC7-84E1-8FE1FD37FED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C3.3.1, dispositions du scénario    16:30 à 18:00    14</a:t>
            </a:r>
          </a:p>
        </p:txBody>
      </p:sp>
      <p:sp>
        <p:nvSpPr>
          <p:cNvPr id="3" name="">
            <a:extLst xmlns:a="http://schemas.openxmlformats.org/drawingml/2006/main">
              <a:ext uri="{FF2B5EF4-FFF2-40B4-BE49-F238E27FC236}">
                <a16:creationId xmlns:a16="http://schemas.microsoft.com/office/drawing/2014/main" id="{8FF26504-0597-48FD-AED1-45AA8FAA6F5A}"/>
              </a:ext>
            </a:extLst>
          </p:cNvPr>
          <p:cNvSpPr>
            <a:spLocks xmlns:a="http://schemas.openxmlformats.org/drawingml/2006/main" noGrp="1"/>
          </p:cNvSpPr>
          <p:nvPr/>
        </p:nvSpPr>
        <p:spPr>
          <a:xfrm xmlns:a="http://schemas.openxmlformats.org/drawingml/2006/main">
            <a:off x="6858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Décisions accessibles</a:t>
            </a:r>
          </a:p>
        </p:txBody>
      </p:sp>
      <p:sp>
        <p:nvSpPr>
          <p:cNvPr id="4" name="">
            <a:extLst xmlns:a="http://schemas.openxmlformats.org/drawingml/2006/main">
              <a:ext uri="{FF2B5EF4-FFF2-40B4-BE49-F238E27FC236}">
                <a16:creationId xmlns:a16="http://schemas.microsoft.com/office/drawing/2014/main" id="{9B73232C-8694-4FD8-AAC0-256B40FF6728}"/>
              </a:ext>
            </a:extLst>
          </p:cNvPr>
          <p:cNvSpPr>
            <a:spLocks xmlns:a="http://schemas.openxmlformats.org/drawingml/2006/main" noGrp="1"/>
          </p:cNvSpPr>
          <p:nvPr/>
        </p:nvSpPr>
        <p:spPr>
          <a:xfrm xmlns:a="http://schemas.openxmlformats.org/drawingml/2006/main">
            <a:off x="6858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Ordre du jour en amont.</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Synthèse écrite et actions datées.</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Liens regroupés dans la tâche.</a:t>
            </a:r>
          </a:p>
        </p:txBody>
      </p:sp>
      <p:sp>
        <p:nvSpPr>
          <p:cNvPr id="5" name="">
            <a:extLst xmlns:a="http://schemas.openxmlformats.org/drawingml/2006/main">
              <a:ext uri="{FF2B5EF4-FFF2-40B4-BE49-F238E27FC236}">
                <a16:creationId xmlns:a16="http://schemas.microsoft.com/office/drawing/2014/main" id="{03804025-BF8D-4879-81F7-1B2C6ED20BAA}"/>
              </a:ext>
            </a:extLst>
          </p:cNvPr>
          <p:cNvSpPr>
            <a:spLocks xmlns:a="http://schemas.openxmlformats.org/drawingml/2006/main" noGrp="1"/>
          </p:cNvSpPr>
          <p:nvPr/>
        </p:nvSpPr>
        <p:spPr>
          <a:xfrm xmlns:a="http://schemas.openxmlformats.org/drawingml/2006/main">
            <a:off x="63246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Modalités adaptées</a:t>
            </a:r>
          </a:p>
        </p:txBody>
      </p:sp>
      <p:sp>
        <p:nvSpPr>
          <p:cNvPr id="6" name="">
            <a:extLst xmlns:a="http://schemas.openxmlformats.org/drawingml/2006/main">
              <a:ext uri="{FF2B5EF4-FFF2-40B4-BE49-F238E27FC236}">
                <a16:creationId xmlns:a16="http://schemas.microsoft.com/office/drawing/2014/main" id="{C8F2C966-1FE1-40EB-8FAD-38EE98CF4E46}"/>
              </a:ext>
            </a:extLst>
          </p:cNvPr>
          <p:cNvSpPr>
            <a:spLocks xmlns:a="http://schemas.openxmlformats.org/drawingml/2006/main" noGrp="1"/>
          </p:cNvSpPr>
          <p:nvPr/>
        </p:nvSpPr>
        <p:spPr>
          <a:xfrm xmlns:a="http://schemas.openxmlformats.org/drawingml/2006/main">
            <a:off x="63246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Supports structurés et sous-titrage.</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Pauses et temps de pratique adaptés.</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Fuseaux explicites et travail asynchrone.</a:t>
            </a:r>
          </a:p>
        </p:txBody>
      </p:sp>
    </p:spTree>
    <p:extLst>
      <p:ext uri="{BB962C8B-B14F-4D97-AF65-F5344CB8AC3E}">
        <p14:creationId xmlns:p14="http://schemas.microsoft.com/office/powerpoint/2010/main" val="17232920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5BE8EC-3A9F-49D2-9B45-317505B8AA6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Compétences actuelles et attendues</a:t>
            </a:r>
          </a:p>
        </p:txBody>
      </p:sp>
      <p:sp>
        <p:nvSpPr>
          <p:cNvPr id="2" name="">
            <a:extLst xmlns:a="http://schemas.openxmlformats.org/drawingml/2006/main">
              <a:ext uri="{FF2B5EF4-FFF2-40B4-BE49-F238E27FC236}">
                <a16:creationId xmlns:a16="http://schemas.microsoft.com/office/drawing/2014/main" id="{9848327E-CE59-408C-B64B-21CDF75A431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C3.3.2, niveaux hypothétiques du cas    18:00 à 19:00    15</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1333500"/>
                <a:gridCol w="6667500"/>
                <a:gridCol w="1638300"/>
                <a:gridCol w="1333500"/>
              </a:tblGrid>
              <a:tr h="833438">
                <a:tc>
                  <a:txBody>
                    <a:bodyPr/>
                    <a:lstStyle/>
                    <a:p>
                      <a:r>
                        <a:rPr sz="1800" b="1">
                          <a:solidFill>
                            <a:srgbClr val="FFFFFF"/>
                          </a:solidFill>
                          <a:latin typeface="Arial"/>
                          <a:ea typeface="Arial"/>
                          <a:cs typeface="Arial"/>
                        </a:rPr>
                        <a:t>Rôle</a:t>
                      </a:r>
                    </a:p>
                  </a:txBody>
                  <a:tcPr marL="91440" marR="91440" marT="45720" marB="45720">
                    <a:solidFill>
                      <a:srgbClr val="246B58"/>
                    </a:solidFill>
                  </a:tcPr>
                </a:tc>
                <a:tc>
                  <a:txBody>
                    <a:bodyPr/>
                    <a:lstStyle/>
                    <a:p>
                      <a:r>
                        <a:rPr sz="1800" b="1">
                          <a:solidFill>
                            <a:srgbClr val="FFFFFF"/>
                          </a:solidFill>
                          <a:latin typeface="Arial"/>
                          <a:ea typeface="Arial"/>
                          <a:cs typeface="Arial"/>
                        </a:rPr>
                        <a:t>Besoin du projet</a:t>
                      </a:r>
                    </a:p>
                  </a:txBody>
                  <a:tcPr marL="91440" marR="91440" marT="45720" marB="45720">
                    <a:solidFill>
                      <a:srgbClr val="246B58"/>
                    </a:solidFill>
                  </a:tcPr>
                </a:tc>
                <a:tc>
                  <a:txBody>
                    <a:bodyPr/>
                    <a:lstStyle/>
                    <a:p>
                      <a:r>
                        <a:rPr sz="1800" b="1">
                          <a:solidFill>
                            <a:srgbClr val="FFFFFF"/>
                          </a:solidFill>
                          <a:latin typeface="Arial"/>
                          <a:ea typeface="Arial"/>
                          <a:cs typeface="Arial"/>
                        </a:rPr>
                        <a:t>Niveau du cas</a:t>
                      </a:r>
                    </a:p>
                  </a:txBody>
                  <a:tcPr marL="91440" marR="91440" marT="45720" marB="45720">
                    <a:solidFill>
                      <a:srgbClr val="246B58"/>
                    </a:solidFill>
                  </a:tcPr>
                </a:tc>
                <a:tc>
                  <a:txBody>
                    <a:bodyPr/>
                    <a:lstStyle/>
                    <a:p>
                      <a:r>
                        <a:rPr sz="1800" b="1">
                          <a:solidFill>
                            <a:srgbClr val="FFFFFF"/>
                          </a:solidFill>
                          <a:latin typeface="Arial"/>
                          <a:ea typeface="Arial"/>
                          <a:cs typeface="Arial"/>
                        </a:rPr>
                        <a:t>Cible</a:t>
                      </a:r>
                    </a:p>
                  </a:txBody>
                  <a:tcPr marL="91440" marR="91440" marT="45720" marB="45720">
                    <a:solidFill>
                      <a:srgbClr val="246B58"/>
                    </a:solidFill>
                  </a:tcPr>
                </a:tc>
              </a:tr>
              <a:tr h="833438">
                <a:tc>
                  <a:txBody>
                    <a:bodyPr/>
                    <a:lstStyle/>
                    <a:p>
                      <a:r>
                        <a:rPr sz="1800" b="0">
                          <a:solidFill>
                            <a:srgbClr val="18312D"/>
                          </a:solidFill>
                          <a:latin typeface="Arial"/>
                          <a:ea typeface="Arial"/>
                          <a:cs typeface="Arial"/>
                        </a:rPr>
                        <a:t>CP</a:t>
                      </a:r>
                    </a:p>
                  </a:txBody>
                  <a:tcPr marL="91440" marR="91440" marT="45720" marB="45720">
                    <a:solidFill>
                      <a:srgbClr val="EDF3EF"/>
                    </a:solidFill>
                  </a:tcPr>
                </a:tc>
                <a:tc>
                  <a:txBody>
                    <a:bodyPr/>
                    <a:lstStyle/>
                    <a:p>
                      <a:r>
                        <a:rPr sz="1800" b="0">
                          <a:solidFill>
                            <a:srgbClr val="18312D"/>
                          </a:solidFill>
                          <a:latin typeface="Arial"/>
                          <a:ea typeface="Arial"/>
                          <a:cs typeface="Arial"/>
                        </a:rPr>
                        <a:t>Suivi des écarts</a:t>
                      </a:r>
                    </a:p>
                  </a:txBody>
                  <a:tcPr marL="91440" marR="91440" marT="45720" marB="45720">
                    <a:solidFill>
                      <a:srgbClr val="EDF3EF"/>
                    </a:solidFill>
                  </a:tcPr>
                </a:tc>
                <a:tc>
                  <a:txBody>
                    <a:bodyPr/>
                    <a:lstStyle/>
                    <a:p>
                      <a:r>
                        <a:rPr sz="1800" b="0">
                          <a:solidFill>
                            <a:srgbClr val="18312D"/>
                          </a:solidFill>
                          <a:latin typeface="Arial"/>
                          <a:ea typeface="Arial"/>
                          <a:cs typeface="Arial"/>
                        </a:rPr>
                        <a:t>1</a:t>
                      </a:r>
                    </a:p>
                  </a:txBody>
                  <a:tcPr marL="91440" marR="91440" marT="45720" marB="45720">
                    <a:solidFill>
                      <a:srgbClr val="EDF3EF"/>
                    </a:solidFill>
                  </a:tcPr>
                </a:tc>
                <a:tc>
                  <a:txBody>
                    <a:bodyPr/>
                    <a:lstStyle/>
                    <a:p>
                      <a:r>
                        <a:rPr sz="1800" b="0">
                          <a:solidFill>
                            <a:srgbClr val="18312D"/>
                          </a:solidFill>
                          <a:latin typeface="Arial"/>
                          <a:ea typeface="Arial"/>
                          <a:cs typeface="Arial"/>
                        </a:rPr>
                        <a:t>2</a:t>
                      </a:r>
                    </a:p>
                  </a:txBody>
                  <a:tcPr marL="91440" marR="91440" marT="45720" marB="45720">
                    <a:solidFill>
                      <a:srgbClr val="EDF3EF"/>
                    </a:solidFill>
                  </a:tcPr>
                </a:tc>
              </a:tr>
              <a:tr h="833438">
                <a:tc>
                  <a:txBody>
                    <a:bodyPr/>
                    <a:lstStyle/>
                    <a:p>
                      <a:r>
                        <a:rPr sz="1800" b="0">
                          <a:solidFill>
                            <a:srgbClr val="18312D"/>
                          </a:solidFill>
                          <a:latin typeface="Arial"/>
                          <a:ea typeface="Arial"/>
                          <a:cs typeface="Arial"/>
                        </a:rPr>
                        <a:t>DEV</a:t>
                      </a:r>
                    </a:p>
                  </a:txBody>
                  <a:tcPr marL="91440" marR="91440" marT="45720" marB="45720">
                    <a:solidFill>
                      <a:srgbClr val="FFFFFF"/>
                    </a:solidFill>
                  </a:tcPr>
                </a:tc>
                <a:tc>
                  <a:txBody>
                    <a:bodyPr/>
                    <a:lstStyle/>
                    <a:p>
                      <a:r>
                        <a:rPr sz="1800" b="0">
                          <a:solidFill>
                            <a:srgbClr val="18312D"/>
                          </a:solidFill>
                          <a:latin typeface="Arial"/>
                          <a:ea typeface="Arial"/>
                          <a:cs typeface="Arial"/>
                        </a:rPr>
                        <a:t>Transactions concurrentes</a:t>
                      </a:r>
                    </a:p>
                  </a:txBody>
                  <a:tcPr marL="91440" marR="91440" marT="45720" marB="45720">
                    <a:solidFill>
                      <a:srgbClr val="FFFFFF"/>
                    </a:solidFill>
                  </a:tcPr>
                </a:tc>
                <a:tc>
                  <a:txBody>
                    <a:bodyPr/>
                    <a:lstStyle/>
                    <a:p>
                      <a:r>
                        <a:rPr sz="1800" b="0">
                          <a:solidFill>
                            <a:srgbClr val="18312D"/>
                          </a:solidFill>
                          <a:latin typeface="Arial"/>
                          <a:ea typeface="Arial"/>
                          <a:cs typeface="Arial"/>
                        </a:rPr>
                        <a:t>1</a:t>
                      </a:r>
                    </a:p>
                  </a:txBody>
                  <a:tcPr marL="91440" marR="91440" marT="45720" marB="45720">
                    <a:solidFill>
                      <a:srgbClr val="FFFFFF"/>
                    </a:solidFill>
                  </a:tcPr>
                </a:tc>
                <a:tc>
                  <a:txBody>
                    <a:bodyPr/>
                    <a:lstStyle/>
                    <a:p>
                      <a:r>
                        <a:rPr sz="1800" b="0">
                          <a:solidFill>
                            <a:srgbClr val="18312D"/>
                          </a:solidFill>
                          <a:latin typeface="Arial"/>
                          <a:ea typeface="Arial"/>
                          <a:cs typeface="Arial"/>
                        </a:rPr>
                        <a:t>2</a:t>
                      </a:r>
                    </a:p>
                  </a:txBody>
                  <a:tcPr marL="91440" marR="91440" marT="45720" marB="45720">
                    <a:solidFill>
                      <a:srgbClr val="FFFFFF"/>
                    </a:solidFill>
                  </a:tcPr>
                </a:tc>
              </a:tr>
              <a:tr h="833438">
                <a:tc>
                  <a:txBody>
                    <a:bodyPr/>
                    <a:lstStyle/>
                    <a:p>
                      <a:r>
                        <a:rPr sz="1800" b="0">
                          <a:solidFill>
                            <a:srgbClr val="18312D"/>
                          </a:solidFill>
                          <a:latin typeface="Arial"/>
                          <a:ea typeface="Arial"/>
                          <a:cs typeface="Arial"/>
                        </a:rPr>
                        <a:t>QA</a:t>
                      </a:r>
                    </a:p>
                  </a:txBody>
                  <a:tcPr marL="91440" marR="91440" marT="45720" marB="45720">
                    <a:solidFill>
                      <a:srgbClr val="EDF3EF"/>
                    </a:solidFill>
                  </a:tcPr>
                </a:tc>
                <a:tc>
                  <a:txBody>
                    <a:bodyPr/>
                    <a:lstStyle/>
                    <a:p>
                      <a:r>
                        <a:rPr sz="1800" b="0">
                          <a:solidFill>
                            <a:srgbClr val="18312D"/>
                          </a:solidFill>
                          <a:latin typeface="Arial"/>
                          <a:ea typeface="Arial"/>
                          <a:cs typeface="Arial"/>
                        </a:rPr>
                        <a:t>Recette navigateur et clavier</a:t>
                      </a:r>
                    </a:p>
                  </a:txBody>
                  <a:tcPr marL="91440" marR="91440" marT="45720" marB="45720">
                    <a:solidFill>
                      <a:srgbClr val="EDF3EF"/>
                    </a:solidFill>
                  </a:tcPr>
                </a:tc>
                <a:tc>
                  <a:txBody>
                    <a:bodyPr/>
                    <a:lstStyle/>
                    <a:p>
                      <a:r>
                        <a:rPr sz="1800" b="0">
                          <a:solidFill>
                            <a:srgbClr val="18312D"/>
                          </a:solidFill>
                          <a:latin typeface="Arial"/>
                          <a:ea typeface="Arial"/>
                          <a:cs typeface="Arial"/>
                        </a:rPr>
                        <a:t>1</a:t>
                      </a:r>
                    </a:p>
                  </a:txBody>
                  <a:tcPr marL="91440" marR="91440" marT="45720" marB="45720">
                    <a:solidFill>
                      <a:srgbClr val="EDF3EF"/>
                    </a:solidFill>
                  </a:tcPr>
                </a:tc>
                <a:tc>
                  <a:txBody>
                    <a:bodyPr/>
                    <a:lstStyle/>
                    <a:p>
                      <a:r>
                        <a:rPr sz="1800" b="0">
                          <a:solidFill>
                            <a:srgbClr val="18312D"/>
                          </a:solidFill>
                          <a:latin typeface="Arial"/>
                          <a:ea typeface="Arial"/>
                          <a:cs typeface="Arial"/>
                        </a:rPr>
                        <a:t>2</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7671F65C-4CAD-4367-852E-DBB4D3DF6BE7}"/>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Échelle : 0 non abordé, 1 accompagné, 2 autonome, 3 capable d’accompagner</a:t>
            </a:r>
          </a:p>
        </p:txBody>
      </p:sp>
    </p:spTree>
    <p:extLst>
      <p:ext uri="{BB962C8B-B14F-4D97-AF65-F5344CB8AC3E}">
        <p14:creationId xmlns:p14="http://schemas.microsoft.com/office/powerpoint/2010/main" val="15343782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A713CF-8CFB-4E19-A58E-69632D7CB08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Plan de formation et vérification</a:t>
            </a:r>
          </a:p>
        </p:txBody>
      </p:sp>
      <p:sp>
        <p:nvSpPr>
          <p:cNvPr id="2" name="">
            <a:extLst xmlns:a="http://schemas.openxmlformats.org/drawingml/2006/main">
              <a:ext uri="{FF2B5EF4-FFF2-40B4-BE49-F238E27FC236}">
                <a16:creationId xmlns:a16="http://schemas.microsoft.com/office/drawing/2014/main" id="{E8301D6D-8138-44C0-AF87-8654E3ED40A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C3.3.2, actions fictives intégrées au lot    19:00 à 20:30    16</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3143250"/>
                <a:gridCol w="1428750"/>
                <a:gridCol w="6400800"/>
              </a:tblGrid>
              <a:tr h="833438">
                <a:tc>
                  <a:txBody>
                    <a:bodyPr/>
                    <a:lstStyle/>
                    <a:p>
                      <a:r>
                        <a:rPr sz="1800" b="1">
                          <a:solidFill>
                            <a:srgbClr val="FFFFFF"/>
                          </a:solidFill>
                          <a:latin typeface="Arial"/>
                          <a:ea typeface="Arial"/>
                          <a:cs typeface="Arial"/>
                        </a:rPr>
                        <a:t>Public</a:t>
                      </a:r>
                    </a:p>
                  </a:txBody>
                  <a:tcPr marL="91440" marR="91440" marT="45720" marB="45720">
                    <a:solidFill>
                      <a:srgbClr val="246B58"/>
                    </a:solidFill>
                  </a:tcPr>
                </a:tc>
                <a:tc>
                  <a:txBody>
                    <a:bodyPr/>
                    <a:lstStyle/>
                    <a:p>
                      <a:r>
                        <a:rPr sz="1800" b="1">
                          <a:solidFill>
                            <a:srgbClr val="FFFFFF"/>
                          </a:solidFill>
                          <a:latin typeface="Arial"/>
                          <a:ea typeface="Arial"/>
                          <a:cs typeface="Arial"/>
                        </a:rPr>
                        <a:t>Charge</a:t>
                      </a:r>
                    </a:p>
                  </a:txBody>
                  <a:tcPr marL="91440" marR="91440" marT="45720" marB="45720">
                    <a:solidFill>
                      <a:srgbClr val="246B58"/>
                    </a:solidFill>
                  </a:tcPr>
                </a:tc>
                <a:tc>
                  <a:txBody>
                    <a:bodyPr/>
                    <a:lstStyle/>
                    <a:p>
                      <a:r>
                        <a:rPr sz="1800" b="1">
                          <a:solidFill>
                            <a:srgbClr val="FFFFFF"/>
                          </a:solidFill>
                          <a:latin typeface="Arial"/>
                          <a:ea typeface="Arial"/>
                          <a:cs typeface="Arial"/>
                        </a:rPr>
                        <a:t>Exercice de validation</a:t>
                      </a:r>
                    </a:p>
                  </a:txBody>
                  <a:tcPr marL="91440" marR="91440" marT="45720" marB="45720">
                    <a:solidFill>
                      <a:srgbClr val="246B58"/>
                    </a:solidFill>
                  </a:tcPr>
                </a:tc>
              </a:tr>
              <a:tr h="833438">
                <a:tc>
                  <a:txBody>
                    <a:bodyPr/>
                    <a:lstStyle/>
                    <a:p>
                      <a:r>
                        <a:rPr sz="1800" b="0">
                          <a:solidFill>
                            <a:srgbClr val="18312D"/>
                          </a:solidFill>
                          <a:latin typeface="Arial"/>
                          <a:ea typeface="Arial"/>
                          <a:cs typeface="Arial"/>
                        </a:rPr>
                        <a:t>Chef de projet</a:t>
                      </a:r>
                    </a:p>
                  </a:txBody>
                  <a:tcPr marL="91440" marR="91440" marT="45720" marB="45720">
                    <a:solidFill>
                      <a:srgbClr val="EDF3EF"/>
                    </a:solidFill>
                  </a:tcPr>
                </a:tc>
                <a:tc>
                  <a:txBody>
                    <a:bodyPr/>
                    <a:lstStyle/>
                    <a:p>
                      <a:r>
                        <a:rPr sz="1800" b="0">
                          <a:solidFill>
                            <a:srgbClr val="18312D"/>
                          </a:solidFill>
                          <a:latin typeface="Arial"/>
                          <a:ea typeface="Arial"/>
                          <a:cs typeface="Arial"/>
                        </a:rPr>
                        <a:t>1 h</a:t>
                      </a:r>
                    </a:p>
                  </a:txBody>
                  <a:tcPr marL="91440" marR="91440" marT="45720" marB="45720">
                    <a:solidFill>
                      <a:srgbClr val="EDF3EF"/>
                    </a:solidFill>
                  </a:tcPr>
                </a:tc>
                <a:tc>
                  <a:txBody>
                    <a:bodyPr/>
                    <a:lstStyle/>
                    <a:p>
                      <a:r>
                        <a:rPr sz="1800" b="0">
                          <a:solidFill>
                            <a:srgbClr val="18312D"/>
                          </a:solidFill>
                          <a:latin typeface="Arial"/>
                          <a:ea typeface="Arial"/>
                          <a:cs typeface="Arial"/>
                        </a:rPr>
                        <a:t>Modifier le reste à faire et expliquer l’écart</a:t>
                      </a:r>
                    </a:p>
                  </a:txBody>
                  <a:tcPr marL="91440" marR="91440" marT="45720" marB="45720">
                    <a:solidFill>
                      <a:srgbClr val="EDF3EF"/>
                    </a:solidFill>
                  </a:tcPr>
                </a:tc>
              </a:tr>
              <a:tr h="833438">
                <a:tc>
                  <a:txBody>
                    <a:bodyPr/>
                    <a:lstStyle/>
                    <a:p>
                      <a:r>
                        <a:rPr sz="1800" b="0">
                          <a:solidFill>
                            <a:srgbClr val="18312D"/>
                          </a:solidFill>
                          <a:latin typeface="Arial"/>
                          <a:ea typeface="Arial"/>
                          <a:cs typeface="Arial"/>
                        </a:rPr>
                        <a:t>Développeur</a:t>
                      </a:r>
                    </a:p>
                  </a:txBody>
                  <a:tcPr marL="91440" marR="91440" marT="45720" marB="45720">
                    <a:solidFill>
                      <a:srgbClr val="FFFFFF"/>
                    </a:solidFill>
                  </a:tcPr>
                </a:tc>
                <a:tc>
                  <a:txBody>
                    <a:bodyPr/>
                    <a:lstStyle/>
                    <a:p>
                      <a:r>
                        <a:rPr sz="1800" b="0">
                          <a:solidFill>
                            <a:srgbClr val="18312D"/>
                          </a:solidFill>
                          <a:latin typeface="Arial"/>
                          <a:ea typeface="Arial"/>
                          <a:cs typeface="Arial"/>
                        </a:rPr>
                        <a:t>2 h</a:t>
                      </a:r>
                    </a:p>
                  </a:txBody>
                  <a:tcPr marL="91440" marR="91440" marT="45720" marB="45720">
                    <a:solidFill>
                      <a:srgbClr val="FFFFFF"/>
                    </a:solidFill>
                  </a:tcPr>
                </a:tc>
                <a:tc>
                  <a:txBody>
                    <a:bodyPr/>
                    <a:lstStyle/>
                    <a:p>
                      <a:r>
                        <a:rPr sz="1800" b="0">
                          <a:solidFill>
                            <a:srgbClr val="18312D"/>
                          </a:solidFill>
                          <a:latin typeface="Arial"/>
                          <a:ea typeface="Arial"/>
                          <a:cs typeface="Arial"/>
                        </a:rPr>
                        <a:t>Expliquer la protection de la dernière place</a:t>
                      </a:r>
                    </a:p>
                  </a:txBody>
                  <a:tcPr marL="91440" marR="91440" marT="45720" marB="45720">
                    <a:solidFill>
                      <a:srgbClr val="FFFFFF"/>
                    </a:solidFill>
                  </a:tcPr>
                </a:tc>
              </a:tr>
              <a:tr h="833438">
                <a:tc>
                  <a:txBody>
                    <a:bodyPr/>
                    <a:lstStyle/>
                    <a:p>
                      <a:r>
                        <a:rPr sz="1800" b="0">
                          <a:solidFill>
                            <a:srgbClr val="18312D"/>
                          </a:solidFill>
                          <a:latin typeface="Arial"/>
                          <a:ea typeface="Arial"/>
                          <a:cs typeface="Arial"/>
                        </a:rPr>
                        <a:t>QA</a:t>
                      </a:r>
                    </a:p>
                  </a:txBody>
                  <a:tcPr marL="91440" marR="91440" marT="45720" marB="45720">
                    <a:solidFill>
                      <a:srgbClr val="EDF3EF"/>
                    </a:solidFill>
                  </a:tcPr>
                </a:tc>
                <a:tc>
                  <a:txBody>
                    <a:bodyPr/>
                    <a:lstStyle/>
                    <a:p>
                      <a:r>
                        <a:rPr sz="1800" b="0">
                          <a:solidFill>
                            <a:srgbClr val="18312D"/>
                          </a:solidFill>
                          <a:latin typeface="Arial"/>
                          <a:ea typeface="Arial"/>
                          <a:cs typeface="Arial"/>
                        </a:rPr>
                        <a:t>3 h</a:t>
                      </a:r>
                    </a:p>
                  </a:txBody>
                  <a:tcPr marL="91440" marR="91440" marT="45720" marB="45720">
                    <a:solidFill>
                      <a:srgbClr val="EDF3EF"/>
                    </a:solidFill>
                  </a:tcPr>
                </a:tc>
                <a:tc>
                  <a:txBody>
                    <a:bodyPr/>
                    <a:lstStyle/>
                    <a:p>
                      <a:r>
                        <a:rPr sz="1800" b="0">
                          <a:solidFill>
                            <a:srgbClr val="18312D"/>
                          </a:solidFill>
                          <a:latin typeface="Arial"/>
                          <a:ea typeface="Arial"/>
                          <a:cs typeface="Arial"/>
                        </a:rPr>
                        <a:t>Rejouer un scénario et contrôler le clavier</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4D6E437B-F1F7-42B6-BF28-A8104D7B4CD2}"/>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6 h incluses dans les tâches. 60 € de ressources complémentaires fictives.</a:t>
            </a:r>
          </a:p>
        </p:txBody>
      </p:sp>
    </p:spTree>
    <p:extLst>
      <p:ext uri="{BB962C8B-B14F-4D97-AF65-F5344CB8AC3E}">
        <p14:creationId xmlns:p14="http://schemas.microsoft.com/office/powerpoint/2010/main" val="11381599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3CD9E0-D7AA-43BE-BE14-F4AA9DE4377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Suivi client et points de validation</a:t>
            </a:r>
          </a:p>
        </p:txBody>
      </p:sp>
      <p:sp>
        <p:nvSpPr>
          <p:cNvPr id="2" name="">
            <a:extLst xmlns:a="http://schemas.openxmlformats.org/drawingml/2006/main">
              <a:ext uri="{FF2B5EF4-FFF2-40B4-BE49-F238E27FC236}">
                <a16:creationId xmlns:a16="http://schemas.microsoft.com/office/drawing/2014/main" id="{767D5EA9-3610-4E75-B23C-96B3D7BB460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C3.4.1, comptes rendus simulés    20:30 à 22:00    17</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1619250"/>
                <a:gridCol w="7810500"/>
                <a:gridCol w="1543050"/>
              </a:tblGrid>
              <a:tr h="833438">
                <a:tc>
                  <a:txBody>
                    <a:bodyPr/>
                    <a:lstStyle/>
                    <a:p>
                      <a:r>
                        <a:rPr sz="1800" b="1">
                          <a:solidFill>
                            <a:srgbClr val="FFFFFF"/>
                          </a:solidFill>
                          <a:latin typeface="Arial"/>
                          <a:ea typeface="Arial"/>
                          <a:cs typeface="Arial"/>
                        </a:rPr>
                        <a:t>Point</a:t>
                      </a:r>
                    </a:p>
                  </a:txBody>
                  <a:tcPr marL="91440" marR="91440" marT="45720" marB="45720">
                    <a:solidFill>
                      <a:srgbClr val="246B58"/>
                    </a:solidFill>
                  </a:tcPr>
                </a:tc>
                <a:tc>
                  <a:txBody>
                    <a:bodyPr/>
                    <a:lstStyle/>
                    <a:p>
                      <a:r>
                        <a:rPr sz="1800" b="1">
                          <a:solidFill>
                            <a:srgbClr val="FFFFFF"/>
                          </a:solidFill>
                          <a:latin typeface="Arial"/>
                          <a:ea typeface="Arial"/>
                          <a:cs typeface="Arial"/>
                        </a:rPr>
                        <a:t>Décision attendue</a:t>
                      </a:r>
                    </a:p>
                  </a:txBody>
                  <a:tcPr marL="91440" marR="91440" marT="45720" marB="45720">
                    <a:solidFill>
                      <a:srgbClr val="246B58"/>
                    </a:solidFill>
                  </a:tcPr>
                </a:tc>
                <a:tc>
                  <a:txBody>
                    <a:bodyPr/>
                    <a:lstStyle/>
                    <a:p>
                      <a:r>
                        <a:rPr sz="1800" b="1">
                          <a:solidFill>
                            <a:srgbClr val="FFFFFF"/>
                          </a:solidFill>
                          <a:latin typeface="Arial"/>
                          <a:ea typeface="Arial"/>
                          <a:cs typeface="Arial"/>
                        </a:rPr>
                        <a:t>Trace</a:t>
                      </a:r>
                    </a:p>
                  </a:txBody>
                  <a:tcPr marL="91440" marR="91440" marT="45720" marB="45720">
                    <a:solidFill>
                      <a:srgbClr val="246B58"/>
                    </a:solidFill>
                  </a:tcPr>
                </a:tc>
              </a:tr>
              <a:tr h="833438">
                <a:tc>
                  <a:txBody>
                    <a:bodyPr/>
                    <a:lstStyle/>
                    <a:p>
                      <a:r>
                        <a:rPr sz="1800" b="0">
                          <a:solidFill>
                            <a:srgbClr val="18312D"/>
                          </a:solidFill>
                          <a:latin typeface="Arial"/>
                          <a:ea typeface="Arial"/>
                          <a:cs typeface="Arial"/>
                        </a:rPr>
                        <a:t>J3</a:t>
                      </a:r>
                    </a:p>
                  </a:txBody>
                  <a:tcPr marL="91440" marR="91440" marT="45720" marB="45720">
                    <a:solidFill>
                      <a:srgbClr val="EDF3EF"/>
                    </a:solidFill>
                  </a:tcPr>
                </a:tc>
                <a:tc>
                  <a:txBody>
                    <a:bodyPr/>
                    <a:lstStyle/>
                    <a:p>
                      <a:r>
                        <a:rPr sz="1800" b="0">
                          <a:solidFill>
                            <a:srgbClr val="18312D"/>
                          </a:solidFill>
                          <a:latin typeface="Arial"/>
                          <a:ea typeface="Arial"/>
                          <a:cs typeface="Arial"/>
                        </a:rPr>
                        <a:t>Périmètre et critères</a:t>
                      </a:r>
                    </a:p>
                  </a:txBody>
                  <a:tcPr marL="91440" marR="91440" marT="45720" marB="45720">
                    <a:solidFill>
                      <a:srgbClr val="EDF3EF"/>
                    </a:solidFill>
                  </a:tcPr>
                </a:tc>
                <a:tc>
                  <a:txBody>
                    <a:bodyPr/>
                    <a:lstStyle/>
                    <a:p>
                      <a:r>
                        <a:rPr sz="1800" b="0">
                          <a:solidFill>
                            <a:srgbClr val="18312D"/>
                          </a:solidFill>
                          <a:latin typeface="Arial"/>
                          <a:ea typeface="Arial"/>
                          <a:cs typeface="Arial"/>
                        </a:rPr>
                        <a:t>CR01</a:t>
                      </a:r>
                    </a:p>
                  </a:txBody>
                  <a:tcPr marL="91440" marR="91440" marT="45720" marB="45720">
                    <a:solidFill>
                      <a:srgbClr val="EDF3EF"/>
                    </a:solidFill>
                  </a:tcPr>
                </a:tc>
              </a:tr>
              <a:tr h="833438">
                <a:tc>
                  <a:txBody>
                    <a:bodyPr/>
                    <a:lstStyle/>
                    <a:p>
                      <a:r>
                        <a:rPr sz="1800" b="0">
                          <a:solidFill>
                            <a:srgbClr val="18312D"/>
                          </a:solidFill>
                          <a:latin typeface="Arial"/>
                          <a:ea typeface="Arial"/>
                          <a:cs typeface="Arial"/>
                        </a:rPr>
                        <a:t>J10</a:t>
                      </a:r>
                    </a:p>
                  </a:txBody>
                  <a:tcPr marL="91440" marR="91440" marT="45720" marB="45720">
                    <a:solidFill>
                      <a:srgbClr val="FFFFFF"/>
                    </a:solidFill>
                  </a:tcPr>
                </a:tc>
                <a:tc>
                  <a:txBody>
                    <a:bodyPr/>
                    <a:lstStyle/>
                    <a:p>
                      <a:r>
                        <a:rPr sz="1800" b="0">
                          <a:solidFill>
                            <a:srgbClr val="18312D"/>
                          </a:solidFill>
                          <a:latin typeface="Arial"/>
                          <a:ea typeface="Arial"/>
                          <a:cs typeface="Arial"/>
                        </a:rPr>
                        <a:t>Écarts et report de la demande</a:t>
                      </a:r>
                    </a:p>
                  </a:txBody>
                  <a:tcPr marL="91440" marR="91440" marT="45720" marB="45720">
                    <a:solidFill>
                      <a:srgbClr val="FFFFFF"/>
                    </a:solidFill>
                  </a:tcPr>
                </a:tc>
                <a:tc>
                  <a:txBody>
                    <a:bodyPr/>
                    <a:lstStyle/>
                    <a:p>
                      <a:r>
                        <a:rPr sz="1800" b="0">
                          <a:solidFill>
                            <a:srgbClr val="18312D"/>
                          </a:solidFill>
                          <a:latin typeface="Arial"/>
                          <a:ea typeface="Arial"/>
                          <a:cs typeface="Arial"/>
                        </a:rPr>
                        <a:t>CR02</a:t>
                      </a:r>
                    </a:p>
                  </a:txBody>
                  <a:tcPr marL="91440" marR="91440" marT="45720" marB="45720">
                    <a:solidFill>
                      <a:srgbClr val="FFFFFF"/>
                    </a:solidFill>
                  </a:tcPr>
                </a:tc>
              </a:tr>
              <a:tr h="833438">
                <a:tc>
                  <a:txBody>
                    <a:bodyPr/>
                    <a:lstStyle/>
                    <a:p>
                      <a:r>
                        <a:rPr sz="1800" b="0">
                          <a:solidFill>
                            <a:srgbClr val="18312D"/>
                          </a:solidFill>
                          <a:latin typeface="Arial"/>
                          <a:ea typeface="Arial"/>
                          <a:cs typeface="Arial"/>
                        </a:rPr>
                        <a:t>J15</a:t>
                      </a:r>
                    </a:p>
                  </a:txBody>
                  <a:tcPr marL="91440" marR="91440" marT="45720" marB="45720">
                    <a:solidFill>
                      <a:srgbClr val="EDF3EF"/>
                    </a:solidFill>
                  </a:tcPr>
                </a:tc>
                <a:tc>
                  <a:txBody>
                    <a:bodyPr/>
                    <a:lstStyle/>
                    <a:p>
                      <a:r>
                        <a:rPr sz="1800" b="0">
                          <a:solidFill>
                            <a:srgbClr val="18312D"/>
                          </a:solidFill>
                          <a:latin typeface="Arial"/>
                          <a:ea typeface="Arial"/>
                          <a:cs typeface="Arial"/>
                        </a:rPr>
                        <a:t>Acceptation et réserves</a:t>
                      </a:r>
                    </a:p>
                  </a:txBody>
                  <a:tcPr marL="91440" marR="91440" marT="45720" marB="45720">
                    <a:solidFill>
                      <a:srgbClr val="EDF3EF"/>
                    </a:solidFill>
                  </a:tcPr>
                </a:tc>
                <a:tc>
                  <a:txBody>
                    <a:bodyPr/>
                    <a:lstStyle/>
                    <a:p>
                      <a:r>
                        <a:rPr sz="1800" b="0">
                          <a:solidFill>
                            <a:srgbClr val="18312D"/>
                          </a:solidFill>
                          <a:latin typeface="Arial"/>
                          <a:ea typeface="Arial"/>
                          <a:cs typeface="Arial"/>
                        </a:rPr>
                        <a:t>CR03</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F40DB709-5A8B-4102-9375-CEBA14BB9F5B}"/>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Chaque action possède un responsable, une échéance et un prochain point</a:t>
            </a:r>
          </a:p>
        </p:txBody>
      </p:sp>
    </p:spTree>
    <p:extLst>
      <p:ext uri="{BB962C8B-B14F-4D97-AF65-F5344CB8AC3E}">
        <p14:creationId xmlns:p14="http://schemas.microsoft.com/office/powerpoint/2010/main" val="20337702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7ABB60-80C7-4A55-BC22-510B7C928D3C}"/>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Mesure de satisfaction proposée</a:t>
            </a:r>
          </a:p>
        </p:txBody>
      </p:sp>
      <p:sp>
        <p:nvSpPr>
          <p:cNvPr id="2" name="">
            <a:extLst xmlns:a="http://schemas.openxmlformats.org/drawingml/2006/main">
              <a:ext uri="{FF2B5EF4-FFF2-40B4-BE49-F238E27FC236}">
                <a16:creationId xmlns:a16="http://schemas.microsoft.com/office/drawing/2014/main" id="{09426F4C-8D2A-4F8F-97CF-6ACD7E78E93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C3.4.1, aucun résultat client réel disponible    22:00 à 23:00    18</a:t>
            </a:r>
          </a:p>
        </p:txBody>
      </p:sp>
      <p:graphicFrame>
        <p:nvGraphicFramePr>
          <p:cNvPr id="7"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a:lstStyle/>
                    <a:p>
                      <a:r>
                        <a:rPr sz="1800" b="1">
                          <a:solidFill>
                            <a:srgbClr val="FFFFFF"/>
                          </a:solidFill>
                          <a:latin typeface="Arial"/>
                          <a:ea typeface="Arial"/>
                          <a:cs typeface="Arial"/>
                        </a:rPr>
                        <a:t>Indicateur</a:t>
                      </a:r>
                    </a:p>
                  </a:txBody>
                  <a:tcPr marL="91440" marR="91440" marT="45720" marB="45720">
                    <a:solidFill>
                      <a:srgbClr val="246B58"/>
                    </a:solidFill>
                  </a:tcPr>
                </a:tc>
                <a:tc>
                  <a:txBody>
                    <a:bodyPr/>
                    <a:lstStyle/>
                    <a:p>
                      <a:r>
                        <a:rPr sz="1800" b="1">
                          <a:solidFill>
                            <a:srgbClr val="FFFFFF"/>
                          </a:solidFill>
                          <a:latin typeface="Arial"/>
                          <a:ea typeface="Arial"/>
                          <a:cs typeface="Arial"/>
                        </a:rPr>
                        <a:t>Mesure prévue</a:t>
                      </a:r>
                    </a:p>
                  </a:txBody>
                  <a:tcPr marL="91440" marR="91440" marT="45720" marB="45720">
                    <a:solidFill>
                      <a:srgbClr val="246B58"/>
                    </a:solidFill>
                  </a:tcPr>
                </a:tc>
              </a:tr>
              <a:tr h="666750">
                <a:tc>
                  <a:txBody>
                    <a:bodyPr/>
                    <a:lstStyle/>
                    <a:p>
                      <a:r>
                        <a:rPr sz="1800" b="0">
                          <a:solidFill>
                            <a:srgbClr val="18312D"/>
                          </a:solidFill>
                          <a:latin typeface="Arial"/>
                          <a:ea typeface="Arial"/>
                          <a:cs typeface="Arial"/>
                        </a:rPr>
                        <a:t>Critères acceptés</a:t>
                      </a:r>
                    </a:p>
                  </a:txBody>
                  <a:tcPr marL="91440" marR="91440" marT="45720" marB="45720">
                    <a:solidFill>
                      <a:srgbClr val="EDF3EF"/>
                    </a:solidFill>
                  </a:tcPr>
                </a:tc>
                <a:tc>
                  <a:txBody>
                    <a:bodyPr/>
                    <a:lstStyle/>
                    <a:p>
                      <a:r>
                        <a:rPr sz="1800" b="0">
                          <a:solidFill>
                            <a:srgbClr val="18312D"/>
                          </a:solidFill>
                          <a:latin typeface="Arial"/>
                          <a:ea typeface="Arial"/>
                          <a:cs typeface="Arial"/>
                        </a:rPr>
                        <a:t>Acceptés / évalués</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Parcours sans aide</a:t>
                      </a:r>
                    </a:p>
                  </a:txBody>
                  <a:tcPr marL="91440" marR="91440" marT="45720" marB="45720">
                    <a:solidFill>
                      <a:srgbClr val="FFFFFF"/>
                    </a:solidFill>
                  </a:tcPr>
                </a:tc>
                <a:tc>
                  <a:txBody>
                    <a:bodyPr/>
                    <a:lstStyle/>
                    <a:p>
                      <a:r>
                        <a:rPr sz="1800" b="0">
                          <a:solidFill>
                            <a:srgbClr val="18312D"/>
                          </a:solidFill>
                          <a:latin typeface="Arial"/>
                          <a:ea typeface="Arial"/>
                          <a:cs typeface="Arial"/>
                        </a:rPr>
                        <a:t>Terminés sans aide / tentés</a:t>
                      </a:r>
                    </a:p>
                  </a:txBody>
                  <a:tcPr marL="91440" marR="91440" marT="45720" marB="45720">
                    <a:solidFill>
                      <a:srgbClr val="FFFFFF"/>
                    </a:solidFill>
                  </a:tcPr>
                </a:tc>
              </a:tr>
              <a:tr h="666750">
                <a:tc>
                  <a:txBody>
                    <a:bodyPr/>
                    <a:lstStyle/>
                    <a:p>
                      <a:r>
                        <a:rPr sz="1800" b="0">
                          <a:solidFill>
                            <a:srgbClr val="18312D"/>
                          </a:solidFill>
                          <a:latin typeface="Arial"/>
                          <a:ea typeface="Arial"/>
                          <a:cs typeface="Arial"/>
                        </a:rPr>
                        <a:t>Utilité perçue</a:t>
                      </a:r>
                    </a:p>
                  </a:txBody>
                  <a:tcPr marL="91440" marR="91440" marT="45720" marB="45720">
                    <a:solidFill>
                      <a:srgbClr val="EDF3EF"/>
                    </a:solidFill>
                  </a:tcPr>
                </a:tc>
                <a:tc>
                  <a:txBody>
                    <a:bodyPr/>
                    <a:lstStyle/>
                    <a:p>
                      <a:r>
                        <a:rPr sz="1800" b="0">
                          <a:solidFill>
                            <a:srgbClr val="18312D"/>
                          </a:solidFill>
                          <a:latin typeface="Arial"/>
                          <a:ea typeface="Arial"/>
                          <a:cs typeface="Arial"/>
                        </a:rPr>
                        <a:t>Note de 1 à 5 et nombre de répondants</a:t>
                      </a:r>
                    </a:p>
                  </a:txBody>
                  <a:tcPr marL="91440" marR="91440" marT="45720" marB="45720">
                    <a:solidFill>
                      <a:srgbClr val="EDF3EF"/>
                    </a:solidFill>
                  </a:tcPr>
                </a:tc>
              </a:tr>
              <a:tr h="666750">
                <a:tc>
                  <a:txBody>
                    <a:bodyPr/>
                    <a:lstStyle/>
                    <a:p>
                      <a:r>
                        <a:rPr sz="1800" b="0">
                          <a:solidFill>
                            <a:srgbClr val="18312D"/>
                          </a:solidFill>
                          <a:latin typeface="Arial"/>
                          <a:ea typeface="Arial"/>
                          <a:cs typeface="Arial"/>
                        </a:rPr>
                        <a:t>Blocages critiques</a:t>
                      </a:r>
                    </a:p>
                  </a:txBody>
                  <a:tcPr marL="91440" marR="91440" marT="45720" marB="45720">
                    <a:solidFill>
                      <a:srgbClr val="FFFFFF"/>
                    </a:solidFill>
                  </a:tcPr>
                </a:tc>
                <a:tc>
                  <a:txBody>
                    <a:bodyPr/>
                    <a:lstStyle/>
                    <a:p>
                      <a:r>
                        <a:rPr sz="1800" b="0">
                          <a:solidFill>
                            <a:srgbClr val="18312D"/>
                          </a:solidFill>
                          <a:latin typeface="Arial"/>
                          <a:ea typeface="Arial"/>
                          <a:cs typeface="Arial"/>
                        </a:rPr>
                        <a:t>Nombre et description des obstacles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DA79B18-2F73-429D-A2F3-763BFE4E2664}"/>
              </a:ext>
            </a:extLst>
          </p:cNvPr>
          <p:cNvSpPr>
            <a:spLocks xmlns:a="http://schemas.openxmlformats.org/drawingml/2006/main" noGrp="1"/>
          </p:cNvSpPr>
          <p:nvPr/>
        </p:nvSpPr>
        <p:spPr>
          <a:xfrm xmlns:a="http://schemas.openxmlformats.org/drawingml/2006/main">
            <a:off x="685800" y="53244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Satisfaction réelle : non mesurée à ce stade</a:t>
            </a:r>
          </a:p>
        </p:txBody>
      </p:sp>
    </p:spTree>
    <p:extLst>
      <p:ext uri="{BB962C8B-B14F-4D97-AF65-F5344CB8AC3E}">
        <p14:creationId xmlns:p14="http://schemas.microsoft.com/office/powerpoint/2010/main" val="99311078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F90B67-3F3A-447C-8D94-05DADC35033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Démonstration du parcours</a:t>
            </a:r>
          </a:p>
        </p:txBody>
      </p:sp>
      <p:sp>
        <p:nvSpPr>
          <p:cNvPr id="2" name="">
            <a:extLst xmlns:a="http://schemas.openxmlformats.org/drawingml/2006/main">
              <a:ext uri="{FF2B5EF4-FFF2-40B4-BE49-F238E27FC236}">
                <a16:creationId xmlns:a16="http://schemas.microsoft.com/office/drawing/2014/main" id="{4BCFE09C-C8B8-478D-9371-3097E78AD27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C3.4.2, séquence de six minutes    23:00 à 23:30    19</a:t>
            </a:r>
          </a:p>
        </p:txBody>
      </p:sp>
      <p:sp>
        <p:nvSpPr>
          <p:cNvPr id="3" name="">
            <a:extLst xmlns:a="http://schemas.openxmlformats.org/drawingml/2006/main">
              <a:ext uri="{FF2B5EF4-FFF2-40B4-BE49-F238E27FC236}">
                <a16:creationId xmlns:a16="http://schemas.microsoft.com/office/drawing/2014/main" id="{9A203D8D-E1D8-4DDC-A184-247D04429C83}"/>
              </a:ext>
            </a:extLst>
          </p:cNvPr>
          <p:cNvSpPr>
            <a:spLocks xmlns:a="http://schemas.openxmlformats.org/drawingml/2006/main" noGrp="1"/>
          </p:cNvSpPr>
          <p:nvPr/>
        </p:nvSpPr>
        <p:spPr>
          <a:xfrm xmlns:a="http://schemas.openxmlformats.org/drawingml/2006/main">
            <a:off x="6858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Session grimpeur</a:t>
            </a:r>
          </a:p>
        </p:txBody>
      </p:sp>
      <p:sp>
        <p:nvSpPr>
          <p:cNvPr id="4" name="">
            <a:extLst xmlns:a="http://schemas.openxmlformats.org/drawingml/2006/main">
              <a:ext uri="{FF2B5EF4-FFF2-40B4-BE49-F238E27FC236}">
                <a16:creationId xmlns:a16="http://schemas.microsoft.com/office/drawing/2014/main" id="{AF228D7A-BA36-4834-8DAE-9D8A56D72C64}"/>
              </a:ext>
            </a:extLst>
          </p:cNvPr>
          <p:cNvSpPr>
            <a:spLocks xmlns:a="http://schemas.openxmlformats.org/drawingml/2006/main" noGrp="1"/>
          </p:cNvSpPr>
          <p:nvPr/>
        </p:nvSpPr>
        <p:spPr>
          <a:xfrm xmlns:a="http://schemas.openxmlformats.org/drawingml/2006/main">
            <a:off x="6858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Profil, partenaire et inscription</a:t>
            </a:r>
          </a:p>
        </p:txBody>
      </p:sp>
      <p:sp>
        <p:nvSpPr>
          <p:cNvPr id="5" name="">
            <a:extLst xmlns:a="http://schemas.openxmlformats.org/drawingml/2006/main">
              <a:ext uri="{FF2B5EF4-FFF2-40B4-BE49-F238E27FC236}">
                <a16:creationId xmlns:a16="http://schemas.microsoft.com/office/drawing/2014/main" id="{FC5DAB2A-A82B-4B11-B984-66D5F25BAF16}"/>
              </a:ext>
            </a:extLst>
          </p:cNvPr>
          <p:cNvSpPr>
            <a:spLocks xmlns:a="http://schemas.openxmlformats.org/drawingml/2006/main" noGrp="1"/>
          </p:cNvSpPr>
          <p:nvPr/>
        </p:nvSpPr>
        <p:spPr>
          <a:xfrm xmlns:a="http://schemas.openxmlformats.org/drawingml/2006/main">
            <a:off x="63246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Session club</a:t>
            </a:r>
          </a:p>
        </p:txBody>
      </p:sp>
      <p:sp>
        <p:nvSpPr>
          <p:cNvPr id="6" name="">
            <a:extLst xmlns:a="http://schemas.openxmlformats.org/drawingml/2006/main">
              <a:ext uri="{FF2B5EF4-FFF2-40B4-BE49-F238E27FC236}">
                <a16:creationId xmlns:a16="http://schemas.microsoft.com/office/drawing/2014/main" id="{3F9F530D-16FD-43AC-A7D1-E66D391EF2C8}"/>
              </a:ext>
            </a:extLst>
          </p:cNvPr>
          <p:cNvSpPr>
            <a:spLocks xmlns:a="http://schemas.openxmlformats.org/drawingml/2006/main" noGrp="1"/>
          </p:cNvSpPr>
          <p:nvPr/>
        </p:nvSpPr>
        <p:spPr>
          <a:xfrm xmlns:a="http://schemas.openxmlformats.org/drawingml/2006/main">
            <a:off x="63246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Événement, participants et droits</a:t>
            </a:r>
          </a:p>
        </p:txBody>
      </p:sp>
      <p:sp>
        <p:nvSpPr>
          <p:cNvPr id="7" name="">
            <a:extLst xmlns:a="http://schemas.openxmlformats.org/drawingml/2006/main">
              <a:ext uri="{FF2B5EF4-FFF2-40B4-BE49-F238E27FC236}">
                <a16:creationId xmlns:a16="http://schemas.microsoft.com/office/drawing/2014/main" id="{3EFA126D-9192-43FC-93AD-724EB43622D1}"/>
              </a:ext>
            </a:extLst>
          </p:cNvPr>
          <p:cNvSpPr>
            <a:spLocks xmlns:a="http://schemas.openxmlformats.org/drawingml/2006/main" noGrp="1"/>
          </p:cNvSpPr>
          <p:nvPr/>
        </p:nvSpPr>
        <p:spPr>
          <a:xfrm xmlns:a="http://schemas.openxmlformats.org/drawingml/2006/main">
            <a:off x="685800" y="56102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6B58"/>
                </a:solidFill>
                <a:latin typeface="Arial"/>
                <a:ea typeface="Arial"/>
                <a:cs typeface="Arial"/>
              </a:defRPr>
            </a:pPr>
            <a:r>
              <a:rPr sz="1875" b="1">
                <a:solidFill>
                  <a:srgbClr val="246B58"/>
                </a:solidFill>
                <a:latin typeface="Arial"/>
                <a:ea typeface="Arial"/>
                <a:cs typeface="Arial"/>
              </a:rPr>
              <a:t>Critères : état compréhensible, capacité respectée et participant visible</a:t>
            </a:r>
          </a:p>
        </p:txBody>
      </p:sp>
    </p:spTree>
    <p:extLst>
      <p:ext uri="{BB962C8B-B14F-4D97-AF65-F5344CB8AC3E}">
        <p14:creationId xmlns:p14="http://schemas.microsoft.com/office/powerpoint/2010/main" val="19724360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4F2469-192F-4B03-86E2-8ABF2841F168}"/>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Parcours grimpeur</a:t>
            </a:r>
          </a:p>
        </p:txBody>
      </p:sp>
      <p:sp>
        <p:nvSpPr>
          <p:cNvPr id="2" name="">
            <a:extLst xmlns:a="http://schemas.openxmlformats.org/drawingml/2006/main">
              <a:ext uri="{FF2B5EF4-FFF2-40B4-BE49-F238E27FC236}">
                <a16:creationId xmlns:a16="http://schemas.microsoft.com/office/drawing/2014/main" id="{7A01714F-7C54-48D8-9462-50C0B2C293F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C3.4.2, application locale et données de test    23:30 à 26:30    20</a:t>
            </a:r>
          </a:p>
        </p:txBody>
      </p:sp>
      <p:sp>
        <p:nvSpPr>
          <p:cNvPr id="3" name="">
            <a:extLst xmlns:a="http://schemas.openxmlformats.org/drawingml/2006/main">
              <a:ext uri="{FF2B5EF4-FFF2-40B4-BE49-F238E27FC236}">
                <a16:creationId xmlns:a16="http://schemas.microsoft.com/office/drawing/2014/main" id="{76703CED-73CC-4B25-AC05-42D50892E9FD}"/>
              </a:ext>
            </a:extLst>
          </p:cNvPr>
          <p:cNvSpPr>
            <a:spLocks xmlns:a="http://schemas.openxmlformats.org/drawingml/2006/main" noGrp="1"/>
          </p:cNvSpPr>
          <p:nvPr/>
        </p:nvSpPr>
        <p:spPr>
          <a:xfrm xmlns:a="http://schemas.openxmlformats.org/drawingml/2006/main">
            <a:off x="609600" y="21526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Profil et recherche</a:t>
            </a:r>
          </a:p>
        </p:txBody>
      </p:sp>
      <p:sp>
        <p:nvSpPr>
          <p:cNvPr id="4" name="">
            <a:extLst xmlns:a="http://schemas.openxmlformats.org/drawingml/2006/main">
              <a:ext uri="{FF2B5EF4-FFF2-40B4-BE49-F238E27FC236}">
                <a16:creationId xmlns:a16="http://schemas.microsoft.com/office/drawing/2014/main" id="{413DAE43-B487-47EF-8A2C-C58A1B5C1704}"/>
              </a:ext>
            </a:extLst>
          </p:cNvPr>
          <p:cNvSpPr>
            <a:spLocks xmlns:a="http://schemas.openxmlformats.org/drawingml/2006/main" noGrp="1"/>
          </p:cNvSpPr>
          <p:nvPr/>
        </p:nvSpPr>
        <p:spPr>
          <a:xfrm xmlns:a="http://schemas.openxmlformats.org/drawingml/2006/main">
            <a:off x="609600" y="29813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2D"/>
                </a:solidFill>
                <a:latin typeface="Arial"/>
                <a:ea typeface="Arial"/>
                <a:cs typeface="Arial"/>
              </a:defRPr>
            </a:pPr>
            <a:r>
              <a:rPr sz="2025" b="0">
                <a:solidFill>
                  <a:srgbClr val="18312D"/>
                </a:solidFill>
                <a:latin typeface="Arial"/>
                <a:ea typeface="Arial"/>
                <a:cs typeface="Arial"/>
              </a:rPr>
              <a:t>Vérifier le niveau et les disponibilités.</a:t>
            </a:r>
          </a:p>
        </p:txBody>
      </p:sp>
      <p:sp>
        <p:nvSpPr>
          <p:cNvPr id="5" name="">
            <a:extLst xmlns:a="http://schemas.openxmlformats.org/drawingml/2006/main">
              <a:ext uri="{FF2B5EF4-FFF2-40B4-BE49-F238E27FC236}">
                <a16:creationId xmlns:a16="http://schemas.microsoft.com/office/drawing/2014/main" id="{3227B081-8C82-4D59-8BFB-1694DA7CB7D2}"/>
              </a:ext>
            </a:extLst>
          </p:cNvPr>
          <p:cNvSpPr>
            <a:spLocks xmlns:a="http://schemas.openxmlformats.org/drawingml/2006/main" noGrp="1"/>
          </p:cNvSpPr>
          <p:nvPr/>
        </p:nvSpPr>
        <p:spPr>
          <a:xfrm xmlns:a="http://schemas.openxmlformats.org/drawingml/2006/main">
            <a:off x="609600" y="38671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Demande et sortie</a:t>
            </a:r>
          </a:p>
        </p:txBody>
      </p:sp>
      <p:sp>
        <p:nvSpPr>
          <p:cNvPr id="6" name="">
            <a:extLst xmlns:a="http://schemas.openxmlformats.org/drawingml/2006/main">
              <a:ext uri="{FF2B5EF4-FFF2-40B4-BE49-F238E27FC236}">
                <a16:creationId xmlns:a16="http://schemas.microsoft.com/office/drawing/2014/main" id="{E7589519-3CFF-4BC8-A01F-E85B7BC2CBB0}"/>
              </a:ext>
            </a:extLst>
          </p:cNvPr>
          <p:cNvSpPr>
            <a:spLocks xmlns:a="http://schemas.openxmlformats.org/drawingml/2006/main" noGrp="1"/>
          </p:cNvSpPr>
          <p:nvPr/>
        </p:nvSpPr>
        <p:spPr>
          <a:xfrm xmlns:a="http://schemas.openxmlformats.org/drawingml/2006/main">
            <a:off x="609600" y="46958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2D"/>
                </a:solidFill>
                <a:latin typeface="Arial"/>
                <a:ea typeface="Arial"/>
                <a:cs typeface="Arial"/>
              </a:defRPr>
            </a:pPr>
            <a:r>
              <a:rPr sz="2025" b="0">
                <a:solidFill>
                  <a:srgbClr val="18312D"/>
                </a:solidFill>
                <a:latin typeface="Arial"/>
                <a:ea typeface="Arial"/>
                <a:cs typeface="Arial"/>
              </a:rPr>
              <a:t>Lire l’état, consulter l’événement et s’inscrire.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1557d24db6f4884"/>
          <a:stretch xmlns:a="http://schemas.openxmlformats.org/drawingml/2006/main"/>
        </p:blipFill>
        <p:spPr>
          <a:xfrm xmlns:a="http://schemas.openxmlformats.org/drawingml/2006/main">
            <a:off x="4908995" y="1714500"/>
            <a:ext cx="6460236" cy="4486275"/>
          </a:xfrm>
          <a:prstGeom xmlns:a="http://schemas.openxmlformats.org/drawingml/2006/main" prst="rect">
            <a:avLst/>
          </a:prstGeom>
        </p:spPr>
      </p:pic>
    </p:spTree>
    <p:extLst>
      <p:ext uri="{BB962C8B-B14F-4D97-AF65-F5344CB8AC3E}">
        <p14:creationId xmlns:p14="http://schemas.microsoft.com/office/powerpoint/2010/main" val="653943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10977E-2F75-4874-973A-65E5ACC275A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Parcours club et validation</a:t>
            </a:r>
          </a:p>
        </p:txBody>
      </p:sp>
      <p:sp>
        <p:nvSpPr>
          <p:cNvPr id="2" name="">
            <a:extLst xmlns:a="http://schemas.openxmlformats.org/drawingml/2006/main">
              <a:ext uri="{FF2B5EF4-FFF2-40B4-BE49-F238E27FC236}">
                <a16:creationId xmlns:a16="http://schemas.microsoft.com/office/drawing/2014/main" id="{15F5A882-6DE7-41F1-AC10-9F1EF331A47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C3.4.2, application locale et données de test    26:30 à 29:00    21</a:t>
            </a:r>
          </a:p>
        </p:txBody>
      </p:sp>
      <p:sp>
        <p:nvSpPr>
          <p:cNvPr id="3" name="">
            <a:extLst xmlns:a="http://schemas.openxmlformats.org/drawingml/2006/main">
              <a:ext uri="{FF2B5EF4-FFF2-40B4-BE49-F238E27FC236}">
                <a16:creationId xmlns:a16="http://schemas.microsoft.com/office/drawing/2014/main" id="{784EA2E1-F6F6-4A83-B205-DFCFA7FA1C71}"/>
              </a:ext>
            </a:extLst>
          </p:cNvPr>
          <p:cNvSpPr>
            <a:spLocks xmlns:a="http://schemas.openxmlformats.org/drawingml/2006/main" noGrp="1"/>
          </p:cNvSpPr>
          <p:nvPr/>
        </p:nvSpPr>
        <p:spPr>
          <a:xfrm xmlns:a="http://schemas.openxmlformats.org/drawingml/2006/main">
            <a:off x="609600" y="21526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Organisation</a:t>
            </a:r>
          </a:p>
        </p:txBody>
      </p:sp>
      <p:sp>
        <p:nvSpPr>
          <p:cNvPr id="4" name="">
            <a:extLst xmlns:a="http://schemas.openxmlformats.org/drawingml/2006/main">
              <a:ext uri="{FF2B5EF4-FFF2-40B4-BE49-F238E27FC236}">
                <a16:creationId xmlns:a16="http://schemas.microsoft.com/office/drawing/2014/main" id="{AA431C35-4BD7-4DEA-A87C-CD0B45820BCE}"/>
              </a:ext>
            </a:extLst>
          </p:cNvPr>
          <p:cNvSpPr>
            <a:spLocks xmlns:a="http://schemas.openxmlformats.org/drawingml/2006/main" noGrp="1"/>
          </p:cNvSpPr>
          <p:nvPr/>
        </p:nvSpPr>
        <p:spPr>
          <a:xfrm xmlns:a="http://schemas.openxmlformats.org/drawingml/2006/main">
            <a:off x="609600" y="29813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2D"/>
                </a:solidFill>
                <a:latin typeface="Arial"/>
                <a:ea typeface="Arial"/>
                <a:cs typeface="Arial"/>
              </a:defRPr>
            </a:pPr>
            <a:r>
              <a:rPr sz="2025" b="0">
                <a:solidFill>
                  <a:srgbClr val="18312D"/>
                </a:solidFill>
                <a:latin typeface="Arial"/>
                <a:ea typeface="Arial"/>
                <a:cs typeface="Arial"/>
              </a:rPr>
              <a:t>Retrouver l’événement et les participants.</a:t>
            </a:r>
          </a:p>
        </p:txBody>
      </p:sp>
      <p:sp>
        <p:nvSpPr>
          <p:cNvPr id="5" name="">
            <a:extLst xmlns:a="http://schemas.openxmlformats.org/drawingml/2006/main">
              <a:ext uri="{FF2B5EF4-FFF2-40B4-BE49-F238E27FC236}">
                <a16:creationId xmlns:a16="http://schemas.microsoft.com/office/drawing/2014/main" id="{21CA7E43-97E7-41BE-B0DB-B44EE210C632}"/>
              </a:ext>
            </a:extLst>
          </p:cNvPr>
          <p:cNvSpPr>
            <a:spLocks xmlns:a="http://schemas.openxmlformats.org/drawingml/2006/main" noGrp="1"/>
          </p:cNvSpPr>
          <p:nvPr/>
        </p:nvSpPr>
        <p:spPr>
          <a:xfrm xmlns:a="http://schemas.openxmlformats.org/drawingml/2006/main">
            <a:off x="609600" y="38671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Contrôles</a:t>
            </a:r>
          </a:p>
        </p:txBody>
      </p:sp>
      <p:sp>
        <p:nvSpPr>
          <p:cNvPr id="6" name="">
            <a:extLst xmlns:a="http://schemas.openxmlformats.org/drawingml/2006/main">
              <a:ext uri="{FF2B5EF4-FFF2-40B4-BE49-F238E27FC236}">
                <a16:creationId xmlns:a16="http://schemas.microsoft.com/office/drawing/2014/main" id="{BF1006F5-05DF-4825-B020-E66BF7C54654}"/>
              </a:ext>
            </a:extLst>
          </p:cNvPr>
          <p:cNvSpPr>
            <a:spLocks xmlns:a="http://schemas.openxmlformats.org/drawingml/2006/main" noGrp="1"/>
          </p:cNvSpPr>
          <p:nvPr/>
        </p:nvSpPr>
        <p:spPr>
          <a:xfrm xmlns:a="http://schemas.openxmlformats.org/drawingml/2006/main">
            <a:off x="609600" y="46958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2D"/>
                </a:solidFill>
                <a:latin typeface="Arial"/>
                <a:ea typeface="Arial"/>
                <a:cs typeface="Arial"/>
              </a:defRPr>
            </a:pPr>
            <a:r>
              <a:rPr sz="2025" b="0">
                <a:solidFill>
                  <a:srgbClr val="18312D"/>
                </a:solidFill>
                <a:latin typeface="Arial"/>
                <a:ea typeface="Arial"/>
                <a:cs typeface="Arial"/>
              </a:rPr>
              <a:t>Vérifier les droits et expliciter les réserves.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8f37f3e0d444db7"/>
          <a:stretch xmlns:a="http://schemas.openxmlformats.org/drawingml/2006/main"/>
        </p:blipFill>
        <p:spPr>
          <a:xfrm xmlns:a="http://schemas.openxmlformats.org/drawingml/2006/main">
            <a:off x="4908995" y="1714500"/>
            <a:ext cx="6460236" cy="4486275"/>
          </a:xfrm>
          <a:prstGeom xmlns:a="http://schemas.openxmlformats.org/drawingml/2006/main" prst="rect">
            <a:avLst/>
          </a:prstGeom>
        </p:spPr>
      </p:pic>
    </p:spTree>
    <p:extLst>
      <p:ext uri="{BB962C8B-B14F-4D97-AF65-F5344CB8AC3E}">
        <p14:creationId xmlns:p14="http://schemas.microsoft.com/office/powerpoint/2010/main" val="18093320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6955BD-0368-4F9D-9360-26305F230B3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Bilan du pilotage</a:t>
            </a:r>
          </a:p>
        </p:txBody>
      </p:sp>
      <p:sp>
        <p:nvSpPr>
          <p:cNvPr id="2" name="">
            <a:extLst xmlns:a="http://schemas.openxmlformats.org/drawingml/2006/main">
              <a:ext uri="{FF2B5EF4-FFF2-40B4-BE49-F238E27FC236}">
                <a16:creationId xmlns:a16="http://schemas.microsoft.com/office/drawing/2014/main" id="{43A15226-67E8-48C5-B99C-E3FCA32D987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Bilan et ouverture des quinze minutes de questions    29:00 à 30:00    22</a:t>
            </a:r>
          </a:p>
        </p:txBody>
      </p:sp>
      <p:sp>
        <p:nvSpPr>
          <p:cNvPr id="3" name="">
            <a:extLst xmlns:a="http://schemas.openxmlformats.org/drawingml/2006/main">
              <a:ext uri="{FF2B5EF4-FFF2-40B4-BE49-F238E27FC236}">
                <a16:creationId xmlns:a16="http://schemas.microsoft.com/office/drawing/2014/main" id="{49FB86E2-052C-4710-9C08-2C0FE43F0E21}"/>
              </a:ext>
            </a:extLst>
          </p:cNvPr>
          <p:cNvSpPr>
            <a:spLocks xmlns:a="http://schemas.openxmlformats.org/drawingml/2006/main" noGrp="1"/>
          </p:cNvSpPr>
          <p:nvPr/>
        </p:nvSpPr>
        <p:spPr>
          <a:xfrm xmlns:a="http://schemas.openxmlformats.org/drawingml/2006/main">
            <a:off x="6858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Résultats présentés</a:t>
            </a:r>
          </a:p>
        </p:txBody>
      </p:sp>
      <p:sp>
        <p:nvSpPr>
          <p:cNvPr id="4" name="">
            <a:extLst xmlns:a="http://schemas.openxmlformats.org/drawingml/2006/main">
              <a:ext uri="{FF2B5EF4-FFF2-40B4-BE49-F238E27FC236}">
                <a16:creationId xmlns:a16="http://schemas.microsoft.com/office/drawing/2014/main" id="{16877CCF-5273-4AB8-9122-8AC6E557CE18}"/>
              </a:ext>
            </a:extLst>
          </p:cNvPr>
          <p:cNvSpPr>
            <a:spLocks xmlns:a="http://schemas.openxmlformats.org/drawingml/2006/main" noGrp="1"/>
          </p:cNvSpPr>
          <p:nvPr/>
        </p:nvSpPr>
        <p:spPr>
          <a:xfrm xmlns:a="http://schemas.openxmlformats.org/drawingml/2006/main">
            <a:off x="6858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Parcours logiciel démontré.</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Décisions reliées aux coûts et à la capacité.</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Preuves classées par compétence.</a:t>
            </a:r>
          </a:p>
        </p:txBody>
      </p:sp>
      <p:sp>
        <p:nvSpPr>
          <p:cNvPr id="5" name="">
            <a:extLst xmlns:a="http://schemas.openxmlformats.org/drawingml/2006/main">
              <a:ext uri="{FF2B5EF4-FFF2-40B4-BE49-F238E27FC236}">
                <a16:creationId xmlns:a16="http://schemas.microsoft.com/office/drawing/2014/main" id="{BE426A3C-5B6C-4D9A-BCCB-AD51C7BD1A42}"/>
              </a:ext>
            </a:extLst>
          </p:cNvPr>
          <p:cNvSpPr>
            <a:spLocks xmlns:a="http://schemas.openxmlformats.org/drawingml/2006/main" noGrp="1"/>
          </p:cNvSpPr>
          <p:nvPr/>
        </p:nvSpPr>
        <p:spPr>
          <a:xfrm xmlns:a="http://schemas.openxmlformats.org/drawingml/2006/main">
            <a:off x="63246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Limites explicites</a:t>
            </a:r>
          </a:p>
        </p:txBody>
      </p:sp>
      <p:sp>
        <p:nvSpPr>
          <p:cNvPr id="6" name="">
            <a:extLst xmlns:a="http://schemas.openxmlformats.org/drawingml/2006/main">
              <a:ext uri="{FF2B5EF4-FFF2-40B4-BE49-F238E27FC236}">
                <a16:creationId xmlns:a16="http://schemas.microsoft.com/office/drawing/2014/main" id="{FB0F88A4-6541-4066-91E5-885256D39B98}"/>
              </a:ext>
            </a:extLst>
          </p:cNvPr>
          <p:cNvSpPr>
            <a:spLocks xmlns:a="http://schemas.openxmlformats.org/drawingml/2006/main" noGrp="1"/>
          </p:cNvSpPr>
          <p:nvPr/>
        </p:nvSpPr>
        <p:spPr>
          <a:xfrm xmlns:a="http://schemas.openxmlformats.org/drawingml/2006/main">
            <a:off x="63246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Management et budget du cas fictif.</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Satisfaction réelle non mesurée.</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Contributions réelles à préciser.</a:t>
            </a:r>
          </a:p>
        </p:txBody>
      </p:sp>
    </p:spTree>
    <p:extLst>
      <p:ext uri="{BB962C8B-B14F-4D97-AF65-F5344CB8AC3E}">
        <p14:creationId xmlns:p14="http://schemas.microsoft.com/office/powerpoint/2010/main" val="14627703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BDDC5E-B242-4F2B-AFF6-FE74691FC5F8}"/>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Annexe : correspondance des preuves</a:t>
            </a:r>
          </a:p>
        </p:txBody>
      </p:sp>
      <p:sp>
        <p:nvSpPr>
          <p:cNvPr id="2" name="">
            <a:extLst xmlns:a="http://schemas.openxmlformats.org/drawingml/2006/main">
              <a:ext uri="{FF2B5EF4-FFF2-40B4-BE49-F238E27FC236}">
                <a16:creationId xmlns:a16="http://schemas.microsoft.com/office/drawing/2014/main" id="{88350565-5ADD-46FE-A646-53366899B50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Annexe pour les questions    Questions du jury    23</a:t>
            </a:r>
          </a:p>
        </p:txBody>
      </p:sp>
      <p:graphicFrame>
        <p:nvGraphicFramePr>
          <p:cNvPr id="6" name=""/>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a:tblGrid>
                <a:gridCol w="4381500"/>
                <a:gridCol w="6591300"/>
              </a:tblGrid>
              <a:tr h="819150">
                <a:tc>
                  <a:txBody>
                    <a:bodyPr/>
                    <a:lstStyle/>
                    <a:p>
                      <a:r>
                        <a:rPr sz="1800" b="1">
                          <a:solidFill>
                            <a:srgbClr val="FFFFFF"/>
                          </a:solidFill>
                          <a:latin typeface="Arial"/>
                          <a:ea typeface="Arial"/>
                          <a:cs typeface="Arial"/>
                        </a:rPr>
                        <a:t>Compétences</a:t>
                      </a:r>
                    </a:p>
                  </a:txBody>
                  <a:tcPr marL="91440" marR="91440" marT="45720" marB="45720">
                    <a:solidFill>
                      <a:srgbClr val="246B58"/>
                    </a:solidFill>
                  </a:tcPr>
                </a:tc>
                <a:tc>
                  <a:txBody>
                    <a:bodyPr/>
                    <a:lstStyle/>
                    <a:p>
                      <a:r>
                        <a:rPr sz="1800" b="1">
                          <a:solidFill>
                            <a:srgbClr val="FFFFFF"/>
                          </a:solidFill>
                          <a:latin typeface="Arial"/>
                          <a:ea typeface="Arial"/>
                          <a:cs typeface="Arial"/>
                        </a:rPr>
                        <a:t>Pièces de référence</a:t>
                      </a:r>
                    </a:p>
                  </a:txBody>
                  <a:tcPr marL="91440" marR="91440" marT="45720" marB="45720">
                    <a:solidFill>
                      <a:srgbClr val="246B58"/>
                    </a:solidFill>
                  </a:tcPr>
                </a:tc>
              </a:tr>
              <a:tr h="819150">
                <a:tc>
                  <a:txBody>
                    <a:bodyPr/>
                    <a:lstStyle/>
                    <a:p>
                      <a:r>
                        <a:rPr sz="1800" b="0">
                          <a:solidFill>
                            <a:srgbClr val="18312D"/>
                          </a:solidFill>
                          <a:latin typeface="Arial"/>
                          <a:ea typeface="Arial"/>
                          <a:cs typeface="Arial"/>
                        </a:rPr>
                        <a:t>C.3.1 et C3.2.1</a:t>
                      </a:r>
                    </a:p>
                  </a:txBody>
                  <a:tcPr marL="91440" marR="91440" marT="45720" marB="45720">
                    <a:solidFill>
                      <a:srgbClr val="EDF3EF"/>
                    </a:solidFill>
                  </a:tcPr>
                </a:tc>
                <a:tc>
                  <a:txBody>
                    <a:bodyPr/>
                    <a:lstStyle/>
                    <a:p>
                      <a:r>
                        <a:rPr sz="1800" b="0">
                          <a:solidFill>
                            <a:srgbClr val="18312D"/>
                          </a:solidFill>
                          <a:latin typeface="Arial"/>
                          <a:ea typeface="Arial"/>
                          <a:cs typeface="Arial"/>
                        </a:rPr>
                        <a:t>A01 à A03 et classeur</a:t>
                      </a:r>
                    </a:p>
                  </a:txBody>
                  <a:tcPr marL="91440" marR="91440" marT="45720" marB="45720">
                    <a:solidFill>
                      <a:srgbClr val="EDF3EF"/>
                    </a:solidFill>
                  </a:tcPr>
                </a:tc>
              </a:tr>
              <a:tr h="819150">
                <a:tc>
                  <a:txBody>
                    <a:bodyPr/>
                    <a:lstStyle/>
                    <a:p>
                      <a:r>
                        <a:rPr sz="1800" b="0">
                          <a:solidFill>
                            <a:srgbClr val="18312D"/>
                          </a:solidFill>
                          <a:latin typeface="Arial"/>
                          <a:ea typeface="Arial"/>
                          <a:cs typeface="Arial"/>
                        </a:rPr>
                        <a:t>C3.2.2</a:t>
                      </a:r>
                    </a:p>
                  </a:txBody>
                  <a:tcPr marL="91440" marR="91440" marT="45720" marB="45720">
                    <a:solidFill>
                      <a:srgbClr val="FFFFFF"/>
                    </a:solidFill>
                  </a:tcPr>
                </a:tc>
                <a:tc>
                  <a:txBody>
                    <a:bodyPr/>
                    <a:lstStyle/>
                    <a:p>
                      <a:r>
                        <a:rPr sz="1800" b="0">
                          <a:solidFill>
                            <a:srgbClr val="18312D"/>
                          </a:solidFill>
                          <a:latin typeface="Arial"/>
                          <a:ea typeface="Arial"/>
                          <a:cs typeface="Arial"/>
                        </a:rPr>
                        <a:t>A04 et commit 689e59d</a:t>
                      </a:r>
                    </a:p>
                  </a:txBody>
                  <a:tcPr marL="91440" marR="91440" marT="45720" marB="45720">
                    <a:solidFill>
                      <a:srgbClr val="FFFFFF"/>
                    </a:solidFill>
                  </a:tcPr>
                </a:tc>
              </a:tr>
              <a:tr h="819150">
                <a:tc>
                  <a:txBody>
                    <a:bodyPr/>
                    <a:lstStyle/>
                    <a:p>
                      <a:r>
                        <a:rPr sz="1800" b="0">
                          <a:solidFill>
                            <a:srgbClr val="18312D"/>
                          </a:solidFill>
                          <a:latin typeface="Arial"/>
                          <a:ea typeface="Arial"/>
                          <a:cs typeface="Arial"/>
                        </a:rPr>
                        <a:t>C3.3.1 et C3.3.2</a:t>
                      </a:r>
                    </a:p>
                  </a:txBody>
                  <a:tcPr marL="91440" marR="91440" marT="45720" marB="45720">
                    <a:solidFill>
                      <a:srgbClr val="EDF3EF"/>
                    </a:solidFill>
                  </a:tcPr>
                </a:tc>
                <a:tc>
                  <a:txBody>
                    <a:bodyPr/>
                    <a:lstStyle/>
                    <a:p>
                      <a:r>
                        <a:rPr sz="1800" b="0">
                          <a:solidFill>
                            <a:srgbClr val="18312D"/>
                          </a:solidFill>
                          <a:latin typeface="Arial"/>
                          <a:ea typeface="Arial"/>
                          <a:cs typeface="Arial"/>
                        </a:rPr>
                        <a:t>A05 et A06</a:t>
                      </a:r>
                    </a:p>
                  </a:txBody>
                  <a:tcPr marL="91440" marR="91440" marT="45720" marB="45720">
                    <a:solidFill>
                      <a:srgbClr val="EDF3EF"/>
                    </a:solidFill>
                  </a:tcPr>
                </a:tc>
              </a:tr>
              <a:tr h="819150">
                <a:tc>
                  <a:txBody>
                    <a:bodyPr/>
                    <a:lstStyle/>
                    <a:p>
                      <a:r>
                        <a:rPr sz="1800" b="0">
                          <a:solidFill>
                            <a:srgbClr val="18312D"/>
                          </a:solidFill>
                          <a:latin typeface="Arial"/>
                          <a:ea typeface="Arial"/>
                          <a:cs typeface="Arial"/>
                        </a:rPr>
                        <a:t>C3.4.1 et C3.4.2</a:t>
                      </a:r>
                    </a:p>
                  </a:txBody>
                  <a:tcPr marL="91440" marR="91440" marT="45720" marB="45720">
                    <a:solidFill>
                      <a:srgbClr val="FFFFFF"/>
                    </a:solidFill>
                  </a:tcPr>
                </a:tc>
                <a:tc>
                  <a:txBody>
                    <a:bodyPr/>
                    <a:lstStyle/>
                    <a:p>
                      <a:r>
                        <a:rPr sz="1800" b="0">
                          <a:solidFill>
                            <a:srgbClr val="18312D"/>
                          </a:solidFill>
                          <a:latin typeface="Arial"/>
                          <a:ea typeface="Arial"/>
                          <a:cs typeface="Arial"/>
                        </a:rPr>
                        <a:t>A07, A08 et vérifications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825302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E2DC87-2342-4B51-A0C1-DDEF592DC4C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Annexe : calcul de la prévision</a:t>
            </a:r>
          </a:p>
        </p:txBody>
      </p:sp>
      <p:sp>
        <p:nvSpPr>
          <p:cNvPr id="2" name="">
            <a:extLst xmlns:a="http://schemas.openxmlformats.org/drawingml/2006/main">
              <a:ext uri="{FF2B5EF4-FFF2-40B4-BE49-F238E27FC236}">
                <a16:creationId xmlns:a16="http://schemas.microsoft.com/office/drawing/2014/main" id="{DE0D2FFF-B23E-410B-BCFA-C4BAFF1FDC3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Annexe, données fictives en euros    Questions du jury    24</a:t>
            </a:r>
          </a:p>
        </p:txBody>
      </p:sp>
      <p:graphicFrame>
        <p:nvGraphicFramePr>
          <p:cNvPr id="6" name=""/>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a:tblGrid>
                <a:gridCol w="3524250"/>
                <a:gridCol w="5334000"/>
                <a:gridCol w="2114550"/>
              </a:tblGrid>
              <a:tr h="682625">
                <a:tc>
                  <a:txBody>
                    <a:bodyPr/>
                    <a:lstStyle/>
                    <a:p>
                      <a:r>
                        <a:rPr sz="1800" b="1">
                          <a:solidFill>
                            <a:srgbClr val="FFFFFF"/>
                          </a:solidFill>
                          <a:latin typeface="Arial"/>
                          <a:ea typeface="Arial"/>
                          <a:cs typeface="Arial"/>
                        </a:rPr>
                        <a:t>Poste</a:t>
                      </a:r>
                    </a:p>
                  </a:txBody>
                  <a:tcPr marL="91440" marR="91440" marT="45720" marB="45720">
                    <a:solidFill>
                      <a:srgbClr val="246B58"/>
                    </a:solidFill>
                  </a:tcPr>
                </a:tc>
                <a:tc>
                  <a:txBody>
                    <a:bodyPr/>
                    <a:lstStyle/>
                    <a:p>
                      <a:r>
                        <a:rPr sz="1800" b="1">
                          <a:solidFill>
                            <a:srgbClr val="FFFFFF"/>
                          </a:solidFill>
                          <a:latin typeface="Arial"/>
                          <a:ea typeface="Arial"/>
                          <a:cs typeface="Arial"/>
                        </a:rPr>
                        <a:t>Calcul</a:t>
                      </a:r>
                    </a:p>
                  </a:txBody>
                  <a:tcPr marL="91440" marR="91440" marT="45720" marB="45720">
                    <a:solidFill>
                      <a:srgbClr val="246B58"/>
                    </a:solidFill>
                  </a:tcPr>
                </a:tc>
                <a:tc>
                  <a:txBody>
                    <a:bodyPr/>
                    <a:lstStyle/>
                    <a:p>
                      <a:r>
                        <a:rPr sz="1800" b="1">
                          <a:solidFill>
                            <a:srgbClr val="FFFFFF"/>
                          </a:solidFill>
                          <a:latin typeface="Arial"/>
                          <a:ea typeface="Arial"/>
                          <a:cs typeface="Arial"/>
                        </a:rPr>
                        <a:t>Montant</a:t>
                      </a:r>
                    </a:p>
                  </a:txBody>
                  <a:tcPr marL="91440" marR="91440" marT="45720" marB="45720">
                    <a:solidFill>
                      <a:srgbClr val="246B58"/>
                    </a:solidFill>
                  </a:tcPr>
                </a:tc>
              </a:tr>
              <a:tr h="682625">
                <a:tc>
                  <a:txBody>
                    <a:bodyPr/>
                    <a:lstStyle/>
                    <a:p>
                      <a:r>
                        <a:rPr sz="1800" b="0">
                          <a:solidFill>
                            <a:srgbClr val="18312D"/>
                          </a:solidFill>
                          <a:latin typeface="Arial"/>
                          <a:ea typeface="Arial"/>
                          <a:cs typeface="Arial"/>
                        </a:rPr>
                        <a:t>Chef de projet</a:t>
                      </a:r>
                    </a:p>
                  </a:txBody>
                  <a:tcPr marL="91440" marR="91440" marT="45720" marB="45720">
                    <a:solidFill>
                      <a:srgbClr val="EDF3EF"/>
                    </a:solidFill>
                  </a:tcPr>
                </a:tc>
                <a:tc>
                  <a:txBody>
                    <a:bodyPr/>
                    <a:lstStyle/>
                    <a:p>
                      <a:r>
                        <a:rPr sz="1800" b="0">
                          <a:solidFill>
                            <a:srgbClr val="18312D"/>
                          </a:solidFill>
                          <a:latin typeface="Arial"/>
                          <a:ea typeface="Arial"/>
                          <a:cs typeface="Arial"/>
                        </a:rPr>
                        <a:t>29 h × 45 €</a:t>
                      </a:r>
                    </a:p>
                  </a:txBody>
                  <a:tcPr marL="91440" marR="91440" marT="45720" marB="45720">
                    <a:solidFill>
                      <a:srgbClr val="EDF3EF"/>
                    </a:solidFill>
                  </a:tcPr>
                </a:tc>
                <a:tc>
                  <a:txBody>
                    <a:bodyPr/>
                    <a:lstStyle/>
                    <a:p>
                      <a:r>
                        <a:rPr sz="1800" b="0">
                          <a:solidFill>
                            <a:srgbClr val="18312D"/>
                          </a:solidFill>
                          <a:latin typeface="Arial"/>
                          <a:ea typeface="Arial"/>
                          <a:cs typeface="Arial"/>
                        </a:rPr>
                        <a:t>1 305 €</a:t>
                      </a:r>
                    </a:p>
                  </a:txBody>
                  <a:tcPr marL="91440" marR="91440" marT="45720" marB="45720">
                    <a:solidFill>
                      <a:srgbClr val="EDF3EF"/>
                    </a:solidFill>
                  </a:tcPr>
                </a:tc>
              </a:tr>
              <a:tr h="682625">
                <a:tc>
                  <a:txBody>
                    <a:bodyPr/>
                    <a:lstStyle/>
                    <a:p>
                      <a:r>
                        <a:rPr sz="1800" b="0">
                          <a:solidFill>
                            <a:srgbClr val="18312D"/>
                          </a:solidFill>
                          <a:latin typeface="Arial"/>
                          <a:ea typeface="Arial"/>
                          <a:cs typeface="Arial"/>
                        </a:rPr>
                        <a:t>Développement</a:t>
                      </a:r>
                    </a:p>
                  </a:txBody>
                  <a:tcPr marL="91440" marR="91440" marT="45720" marB="45720">
                    <a:solidFill>
                      <a:srgbClr val="FFFFFF"/>
                    </a:solidFill>
                  </a:tcPr>
                </a:tc>
                <a:tc>
                  <a:txBody>
                    <a:bodyPr/>
                    <a:lstStyle/>
                    <a:p>
                      <a:r>
                        <a:rPr sz="1800" b="0">
                          <a:solidFill>
                            <a:srgbClr val="18312D"/>
                          </a:solidFill>
                          <a:latin typeface="Arial"/>
                          <a:ea typeface="Arial"/>
                          <a:cs typeface="Arial"/>
                        </a:rPr>
                        <a:t>64 h × 35 €</a:t>
                      </a:r>
                    </a:p>
                  </a:txBody>
                  <a:tcPr marL="91440" marR="91440" marT="45720" marB="45720">
                    <a:solidFill>
                      <a:srgbClr val="FFFFFF"/>
                    </a:solidFill>
                  </a:tcPr>
                </a:tc>
                <a:tc>
                  <a:txBody>
                    <a:bodyPr/>
                    <a:lstStyle/>
                    <a:p>
                      <a:r>
                        <a:rPr sz="1800" b="0">
                          <a:solidFill>
                            <a:srgbClr val="18312D"/>
                          </a:solidFill>
                          <a:latin typeface="Arial"/>
                          <a:ea typeface="Arial"/>
                          <a:cs typeface="Arial"/>
                        </a:rPr>
                        <a:t>2 240 €</a:t>
                      </a:r>
                    </a:p>
                  </a:txBody>
                  <a:tcPr marL="91440" marR="91440" marT="45720" marB="45720">
                    <a:solidFill>
                      <a:srgbClr val="FFFFFF"/>
                    </a:solidFill>
                  </a:tcPr>
                </a:tc>
              </a:tr>
              <a:tr h="682625">
                <a:tc>
                  <a:txBody>
                    <a:bodyPr/>
                    <a:lstStyle/>
                    <a:p>
                      <a:r>
                        <a:rPr sz="1800" b="0">
                          <a:solidFill>
                            <a:srgbClr val="18312D"/>
                          </a:solidFill>
                          <a:latin typeface="Arial"/>
                          <a:ea typeface="Arial"/>
                          <a:cs typeface="Arial"/>
                        </a:rPr>
                        <a:t>Recette</a:t>
                      </a:r>
                    </a:p>
                  </a:txBody>
                  <a:tcPr marL="91440" marR="91440" marT="45720" marB="45720">
                    <a:solidFill>
                      <a:srgbClr val="EDF3EF"/>
                    </a:solidFill>
                  </a:tcPr>
                </a:tc>
                <a:tc>
                  <a:txBody>
                    <a:bodyPr/>
                    <a:lstStyle/>
                    <a:p>
                      <a:r>
                        <a:rPr sz="1800" b="0">
                          <a:solidFill>
                            <a:srgbClr val="18312D"/>
                          </a:solidFill>
                          <a:latin typeface="Arial"/>
                          <a:ea typeface="Arial"/>
                          <a:cs typeface="Arial"/>
                        </a:rPr>
                        <a:t>24 h × 30 €</a:t>
                      </a:r>
                    </a:p>
                  </a:txBody>
                  <a:tcPr marL="91440" marR="91440" marT="45720" marB="45720">
                    <a:solidFill>
                      <a:srgbClr val="EDF3EF"/>
                    </a:solidFill>
                  </a:tcPr>
                </a:tc>
                <a:tc>
                  <a:txBody>
                    <a:bodyPr/>
                    <a:lstStyle/>
                    <a:p>
                      <a:r>
                        <a:rPr sz="1800" b="0">
                          <a:solidFill>
                            <a:srgbClr val="18312D"/>
                          </a:solidFill>
                          <a:latin typeface="Arial"/>
                          <a:ea typeface="Arial"/>
                          <a:cs typeface="Arial"/>
                        </a:rPr>
                        <a:t>720 €</a:t>
                      </a:r>
                    </a:p>
                  </a:txBody>
                  <a:tcPr marL="91440" marR="91440" marT="45720" marB="45720">
                    <a:solidFill>
                      <a:srgbClr val="EDF3EF"/>
                    </a:solidFill>
                  </a:tcPr>
                </a:tc>
              </a:tr>
              <a:tr h="682625">
                <a:tc>
                  <a:txBody>
                    <a:bodyPr/>
                    <a:lstStyle/>
                    <a:p>
                      <a:r>
                        <a:rPr sz="1800" b="0">
                          <a:solidFill>
                            <a:srgbClr val="18312D"/>
                          </a:solidFill>
                          <a:latin typeface="Arial"/>
                          <a:ea typeface="Arial"/>
                          <a:cs typeface="Arial"/>
                        </a:rPr>
                        <a:t>Frais prévisionnels</a:t>
                      </a:r>
                    </a:p>
                  </a:txBody>
                  <a:tcPr marL="91440" marR="91440" marT="45720" marB="45720">
                    <a:solidFill>
                      <a:srgbClr val="FFFFFF"/>
                    </a:solidFill>
                  </a:tcPr>
                </a:tc>
                <a:tc>
                  <a:txBody>
                    <a:bodyPr/>
                    <a:lstStyle/>
                    <a:p>
                      <a:r>
                        <a:rPr sz="1800" b="0">
                          <a:solidFill>
                            <a:srgbClr val="18312D"/>
                          </a:solidFill>
                          <a:latin typeface="Arial"/>
                          <a:ea typeface="Arial"/>
                          <a:cs typeface="Arial"/>
                        </a:rPr>
                        <a:t>Infrastructure et formation</a:t>
                      </a:r>
                    </a:p>
                  </a:txBody>
                  <a:tcPr marL="91440" marR="91440" marT="45720" marB="45720">
                    <a:solidFill>
                      <a:srgbClr val="FFFFFF"/>
                    </a:solidFill>
                  </a:tcPr>
                </a:tc>
                <a:tc>
                  <a:txBody>
                    <a:bodyPr/>
                    <a:lstStyle/>
                    <a:p>
                      <a:r>
                        <a:rPr sz="1800" b="0">
                          <a:solidFill>
                            <a:srgbClr val="18312D"/>
                          </a:solidFill>
                          <a:latin typeface="Arial"/>
                          <a:ea typeface="Arial"/>
                          <a:cs typeface="Arial"/>
                        </a:rPr>
                        <a:t>200 €</a:t>
                      </a:r>
                    </a:p>
                  </a:txBody>
                  <a:tcPr marL="91440" marR="91440" marT="45720" marB="45720">
                    <a:solidFill>
                      <a:srgbClr val="FFFFFF"/>
                    </a:solidFill>
                  </a:tcPr>
                </a:tc>
              </a:tr>
              <a:tr h="682625">
                <a:tc>
                  <a:txBody>
                    <a:bodyPr/>
                    <a:lstStyle/>
                    <a:p>
                      <a:r>
                        <a:rPr sz="1800" b="0">
                          <a:solidFill>
                            <a:srgbClr val="18312D"/>
                          </a:solidFill>
                          <a:latin typeface="Arial"/>
                          <a:ea typeface="Arial"/>
                          <a:cs typeface="Arial"/>
                        </a:rPr>
                        <a:t>Total à terminaison</a:t>
                      </a:r>
                    </a:p>
                  </a:txBody>
                  <a:tcPr marL="91440" marR="91440" marT="45720" marB="45720">
                    <a:solidFill>
                      <a:srgbClr val="EDF3EF"/>
                    </a:solidFill>
                  </a:tcPr>
                </a:tc>
                <a:tc>
                  <a:txBody>
                    <a:bodyPr/>
                    <a:lstStyle/>
                    <a:p>
                      <a:r>
                        <a:rPr sz="1800" b="0">
                          <a:solidFill>
                            <a:srgbClr val="18312D"/>
                          </a:solidFill>
                          <a:latin typeface="Arial"/>
                          <a:ea typeface="Arial"/>
                          <a:cs typeface="Arial"/>
                        </a:rPr>
                        <a:t>Travail et frais</a:t>
                      </a:r>
                    </a:p>
                  </a:txBody>
                  <a:tcPr marL="91440" marR="91440" marT="45720" marB="45720">
                    <a:solidFill>
                      <a:srgbClr val="EDF3EF"/>
                    </a:solidFill>
                  </a:tcPr>
                </a:tc>
                <a:tc>
                  <a:txBody>
                    <a:bodyPr/>
                    <a:lstStyle/>
                    <a:p>
                      <a:r>
                        <a:rPr sz="1800" b="0">
                          <a:solidFill>
                            <a:srgbClr val="18312D"/>
                          </a:solidFill>
                          <a:latin typeface="Arial"/>
                          <a:ea typeface="Arial"/>
                          <a:cs typeface="Arial"/>
                        </a:rPr>
                        <a:t>4 465 €</a:t>
                      </a:r>
                    </a:p>
                  </a:txBody>
                  <a:tcPr marL="91440" marR="91440" marT="45720" marB="45720">
                    <a:solidFill>
                      <a:srgbClr val="EDF3EF"/>
                    </a:solidFill>
                  </a:tcPr>
                </a:tc>
              </a:tr>
            </a:tbl>
          </a:graphicData>
        </a:graphic>
      </p:graphicFrame>
    </p:spTree>
    <p:extLst>
      <p:ext uri="{BB962C8B-B14F-4D97-AF65-F5344CB8AC3E}">
        <p14:creationId xmlns:p14="http://schemas.microsoft.com/office/powerpoint/2010/main" val="13786852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AC3CEE-3861-4CC7-8CD8-F3AB4B28FCC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Annexe : sources et portée des contrôles</a:t>
            </a:r>
          </a:p>
        </p:txBody>
      </p:sp>
      <p:sp>
        <p:nvSpPr>
          <p:cNvPr id="2" name="">
            <a:extLst xmlns:a="http://schemas.openxmlformats.org/drawingml/2006/main">
              <a:ext uri="{FF2B5EF4-FFF2-40B4-BE49-F238E27FC236}">
                <a16:creationId xmlns:a16="http://schemas.microsoft.com/office/drawing/2014/main" id="{69889BA0-1ABF-4D6B-B608-9CD4101B671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5F"/>
                </a:solidFill>
                <a:latin typeface="Arial"/>
                <a:ea typeface="Arial"/>
                <a:cs typeface="Arial"/>
              </a:defRPr>
            </a:pPr>
            <a:r>
              <a:rPr sz="1200" b="0">
                <a:solidFill>
                  <a:srgbClr val="56665F"/>
                </a:solidFill>
                <a:latin typeface="Arial"/>
                <a:ea typeface="Arial"/>
                <a:cs typeface="Arial"/>
              </a:rPr>
              <a:t>Annexe documentaire    Questions du jury    25</a:t>
            </a:r>
          </a:p>
        </p:txBody>
      </p:sp>
      <p:sp>
        <p:nvSpPr>
          <p:cNvPr id="3" name="">
            <a:extLst xmlns:a="http://schemas.openxmlformats.org/drawingml/2006/main">
              <a:ext uri="{FF2B5EF4-FFF2-40B4-BE49-F238E27FC236}">
                <a16:creationId xmlns:a16="http://schemas.microsoft.com/office/drawing/2014/main" id="{2A21A575-464C-4143-9467-BE288F494186}"/>
              </a:ext>
            </a:extLst>
          </p:cNvPr>
          <p:cNvSpPr>
            <a:spLocks xmlns:a="http://schemas.openxmlformats.org/drawingml/2006/main" noGrp="1"/>
          </p:cNvSpPr>
          <p:nvPr/>
        </p:nvSpPr>
        <p:spPr>
          <a:xfrm xmlns:a="http://schemas.openxmlformats.org/drawingml/2006/main">
            <a:off x="6858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Cadre officiel</a:t>
            </a:r>
          </a:p>
        </p:txBody>
      </p:sp>
      <p:sp>
        <p:nvSpPr>
          <p:cNvPr id="4" name="">
            <a:extLst xmlns:a="http://schemas.openxmlformats.org/drawingml/2006/main">
              <a:ext uri="{FF2B5EF4-FFF2-40B4-BE49-F238E27FC236}">
                <a16:creationId xmlns:a16="http://schemas.microsoft.com/office/drawing/2014/main" id="{C362DA45-9CE1-4374-9A57-E928FF34AEDF}"/>
              </a:ext>
            </a:extLst>
          </p:cNvPr>
          <p:cNvSpPr>
            <a:spLocks xmlns:a="http://schemas.openxmlformats.org/drawingml/2006/main" noGrp="1"/>
          </p:cNvSpPr>
          <p:nvPr/>
        </p:nvSpPr>
        <p:spPr>
          <a:xfrm xmlns:a="http://schemas.openxmlformats.org/drawingml/2006/main">
            <a:off x="6858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Référentiel RNCP39583, pages 11 à 14.</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Modalités 2025–2026, pages 6, 8 et 11.</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Grille BC03, page unique.</a:t>
            </a:r>
          </a:p>
        </p:txBody>
      </p:sp>
      <p:sp>
        <p:nvSpPr>
          <p:cNvPr id="5" name="">
            <a:extLst xmlns:a="http://schemas.openxmlformats.org/drawingml/2006/main">
              <a:ext uri="{FF2B5EF4-FFF2-40B4-BE49-F238E27FC236}">
                <a16:creationId xmlns:a16="http://schemas.microsoft.com/office/drawing/2014/main" id="{15976EAF-011C-4E52-91C2-F4CD6BDAB27D}"/>
              </a:ext>
            </a:extLst>
          </p:cNvPr>
          <p:cNvSpPr>
            <a:spLocks xmlns:a="http://schemas.openxmlformats.org/drawingml/2006/main" noGrp="1"/>
          </p:cNvSpPr>
          <p:nvPr/>
        </p:nvSpPr>
        <p:spPr>
          <a:xfrm xmlns:a="http://schemas.openxmlformats.org/drawingml/2006/main">
            <a:off x="6324600" y="20002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6B58"/>
                </a:solidFill>
                <a:latin typeface="Arial"/>
                <a:ea typeface="Arial"/>
                <a:cs typeface="Arial"/>
              </a:defRPr>
            </a:pPr>
            <a:r>
              <a:rPr sz="2325" b="1">
                <a:solidFill>
                  <a:srgbClr val="246B58"/>
                </a:solidFill>
                <a:latin typeface="Arial"/>
                <a:ea typeface="Arial"/>
                <a:cs typeface="Arial"/>
              </a:rPr>
              <a:t>Vérifications du 14 septembre</a:t>
            </a:r>
          </a:p>
        </p:txBody>
      </p:sp>
      <p:sp>
        <p:nvSpPr>
          <p:cNvPr id="6" name="">
            <a:extLst xmlns:a="http://schemas.openxmlformats.org/drawingml/2006/main">
              <a:ext uri="{FF2B5EF4-FFF2-40B4-BE49-F238E27FC236}">
                <a16:creationId xmlns:a16="http://schemas.microsoft.com/office/drawing/2014/main" id="{DEFB8B86-79E6-4C6D-BA21-9AF835B82723}"/>
              </a:ext>
            </a:extLst>
          </p:cNvPr>
          <p:cNvSpPr>
            <a:spLocks xmlns:a="http://schemas.openxmlformats.org/drawingml/2006/main" noGrp="1"/>
          </p:cNvSpPr>
          <p:nvPr/>
        </p:nvSpPr>
        <p:spPr>
          <a:xfrm xmlns:a="http://schemas.openxmlformats.org/drawingml/2006/main">
            <a:off x="6324600" y="3000375"/>
            <a:ext cx="4953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389 tests unitaires et 6 scénarios navigateur.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Recette locale sur next dev et MariaDB dédiée.</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Aucune validation par un client réel.</a:t>
            </a:r>
          </a:p>
        </p:txBody>
      </p:sp>
    </p:spTree>
    <p:extLst>
      <p:ext uri="{BB962C8B-B14F-4D97-AF65-F5344CB8AC3E}">
        <p14:creationId xmlns:p14="http://schemas.microsoft.com/office/powerpoint/2010/main" val="988752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2026-09-14T08:32:11.4120000Z</dcterms:created>
  <dcterms:modified xsi:type="dcterms:W3CDTF">2026-09-14T08:32:11.4130000Z</dcterms:modified>
</coreProperties>
</file>