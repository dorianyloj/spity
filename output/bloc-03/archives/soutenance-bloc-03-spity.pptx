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cafc19161749cf" /><Relationship Type="http://schemas.openxmlformats.org/officeDocument/2006/relationships/extended-properties" Target="/docProps/app.xml" Id="R4a938be237bb44e9" /><Relationship Type="http://schemas.openxmlformats.org/officeDocument/2006/relationships/officeDocument" Target="/ppt/presentation.xml" Id="R0d853c93e6584e7d" /></Relationships>
</file>

<file path=ppt/presentation.xml><?xml version="1.0" encoding="utf-8"?>
<p:presentation xmlns:p="http://schemas.openxmlformats.org/presentationml/2006/main">
  <p:sldMasterIdLst>
    <p:sldMasterId xmlns:r="http://schemas.openxmlformats.org/officeDocument/2006/relationships" id="2147483648" r:id="Rc4c3d364dbba4e32"/>
  </p:sldMasterIdLst>
  <p:notesMasterIdLst>
    <p:notesMasterId xmlns:r="http://schemas.openxmlformats.org/officeDocument/2006/relationships" r:id="Rbfd683c1005142bd"/>
  </p:notesMasterIdLst>
  <p:sldIdLst>
    <p:sldId xmlns:r="http://schemas.openxmlformats.org/officeDocument/2006/relationships" id="256" r:id="R48c9346c11bd4e53"/>
    <p:sldId xmlns:r="http://schemas.openxmlformats.org/officeDocument/2006/relationships" id="257" r:id="R2a44ed3795b2430c"/>
    <p:sldId xmlns:r="http://schemas.openxmlformats.org/officeDocument/2006/relationships" id="258" r:id="R1a4470c5dc13400d"/>
    <p:sldId xmlns:r="http://schemas.openxmlformats.org/officeDocument/2006/relationships" id="259" r:id="Re55e2c9724384af2"/>
    <p:sldId xmlns:r="http://schemas.openxmlformats.org/officeDocument/2006/relationships" id="260" r:id="Ra7635fb8f68c4443"/>
    <p:sldId xmlns:r="http://schemas.openxmlformats.org/officeDocument/2006/relationships" id="261" r:id="R9a737b00569f4463"/>
    <p:sldId xmlns:r="http://schemas.openxmlformats.org/officeDocument/2006/relationships" id="262" r:id="R34d627165ea14880"/>
    <p:sldId xmlns:r="http://schemas.openxmlformats.org/officeDocument/2006/relationships" id="263" r:id="Re339d01688db4b44"/>
    <p:sldId xmlns:r="http://schemas.openxmlformats.org/officeDocument/2006/relationships" id="264" r:id="Ra17055ebc69f4e4f"/>
    <p:sldId xmlns:r="http://schemas.openxmlformats.org/officeDocument/2006/relationships" id="265" r:id="R22c618d41ac94ef0"/>
    <p:sldId xmlns:r="http://schemas.openxmlformats.org/officeDocument/2006/relationships" id="266" r:id="Re674a676a2c6480c"/>
    <p:sldId xmlns:r="http://schemas.openxmlformats.org/officeDocument/2006/relationships" id="267" r:id="R176610854d1a4c49"/>
    <p:sldId xmlns:r="http://schemas.openxmlformats.org/officeDocument/2006/relationships" id="268" r:id="R69320e402bba4e9e"/>
    <p:sldId xmlns:r="http://schemas.openxmlformats.org/officeDocument/2006/relationships" id="269" r:id="Rca3adf3ce6784240"/>
    <p:sldId xmlns:r="http://schemas.openxmlformats.org/officeDocument/2006/relationships" id="270" r:id="Rf7110d9a42eb4b4c"/>
    <p:sldId xmlns:r="http://schemas.openxmlformats.org/officeDocument/2006/relationships" id="271" r:id="R81db4abd62384c28"/>
    <p:sldId xmlns:r="http://schemas.openxmlformats.org/officeDocument/2006/relationships" id="272" r:id="R608fc564eeec4cdb"/>
    <p:sldId xmlns:r="http://schemas.openxmlformats.org/officeDocument/2006/relationships" id="273" r:id="Rdf07b63265ab48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d8b86a125a4c70" /><Relationship Type="http://schemas.openxmlformats.org/officeDocument/2006/relationships/slideMaster" Target="/ppt/slideMasters/slideMaster1.xml" Id="Rc4c3d364dbba4e32" /><Relationship Type="http://schemas.openxmlformats.org/officeDocument/2006/relationships/notesMaster" Target="/ppt/notesMasters/notesMaster1.xml" Id="Rbfd683c1005142bd" /><Relationship Type="http://schemas.openxmlformats.org/officeDocument/2006/relationships/presProps" Target="/ppt/presProps.xml" Id="Rb07c2542c58541bd" /><Relationship Type="http://schemas.openxmlformats.org/officeDocument/2006/relationships/tableStyles" Target="/ppt/tableStyles.xml" Id="R60c7aa985e0f4a91" /><Relationship Type="http://schemas.openxmlformats.org/officeDocument/2006/relationships/slide" Target="/ppt/slides/slide1.xml" Id="R48c9346c11bd4e53" /><Relationship Type="http://schemas.openxmlformats.org/officeDocument/2006/relationships/slide" Target="/ppt/slides/slide2.xml" Id="R2a44ed3795b2430c" /><Relationship Type="http://schemas.openxmlformats.org/officeDocument/2006/relationships/slide" Target="/ppt/slides/slide3.xml" Id="R1a4470c5dc13400d" /><Relationship Type="http://schemas.openxmlformats.org/officeDocument/2006/relationships/slide" Target="/ppt/slides/slide4.xml" Id="Re55e2c9724384af2" /><Relationship Type="http://schemas.openxmlformats.org/officeDocument/2006/relationships/slide" Target="/ppt/slides/slide5.xml" Id="Ra7635fb8f68c4443" /><Relationship Type="http://schemas.openxmlformats.org/officeDocument/2006/relationships/slide" Target="/ppt/slides/slide6.xml" Id="R9a737b00569f4463" /><Relationship Type="http://schemas.openxmlformats.org/officeDocument/2006/relationships/slide" Target="/ppt/slides/slide7.xml" Id="R34d627165ea14880" /><Relationship Type="http://schemas.openxmlformats.org/officeDocument/2006/relationships/slide" Target="/ppt/slides/slide8.xml" Id="Re339d01688db4b44" /><Relationship Type="http://schemas.openxmlformats.org/officeDocument/2006/relationships/slide" Target="/ppt/slides/slide9.xml" Id="Ra17055ebc69f4e4f" /><Relationship Type="http://schemas.openxmlformats.org/officeDocument/2006/relationships/slide" Target="/ppt/slides/slide10.xml" Id="R22c618d41ac94ef0" /><Relationship Type="http://schemas.openxmlformats.org/officeDocument/2006/relationships/slide" Target="/ppt/slides/slide11.xml" Id="Re674a676a2c6480c" /><Relationship Type="http://schemas.openxmlformats.org/officeDocument/2006/relationships/slide" Target="/ppt/slides/slide12.xml" Id="R176610854d1a4c49" /><Relationship Type="http://schemas.openxmlformats.org/officeDocument/2006/relationships/slide" Target="/ppt/slides/slide13.xml" Id="R69320e402bba4e9e" /><Relationship Type="http://schemas.openxmlformats.org/officeDocument/2006/relationships/slide" Target="/ppt/slides/slide14.xml" Id="Rca3adf3ce6784240" /><Relationship Type="http://schemas.openxmlformats.org/officeDocument/2006/relationships/slide" Target="/ppt/slides/slide15.xml" Id="Rf7110d9a42eb4b4c" /><Relationship Type="http://schemas.openxmlformats.org/officeDocument/2006/relationships/slide" Target="/ppt/slides/slide16.xml" Id="R81db4abd62384c28" /><Relationship Type="http://schemas.openxmlformats.org/officeDocument/2006/relationships/slide" Target="/ppt/slides/slide17.xml" Id="R608fc564eeec4cdb" /><Relationship Type="http://schemas.openxmlformats.org/officeDocument/2006/relationships/slide" Target="/ppt/slides/slide18.xml" Id="Rdf07b63265ab48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6ee06818f044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98f826bc5c4158" /><Relationship Type="http://schemas.openxmlformats.org/officeDocument/2006/relationships/notesMaster" Target="/ppt/notesMasters/notesMaster1.xml" Id="R5a4ddbc398984a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7e0f799d1b4b09" /><Relationship Type="http://schemas.openxmlformats.org/officeDocument/2006/relationships/notesMaster" Target="/ppt/notesMasters/notesMaster1.xml" Id="Re387a25d34cc42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e135b9b9934093" /><Relationship Type="http://schemas.openxmlformats.org/officeDocument/2006/relationships/notesMaster" Target="/ppt/notesMasters/notesMaster1.xml" Id="R7865574f9a5844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f6befeb94948a5" /><Relationship Type="http://schemas.openxmlformats.org/officeDocument/2006/relationships/notesMaster" Target="/ppt/notesMasters/notesMaster1.xml" Id="R3f8e1b7a395342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1495f4dfee4bb1" /><Relationship Type="http://schemas.openxmlformats.org/officeDocument/2006/relationships/notesMaster" Target="/ppt/notesMasters/notesMaster1.xml" Id="R1251f7d9c59e42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1094de14e34b53" /><Relationship Type="http://schemas.openxmlformats.org/officeDocument/2006/relationships/notesMaster" Target="/ppt/notesMasters/notesMaster1.xml" Id="R295a321f82204b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dec8fd7d034816" /><Relationship Type="http://schemas.openxmlformats.org/officeDocument/2006/relationships/notesMaster" Target="/ppt/notesMasters/notesMaster1.xml" Id="Reb37166a1e614e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280f36c24b40b6" /><Relationship Type="http://schemas.openxmlformats.org/officeDocument/2006/relationships/notesMaster" Target="/ppt/notesMasters/notesMaster1.xml" Id="R2d8109592b914c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b55d2b379b4e91" /><Relationship Type="http://schemas.openxmlformats.org/officeDocument/2006/relationships/notesMaster" Target="/ppt/notesMasters/notesMaster1.xml" Id="Rfd0be6dfd75d4b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37af9a09754356" /><Relationship Type="http://schemas.openxmlformats.org/officeDocument/2006/relationships/notesMaster" Target="/ppt/notesMasters/notesMaster1.xml" Id="R20893e7ff94240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c5296f6fcc4985" /><Relationship Type="http://schemas.openxmlformats.org/officeDocument/2006/relationships/notesMaster" Target="/ppt/notesMasters/notesMaster1.xml" Id="Rfd079d72e28b47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7a801f8442492a" /><Relationship Type="http://schemas.openxmlformats.org/officeDocument/2006/relationships/notesMaster" Target="/ppt/notesMasters/notesMaster1.xml" Id="R44046c169a9547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3d216ef0914151" /><Relationship Type="http://schemas.openxmlformats.org/officeDocument/2006/relationships/notesMaster" Target="/ppt/notesMasters/notesMaster1.xml" Id="Raf9d4fa9004a49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33ce5faa1b4bb4" /><Relationship Type="http://schemas.openxmlformats.org/officeDocument/2006/relationships/notesMaster" Target="/ppt/notesMasters/notesMaster1.xml" Id="R66f6ea84616547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b1e4b852c64ecb" /><Relationship Type="http://schemas.openxmlformats.org/officeDocument/2006/relationships/notesMaster" Target="/ppt/notesMasters/notesMaster1.xml" Id="R276570a5a7d343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9d0988887e46a4" /><Relationship Type="http://schemas.openxmlformats.org/officeDocument/2006/relationships/notesMaster" Target="/ppt/notesMasters/notesMaster1.xml" Id="Race708495fbd44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249cf3a08744cb" /><Relationship Type="http://schemas.openxmlformats.org/officeDocument/2006/relationships/notesMaster" Target="/ppt/notesMasters/notesMaster1.xml" Id="Rc4e612fa4cae467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57878dd4914d82" /><Relationship Type="http://schemas.openxmlformats.org/officeDocument/2006/relationships/notesMaster" Target="/ppt/notesMasters/notesMaster1.xml" Id="Rf79281f0c7d744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30 secondes. Présenter le sujet et annoncer le fil conducteur : organiser une sortie avec un partenaire et un club. La présentation combine le logiciel et ses traces réelles avec un cas pédagogique de pilotage explicitement fictif. Ne pas présenter les rôles fictifs comme des collègues réels. Source : référentiel Bloc 3 p. 11-14. Visuel : fichier de marque existant du dépôt Spity, utilisé comme illustration et non comme photo de l’équipe.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1 min 30. Expliquer les deux utilisateurs, grimpeur et club. Le grimpeur recherche un partenaire et un événement ; le club gère sa sortie et ses participants. Les critères sont le matching, la traçabilité de la demande, la capacité et les droits du club. Distinguer la partie observée, la partie historique et la simulation. Les comptes de démonstration ne sont pas des personnes interrogées. Sources : dossier §1-2 ; cahier de recettes Bloc 2 ; vérification courante.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1 min 30. Le choix Kanban est proposé pour un petit effectif et un flux variable. Deux tâches de réalisation simultanées au maximum rendent les blocages visibles. La définition de terminé inclut les critères, la revue et la recette. Expliquer pourquoi ne pas affirmer avoir pratiqué Scrum si cela n’est pas documenté. Linear sert au backlog, Git aux changements et le classeur au pilotage chiffré. Source : dossier §3 et A01.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1 min 30. Présenter les jours relatifs J1 à J15 sans leur attribuer des dates historiques. Distinguer phases d’étude, mesure, conception, réalisation et restitution. La recette commence sur les fonctions prêtes et se clôt après les événements et les corrections. Les fins initiales et revues sont conservées dans le classeur. Le chemin vers la démonstration passe par la validation à J14. Source : A01 et donnees/pilotage.json.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1 minute. Présenter CP, DEV et QA comme des rôles du scénario. Un seul A par activité. Le client décide du périmètre ; le chef de projet organise ; DEV réalise ; QA contrôle. Les disponibilités sont des hypothèses sur le lot, pas des temps historiques. Les ressources comprennent la machine, Node, MariaDB, Git, le backlog et les supports partagés. L’organisation prévoit des supports accessibles et des aménagements convenus avec les personnes. Source : A02.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2 minutes. Expliquer chaque indicateur avec son dénominateur : cinq tâches terminées sur dix, avec des tailles différentes. Les 77 heures consommées ne sont pas un taux d’achèvement. Le reste à faire de 40 heures donne une prévision de 117 heures pour 112 prévues. Le budget économique passe de 4 270 à 4 465 euros, soit +195 euros et +4,6 %. La réserve de 427 euros donne un plafond de 4 697 euros et une marge de 232 euros. Modifier une entrée du classeur pendant les questions pour montrer le recalcul. Sources : A03, classeur, données du 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2 minutes. La charge par rôle vaut CP 29/30 h, DEV 64/72 h et QA 24/30 h. La capacité totale ne peut pas être déplacée sans vérifier les compétences. CP est proche de sa limite et doit préserver son temps d’arbitrage. Les risques prioritaires portent sur l’environnement de démonstration, la surcharge et les demandes nouvelles. Donner un déclencheur et une action, pas seulement une couleur. Une revue quotidienne traite les blocages ; deux revues hebdomadaires examinent coûts et capacité. Source : A03 et A05.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2 minutes. Le commit 689e59d du 20 juillet remplace la recette CI en développement par le serveur standalone du build. Le dossier historique rapporte l’échec d’un run pendant les compilations à froid, puis la réussite après consolidation. La comparaison des trois options est rétrospective : elle n’est pas présentée comme un compte rendu contemporain. La décision visible dans Git est le standalone. Le résultat recherché est la fidélité à l’artefact de livraison. Source : git show 689e59d ; cahier de recettes Bloc 2, consolidation standalone.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1 minute. Une demande supplémentaire fictive vaut 12 h DEV et 4 h QA, soit 540 euros. Elle porte le coût à 5 005 euros et la charge DEV à 76 heures pour 72 disponibles. Le scénario retient le report, avec maintien des critères de recette et décision du client fictif dans CR02. Les contributions aux topos évoquées sont un lot pédagogique ; ne pas les présenter comme une photographie de l’état actuel du code. Source : A04 et CR02.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2 minutes. Expliquer une posture avec des actes : écouter les contraintes, comparer les options, décider et suivre. Participatif pour estimer, persuasif pour argumenter le report, directif sur une règle critique, délégatif avec un résultat et un contrôle clairs. Ne pas confondre délégation et absence de suivi. Le management est un exercice fictif, et les collaborateurs réels restent à préciser par le candidat. Source : A05.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2 minutes. Décrire le désaccord DEV/QA à J10 : une nouvelle fonction face au besoin de stabiliser la recette. Demander faits, impacts et aide nécessaire. La réunion est courte, les options sont préparées et le client décide du périmètre. La synthèse écrite garantit la traçabilité. Donner les adaptations possibles sans inventer un handicap réel : sous-titrage, support structuré, temps supplémentaire, travail asynchrone. Dans un contexte international, indiquer les fuseaux et vérifier la compréhension par reformulation. Source : A05.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3 minutes. Présenter l’échelle 0 à 3 et préciser qu’il ne s’agit pas d’une notation réelle de collaborateurs. La cible est l’autonomie sur un cas courant. CP pratique la lecture des écarts, DEV la concurrence, QA les tests navigateur et le clavier. Les six heures sont intégrées dans T03, T06 et T07, sans double comptage. La réussite est vérifiée par une exécution autonome. Si l’écart persiste, prévoir accompagnement ou besoin de renfort formulé aux RH, avec compétence, mission, durée et budget. Aucun recrutement ni achat de formation n’a été effectué. Source : A06.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3 minutes. Présenter CR01, CR02 et CR03. Ils sont explicitement fictifs et non envoyés à une personne réelle. Un compte rendu comprend avancement, écarts, décision, responsable, échéance et prochain point. Les critères relient besoin et logiciel. Les indicateurs proposés sont critères acceptés, parcours sans aide, utilité sur cinq et blocages. Une absence de répondants reste non mesurée. Décrire comment recueillir une confirmation réelle sans prétendre qu’elle existe. Sources : A07 ; référentiel p. 13-14.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6 minutes, démonstration incluse. Basculer vers le navigateur local sur 127.0.0.1:3313, avec une session grimpeur et une session club distinctes. 45 s : profil ; 75 s : matching et demande ; 75 s : événement et inscription ; 90 s : club et participants ; 45 s : capacité et clavier ; 30 s : critères et réserves. Les comptes sont des données de démonstration. En cas d’incident, annoncer le critère non revalidé et utiliser les captures datées en annexe, sans les faire passer pour une démonstration en direct. Source :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1 minute. Rappeler que les preuves techniques sont vérifiables et datées, et que les parties de management, de budget et de comptes rendus sont un cas pédagogique fictif. Les sept compétences sont reliées aux annexes. Mentionner les limites utiles : aucune mesure réelle de satisfaction, identité de l’équipe et consignes du campus à confirmer. Ouvrir l’échange en proposant de revenir sur un arbitrage, une hypothèse du classeur ou un critère de démonstration. Source : matrice de preuves et checklist de remise.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à afficher uniquement si utile pendant les questions ou en secours. Capture de l’application locale avec données de démonstration. Source : preuves/captures/manifest.json.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de secours. La capture montre le rôle club dans la base dédiée. Elle ne remplace pas une validation réelle par un client. Source : preuves/captures/manifest.json.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documentaire. Le dossier PDF contient les huit annexes et la matrice. Le classeur conserve les entrées et les formules. Les résultats courants sont dans verification.json. Sources officielles : référentiel p. 11-14, modalités p. 6/8/11, grille BC03 page unique. Le règlement spécial n’est pas fourni.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62c12eac344c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58c448befe47a8" /><Relationship Type="http://schemas.openxmlformats.org/officeDocument/2006/relationships/slideLayout" Target="/ppt/slideLayouts/slideLayout1.xml" Id="Rd22576b979d342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2576b979d342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778968aa6e421b" /><Relationship Type="http://schemas.openxmlformats.org/officeDocument/2006/relationships/image" Target="/ppt/media/image.jpeg" Id="R4f7eff2de1c14520" /><Relationship Type="http://schemas.openxmlformats.org/officeDocument/2006/relationships/notesSlide" Target="/ppt/notesSlides/notesSlide1.xml" Id="Rd0b5b91b8ab941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8c7d75d3ec4e51" /><Relationship Type="http://schemas.openxmlformats.org/officeDocument/2006/relationships/notesSlide" Target="/ppt/notesSlides/notesSlide2.xml" Id="Re60cf13c5abc47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4f469ba8ab4933" /><Relationship Type="http://schemas.openxmlformats.org/officeDocument/2006/relationships/notesSlide" Target="/ppt/notesSlides/notesSlide3.xml" Id="Rc927db7a181345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7d078a0a1f465e" /><Relationship Type="http://schemas.openxmlformats.org/officeDocument/2006/relationships/notesSlide" Target="/ppt/notesSlides/notesSlide4.xml" Id="R4e8424e597d04d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85df8e534441df" /><Relationship Type="http://schemas.openxmlformats.org/officeDocument/2006/relationships/notesSlide" Target="/ppt/notesSlides/notesSlide5.xml" Id="R702a79720fc04c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716f7534114850" /><Relationship Type="http://schemas.openxmlformats.org/officeDocument/2006/relationships/notesSlide" Target="/ppt/notesSlides/notesSlide6.xml" Id="R1cb8404757b54f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2322b5ab214e9d" /><Relationship Type="http://schemas.openxmlformats.org/officeDocument/2006/relationships/notesSlide" Target="/ppt/notesSlides/notesSlide7.xml" Id="R2df601bddcd647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139fc9c2f204136" /><Relationship Type="http://schemas.openxmlformats.org/officeDocument/2006/relationships/notesSlide" Target="/ppt/notesSlides/notesSlide8.xml" Id="R1039121608bc4f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3212e823b04360" /><Relationship Type="http://schemas.openxmlformats.org/officeDocument/2006/relationships/notesSlide" Target="/ppt/notesSlides/notesSlide9.xml" Id="Rf87129419d904e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8bd8f2cc24b4dfe" /><Relationship Type="http://schemas.openxmlformats.org/officeDocument/2006/relationships/notesSlide" Target="/ppt/notesSlides/notesSlide10.xml" Id="R84ffae0c74a449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574f8d3b40477e" /><Relationship Type="http://schemas.openxmlformats.org/officeDocument/2006/relationships/notesSlide" Target="/ppt/notesSlides/notesSlide11.xml" Id="Rc0b3b434c4c747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1276383e6c4110" /><Relationship Type="http://schemas.openxmlformats.org/officeDocument/2006/relationships/notesSlide" Target="/ppt/notesSlides/notesSlide12.xml" Id="R56cc74f8243e41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d4deb781dc54280" /><Relationship Type="http://schemas.openxmlformats.org/officeDocument/2006/relationships/notesSlide" Target="/ppt/notesSlides/notesSlide13.xml" Id="Ra2798ebbdb534f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dcedd6a1f674453" /><Relationship Type="http://schemas.openxmlformats.org/officeDocument/2006/relationships/notesSlide" Target="/ppt/notesSlides/notesSlide14.xml" Id="R80c15535ae7746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dd41a9dae634964" /><Relationship Type="http://schemas.openxmlformats.org/officeDocument/2006/relationships/notesSlide" Target="/ppt/notesSlides/notesSlide15.xml" Id="R37c556f5f8df4e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d3917c4e85d4c29" /><Relationship Type="http://schemas.openxmlformats.org/officeDocument/2006/relationships/image" Target="/ppt/media/image.png" Id="R9989953411ba4c1e" /><Relationship Type="http://schemas.openxmlformats.org/officeDocument/2006/relationships/notesSlide" Target="/ppt/notesSlides/notesSlide16.xml" Id="R0bc3f7a139f145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00db14388e04147" /><Relationship Type="http://schemas.openxmlformats.org/officeDocument/2006/relationships/image" Target="/ppt/media/image2.png" Id="R42f604a0150e449c" /><Relationship Type="http://schemas.openxmlformats.org/officeDocument/2006/relationships/notesSlide" Target="/ppt/notesSlides/notesSlide17.xml" Id="R0dbaaf3eaffc4c9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5334ccd64354f20" /><Relationship Type="http://schemas.openxmlformats.org/officeDocument/2006/relationships/notesSlide" Target="/ppt/notesSlides/notesSlide18.xml" Id="R3a310d1bc7e54356" /></Relationships>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f7eff2de1c14520"/>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B3E70FA-E44A-4463-8DEB-0731B7BCB008}"/>
              </a:ext>
            </a:extLst>
          </p:cNvPr>
          <p:cNvSpPr>
            <a:spLocks xmlns:a="http://schemas.openxmlformats.org/drawingml/2006/main" noGrp="1"/>
          </p:cNvSpPr>
          <p:nvPr/>
        </p:nvSpPr>
        <p:spPr>
          <a:xfrm xmlns:a="http://schemas.openxmlformats.org/drawingml/2006/main">
            <a:off x="609600" y="91440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3090BA87-3C6B-470B-AF4C-03E4BE3B1127}"/>
              </a:ext>
            </a:extLst>
          </p:cNvPr>
          <p:cNvSpPr>
            <a:spLocks xmlns:a="http://schemas.openxmlformats.org/drawingml/2006/main" noGrp="1"/>
          </p:cNvSpPr>
          <p:nvPr/>
        </p:nvSpPr>
        <p:spPr>
          <a:xfrm xmlns:a="http://schemas.openxmlformats.org/drawingml/2006/main">
            <a:off x="609600" y="232410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Coordonner et piloter</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un projet logiciel</a:t>
            </a:r>
          </a:p>
        </p:txBody>
      </p:sp>
      <p:sp>
        <p:nvSpPr>
          <p:cNvPr id="4" name="">
            <a:extLst xmlns:a="http://schemas.openxmlformats.org/drawingml/2006/main">
              <a:ext uri="{FF2B5EF4-FFF2-40B4-BE49-F238E27FC236}">
                <a16:creationId xmlns:a16="http://schemas.microsoft.com/office/drawing/2014/main" id="{0390F7BC-B956-4E8A-8975-13AF451B355D}"/>
              </a:ext>
            </a:extLst>
          </p:cNvPr>
          <p:cNvSpPr>
            <a:spLocks xmlns:a="http://schemas.openxmlformats.org/drawingml/2006/main" noGrp="1"/>
          </p:cNvSpPr>
          <p:nvPr/>
        </p:nvSpPr>
        <p:spPr>
          <a:xfrm xmlns:a="http://schemas.openxmlformats.org/drawingml/2006/main">
            <a:off x="609600" y="4819650"/>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AE5DE"/>
                </a:solidFill>
                <a:latin typeface="Arial"/>
                <a:ea typeface="Arial"/>
                <a:cs typeface="Arial"/>
              </a:defRPr>
            </a:pPr>
            <a:r>
              <a:rPr sz="2100" b="0">
                <a:solidFill>
                  <a:srgbClr val="DAE5DE"/>
                </a:solidFill>
                <a:latin typeface="Arial"/>
                <a:ea typeface="Arial"/>
                <a:cs typeface="Arial"/>
              </a:rPr>
              <a:t>Dorian Joly</a:t>
            </a:r>
          </a:p>
          <a:p xmlns:a="http://schemas.openxmlformats.org/drawingml/2006/main">
            <a:pPr>
              <a:defRPr sz="2100" b="0">
                <a:solidFill>
                  <a:srgbClr val="DAE5DE"/>
                </a:solidFill>
                <a:latin typeface="Arial"/>
                <a:ea typeface="Arial"/>
                <a:cs typeface="Arial"/>
              </a:defRPr>
            </a:pPr>
            <a:r>
              <a:rPr sz="2100" b="0">
                <a:solidFill>
                  <a:srgbClr val="DAE5DE"/>
                </a:solidFill>
                <a:latin typeface="Arial"/>
                <a:ea typeface="Arial"/>
                <a:cs typeface="Arial"/>
              </a:rPr>
              <a:t>RNCP39583 · Bloc 3</a:t>
            </a:r>
          </a:p>
        </p:txBody>
      </p:sp>
    </p:spTree>
    <p:extLst>
      <p:ext uri="{BB962C8B-B14F-4D97-AF65-F5344CB8AC3E}">
        <p14:creationId xmlns:p14="http://schemas.microsoft.com/office/powerpoint/2010/main" val="12355933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B6C3AC-A36B-45F6-942F-C39BA119D13A}"/>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Un parcours pour préparer une sortie</a:t>
            </a:r>
          </a:p>
        </p:txBody>
      </p:sp>
      <p:sp>
        <p:nvSpPr>
          <p:cNvPr id="2" name="">
            <a:extLst xmlns:a="http://schemas.openxmlformats.org/drawingml/2006/main">
              <a:ext uri="{FF2B5EF4-FFF2-40B4-BE49-F238E27FC236}">
                <a16:creationId xmlns:a16="http://schemas.microsoft.com/office/drawing/2014/main" id="{90B63BB0-F0C6-448D-9CB3-2E47CEAABA75}"/>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Produit réel et cas pédagogique  ·  2</a:t>
            </a:r>
          </a:p>
        </p:txBody>
      </p:sp>
      <p:sp>
        <p:nvSpPr>
          <p:cNvPr id="3" name="">
            <a:extLst xmlns:a="http://schemas.openxmlformats.org/drawingml/2006/main">
              <a:ext uri="{FF2B5EF4-FFF2-40B4-BE49-F238E27FC236}">
                <a16:creationId xmlns:a16="http://schemas.microsoft.com/office/drawing/2014/main" id="{9E946C7E-200E-4168-838E-959BC748FAD7}"/>
              </a:ext>
            </a:extLst>
          </p:cNvPr>
          <p:cNvSpPr>
            <a:spLocks xmlns:a="http://schemas.openxmlformats.org/drawingml/2006/main" noGrp="1"/>
          </p:cNvSpPr>
          <p:nvPr/>
        </p:nvSpPr>
        <p:spPr>
          <a:xfrm xmlns:a="http://schemas.openxmlformats.org/drawingml/2006/main">
            <a:off x="685800" y="1762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Grimpeur</a:t>
            </a:r>
          </a:p>
        </p:txBody>
      </p:sp>
      <p:sp>
        <p:nvSpPr>
          <p:cNvPr id="4" name="">
            <a:extLst xmlns:a="http://schemas.openxmlformats.org/drawingml/2006/main">
              <a:ext uri="{FF2B5EF4-FFF2-40B4-BE49-F238E27FC236}">
                <a16:creationId xmlns:a16="http://schemas.microsoft.com/office/drawing/2014/main" id="{FDF5663F-71DD-4C09-8E5A-0F18BEAFAF4A}"/>
              </a:ext>
            </a:extLst>
          </p:cNvPr>
          <p:cNvSpPr>
            <a:spLocks xmlns:a="http://schemas.openxmlformats.org/drawingml/2006/main" noGrp="1"/>
          </p:cNvSpPr>
          <p:nvPr/>
        </p:nvSpPr>
        <p:spPr>
          <a:xfrm xmlns:a="http://schemas.openxmlformats.org/drawingml/2006/main">
            <a:off x="685800" y="21717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Trouver un partenaire compatible et rejoindre une sortie.</a:t>
            </a:r>
          </a:p>
        </p:txBody>
      </p:sp>
      <p:sp>
        <p:nvSpPr>
          <p:cNvPr id="5" name="">
            <a:extLst xmlns:a="http://schemas.openxmlformats.org/drawingml/2006/main">
              <a:ext uri="{FF2B5EF4-FFF2-40B4-BE49-F238E27FC236}">
                <a16:creationId xmlns:a16="http://schemas.microsoft.com/office/drawing/2014/main" id="{45FB598F-A909-4A86-B929-635B80EC541E}"/>
              </a:ext>
            </a:extLst>
          </p:cNvPr>
          <p:cNvSpPr>
            <a:spLocks xmlns:a="http://schemas.openxmlformats.org/drawingml/2006/main" noGrp="1"/>
          </p:cNvSpPr>
          <p:nvPr/>
        </p:nvSpPr>
        <p:spPr>
          <a:xfrm xmlns:a="http://schemas.openxmlformats.org/drawingml/2006/main">
            <a:off x="685800" y="2790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Club</a:t>
            </a:r>
          </a:p>
        </p:txBody>
      </p:sp>
      <p:sp>
        <p:nvSpPr>
          <p:cNvPr id="6" name="">
            <a:extLst xmlns:a="http://schemas.openxmlformats.org/drawingml/2006/main">
              <a:ext uri="{FF2B5EF4-FFF2-40B4-BE49-F238E27FC236}">
                <a16:creationId xmlns:a16="http://schemas.microsoft.com/office/drawing/2014/main" id="{1F4564CA-5556-4E4D-93FE-D5EFB6F882DC}"/>
              </a:ext>
            </a:extLst>
          </p:cNvPr>
          <p:cNvSpPr>
            <a:spLocks xmlns:a="http://schemas.openxmlformats.org/drawingml/2006/main" noGrp="1"/>
          </p:cNvSpPr>
          <p:nvPr/>
        </p:nvSpPr>
        <p:spPr>
          <a:xfrm xmlns:a="http://schemas.openxmlformats.org/drawingml/2006/main">
            <a:off x="685800" y="32004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Organiser l’événement et suivre les participants autorisés.</a:t>
            </a:r>
          </a:p>
        </p:txBody>
      </p:sp>
      <p:sp>
        <p:nvSpPr>
          <p:cNvPr id="7" name="">
            <a:extLst xmlns:a="http://schemas.openxmlformats.org/drawingml/2006/main">
              <a:ext uri="{FF2B5EF4-FFF2-40B4-BE49-F238E27FC236}">
                <a16:creationId xmlns:a16="http://schemas.microsoft.com/office/drawing/2014/main" id="{BF6F5FCD-5B1D-4F6F-A7A5-8E5E76BADDE6}"/>
              </a:ext>
            </a:extLst>
          </p:cNvPr>
          <p:cNvSpPr>
            <a:spLocks xmlns:a="http://schemas.openxmlformats.org/drawingml/2006/main" noGrp="1"/>
          </p:cNvSpPr>
          <p:nvPr/>
        </p:nvSpPr>
        <p:spPr>
          <a:xfrm xmlns:a="http://schemas.openxmlformats.org/drawingml/2006/main">
            <a:off x="685800" y="38195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Critères de succès</a:t>
            </a:r>
          </a:p>
        </p:txBody>
      </p:sp>
      <p:sp>
        <p:nvSpPr>
          <p:cNvPr id="8" name="">
            <a:extLst xmlns:a="http://schemas.openxmlformats.org/drawingml/2006/main">
              <a:ext uri="{FF2B5EF4-FFF2-40B4-BE49-F238E27FC236}">
                <a16:creationId xmlns:a16="http://schemas.microsoft.com/office/drawing/2014/main" id="{405D8A6F-723E-4247-A5D5-2F663C4E0809}"/>
              </a:ext>
            </a:extLst>
          </p:cNvPr>
          <p:cNvSpPr>
            <a:spLocks xmlns:a="http://schemas.openxmlformats.org/drawingml/2006/main" noGrp="1"/>
          </p:cNvSpPr>
          <p:nvPr/>
        </p:nvSpPr>
        <p:spPr>
          <a:xfrm xmlns:a="http://schemas.openxmlformats.org/drawingml/2006/main">
            <a:off x="685800" y="42291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Parcours utilisable, capacité respectée et résultat vérifiable.</a:t>
            </a:r>
          </a:p>
        </p:txBody>
      </p:sp>
    </p:spTree>
    <p:extLst>
      <p:ext uri="{BB962C8B-B14F-4D97-AF65-F5344CB8AC3E}">
        <p14:creationId xmlns:p14="http://schemas.microsoft.com/office/powerpoint/2010/main" val="9473826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5F8F30-8800-4D5E-A9DD-1E8C13E0CBA9}"/>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Kanban et des jalons de validation</a:t>
            </a:r>
          </a:p>
        </p:txBody>
      </p:sp>
      <p:sp>
        <p:nvSpPr>
          <p:cNvPr id="2" name="">
            <a:extLst xmlns:a="http://schemas.openxmlformats.org/drawingml/2006/main">
              <a:ext uri="{FF2B5EF4-FFF2-40B4-BE49-F238E27FC236}">
                <a16:creationId xmlns:a16="http://schemas.microsoft.com/office/drawing/2014/main" id="{77A5E0D6-464C-437F-9DEC-0DC628387A9F}"/>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C.3.1 · Simulation pédagogique  ·  3</a:t>
            </a:r>
          </a:p>
        </p:txBody>
      </p:sp>
      <p:graphicFrame>
        <p:nvGraphicFramePr>
          <p:cNvPr id="7" name=""/>
          <p:cNvGraphicFramePr/>
          <p:nvPr/>
        </p:nvGraphicFramePr>
        <p:xfrm>
          <a:off xmlns:a="http://schemas.openxmlformats.org/drawingml/2006/main" x="609600" y="1695450"/>
          <a:ext xmlns:a="http://schemas.openxmlformats.org/drawingml/2006/main" cx="10972800" cy="3571875"/>
        </p:xfrm>
        <a:graphic xmlns:a="http://schemas.openxmlformats.org/drawingml/2006/main">
          <a:graphicData uri="http://schemas.openxmlformats.org/drawingml/2006/table">
            <a:tbl>
              <a:tblPr/>
              <a:tblGrid>
                <a:gridCol w="2857500"/>
                <a:gridCol w="8115300"/>
              </a:tblGrid>
              <a:tr h="714375">
                <a:tc>
                  <a:txBody>
                    <a:bodyPr/>
                    <a:lstStyle/>
                    <a:p>
                      <a:r>
                        <a:rPr sz="1725" b="1">
                          <a:solidFill>
                            <a:srgbClr val="FFFFFF"/>
                          </a:solidFill>
                          <a:latin typeface="Arial"/>
                          <a:ea typeface="Arial"/>
                          <a:cs typeface="Arial"/>
                        </a:rPr>
                        <a:t>État</a:t>
                      </a:r>
                    </a:p>
                  </a:txBody>
                  <a:tcPr marL="91440" marR="91440" marT="45720" marB="45720">
                    <a:solidFill>
                      <a:srgbClr val="246B58"/>
                    </a:solidFill>
                  </a:tcPr>
                </a:tc>
                <a:tc>
                  <a:txBody>
                    <a:bodyPr/>
                    <a:lstStyle/>
                    <a:p>
                      <a:r>
                        <a:rPr sz="1725" b="1">
                          <a:solidFill>
                            <a:srgbClr val="FFFFFF"/>
                          </a:solidFill>
                          <a:latin typeface="Arial"/>
                          <a:ea typeface="Arial"/>
                          <a:cs typeface="Arial"/>
                        </a:rPr>
                        <a:t>Condition de passage</a:t>
                      </a:r>
                    </a:p>
                  </a:txBody>
                  <a:tcPr marL="91440" marR="91440" marT="45720" marB="45720">
                    <a:solidFill>
                      <a:srgbClr val="246B58"/>
                    </a:solidFill>
                  </a:tcPr>
                </a:tc>
              </a:tr>
              <a:tr h="714375">
                <a:tc>
                  <a:txBody>
                    <a:bodyPr/>
                    <a:lstStyle/>
                    <a:p>
                      <a:r>
                        <a:rPr sz="1725" b="0">
                          <a:solidFill>
                            <a:srgbClr val="18312D"/>
                          </a:solidFill>
                          <a:latin typeface="Arial"/>
                          <a:ea typeface="Arial"/>
                          <a:cs typeface="Arial"/>
                        </a:rPr>
                        <a:t>À faire</a:t>
                      </a:r>
                    </a:p>
                  </a:txBody>
                  <a:tcPr marL="91440" marR="91440" marT="45720" marB="45720">
                    <a:solidFill>
                      <a:srgbClr val="EDF3EF"/>
                    </a:solidFill>
                  </a:tcPr>
                </a:tc>
                <a:tc>
                  <a:txBody>
                    <a:bodyPr/>
                    <a:lstStyle/>
                    <a:p>
                      <a:r>
                        <a:rPr sz="1725" b="0">
                          <a:solidFill>
                            <a:srgbClr val="18312D"/>
                          </a:solidFill>
                          <a:latin typeface="Arial"/>
                          <a:ea typeface="Arial"/>
                          <a:cs typeface="Arial"/>
                        </a:rPr>
                        <a:t>Besoin et critères compréhensibles</a:t>
                      </a:r>
                    </a:p>
                  </a:txBody>
                  <a:tcPr marL="91440" marR="91440" marT="45720" marB="45720">
                    <a:solidFill>
                      <a:srgbClr val="EDF3EF"/>
                    </a:solidFill>
                  </a:tcPr>
                </a:tc>
              </a:tr>
              <a:tr h="714375">
                <a:tc>
                  <a:txBody>
                    <a:bodyPr/>
                    <a:lstStyle/>
                    <a:p>
                      <a:r>
                        <a:rPr sz="1725" b="0">
                          <a:solidFill>
                            <a:srgbClr val="18312D"/>
                          </a:solidFill>
                          <a:latin typeface="Arial"/>
                          <a:ea typeface="Arial"/>
                          <a:cs typeface="Arial"/>
                        </a:rPr>
                        <a:t>En cours</a:t>
                      </a:r>
                    </a:p>
                  </a:txBody>
                  <a:tcPr marL="91440" marR="91440" marT="45720" marB="45720">
                    <a:solidFill>
                      <a:srgbClr val="FFFFFF"/>
                    </a:solidFill>
                  </a:tcPr>
                </a:tc>
                <a:tc>
                  <a:txBody>
                    <a:bodyPr/>
                    <a:lstStyle/>
                    <a:p>
                      <a:r>
                        <a:rPr sz="1725" b="0">
                          <a:solidFill>
                            <a:srgbClr val="18312D"/>
                          </a:solidFill>
                          <a:latin typeface="Arial"/>
                          <a:ea typeface="Arial"/>
                          <a:cs typeface="Arial"/>
                        </a:rPr>
                        <a:t>Responsable et capacité disponibles</a:t>
                      </a:r>
                    </a:p>
                  </a:txBody>
                  <a:tcPr marL="91440" marR="91440" marT="45720" marB="45720">
                    <a:solidFill>
                      <a:srgbClr val="FFFFFF"/>
                    </a:solidFill>
                  </a:tcPr>
                </a:tc>
              </a:tr>
              <a:tr h="714375">
                <a:tc>
                  <a:txBody>
                    <a:bodyPr/>
                    <a:lstStyle/>
                    <a:p>
                      <a:r>
                        <a:rPr sz="1725" b="0">
                          <a:solidFill>
                            <a:srgbClr val="18312D"/>
                          </a:solidFill>
                          <a:latin typeface="Arial"/>
                          <a:ea typeface="Arial"/>
                          <a:cs typeface="Arial"/>
                        </a:rPr>
                        <a:t>À vérifier</a:t>
                      </a:r>
                    </a:p>
                  </a:txBody>
                  <a:tcPr marL="91440" marR="91440" marT="45720" marB="45720">
                    <a:solidFill>
                      <a:srgbClr val="EDF3EF"/>
                    </a:solidFill>
                  </a:tcPr>
                </a:tc>
                <a:tc>
                  <a:txBody>
                    <a:bodyPr/>
                    <a:lstStyle/>
                    <a:p>
                      <a:r>
                        <a:rPr sz="1725" b="0">
                          <a:solidFill>
                            <a:srgbClr val="18312D"/>
                          </a:solidFill>
                          <a:latin typeface="Arial"/>
                          <a:ea typeface="Arial"/>
                          <a:cs typeface="Arial"/>
                        </a:rPr>
                        <a:t>Réalisation prête pour la recette</a:t>
                      </a:r>
                    </a:p>
                  </a:txBody>
                  <a:tcPr marL="91440" marR="91440" marT="45720" marB="45720">
                    <a:solidFill>
                      <a:srgbClr val="EDF3EF"/>
                    </a:solidFill>
                  </a:tcPr>
                </a:tc>
              </a:tr>
              <a:tr h="714375">
                <a:tc>
                  <a:txBody>
                    <a:bodyPr/>
                    <a:lstStyle/>
                    <a:p>
                      <a:r>
                        <a:rPr sz="1725" b="0">
                          <a:solidFill>
                            <a:srgbClr val="18312D"/>
                          </a:solidFill>
                          <a:latin typeface="Arial"/>
                          <a:ea typeface="Arial"/>
                          <a:cs typeface="Arial"/>
                        </a:rPr>
                        <a:t>Terminé</a:t>
                      </a:r>
                    </a:p>
                  </a:txBody>
                  <a:tcPr marL="91440" marR="91440" marT="45720" marB="45720">
                    <a:solidFill>
                      <a:srgbClr val="FFFFFF"/>
                    </a:solidFill>
                  </a:tcPr>
                </a:tc>
                <a:tc>
                  <a:txBody>
                    <a:bodyPr/>
                    <a:lstStyle/>
                    <a:p>
                      <a:r>
                        <a:rPr sz="1725" b="0">
                          <a:solidFill>
                            <a:srgbClr val="18312D"/>
                          </a:solidFill>
                          <a:latin typeface="Arial"/>
                          <a:ea typeface="Arial"/>
                          <a:cs typeface="Arial"/>
                        </a:rPr>
                        <a:t>Critères vérifiés et réserve traitée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E0FB95D-29EF-46B1-84EA-0164D73B63C5}"/>
              </a:ext>
            </a:extLst>
          </p:cNvPr>
          <p:cNvSpPr>
            <a:spLocks xmlns:a="http://schemas.openxmlformats.org/drawingml/2006/main" noGrp="1"/>
          </p:cNvSpPr>
          <p:nvPr/>
        </p:nvSpPr>
        <p:spPr>
          <a:xfrm xmlns:a="http://schemas.openxmlformats.org/drawingml/2006/main">
            <a:off x="685800" y="555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6B58"/>
                </a:solidFill>
                <a:latin typeface="Arial"/>
                <a:ea typeface="Arial"/>
                <a:cs typeface="Arial"/>
              </a:defRPr>
            </a:pPr>
            <a:r>
              <a:rPr sz="1950" b="1">
                <a:solidFill>
                  <a:srgbClr val="246B58"/>
                </a:solidFill>
                <a:latin typeface="Arial"/>
                <a:ea typeface="Arial"/>
                <a:cs typeface="Arial"/>
              </a:rPr>
              <a:t>Limite proposée : deux tâches de réalisation simultanées</a:t>
            </a:r>
          </a:p>
        </p:txBody>
      </p:sp>
    </p:spTree>
    <p:extLst>
      <p:ext uri="{BB962C8B-B14F-4D97-AF65-F5344CB8AC3E}">
        <p14:creationId xmlns:p14="http://schemas.microsoft.com/office/powerpoint/2010/main" val="13923047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A3B844A-BC3A-4072-A191-0C3C5BB9DDF3}"/>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Un planning de quinze jours ouvrés</a:t>
            </a:r>
          </a:p>
        </p:txBody>
      </p:sp>
      <p:sp>
        <p:nvSpPr>
          <p:cNvPr id="2" name="">
            <a:extLst xmlns:a="http://schemas.openxmlformats.org/drawingml/2006/main">
              <a:ext uri="{FF2B5EF4-FFF2-40B4-BE49-F238E27FC236}">
                <a16:creationId xmlns:a16="http://schemas.microsoft.com/office/drawing/2014/main" id="{FC566F4B-8CF2-4B57-AC3B-19FF047AD010}"/>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C.3.1 · Simulation pédagogique  ·  4</a:t>
            </a:r>
          </a:p>
        </p:txBody>
      </p:sp>
      <p:graphicFrame>
        <p:nvGraphicFramePr>
          <p:cNvPr id="6" name=""/>
          <p:cNvGraphicFramePr/>
          <p:nvPr/>
        </p:nvGraphicFramePr>
        <p:xfrm>
          <a:off xmlns:a="http://schemas.openxmlformats.org/drawingml/2006/main" x="609600" y="1695450"/>
          <a:ext xmlns:a="http://schemas.openxmlformats.org/drawingml/2006/main" cx="10972800" cy="4114800"/>
        </p:xfrm>
        <a:graphic xmlns:a="http://schemas.openxmlformats.org/drawingml/2006/main">
          <a:graphicData uri="http://schemas.openxmlformats.org/drawingml/2006/table">
            <a:tbl>
              <a:tblPr/>
              <a:tblGrid>
                <a:gridCol w="1714500"/>
                <a:gridCol w="6096000"/>
                <a:gridCol w="3162300"/>
              </a:tblGrid>
              <a:tr h="685800">
                <a:tc>
                  <a:txBody>
                    <a:bodyPr/>
                    <a:lstStyle/>
                    <a:p>
                      <a:r>
                        <a:rPr sz="1725" b="1">
                          <a:solidFill>
                            <a:srgbClr val="FFFFFF"/>
                          </a:solidFill>
                          <a:latin typeface="Arial"/>
                          <a:ea typeface="Arial"/>
                          <a:cs typeface="Arial"/>
                        </a:rPr>
                        <a:t>Jalon</a:t>
                      </a:r>
                    </a:p>
                  </a:txBody>
                  <a:tcPr marL="91440" marR="91440" marT="45720" marB="45720">
                    <a:solidFill>
                      <a:srgbClr val="246B58"/>
                    </a:solidFill>
                  </a:tcPr>
                </a:tc>
                <a:tc>
                  <a:txBody>
                    <a:bodyPr/>
                    <a:lstStyle/>
                    <a:p>
                      <a:r>
                        <a:rPr sz="1725" b="1">
                          <a:solidFill>
                            <a:srgbClr val="FFFFFF"/>
                          </a:solidFill>
                          <a:latin typeface="Arial"/>
                          <a:ea typeface="Arial"/>
                          <a:cs typeface="Arial"/>
                        </a:rPr>
                        <a:t>Résultat attendu</a:t>
                      </a:r>
                    </a:p>
                  </a:txBody>
                  <a:tcPr marL="91440" marR="91440" marT="45720" marB="45720">
                    <a:solidFill>
                      <a:srgbClr val="246B58"/>
                    </a:solidFill>
                  </a:tcPr>
                </a:tc>
                <a:tc>
                  <a:txBody>
                    <a:bodyPr/>
                    <a:lstStyle/>
                    <a:p>
                      <a:r>
                        <a:rPr sz="1725" b="1">
                          <a:solidFill>
                            <a:srgbClr val="FFFFFF"/>
                          </a:solidFill>
                          <a:latin typeface="Arial"/>
                          <a:ea typeface="Arial"/>
                          <a:cs typeface="Arial"/>
                        </a:rPr>
                        <a:t>Validation</a:t>
                      </a:r>
                    </a:p>
                  </a:txBody>
                  <a:tcPr marL="91440" marR="91440" marT="45720" marB="45720">
                    <a:solidFill>
                      <a:srgbClr val="246B58"/>
                    </a:solidFill>
                  </a:tcPr>
                </a:tc>
              </a:tr>
              <a:tr h="685800">
                <a:tc>
                  <a:txBody>
                    <a:bodyPr/>
                    <a:lstStyle/>
                    <a:p>
                      <a:r>
                        <a:rPr sz="1725" b="0">
                          <a:solidFill>
                            <a:srgbClr val="18312D"/>
                          </a:solidFill>
                          <a:latin typeface="Arial"/>
                          <a:ea typeface="Arial"/>
                          <a:cs typeface="Arial"/>
                        </a:rPr>
                        <a:t>J3</a:t>
                      </a:r>
                    </a:p>
                  </a:txBody>
                  <a:tcPr marL="91440" marR="91440" marT="45720" marB="45720">
                    <a:solidFill>
                      <a:srgbClr val="EDF3EF"/>
                    </a:solidFill>
                  </a:tcPr>
                </a:tc>
                <a:tc>
                  <a:txBody>
                    <a:bodyPr/>
                    <a:lstStyle/>
                    <a:p>
                      <a:r>
                        <a:rPr sz="1725" b="0">
                          <a:solidFill>
                            <a:srgbClr val="18312D"/>
                          </a:solidFill>
                          <a:latin typeface="Arial"/>
                          <a:ea typeface="Arial"/>
                          <a:cs typeface="Arial"/>
                        </a:rPr>
                        <a:t>Périmètre et critères</a:t>
                      </a:r>
                    </a:p>
                  </a:txBody>
                  <a:tcPr marL="91440" marR="91440" marT="45720" marB="45720">
                    <a:solidFill>
                      <a:srgbClr val="EDF3EF"/>
                    </a:solidFill>
                  </a:tcPr>
                </a:tc>
                <a:tc>
                  <a:txBody>
                    <a:bodyPr/>
                    <a:lstStyle/>
                    <a:p>
                      <a:r>
                        <a:rPr sz="1725" b="0">
                          <a:solidFill>
                            <a:srgbClr val="18312D"/>
                          </a:solidFill>
                          <a:latin typeface="Arial"/>
                          <a:ea typeface="Arial"/>
                          <a:cs typeface="Arial"/>
                        </a:rPr>
                        <a:t>Client fictif</a:t>
                      </a:r>
                    </a:p>
                  </a:txBody>
                  <a:tcPr marL="91440" marR="91440" marT="45720" marB="45720">
                    <a:solidFill>
                      <a:srgbClr val="EDF3EF"/>
                    </a:solidFill>
                  </a:tcPr>
                </a:tc>
              </a:tr>
              <a:tr h="685800">
                <a:tc>
                  <a:txBody>
                    <a:bodyPr/>
                    <a:lstStyle/>
                    <a:p>
                      <a:r>
                        <a:rPr sz="1725" b="0">
                          <a:solidFill>
                            <a:srgbClr val="18312D"/>
                          </a:solidFill>
                          <a:latin typeface="Arial"/>
                          <a:ea typeface="Arial"/>
                          <a:cs typeface="Arial"/>
                        </a:rPr>
                        <a:t>J8</a:t>
                      </a:r>
                    </a:p>
                  </a:txBody>
                  <a:tcPr marL="91440" marR="91440" marT="45720" marB="45720">
                    <a:solidFill>
                      <a:srgbClr val="FFFFFF"/>
                    </a:solidFill>
                  </a:tcPr>
                </a:tc>
                <a:tc>
                  <a:txBody>
                    <a:bodyPr/>
                    <a:lstStyle/>
                    <a:p>
                      <a:r>
                        <a:rPr sz="1725" b="0">
                          <a:solidFill>
                            <a:srgbClr val="18312D"/>
                          </a:solidFill>
                          <a:latin typeface="Arial"/>
                          <a:ea typeface="Arial"/>
                          <a:cs typeface="Arial"/>
                        </a:rPr>
                        <a:t>Parcours partenaire</a:t>
                      </a:r>
                    </a:p>
                  </a:txBody>
                  <a:tcPr marL="91440" marR="91440" marT="45720" marB="45720">
                    <a:solidFill>
                      <a:srgbClr val="FFFFFF"/>
                    </a:solidFill>
                  </a:tcPr>
                </a:tc>
                <a:tc>
                  <a:txBody>
                    <a:bodyPr/>
                    <a:lstStyle/>
                    <a:p>
                      <a:r>
                        <a:rPr sz="1725" b="0">
                          <a:solidFill>
                            <a:srgbClr val="18312D"/>
                          </a:solidFill>
                          <a:latin typeface="Arial"/>
                          <a:ea typeface="Arial"/>
                          <a:cs typeface="Arial"/>
                        </a:rPr>
                        <a:t>CP + QA</a:t>
                      </a:r>
                    </a:p>
                  </a:txBody>
                  <a:tcPr marL="91440" marR="91440" marT="45720" marB="45720">
                    <a:solidFill>
                      <a:srgbClr val="FFFFFF"/>
                    </a:solidFill>
                  </a:tcPr>
                </a:tc>
              </a:tr>
              <a:tr h="685800">
                <a:tc>
                  <a:txBody>
                    <a:bodyPr/>
                    <a:lstStyle/>
                    <a:p>
                      <a:r>
                        <a:rPr sz="1725" b="0">
                          <a:solidFill>
                            <a:srgbClr val="18312D"/>
                          </a:solidFill>
                          <a:latin typeface="Arial"/>
                          <a:ea typeface="Arial"/>
                          <a:cs typeface="Arial"/>
                        </a:rPr>
                        <a:t>J10</a:t>
                      </a:r>
                    </a:p>
                  </a:txBody>
                  <a:tcPr marL="91440" marR="91440" marT="45720" marB="45720">
                    <a:solidFill>
                      <a:srgbClr val="EDF3EF"/>
                    </a:solidFill>
                  </a:tcPr>
                </a:tc>
                <a:tc>
                  <a:txBody>
                    <a:bodyPr/>
                    <a:lstStyle/>
                    <a:p>
                      <a:r>
                        <a:rPr sz="1725" b="0">
                          <a:solidFill>
                            <a:srgbClr val="18312D"/>
                          </a:solidFill>
                          <a:latin typeface="Arial"/>
                          <a:ea typeface="Arial"/>
                          <a:cs typeface="Arial"/>
                        </a:rPr>
                        <a:t>Écarts et arbitrage</a:t>
                      </a:r>
                    </a:p>
                  </a:txBody>
                  <a:tcPr marL="91440" marR="91440" marT="45720" marB="45720">
                    <a:solidFill>
                      <a:srgbClr val="EDF3EF"/>
                    </a:solidFill>
                  </a:tcPr>
                </a:tc>
                <a:tc>
                  <a:txBody>
                    <a:bodyPr/>
                    <a:lstStyle/>
                    <a:p>
                      <a:r>
                        <a:rPr sz="1725" b="0">
                          <a:solidFill>
                            <a:srgbClr val="18312D"/>
                          </a:solidFill>
                          <a:latin typeface="Arial"/>
                          <a:ea typeface="Arial"/>
                          <a:cs typeface="Arial"/>
                        </a:rPr>
                        <a:t>CP + client</a:t>
                      </a:r>
                    </a:p>
                  </a:txBody>
                  <a:tcPr marL="91440" marR="91440" marT="45720" marB="45720">
                    <a:solidFill>
                      <a:srgbClr val="EDF3EF"/>
                    </a:solidFill>
                  </a:tcPr>
                </a:tc>
              </a:tr>
              <a:tr h="685800">
                <a:tc>
                  <a:txBody>
                    <a:bodyPr/>
                    <a:lstStyle/>
                    <a:p>
                      <a:r>
                        <a:rPr sz="1725" b="0">
                          <a:solidFill>
                            <a:srgbClr val="18312D"/>
                          </a:solidFill>
                          <a:latin typeface="Arial"/>
                          <a:ea typeface="Arial"/>
                          <a:cs typeface="Arial"/>
                        </a:rPr>
                        <a:t>J14</a:t>
                      </a:r>
                    </a:p>
                  </a:txBody>
                  <a:tcPr marL="91440" marR="91440" marT="45720" marB="45720">
                    <a:solidFill>
                      <a:srgbClr val="FFFFFF"/>
                    </a:solidFill>
                  </a:tcPr>
                </a:tc>
                <a:tc>
                  <a:txBody>
                    <a:bodyPr/>
                    <a:lstStyle/>
                    <a:p>
                      <a:r>
                        <a:rPr sz="1725" b="0">
                          <a:solidFill>
                            <a:srgbClr val="18312D"/>
                          </a:solidFill>
                          <a:latin typeface="Arial"/>
                          <a:ea typeface="Arial"/>
                          <a:cs typeface="Arial"/>
                        </a:rPr>
                        <a:t>Recette et corrections</a:t>
                      </a:r>
                    </a:p>
                  </a:txBody>
                  <a:tcPr marL="91440" marR="91440" marT="45720" marB="45720">
                    <a:solidFill>
                      <a:srgbClr val="FFFFFF"/>
                    </a:solidFill>
                  </a:tcPr>
                </a:tc>
                <a:tc>
                  <a:txBody>
                    <a:bodyPr/>
                    <a:lstStyle/>
                    <a:p>
                      <a:r>
                        <a:rPr sz="1725" b="0">
                          <a:solidFill>
                            <a:srgbClr val="18312D"/>
                          </a:solidFill>
                          <a:latin typeface="Arial"/>
                          <a:ea typeface="Arial"/>
                          <a:cs typeface="Arial"/>
                        </a:rPr>
                        <a:t>CP + QA</a:t>
                      </a:r>
                    </a:p>
                  </a:txBody>
                  <a:tcPr marL="91440" marR="91440" marT="45720" marB="45720">
                    <a:solidFill>
                      <a:srgbClr val="FFFFFF"/>
                    </a:solidFill>
                  </a:tcPr>
                </a:tc>
              </a:tr>
              <a:tr h="685800">
                <a:tc>
                  <a:txBody>
                    <a:bodyPr/>
                    <a:lstStyle/>
                    <a:p>
                      <a:r>
                        <a:rPr sz="1725" b="0">
                          <a:solidFill>
                            <a:srgbClr val="18312D"/>
                          </a:solidFill>
                          <a:latin typeface="Arial"/>
                          <a:ea typeface="Arial"/>
                          <a:cs typeface="Arial"/>
                        </a:rPr>
                        <a:t>J15</a:t>
                      </a:r>
                    </a:p>
                  </a:txBody>
                  <a:tcPr marL="91440" marR="91440" marT="45720" marB="45720">
                    <a:solidFill>
                      <a:srgbClr val="EDF3EF"/>
                    </a:solidFill>
                  </a:tcPr>
                </a:tc>
                <a:tc>
                  <a:txBody>
                    <a:bodyPr/>
                    <a:lstStyle/>
                    <a:p>
                      <a:r>
                        <a:rPr sz="1725" b="0">
                          <a:solidFill>
                            <a:srgbClr val="18312D"/>
                          </a:solidFill>
                          <a:latin typeface="Arial"/>
                          <a:ea typeface="Arial"/>
                          <a:cs typeface="Arial"/>
                        </a:rPr>
                        <a:t>Démonstration et réserves</a:t>
                      </a:r>
                    </a:p>
                  </a:txBody>
                  <a:tcPr marL="91440" marR="91440" marT="45720" marB="45720">
                    <a:solidFill>
                      <a:srgbClr val="EDF3EF"/>
                    </a:solidFill>
                  </a:tcPr>
                </a:tc>
                <a:tc>
                  <a:txBody>
                    <a:bodyPr/>
                    <a:lstStyle/>
                    <a:p>
                      <a:r>
                        <a:rPr sz="1725" b="0">
                          <a:solidFill>
                            <a:srgbClr val="18312D"/>
                          </a:solidFill>
                          <a:latin typeface="Arial"/>
                          <a:ea typeface="Arial"/>
                          <a:cs typeface="Arial"/>
                        </a:rPr>
                        <a:t>Client fictif</a:t>
                      </a:r>
                    </a:p>
                  </a:txBody>
                  <a:tcPr marL="91440" marR="91440" marT="45720" marB="45720">
                    <a:solidFill>
                      <a:srgbClr val="EDF3EF"/>
                    </a:solidFill>
                  </a:tcPr>
                </a:tc>
              </a:tr>
            </a:tbl>
          </a:graphicData>
        </a:graphic>
      </p:graphicFrame>
    </p:spTree>
    <p:extLst>
      <p:ext uri="{BB962C8B-B14F-4D97-AF65-F5344CB8AC3E}">
        <p14:creationId xmlns:p14="http://schemas.microsoft.com/office/powerpoint/2010/main" val="13861781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F4C3CFC-2578-46B7-9926-9A4D01346A63}"/>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Des responsabilités explicites</a:t>
            </a:r>
          </a:p>
        </p:txBody>
      </p:sp>
      <p:sp>
        <p:nvSpPr>
          <p:cNvPr id="2" name="">
            <a:extLst xmlns:a="http://schemas.openxmlformats.org/drawingml/2006/main">
              <a:ext uri="{FF2B5EF4-FFF2-40B4-BE49-F238E27FC236}">
                <a16:creationId xmlns:a16="http://schemas.microsoft.com/office/drawing/2014/main" id="{CFB77536-1A7B-4492-8F33-77E0706B1807}"/>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C.3.1 · Simulation pédagogique  ·  5</a:t>
            </a:r>
          </a:p>
        </p:txBody>
      </p:sp>
      <p:graphicFrame>
        <p:nvGraphicFramePr>
          <p:cNvPr id="6" name=""/>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3333750"/>
                <a:gridCol w="4857750"/>
                <a:gridCol w="2781300"/>
              </a:tblGrid>
              <a:tr h="723900">
                <a:tc>
                  <a:txBody>
                    <a:bodyPr/>
                    <a:lstStyle/>
                    <a:p>
                      <a:r>
                        <a:rPr sz="1725" b="1">
                          <a:solidFill>
                            <a:srgbClr val="FFFFFF"/>
                          </a:solidFill>
                          <a:latin typeface="Arial"/>
                          <a:ea typeface="Arial"/>
                          <a:cs typeface="Arial"/>
                        </a:rPr>
                        <a:t>Rôle</a:t>
                      </a:r>
                    </a:p>
                  </a:txBody>
                  <a:tcPr marL="91440" marR="91440" marT="45720" marB="45720">
                    <a:solidFill>
                      <a:srgbClr val="246B58"/>
                    </a:solidFill>
                  </a:tcPr>
                </a:tc>
                <a:tc>
                  <a:txBody>
                    <a:bodyPr/>
                    <a:lstStyle/>
                    <a:p>
                      <a:r>
                        <a:rPr sz="1725" b="1">
                          <a:solidFill>
                            <a:srgbClr val="FFFFFF"/>
                          </a:solidFill>
                          <a:latin typeface="Arial"/>
                          <a:ea typeface="Arial"/>
                          <a:cs typeface="Arial"/>
                        </a:rPr>
                        <a:t>Responsabilité</a:t>
                      </a:r>
                    </a:p>
                  </a:txBody>
                  <a:tcPr marL="91440" marR="91440" marT="45720" marB="45720">
                    <a:solidFill>
                      <a:srgbClr val="246B58"/>
                    </a:solidFill>
                  </a:tcPr>
                </a:tc>
                <a:tc>
                  <a:txBody>
                    <a:bodyPr/>
                    <a:lstStyle/>
                    <a:p>
                      <a:r>
                        <a:rPr sz="1725" b="1">
                          <a:solidFill>
                            <a:srgbClr val="FFFFFF"/>
                          </a:solidFill>
                          <a:latin typeface="Arial"/>
                          <a:ea typeface="Arial"/>
                          <a:cs typeface="Arial"/>
                        </a:rPr>
                        <a:t>Capacité du lot</a:t>
                      </a:r>
                    </a:p>
                  </a:txBody>
                  <a:tcPr marL="91440" marR="91440" marT="45720" marB="45720">
                    <a:solidFill>
                      <a:srgbClr val="246B58"/>
                    </a:solidFill>
                  </a:tcPr>
                </a:tc>
              </a:tr>
              <a:tr h="723900">
                <a:tc>
                  <a:txBody>
                    <a:bodyPr/>
                    <a:lstStyle/>
                    <a:p>
                      <a:r>
                        <a:rPr sz="1725" b="0">
                          <a:solidFill>
                            <a:srgbClr val="18312D"/>
                          </a:solidFill>
                          <a:latin typeface="Arial"/>
                          <a:ea typeface="Arial"/>
                          <a:cs typeface="Arial"/>
                        </a:rPr>
                        <a:t>Chef de projet</a:t>
                      </a:r>
                    </a:p>
                  </a:txBody>
                  <a:tcPr marL="91440" marR="91440" marT="45720" marB="45720">
                    <a:solidFill>
                      <a:srgbClr val="EDF3EF"/>
                    </a:solidFill>
                  </a:tcPr>
                </a:tc>
                <a:tc>
                  <a:txBody>
                    <a:bodyPr/>
                    <a:lstStyle/>
                    <a:p>
                      <a:r>
                        <a:rPr sz="1725" b="0">
                          <a:solidFill>
                            <a:srgbClr val="18312D"/>
                          </a:solidFill>
                          <a:latin typeface="Arial"/>
                          <a:ea typeface="Arial"/>
                          <a:cs typeface="Arial"/>
                        </a:rPr>
                        <a:t>Planifier, arbitrer, présenter</a:t>
                      </a:r>
                    </a:p>
                  </a:txBody>
                  <a:tcPr marL="91440" marR="91440" marT="45720" marB="45720">
                    <a:solidFill>
                      <a:srgbClr val="EDF3EF"/>
                    </a:solidFill>
                  </a:tcPr>
                </a:tc>
                <a:tc>
                  <a:txBody>
                    <a:bodyPr/>
                    <a:lstStyle/>
                    <a:p>
                      <a:r>
                        <a:rPr sz="1725" b="0">
                          <a:solidFill>
                            <a:srgbClr val="18312D"/>
                          </a:solidFill>
                          <a:latin typeface="Arial"/>
                          <a:ea typeface="Arial"/>
                          <a:cs typeface="Arial"/>
                        </a:rPr>
                        <a:t>30 h</a:t>
                      </a:r>
                    </a:p>
                  </a:txBody>
                  <a:tcPr marL="91440" marR="91440" marT="45720" marB="45720">
                    <a:solidFill>
                      <a:srgbClr val="EDF3EF"/>
                    </a:solidFill>
                  </a:tcPr>
                </a:tc>
              </a:tr>
              <a:tr h="723900">
                <a:tc>
                  <a:txBody>
                    <a:bodyPr/>
                    <a:lstStyle/>
                    <a:p>
                      <a:r>
                        <a:rPr sz="1725" b="0">
                          <a:solidFill>
                            <a:srgbClr val="18312D"/>
                          </a:solidFill>
                          <a:latin typeface="Arial"/>
                          <a:ea typeface="Arial"/>
                          <a:cs typeface="Arial"/>
                        </a:rPr>
                        <a:t>Développeur fictif</a:t>
                      </a:r>
                    </a:p>
                  </a:txBody>
                  <a:tcPr marL="91440" marR="91440" marT="45720" marB="45720">
                    <a:solidFill>
                      <a:srgbClr val="FFFFFF"/>
                    </a:solidFill>
                  </a:tcPr>
                </a:tc>
                <a:tc>
                  <a:txBody>
                    <a:bodyPr/>
                    <a:lstStyle/>
                    <a:p>
                      <a:r>
                        <a:rPr sz="1725" b="0">
                          <a:solidFill>
                            <a:srgbClr val="18312D"/>
                          </a:solidFill>
                          <a:latin typeface="Arial"/>
                          <a:ea typeface="Arial"/>
                          <a:cs typeface="Arial"/>
                        </a:rPr>
                        <a:t>Réaliser et corriger</a:t>
                      </a:r>
                    </a:p>
                  </a:txBody>
                  <a:tcPr marL="91440" marR="91440" marT="45720" marB="45720">
                    <a:solidFill>
                      <a:srgbClr val="FFFFFF"/>
                    </a:solidFill>
                  </a:tcPr>
                </a:tc>
                <a:tc>
                  <a:txBody>
                    <a:bodyPr/>
                    <a:lstStyle/>
                    <a:p>
                      <a:r>
                        <a:rPr sz="1725" b="0">
                          <a:solidFill>
                            <a:srgbClr val="18312D"/>
                          </a:solidFill>
                          <a:latin typeface="Arial"/>
                          <a:ea typeface="Arial"/>
                          <a:cs typeface="Arial"/>
                        </a:rPr>
                        <a:t>72 h</a:t>
                      </a:r>
                    </a:p>
                  </a:txBody>
                  <a:tcPr marL="91440" marR="91440" marT="45720" marB="45720">
                    <a:solidFill>
                      <a:srgbClr val="FFFFFF"/>
                    </a:solidFill>
                  </a:tcPr>
                </a:tc>
              </a:tr>
              <a:tr h="723900">
                <a:tc>
                  <a:txBody>
                    <a:bodyPr/>
                    <a:lstStyle/>
                    <a:p>
                      <a:r>
                        <a:rPr sz="1725" b="0">
                          <a:solidFill>
                            <a:srgbClr val="18312D"/>
                          </a:solidFill>
                          <a:latin typeface="Arial"/>
                          <a:ea typeface="Arial"/>
                          <a:cs typeface="Arial"/>
                        </a:rPr>
                        <a:t>Testeur UX fictif</a:t>
                      </a:r>
                    </a:p>
                  </a:txBody>
                  <a:tcPr marL="91440" marR="91440" marT="45720" marB="45720">
                    <a:solidFill>
                      <a:srgbClr val="EDF3EF"/>
                    </a:solidFill>
                  </a:tcPr>
                </a:tc>
                <a:tc>
                  <a:txBody>
                    <a:bodyPr/>
                    <a:lstStyle/>
                    <a:p>
                      <a:r>
                        <a:rPr sz="1725" b="0">
                          <a:solidFill>
                            <a:srgbClr val="18312D"/>
                          </a:solidFill>
                          <a:latin typeface="Arial"/>
                          <a:ea typeface="Arial"/>
                          <a:cs typeface="Arial"/>
                        </a:rPr>
                        <a:t>Recetter et restituer</a:t>
                      </a:r>
                    </a:p>
                  </a:txBody>
                  <a:tcPr marL="91440" marR="91440" marT="45720" marB="45720">
                    <a:solidFill>
                      <a:srgbClr val="EDF3EF"/>
                    </a:solidFill>
                  </a:tcPr>
                </a:tc>
                <a:tc>
                  <a:txBody>
                    <a:bodyPr/>
                    <a:lstStyle/>
                    <a:p>
                      <a:r>
                        <a:rPr sz="1725" b="0">
                          <a:solidFill>
                            <a:srgbClr val="18312D"/>
                          </a:solidFill>
                          <a:latin typeface="Arial"/>
                          <a:ea typeface="Arial"/>
                          <a:cs typeface="Arial"/>
                        </a:rPr>
                        <a:t>30 h</a:t>
                      </a:r>
                    </a:p>
                  </a:txBody>
                  <a:tcPr marL="91440" marR="91440" marT="45720" marB="45720">
                    <a:solidFill>
                      <a:srgbClr val="EDF3EF"/>
                    </a:solidFill>
                  </a:tcPr>
                </a:tc>
              </a:tr>
              <a:tr h="723900">
                <a:tc>
                  <a:txBody>
                    <a:bodyPr/>
                    <a:lstStyle/>
                    <a:p>
                      <a:r>
                        <a:rPr sz="1725" b="0">
                          <a:solidFill>
                            <a:srgbClr val="18312D"/>
                          </a:solidFill>
                          <a:latin typeface="Arial"/>
                          <a:ea typeface="Arial"/>
                          <a:cs typeface="Arial"/>
                        </a:rPr>
                        <a:t>Client fictif</a:t>
                      </a:r>
                    </a:p>
                  </a:txBody>
                  <a:tcPr marL="91440" marR="91440" marT="45720" marB="45720">
                    <a:solidFill>
                      <a:srgbClr val="FFFFFF"/>
                    </a:solidFill>
                  </a:tcPr>
                </a:tc>
                <a:tc>
                  <a:txBody>
                    <a:bodyPr/>
                    <a:lstStyle/>
                    <a:p>
                      <a:r>
                        <a:rPr sz="1725" b="0">
                          <a:solidFill>
                            <a:srgbClr val="18312D"/>
                          </a:solidFill>
                          <a:latin typeface="Arial"/>
                          <a:ea typeface="Arial"/>
                          <a:cs typeface="Arial"/>
                        </a:rPr>
                        <a:t>Valider périmètre et résultats</a:t>
                      </a:r>
                    </a:p>
                  </a:txBody>
                  <a:tcPr marL="91440" marR="91440" marT="45720" marB="45720">
                    <a:solidFill>
                      <a:srgbClr val="FFFFFF"/>
                    </a:solidFill>
                  </a:tcPr>
                </a:tc>
                <a:tc>
                  <a:txBody>
                    <a:bodyPr/>
                    <a:lstStyle/>
                    <a:p>
                      <a:r>
                        <a:rPr sz="1725" b="0">
                          <a:solidFill>
                            <a:srgbClr val="18312D"/>
                          </a:solidFill>
                          <a:latin typeface="Arial"/>
                          <a:ea typeface="Arial"/>
                          <a:cs typeface="Arial"/>
                        </a:rPr>
                        <a:t>3 points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196530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CEC7A06-C392-49BD-8E4E-896F5723D726}"/>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À J10, la prévision atteint 117 heures</a:t>
            </a:r>
          </a:p>
        </p:txBody>
      </p:sp>
      <p:sp>
        <p:nvSpPr>
          <p:cNvPr id="2" name="">
            <a:extLst xmlns:a="http://schemas.openxmlformats.org/drawingml/2006/main">
              <a:ext uri="{FF2B5EF4-FFF2-40B4-BE49-F238E27FC236}">
                <a16:creationId xmlns:a16="http://schemas.microsoft.com/office/drawing/2014/main" id="{64D901D6-EAA9-4DDD-A6F2-0BC5A5F8099D}"/>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C3.2.1 · Simulation pédagogique  ·  6</a:t>
            </a:r>
          </a:p>
        </p:txBody>
      </p:sp>
      <p:graphicFrame>
        <p:nvGraphicFramePr>
          <p:cNvPr id="6" name=""/>
          <p:cNvGraphicFramePr/>
          <p:nvPr/>
        </p:nvGraphicFramePr>
        <p:xfrm>
          <a:off xmlns:a="http://schemas.openxmlformats.org/drawingml/2006/main" x="609600" y="1714500"/>
          <a:ext xmlns:a="http://schemas.openxmlformats.org/drawingml/2006/main" cx="10972800" cy="3667125"/>
        </p:xfrm>
        <a:graphic xmlns:a="http://schemas.openxmlformats.org/drawingml/2006/main">
          <a:graphicData uri="http://schemas.openxmlformats.org/drawingml/2006/table">
            <a:tbl>
              <a:tblPr/>
              <a:tblGrid>
                <a:gridCol w="4572000"/>
                <a:gridCol w="2952750"/>
                <a:gridCol w="3448050"/>
              </a:tblGrid>
              <a:tr h="733425">
                <a:tc>
                  <a:txBody>
                    <a:bodyPr/>
                    <a:lstStyle/>
                    <a:p>
                      <a:r>
                        <a:rPr sz="1725" b="1">
                          <a:solidFill>
                            <a:srgbClr val="FFFFFF"/>
                          </a:solidFill>
                          <a:latin typeface="Arial"/>
                          <a:ea typeface="Arial"/>
                          <a:cs typeface="Arial"/>
                        </a:rPr>
                        <a:t>Indicateur</a:t>
                      </a:r>
                    </a:p>
                  </a:txBody>
                  <a:tcPr marL="91440" marR="91440" marT="45720" marB="45720">
                    <a:solidFill>
                      <a:srgbClr val="246B58"/>
                    </a:solidFill>
                  </a:tcPr>
                </a:tc>
                <a:tc>
                  <a:txBody>
                    <a:bodyPr/>
                    <a:lstStyle/>
                    <a:p>
                      <a:r>
                        <a:rPr sz="1725" b="1">
                          <a:solidFill>
                            <a:srgbClr val="FFFFFF"/>
                          </a:solidFill>
                          <a:latin typeface="Arial"/>
                          <a:ea typeface="Arial"/>
                          <a:cs typeface="Arial"/>
                        </a:rPr>
                        <a:t>Référence</a:t>
                      </a:r>
                    </a:p>
                  </a:txBody>
                  <a:tcPr marL="91440" marR="91440" marT="45720" marB="45720">
                    <a:solidFill>
                      <a:srgbClr val="246B58"/>
                    </a:solidFill>
                  </a:tcPr>
                </a:tc>
                <a:tc>
                  <a:txBody>
                    <a:bodyPr/>
                    <a:lstStyle/>
                    <a:p>
                      <a:r>
                        <a:rPr sz="1725" b="1">
                          <a:solidFill>
                            <a:srgbClr val="FFFFFF"/>
                          </a:solidFill>
                          <a:latin typeface="Arial"/>
                          <a:ea typeface="Arial"/>
                          <a:cs typeface="Arial"/>
                        </a:rPr>
                        <a:t>Prévision à J10</a:t>
                      </a:r>
                    </a:p>
                  </a:txBody>
                  <a:tcPr marL="91440" marR="91440" marT="45720" marB="45720">
                    <a:solidFill>
                      <a:srgbClr val="246B58"/>
                    </a:solidFill>
                  </a:tcPr>
                </a:tc>
              </a:tr>
              <a:tr h="733425">
                <a:tc>
                  <a:txBody>
                    <a:bodyPr/>
                    <a:lstStyle/>
                    <a:p>
                      <a:r>
                        <a:rPr sz="1725" b="0">
                          <a:solidFill>
                            <a:srgbClr val="18312D"/>
                          </a:solidFill>
                          <a:latin typeface="Arial"/>
                          <a:ea typeface="Arial"/>
                          <a:cs typeface="Arial"/>
                        </a:rPr>
                        <a:t>Charge</a:t>
                      </a:r>
                    </a:p>
                  </a:txBody>
                  <a:tcPr marL="91440" marR="91440" marT="45720" marB="45720">
                    <a:solidFill>
                      <a:srgbClr val="EDF3EF"/>
                    </a:solidFill>
                  </a:tcPr>
                </a:tc>
                <a:tc>
                  <a:txBody>
                    <a:bodyPr/>
                    <a:lstStyle/>
                    <a:p>
                      <a:r>
                        <a:rPr sz="1725" b="0">
                          <a:solidFill>
                            <a:srgbClr val="18312D"/>
                          </a:solidFill>
                          <a:latin typeface="Arial"/>
                          <a:ea typeface="Arial"/>
                          <a:cs typeface="Arial"/>
                        </a:rPr>
                        <a:t>112 h</a:t>
                      </a:r>
                    </a:p>
                  </a:txBody>
                  <a:tcPr marL="91440" marR="91440" marT="45720" marB="45720">
                    <a:solidFill>
                      <a:srgbClr val="EDF3EF"/>
                    </a:solidFill>
                  </a:tcPr>
                </a:tc>
                <a:tc>
                  <a:txBody>
                    <a:bodyPr/>
                    <a:lstStyle/>
                    <a:p>
                      <a:r>
                        <a:rPr sz="1725" b="0">
                          <a:solidFill>
                            <a:srgbClr val="18312D"/>
                          </a:solidFill>
                          <a:latin typeface="Arial"/>
                          <a:ea typeface="Arial"/>
                          <a:cs typeface="Arial"/>
                        </a:rPr>
                        <a:t>117 h</a:t>
                      </a:r>
                    </a:p>
                  </a:txBody>
                  <a:tcPr marL="91440" marR="91440" marT="45720" marB="45720">
                    <a:solidFill>
                      <a:srgbClr val="EDF3EF"/>
                    </a:solidFill>
                  </a:tcPr>
                </a:tc>
              </a:tr>
              <a:tr h="733425">
                <a:tc>
                  <a:txBody>
                    <a:bodyPr/>
                    <a:lstStyle/>
                    <a:p>
                      <a:r>
                        <a:rPr sz="1725" b="0">
                          <a:solidFill>
                            <a:srgbClr val="18312D"/>
                          </a:solidFill>
                          <a:latin typeface="Arial"/>
                          <a:ea typeface="Arial"/>
                          <a:cs typeface="Arial"/>
                        </a:rPr>
                        <a:t>Budget hors réserve</a:t>
                      </a:r>
                    </a:p>
                  </a:txBody>
                  <a:tcPr marL="91440" marR="91440" marT="45720" marB="45720">
                    <a:solidFill>
                      <a:srgbClr val="FFFFFF"/>
                    </a:solidFill>
                  </a:tcPr>
                </a:tc>
                <a:tc>
                  <a:txBody>
                    <a:bodyPr/>
                    <a:lstStyle/>
                    <a:p>
                      <a:r>
                        <a:rPr sz="1725" b="0">
                          <a:solidFill>
                            <a:srgbClr val="18312D"/>
                          </a:solidFill>
                          <a:latin typeface="Arial"/>
                          <a:ea typeface="Arial"/>
                          <a:cs typeface="Arial"/>
                        </a:rPr>
                        <a:t>4 270 €</a:t>
                      </a:r>
                    </a:p>
                  </a:txBody>
                  <a:tcPr marL="91440" marR="91440" marT="45720" marB="45720">
                    <a:solidFill>
                      <a:srgbClr val="FFFFFF"/>
                    </a:solidFill>
                  </a:tcPr>
                </a:tc>
                <a:tc>
                  <a:txBody>
                    <a:bodyPr/>
                    <a:lstStyle/>
                    <a:p>
                      <a:r>
                        <a:rPr sz="1725" b="0">
                          <a:solidFill>
                            <a:srgbClr val="18312D"/>
                          </a:solidFill>
                          <a:latin typeface="Arial"/>
                          <a:ea typeface="Arial"/>
                          <a:cs typeface="Arial"/>
                        </a:rPr>
                        <a:t>4 465 €</a:t>
                      </a:r>
                    </a:p>
                  </a:txBody>
                  <a:tcPr marL="91440" marR="91440" marT="45720" marB="45720">
                    <a:solidFill>
                      <a:srgbClr val="FFFFFF"/>
                    </a:solidFill>
                  </a:tcPr>
                </a:tc>
              </a:tr>
              <a:tr h="733425">
                <a:tc>
                  <a:txBody>
                    <a:bodyPr/>
                    <a:lstStyle/>
                    <a:p>
                      <a:r>
                        <a:rPr sz="1725" b="0">
                          <a:solidFill>
                            <a:srgbClr val="18312D"/>
                          </a:solidFill>
                          <a:latin typeface="Arial"/>
                          <a:ea typeface="Arial"/>
                          <a:cs typeface="Arial"/>
                        </a:rPr>
                        <a:t>Marge sous le plafond</a:t>
                      </a:r>
                    </a:p>
                  </a:txBody>
                  <a:tcPr marL="91440" marR="91440" marT="45720" marB="45720">
                    <a:solidFill>
                      <a:srgbClr val="EDF3EF"/>
                    </a:solidFill>
                  </a:tcPr>
                </a:tc>
                <a:tc>
                  <a:txBody>
                    <a:bodyPr/>
                    <a:lstStyle/>
                    <a:p>
                      <a:r>
                        <a:rPr sz="1725" b="0">
                          <a:solidFill>
                            <a:srgbClr val="18312D"/>
                          </a:solidFill>
                          <a:latin typeface="Arial"/>
                          <a:ea typeface="Arial"/>
                          <a:cs typeface="Arial"/>
                        </a:rPr>
                        <a:t>427 € de réserve</a:t>
                      </a:r>
                    </a:p>
                  </a:txBody>
                  <a:tcPr marL="91440" marR="91440" marT="45720" marB="45720">
                    <a:solidFill>
                      <a:srgbClr val="EDF3EF"/>
                    </a:solidFill>
                  </a:tcPr>
                </a:tc>
                <a:tc>
                  <a:txBody>
                    <a:bodyPr/>
                    <a:lstStyle/>
                    <a:p>
                      <a:r>
                        <a:rPr sz="1725" b="0">
                          <a:solidFill>
                            <a:srgbClr val="18312D"/>
                          </a:solidFill>
                          <a:latin typeface="Arial"/>
                          <a:ea typeface="Arial"/>
                          <a:cs typeface="Arial"/>
                        </a:rPr>
                        <a:t>232 € disponibles</a:t>
                      </a:r>
                    </a:p>
                  </a:txBody>
                  <a:tcPr marL="91440" marR="91440" marT="45720" marB="45720">
                    <a:solidFill>
                      <a:srgbClr val="EDF3EF"/>
                    </a:solidFill>
                  </a:tcPr>
                </a:tc>
              </a:tr>
              <a:tr h="733425">
                <a:tc>
                  <a:txBody>
                    <a:bodyPr/>
                    <a:lstStyle/>
                    <a:p>
                      <a:r>
                        <a:rPr sz="1725" b="0">
                          <a:solidFill>
                            <a:srgbClr val="18312D"/>
                          </a:solidFill>
                          <a:latin typeface="Arial"/>
                          <a:ea typeface="Arial"/>
                          <a:cs typeface="Arial"/>
                        </a:rPr>
                        <a:t>Tâches terminées</a:t>
                      </a:r>
                    </a:p>
                  </a:txBody>
                  <a:tcPr marL="91440" marR="91440" marT="45720" marB="45720">
                    <a:solidFill>
                      <a:srgbClr val="FFFFFF"/>
                    </a:solidFill>
                  </a:tcPr>
                </a:tc>
                <a:tc>
                  <a:txBody>
                    <a:bodyPr/>
                    <a:lstStyle/>
                    <a:p>
                      <a:r>
                        <a:rPr sz="1725" b="0">
                          <a:solidFill>
                            <a:srgbClr val="18312D"/>
                          </a:solidFill>
                          <a:latin typeface="Arial"/>
                          <a:ea typeface="Arial"/>
                          <a:cs typeface="Arial"/>
                        </a:rPr>
                        <a:t>10 tâches</a:t>
                      </a:r>
                    </a:p>
                  </a:txBody>
                  <a:tcPr marL="91440" marR="91440" marT="45720" marB="45720">
                    <a:solidFill>
                      <a:srgbClr val="FFFFFF"/>
                    </a:solidFill>
                  </a:tcPr>
                </a:tc>
                <a:tc>
                  <a:txBody>
                    <a:bodyPr/>
                    <a:lstStyle/>
                    <a:p>
                      <a:r>
                        <a:rPr sz="1725" b="0">
                          <a:solidFill>
                            <a:srgbClr val="18312D"/>
                          </a:solidFill>
                          <a:latin typeface="Arial"/>
                          <a:ea typeface="Arial"/>
                          <a:cs typeface="Arial"/>
                        </a:rPr>
                        <a:t>5 terminées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575258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494F41-CA5F-4794-B301-464D5AE77AE0}"/>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Surveiller la charge et les risques</a:t>
            </a:r>
          </a:p>
        </p:txBody>
      </p:sp>
      <p:sp>
        <p:nvSpPr>
          <p:cNvPr id="2" name="">
            <a:extLst xmlns:a="http://schemas.openxmlformats.org/drawingml/2006/main">
              <a:ext uri="{FF2B5EF4-FFF2-40B4-BE49-F238E27FC236}">
                <a16:creationId xmlns:a16="http://schemas.microsoft.com/office/drawing/2014/main" id="{B2D89A57-6B79-444E-9A23-CA441CEF1199}"/>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C3.2.1 · Simulation pédagogique  ·  7</a:t>
            </a:r>
          </a:p>
        </p:txBody>
      </p:sp>
      <p:graphicFrame>
        <p:nvGraphicFramePr>
          <p:cNvPr id="7" name=""/>
          <p:cNvGraphicFramePr/>
          <p:nvPr/>
        </p:nvGraphicFramePr>
        <p:xfrm>
          <a:off xmlns:a="http://schemas.openxmlformats.org/drawingml/2006/main" x="609600" y="1714500"/>
          <a:ext xmlns:a="http://schemas.openxmlformats.org/drawingml/2006/main" cx="10972800" cy="2857500"/>
        </p:xfrm>
        <a:graphic xmlns:a="http://schemas.openxmlformats.org/drawingml/2006/main">
          <a:graphicData uri="http://schemas.openxmlformats.org/drawingml/2006/table">
            <a:tbl>
              <a:tblPr/>
              <a:tblGrid>
                <a:gridCol w="1809750"/>
                <a:gridCol w="3143250"/>
                <a:gridCol w="6019800"/>
              </a:tblGrid>
              <a:tr h="714375">
                <a:tc>
                  <a:txBody>
                    <a:bodyPr/>
                    <a:lstStyle/>
                    <a:p>
                      <a:r>
                        <a:rPr sz="1725" b="1">
                          <a:solidFill>
                            <a:srgbClr val="FFFFFF"/>
                          </a:solidFill>
                          <a:latin typeface="Arial"/>
                          <a:ea typeface="Arial"/>
                          <a:cs typeface="Arial"/>
                        </a:rPr>
                        <a:t>Rôle</a:t>
                      </a:r>
                    </a:p>
                  </a:txBody>
                  <a:tcPr marL="91440" marR="91440" marT="45720" marB="45720">
                    <a:solidFill>
                      <a:srgbClr val="246B58"/>
                    </a:solidFill>
                  </a:tcPr>
                </a:tc>
                <a:tc>
                  <a:txBody>
                    <a:bodyPr/>
                    <a:lstStyle/>
                    <a:p>
                      <a:r>
                        <a:rPr sz="1725" b="1">
                          <a:solidFill>
                            <a:srgbClr val="FFFFFF"/>
                          </a:solidFill>
                          <a:latin typeface="Arial"/>
                          <a:ea typeface="Arial"/>
                          <a:cs typeface="Arial"/>
                        </a:rPr>
                        <a:t>Prévision / capacité</a:t>
                      </a:r>
                    </a:p>
                  </a:txBody>
                  <a:tcPr marL="91440" marR="91440" marT="45720" marB="45720">
                    <a:solidFill>
                      <a:srgbClr val="246B58"/>
                    </a:solidFill>
                  </a:tcPr>
                </a:tc>
                <a:tc>
                  <a:txBody>
                    <a:bodyPr/>
                    <a:lstStyle/>
                    <a:p>
                      <a:r>
                        <a:rPr sz="1725" b="1">
                          <a:solidFill>
                            <a:srgbClr val="FFFFFF"/>
                          </a:solidFill>
                          <a:latin typeface="Arial"/>
                          <a:ea typeface="Arial"/>
                          <a:cs typeface="Arial"/>
                        </a:rPr>
                        <a:t>Point de vigilance</a:t>
                      </a:r>
                    </a:p>
                  </a:txBody>
                  <a:tcPr marL="91440" marR="91440" marT="45720" marB="45720">
                    <a:solidFill>
                      <a:srgbClr val="246B58"/>
                    </a:solidFill>
                  </a:tcPr>
                </a:tc>
              </a:tr>
              <a:tr h="714375">
                <a:tc>
                  <a:txBody>
                    <a:bodyPr/>
                    <a:lstStyle/>
                    <a:p>
                      <a:r>
                        <a:rPr sz="1725" b="0">
                          <a:solidFill>
                            <a:srgbClr val="18312D"/>
                          </a:solidFill>
                          <a:latin typeface="Arial"/>
                          <a:ea typeface="Arial"/>
                          <a:cs typeface="Arial"/>
                        </a:rPr>
                        <a:t>CP</a:t>
                      </a:r>
                    </a:p>
                  </a:txBody>
                  <a:tcPr marL="91440" marR="91440" marT="45720" marB="45720">
                    <a:solidFill>
                      <a:srgbClr val="EDF3EF"/>
                    </a:solidFill>
                  </a:tcPr>
                </a:tc>
                <a:tc>
                  <a:txBody>
                    <a:bodyPr/>
                    <a:lstStyle/>
                    <a:p>
                      <a:r>
                        <a:rPr sz="1725" b="0">
                          <a:solidFill>
                            <a:srgbClr val="18312D"/>
                          </a:solidFill>
                          <a:latin typeface="Arial"/>
                          <a:ea typeface="Arial"/>
                          <a:cs typeface="Arial"/>
                        </a:rPr>
                        <a:t>29 / 30 h</a:t>
                      </a:r>
                    </a:p>
                  </a:txBody>
                  <a:tcPr marL="91440" marR="91440" marT="45720" marB="45720">
                    <a:solidFill>
                      <a:srgbClr val="EDF3EF"/>
                    </a:solidFill>
                  </a:tcPr>
                </a:tc>
                <a:tc>
                  <a:txBody>
                    <a:bodyPr/>
                    <a:lstStyle/>
                    <a:p>
                      <a:r>
                        <a:rPr sz="1725" b="0">
                          <a:solidFill>
                            <a:srgbClr val="18312D"/>
                          </a:solidFill>
                          <a:latin typeface="Arial"/>
                          <a:ea typeface="Arial"/>
                          <a:cs typeface="Arial"/>
                        </a:rPr>
                        <a:t>1 h de marge seulement</a:t>
                      </a:r>
                    </a:p>
                  </a:txBody>
                  <a:tcPr marL="91440" marR="91440" marT="45720" marB="45720">
                    <a:solidFill>
                      <a:srgbClr val="EDF3EF"/>
                    </a:solidFill>
                  </a:tcPr>
                </a:tc>
              </a:tr>
              <a:tr h="714375">
                <a:tc>
                  <a:txBody>
                    <a:bodyPr/>
                    <a:lstStyle/>
                    <a:p>
                      <a:r>
                        <a:rPr sz="1725" b="0">
                          <a:solidFill>
                            <a:srgbClr val="18312D"/>
                          </a:solidFill>
                          <a:latin typeface="Arial"/>
                          <a:ea typeface="Arial"/>
                          <a:cs typeface="Arial"/>
                        </a:rPr>
                        <a:t>DEV</a:t>
                      </a:r>
                    </a:p>
                  </a:txBody>
                  <a:tcPr marL="91440" marR="91440" marT="45720" marB="45720">
                    <a:solidFill>
                      <a:srgbClr val="FFFFFF"/>
                    </a:solidFill>
                  </a:tcPr>
                </a:tc>
                <a:tc>
                  <a:txBody>
                    <a:bodyPr/>
                    <a:lstStyle/>
                    <a:p>
                      <a:r>
                        <a:rPr sz="1725" b="0">
                          <a:solidFill>
                            <a:srgbClr val="18312D"/>
                          </a:solidFill>
                          <a:latin typeface="Arial"/>
                          <a:ea typeface="Arial"/>
                          <a:cs typeface="Arial"/>
                        </a:rPr>
                        <a:t>64 / 72 h</a:t>
                      </a:r>
                    </a:p>
                  </a:txBody>
                  <a:tcPr marL="91440" marR="91440" marT="45720" marB="45720">
                    <a:solidFill>
                      <a:srgbClr val="FFFFFF"/>
                    </a:solidFill>
                  </a:tcPr>
                </a:tc>
                <a:tc>
                  <a:txBody>
                    <a:bodyPr/>
                    <a:lstStyle/>
                    <a:p>
                      <a:r>
                        <a:rPr sz="1725" b="0">
                          <a:solidFill>
                            <a:srgbClr val="18312D"/>
                          </a:solidFill>
                          <a:latin typeface="Arial"/>
                          <a:ea typeface="Arial"/>
                          <a:cs typeface="Arial"/>
                        </a:rPr>
                        <a:t>Pas de nouveau lot sans arbitrage</a:t>
                      </a:r>
                    </a:p>
                  </a:txBody>
                  <a:tcPr marL="91440" marR="91440" marT="45720" marB="45720">
                    <a:solidFill>
                      <a:srgbClr val="FFFFFF"/>
                    </a:solidFill>
                  </a:tcPr>
                </a:tc>
              </a:tr>
              <a:tr h="714375">
                <a:tc>
                  <a:txBody>
                    <a:bodyPr/>
                    <a:lstStyle/>
                    <a:p>
                      <a:r>
                        <a:rPr sz="1725" b="0">
                          <a:solidFill>
                            <a:srgbClr val="18312D"/>
                          </a:solidFill>
                          <a:latin typeface="Arial"/>
                          <a:ea typeface="Arial"/>
                          <a:cs typeface="Arial"/>
                        </a:rPr>
                        <a:t>QA</a:t>
                      </a:r>
                    </a:p>
                  </a:txBody>
                  <a:tcPr marL="91440" marR="91440" marT="45720" marB="45720">
                    <a:solidFill>
                      <a:srgbClr val="EDF3EF"/>
                    </a:solidFill>
                  </a:tcPr>
                </a:tc>
                <a:tc>
                  <a:txBody>
                    <a:bodyPr/>
                    <a:lstStyle/>
                    <a:p>
                      <a:r>
                        <a:rPr sz="1725" b="0">
                          <a:solidFill>
                            <a:srgbClr val="18312D"/>
                          </a:solidFill>
                          <a:latin typeface="Arial"/>
                          <a:ea typeface="Arial"/>
                          <a:cs typeface="Arial"/>
                        </a:rPr>
                        <a:t>24 / 30 h</a:t>
                      </a:r>
                    </a:p>
                  </a:txBody>
                  <a:tcPr marL="91440" marR="91440" marT="45720" marB="45720">
                    <a:solidFill>
                      <a:srgbClr val="EDF3EF"/>
                    </a:solidFill>
                  </a:tcPr>
                </a:tc>
                <a:tc>
                  <a:txBody>
                    <a:bodyPr/>
                    <a:lstStyle/>
                    <a:p>
                      <a:r>
                        <a:rPr sz="1725" b="0">
                          <a:solidFill>
                            <a:srgbClr val="18312D"/>
                          </a:solidFill>
                          <a:latin typeface="Arial"/>
                          <a:ea typeface="Arial"/>
                          <a:cs typeface="Arial"/>
                        </a:rPr>
                        <a:t>Conserver les contrôles critiques</a:t>
                      </a:r>
                    </a:p>
                  </a:txBody>
                  <a:tcPr marL="91440" marR="91440" marT="45720" marB="45720">
                    <a:solidFill>
                      <a:srgbClr val="EDF3EF"/>
                    </a:solidFill>
                  </a:tcPr>
                </a:tc>
              </a:tr>
            </a:tbl>
          </a:graphicData>
        </a:graphic>
      </p:graphicFrame>
      <p:sp>
        <p:nvSpPr>
          <p:cNvPr id="4" name="">
            <a:extLst xmlns:a="http://schemas.openxmlformats.org/drawingml/2006/main">
              <a:ext uri="{FF2B5EF4-FFF2-40B4-BE49-F238E27FC236}">
                <a16:creationId xmlns:a16="http://schemas.microsoft.com/office/drawing/2014/main" id="{D53E0A62-AF3F-4557-8BC0-218384C0A9DA}"/>
              </a:ext>
            </a:extLst>
          </p:cNvPr>
          <p:cNvSpPr>
            <a:spLocks xmlns:a="http://schemas.openxmlformats.org/drawingml/2006/main" noGrp="1"/>
          </p:cNvSpPr>
          <p:nvPr/>
        </p:nvSpPr>
        <p:spPr>
          <a:xfrm xmlns:a="http://schemas.openxmlformats.org/drawingml/2006/main">
            <a:off x="685800" y="51625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6B58"/>
                </a:solidFill>
                <a:latin typeface="Arial"/>
                <a:ea typeface="Arial"/>
                <a:cs typeface="Arial"/>
              </a:defRPr>
            </a:pPr>
            <a:r>
              <a:rPr sz="1950" b="1">
                <a:solidFill>
                  <a:srgbClr val="246B58"/>
                </a:solidFill>
                <a:latin typeface="Arial"/>
                <a:ea typeface="Arial"/>
                <a:cs typeface="Arial"/>
              </a:rPr>
              <a:t>Risques suivis : environnement, charge, périmètre, capacité et dépôt</a:t>
            </a:r>
          </a:p>
        </p:txBody>
      </p:sp>
    </p:spTree>
    <p:extLst>
      <p:ext uri="{BB962C8B-B14F-4D97-AF65-F5344CB8AC3E}">
        <p14:creationId xmlns:p14="http://schemas.microsoft.com/office/powerpoint/2010/main" val="17725301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2CD303-BB2C-4EEC-A33A-3F4A40ABD522}"/>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Arbitrage réel : tester le standalone</a:t>
            </a:r>
          </a:p>
        </p:txBody>
      </p:sp>
      <p:sp>
        <p:nvSpPr>
          <p:cNvPr id="2" name="">
            <a:extLst xmlns:a="http://schemas.openxmlformats.org/drawingml/2006/main">
              <a:ext uri="{FF2B5EF4-FFF2-40B4-BE49-F238E27FC236}">
                <a16:creationId xmlns:a16="http://schemas.microsoft.com/office/drawing/2014/main" id="{E9B6DFB4-E28C-46DB-BFDA-80280A69A4AF}"/>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C3.2.2 · Git observé et analyse rétrospective  ·  8</a:t>
            </a:r>
          </a:p>
        </p:txBody>
      </p:sp>
      <p:graphicFrame>
        <p:nvGraphicFramePr>
          <p:cNvPr id="7" name=""/>
          <p:cNvGraphicFramePr/>
          <p:nvPr/>
        </p:nvGraphicFramePr>
        <p:xfrm>
          <a:off xmlns:a="http://schemas.openxmlformats.org/drawingml/2006/main" x="609600" y="1733550"/>
          <a:ext xmlns:a="http://schemas.openxmlformats.org/drawingml/2006/main" cx="10972800" cy="3238500"/>
        </p:xfrm>
        <a:graphic xmlns:a="http://schemas.openxmlformats.org/drawingml/2006/main">
          <a:graphicData uri="http://schemas.openxmlformats.org/drawingml/2006/table">
            <a:tbl>
              <a:tblPr/>
              <a:tblGrid>
                <a:gridCol w="3048000"/>
                <a:gridCol w="4143375"/>
                <a:gridCol w="3781425"/>
              </a:tblGrid>
              <a:tr h="809625">
                <a:tc>
                  <a:txBody>
                    <a:bodyPr/>
                    <a:lstStyle/>
                    <a:p>
                      <a:r>
                        <a:rPr sz="1725" b="1">
                          <a:solidFill>
                            <a:srgbClr val="FFFFFF"/>
                          </a:solidFill>
                          <a:latin typeface="Arial"/>
                          <a:ea typeface="Arial"/>
                          <a:cs typeface="Arial"/>
                        </a:rPr>
                        <a:t>Option</a:t>
                      </a:r>
                    </a:p>
                  </a:txBody>
                  <a:tcPr marL="91440" marR="91440" marT="45720" marB="45720">
                    <a:solidFill>
                      <a:srgbClr val="246B58"/>
                    </a:solidFill>
                  </a:tcPr>
                </a:tc>
                <a:tc>
                  <a:txBody>
                    <a:bodyPr/>
                    <a:lstStyle/>
                    <a:p>
                      <a:r>
                        <a:rPr sz="1725" b="1">
                          <a:solidFill>
                            <a:srgbClr val="FFFFFF"/>
                          </a:solidFill>
                          <a:latin typeface="Arial"/>
                          <a:ea typeface="Arial"/>
                          <a:cs typeface="Arial"/>
                        </a:rPr>
                        <a:t>Effet attendu</a:t>
                      </a:r>
                    </a:p>
                  </a:txBody>
                  <a:tcPr marL="91440" marR="91440" marT="45720" marB="45720">
                    <a:solidFill>
                      <a:srgbClr val="246B58"/>
                    </a:solidFill>
                  </a:tcPr>
                </a:tc>
                <a:tc>
                  <a:txBody>
                    <a:bodyPr/>
                    <a:lstStyle/>
                    <a:p>
                      <a:r>
                        <a:rPr sz="1725" b="1">
                          <a:solidFill>
                            <a:srgbClr val="FFFFFF"/>
                          </a:solidFill>
                          <a:latin typeface="Arial"/>
                          <a:ea typeface="Arial"/>
                          <a:cs typeface="Arial"/>
                        </a:rPr>
                        <a:t>Limite</a:t>
                      </a:r>
                    </a:p>
                  </a:txBody>
                  <a:tcPr marL="91440" marR="91440" marT="45720" marB="45720">
                    <a:solidFill>
                      <a:srgbClr val="246B58"/>
                    </a:solidFill>
                  </a:tcPr>
                </a:tc>
              </a:tr>
              <a:tr h="809625">
                <a:tc>
                  <a:txBody>
                    <a:bodyPr/>
                    <a:lstStyle/>
                    <a:p>
                      <a:r>
                        <a:rPr sz="1725" b="0">
                          <a:solidFill>
                            <a:srgbClr val="18312D"/>
                          </a:solidFill>
                          <a:latin typeface="Arial"/>
                          <a:ea typeface="Arial"/>
                          <a:cs typeface="Arial"/>
                        </a:rPr>
                        <a:t>Ajouter des retries</a:t>
                      </a:r>
                    </a:p>
                  </a:txBody>
                  <a:tcPr marL="91440" marR="91440" marT="45720" marB="45720">
                    <a:solidFill>
                      <a:srgbClr val="EDF3EF"/>
                    </a:solidFill>
                  </a:tcPr>
                </a:tc>
                <a:tc>
                  <a:txBody>
                    <a:bodyPr/>
                    <a:lstStyle/>
                    <a:p>
                      <a:r>
                        <a:rPr sz="1725" b="0">
                          <a:solidFill>
                            <a:srgbClr val="18312D"/>
                          </a:solidFill>
                          <a:latin typeface="Arial"/>
                          <a:ea typeface="Arial"/>
                          <a:cs typeface="Arial"/>
                        </a:rPr>
                        <a:t>Absorber certains délais</a:t>
                      </a:r>
                    </a:p>
                  </a:txBody>
                  <a:tcPr marL="91440" marR="91440" marT="45720" marB="45720">
                    <a:solidFill>
                      <a:srgbClr val="EDF3EF"/>
                    </a:solidFill>
                  </a:tcPr>
                </a:tc>
                <a:tc>
                  <a:txBody>
                    <a:bodyPr/>
                    <a:lstStyle/>
                    <a:p>
                      <a:r>
                        <a:rPr sz="1725" b="0">
                          <a:solidFill>
                            <a:srgbClr val="18312D"/>
                          </a:solidFill>
                          <a:latin typeface="Arial"/>
                          <a:ea typeface="Arial"/>
                          <a:cs typeface="Arial"/>
                        </a:rPr>
                        <a:t>Peut masquer la cause</a:t>
                      </a:r>
                    </a:p>
                  </a:txBody>
                  <a:tcPr marL="91440" marR="91440" marT="45720" marB="45720">
                    <a:solidFill>
                      <a:srgbClr val="EDF3EF"/>
                    </a:solidFill>
                  </a:tcPr>
                </a:tc>
              </a:tr>
              <a:tr h="809625">
                <a:tc>
                  <a:txBody>
                    <a:bodyPr/>
                    <a:lstStyle/>
                    <a:p>
                      <a:r>
                        <a:rPr sz="1725" b="0">
                          <a:solidFill>
                            <a:srgbClr val="18312D"/>
                          </a:solidFill>
                          <a:latin typeface="Arial"/>
                          <a:ea typeface="Arial"/>
                          <a:cs typeface="Arial"/>
                        </a:rPr>
                        <a:t>Préchauffer le dev</a:t>
                      </a:r>
                    </a:p>
                  </a:txBody>
                  <a:tcPr marL="91440" marR="91440" marT="45720" marB="45720">
                    <a:solidFill>
                      <a:srgbClr val="FFFFFF"/>
                    </a:solidFill>
                  </a:tcPr>
                </a:tc>
                <a:tc>
                  <a:txBody>
                    <a:bodyPr/>
                    <a:lstStyle/>
                    <a:p>
                      <a:r>
                        <a:rPr sz="1725" b="0">
                          <a:solidFill>
                            <a:srgbClr val="18312D"/>
                          </a:solidFill>
                          <a:latin typeface="Arial"/>
                          <a:ea typeface="Arial"/>
                          <a:cs typeface="Arial"/>
                        </a:rPr>
                        <a:t>Réduire les compilations</a:t>
                      </a:r>
                    </a:p>
                  </a:txBody>
                  <a:tcPr marL="91440" marR="91440" marT="45720" marB="45720">
                    <a:solidFill>
                      <a:srgbClr val="FFFFFF"/>
                    </a:solidFill>
                  </a:tcPr>
                </a:tc>
                <a:tc>
                  <a:txBody>
                    <a:bodyPr/>
                    <a:lstStyle/>
                    <a:p>
                      <a:r>
                        <a:rPr sz="1725" b="0">
                          <a:solidFill>
                            <a:srgbClr val="18312D"/>
                          </a:solidFill>
                          <a:latin typeface="Arial"/>
                          <a:ea typeface="Arial"/>
                          <a:cs typeface="Arial"/>
                        </a:rPr>
                        <a:t>Dépend des routes</a:t>
                      </a:r>
                    </a:p>
                  </a:txBody>
                  <a:tcPr marL="91440" marR="91440" marT="45720" marB="45720">
                    <a:solidFill>
                      <a:srgbClr val="FFFFFF"/>
                    </a:solidFill>
                  </a:tcPr>
                </a:tc>
              </a:tr>
              <a:tr h="809625">
                <a:tc>
                  <a:txBody>
                    <a:bodyPr/>
                    <a:lstStyle/>
                    <a:p>
                      <a:r>
                        <a:rPr sz="1725" b="0">
                          <a:solidFill>
                            <a:srgbClr val="18312D"/>
                          </a:solidFill>
                          <a:latin typeface="Arial"/>
                          <a:ea typeface="Arial"/>
                          <a:cs typeface="Arial"/>
                        </a:rPr>
                        <a:t>Tester le standalone</a:t>
                      </a:r>
                    </a:p>
                  </a:txBody>
                  <a:tcPr marL="91440" marR="91440" marT="45720" marB="45720">
                    <a:solidFill>
                      <a:srgbClr val="EDF3EF"/>
                    </a:solidFill>
                  </a:tcPr>
                </a:tc>
                <a:tc>
                  <a:txBody>
                    <a:bodyPr/>
                    <a:lstStyle/>
                    <a:p>
                      <a:r>
                        <a:rPr sz="1725" b="0">
                          <a:solidFill>
                            <a:srgbClr val="18312D"/>
                          </a:solidFill>
                          <a:latin typeface="Arial"/>
                          <a:ea typeface="Arial"/>
                          <a:cs typeface="Arial"/>
                        </a:rPr>
                        <a:t>Aligner recette et livraison</a:t>
                      </a:r>
                    </a:p>
                  </a:txBody>
                  <a:tcPr marL="91440" marR="91440" marT="45720" marB="45720">
                    <a:solidFill>
                      <a:srgbClr val="EDF3EF"/>
                    </a:solidFill>
                  </a:tcPr>
                </a:tc>
                <a:tc>
                  <a:txBody>
                    <a:bodyPr/>
                    <a:lstStyle/>
                    <a:p>
                      <a:r>
                        <a:rPr sz="1725" b="0">
                          <a:solidFill>
                            <a:srgbClr val="18312D"/>
                          </a:solidFill>
                          <a:latin typeface="Arial"/>
                          <a:ea typeface="Arial"/>
                          <a:cs typeface="Arial"/>
                        </a:rPr>
                        <a:t>Build préalable</a:t>
                      </a:r>
                    </a:p>
                  </a:txBody>
                  <a:tcPr marL="91440" marR="91440" marT="45720" marB="45720">
                    <a:solidFill>
                      <a:srgbClr val="EDF3EF"/>
                    </a:solidFill>
                  </a:tcPr>
                </a:tc>
              </a:tr>
            </a:tbl>
          </a:graphicData>
        </a:graphic>
      </p:graphicFrame>
      <p:sp>
        <p:nvSpPr>
          <p:cNvPr id="4" name="">
            <a:extLst xmlns:a="http://schemas.openxmlformats.org/drawingml/2006/main">
              <a:ext uri="{FF2B5EF4-FFF2-40B4-BE49-F238E27FC236}">
                <a16:creationId xmlns:a16="http://schemas.microsoft.com/office/drawing/2014/main" id="{374CF8EF-A318-42D6-81CC-1B7AB574CC78}"/>
              </a:ext>
            </a:extLst>
          </p:cNvPr>
          <p:cNvSpPr>
            <a:spLocks xmlns:a="http://schemas.openxmlformats.org/drawingml/2006/main" noGrp="1"/>
          </p:cNvSpPr>
          <p:nvPr/>
        </p:nvSpPr>
        <p:spPr>
          <a:xfrm xmlns:a="http://schemas.openxmlformats.org/drawingml/2006/main">
            <a:off x="685800" y="54483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Décision visible dans le commit 689e59d du 20 juillet 2026</a:t>
            </a:r>
          </a:p>
        </p:txBody>
      </p:sp>
    </p:spTree>
    <p:extLst>
      <p:ext uri="{BB962C8B-B14F-4D97-AF65-F5344CB8AC3E}">
        <p14:creationId xmlns:p14="http://schemas.microsoft.com/office/powerpoint/2010/main" val="20195359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B847AEB-F2DD-4582-B4C8-2AB3754A4903}"/>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Arbitrage de périmètre à J10</a:t>
            </a:r>
          </a:p>
        </p:txBody>
      </p:sp>
      <p:sp>
        <p:nvSpPr>
          <p:cNvPr id="2" name="">
            <a:extLst xmlns:a="http://schemas.openxmlformats.org/drawingml/2006/main">
              <a:ext uri="{FF2B5EF4-FFF2-40B4-BE49-F238E27FC236}">
                <a16:creationId xmlns:a16="http://schemas.microsoft.com/office/drawing/2014/main" id="{DC3C3A53-AF8C-4636-8294-3BA17902822B}"/>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C3.2.2 · Simulation pédagogique  ·  9</a:t>
            </a:r>
          </a:p>
        </p:txBody>
      </p:sp>
      <p:graphicFrame>
        <p:nvGraphicFramePr>
          <p:cNvPr id="6" name=""/>
          <p:cNvGraphicFramePr/>
          <p:nvPr/>
        </p:nvGraphicFramePr>
        <p:xfrm>
          <a:off xmlns:a="http://schemas.openxmlformats.org/drawingml/2006/main" x="609600" y="1733550"/>
          <a:ext xmlns:a="http://schemas.openxmlformats.org/drawingml/2006/main" cx="10972800" cy="3333750"/>
        </p:xfrm>
        <a:graphic xmlns:a="http://schemas.openxmlformats.org/drawingml/2006/main">
          <a:graphicData uri="http://schemas.openxmlformats.org/drawingml/2006/table">
            <a:tbl>
              <a:tblPr/>
              <a:tblGrid>
                <a:gridCol w="3143250"/>
                <a:gridCol w="2857500"/>
                <a:gridCol w="4972050"/>
              </a:tblGrid>
              <a:tr h="833438">
                <a:tc>
                  <a:txBody>
                    <a:bodyPr/>
                    <a:lstStyle/>
                    <a:p>
                      <a:r>
                        <a:rPr sz="1725" b="1">
                          <a:solidFill>
                            <a:srgbClr val="FFFFFF"/>
                          </a:solidFill>
                          <a:latin typeface="Arial"/>
                          <a:ea typeface="Arial"/>
                          <a:cs typeface="Arial"/>
                        </a:rPr>
                        <a:t>Choix</a:t>
                      </a:r>
                    </a:p>
                  </a:txBody>
                  <a:tcPr marL="91440" marR="91440" marT="45720" marB="45720">
                    <a:solidFill>
                      <a:srgbClr val="246B58"/>
                    </a:solidFill>
                  </a:tcPr>
                </a:tc>
                <a:tc>
                  <a:txBody>
                    <a:bodyPr/>
                    <a:lstStyle/>
                    <a:p>
                      <a:r>
                        <a:rPr sz="1725" b="1">
                          <a:solidFill>
                            <a:srgbClr val="FFFFFF"/>
                          </a:solidFill>
                          <a:latin typeface="Arial"/>
                          <a:ea typeface="Arial"/>
                          <a:cs typeface="Arial"/>
                        </a:rPr>
                        <a:t>Coût final du cas</a:t>
                      </a:r>
                    </a:p>
                  </a:txBody>
                  <a:tcPr marL="91440" marR="91440" marT="45720" marB="45720">
                    <a:solidFill>
                      <a:srgbClr val="246B58"/>
                    </a:solidFill>
                  </a:tcPr>
                </a:tc>
                <a:tc>
                  <a:txBody>
                    <a:bodyPr/>
                    <a:lstStyle/>
                    <a:p>
                      <a:r>
                        <a:rPr sz="1725" b="1">
                          <a:solidFill>
                            <a:srgbClr val="FFFFFF"/>
                          </a:solidFill>
                          <a:latin typeface="Arial"/>
                          <a:ea typeface="Arial"/>
                          <a:cs typeface="Arial"/>
                        </a:rPr>
                        <a:t>Conséquence</a:t>
                      </a:r>
                    </a:p>
                  </a:txBody>
                  <a:tcPr marL="91440" marR="91440" marT="45720" marB="45720">
                    <a:solidFill>
                      <a:srgbClr val="246B58"/>
                    </a:solidFill>
                  </a:tcPr>
                </a:tc>
              </a:tr>
              <a:tr h="833438">
                <a:tc>
                  <a:txBody>
                    <a:bodyPr/>
                    <a:lstStyle/>
                    <a:p>
                      <a:r>
                        <a:rPr sz="1725" b="0">
                          <a:solidFill>
                            <a:srgbClr val="18312D"/>
                          </a:solidFill>
                          <a:latin typeface="Arial"/>
                          <a:ea typeface="Arial"/>
                          <a:cs typeface="Arial"/>
                        </a:rPr>
                        <a:t>Ajouter la demande</a:t>
                      </a:r>
                    </a:p>
                  </a:txBody>
                  <a:tcPr marL="91440" marR="91440" marT="45720" marB="45720">
                    <a:solidFill>
                      <a:srgbClr val="EDF3EF"/>
                    </a:solidFill>
                  </a:tcPr>
                </a:tc>
                <a:tc>
                  <a:txBody>
                    <a:bodyPr/>
                    <a:lstStyle/>
                    <a:p>
                      <a:r>
                        <a:rPr sz="1725" b="0">
                          <a:solidFill>
                            <a:srgbClr val="18312D"/>
                          </a:solidFill>
                          <a:latin typeface="Arial"/>
                          <a:ea typeface="Arial"/>
                          <a:cs typeface="Arial"/>
                        </a:rPr>
                        <a:t>5 005 €</a:t>
                      </a:r>
                    </a:p>
                  </a:txBody>
                  <a:tcPr marL="91440" marR="91440" marT="45720" marB="45720">
                    <a:solidFill>
                      <a:srgbClr val="EDF3EF"/>
                    </a:solidFill>
                  </a:tcPr>
                </a:tc>
                <a:tc>
                  <a:txBody>
                    <a:bodyPr/>
                    <a:lstStyle/>
                    <a:p>
                      <a:r>
                        <a:rPr sz="1725" b="0">
                          <a:solidFill>
                            <a:srgbClr val="18312D"/>
                          </a:solidFill>
                          <a:latin typeface="Arial"/>
                          <a:ea typeface="Arial"/>
                          <a:cs typeface="Arial"/>
                        </a:rPr>
                        <a:t>308 € au-dessus du plafond</a:t>
                      </a:r>
                    </a:p>
                  </a:txBody>
                  <a:tcPr marL="91440" marR="91440" marT="45720" marB="45720">
                    <a:solidFill>
                      <a:srgbClr val="EDF3EF"/>
                    </a:solidFill>
                  </a:tcPr>
                </a:tc>
              </a:tr>
              <a:tr h="833438">
                <a:tc>
                  <a:txBody>
                    <a:bodyPr/>
                    <a:lstStyle/>
                    <a:p>
                      <a:r>
                        <a:rPr sz="1725" b="0">
                          <a:solidFill>
                            <a:srgbClr val="18312D"/>
                          </a:solidFill>
                          <a:latin typeface="Arial"/>
                          <a:ea typeface="Arial"/>
                          <a:cs typeface="Arial"/>
                        </a:rPr>
                        <a:t>Réduire la recette</a:t>
                      </a:r>
                    </a:p>
                  </a:txBody>
                  <a:tcPr marL="91440" marR="91440" marT="45720" marB="45720">
                    <a:solidFill>
                      <a:srgbClr val="FFFFFF"/>
                    </a:solidFill>
                  </a:tcPr>
                </a:tc>
                <a:tc>
                  <a:txBody>
                    <a:bodyPr/>
                    <a:lstStyle/>
                    <a:p>
                      <a:r>
                        <a:rPr sz="1725" b="0">
                          <a:solidFill>
                            <a:srgbClr val="18312D"/>
                          </a:solidFill>
                          <a:latin typeface="Arial"/>
                          <a:ea typeface="Arial"/>
                          <a:cs typeface="Arial"/>
                        </a:rPr>
                        <a:t>Qualité non démontrée</a:t>
                      </a:r>
                    </a:p>
                  </a:txBody>
                  <a:tcPr marL="91440" marR="91440" marT="45720" marB="45720">
                    <a:solidFill>
                      <a:srgbClr val="FFFFFF"/>
                    </a:solidFill>
                  </a:tcPr>
                </a:tc>
                <a:tc>
                  <a:txBody>
                    <a:bodyPr/>
                    <a:lstStyle/>
                    <a:p>
                      <a:r>
                        <a:rPr sz="1725" b="0">
                          <a:solidFill>
                            <a:srgbClr val="18312D"/>
                          </a:solidFill>
                          <a:latin typeface="Arial"/>
                          <a:ea typeface="Arial"/>
                          <a:cs typeface="Arial"/>
                        </a:rPr>
                        <a:t>Critères engagés fragilisés</a:t>
                      </a:r>
                    </a:p>
                  </a:txBody>
                  <a:tcPr marL="91440" marR="91440" marT="45720" marB="45720">
                    <a:solidFill>
                      <a:srgbClr val="FFFFFF"/>
                    </a:solidFill>
                  </a:tcPr>
                </a:tc>
              </a:tr>
              <a:tr h="833438">
                <a:tc>
                  <a:txBody>
                    <a:bodyPr/>
                    <a:lstStyle/>
                    <a:p>
                      <a:r>
                        <a:rPr sz="1725" b="0">
                          <a:solidFill>
                            <a:srgbClr val="18312D"/>
                          </a:solidFill>
                          <a:latin typeface="Arial"/>
                          <a:ea typeface="Arial"/>
                          <a:cs typeface="Arial"/>
                        </a:rPr>
                        <a:t>Reporter la demande</a:t>
                      </a:r>
                    </a:p>
                  </a:txBody>
                  <a:tcPr marL="91440" marR="91440" marT="45720" marB="45720">
                    <a:solidFill>
                      <a:srgbClr val="EDF3EF"/>
                    </a:solidFill>
                  </a:tcPr>
                </a:tc>
                <a:tc>
                  <a:txBody>
                    <a:bodyPr/>
                    <a:lstStyle/>
                    <a:p>
                      <a:r>
                        <a:rPr sz="1725" b="0">
                          <a:solidFill>
                            <a:srgbClr val="18312D"/>
                          </a:solidFill>
                          <a:latin typeface="Arial"/>
                          <a:ea typeface="Arial"/>
                          <a:cs typeface="Arial"/>
                        </a:rPr>
                        <a:t>4 465 €</a:t>
                      </a:r>
                    </a:p>
                  </a:txBody>
                  <a:tcPr marL="91440" marR="91440" marT="45720" marB="45720">
                    <a:solidFill>
                      <a:srgbClr val="EDF3EF"/>
                    </a:solidFill>
                  </a:tcPr>
                </a:tc>
                <a:tc>
                  <a:txBody>
                    <a:bodyPr/>
                    <a:lstStyle/>
                    <a:p>
                      <a:r>
                        <a:rPr sz="1725" b="0">
                          <a:solidFill>
                            <a:srgbClr val="18312D"/>
                          </a:solidFill>
                          <a:latin typeface="Arial"/>
                          <a:ea typeface="Arial"/>
                          <a:cs typeface="Arial"/>
                        </a:rPr>
                        <a:t>232 € de marge préservée</a:t>
                      </a:r>
                    </a:p>
                  </a:txBody>
                  <a:tcPr marL="91440" marR="91440" marT="45720" marB="45720">
                    <a:solidFill>
                      <a:srgbClr val="EDF3EF"/>
                    </a:solidFill>
                  </a:tcPr>
                </a:tc>
              </a:tr>
            </a:tbl>
          </a:graphicData>
        </a:graphic>
      </p:graphicFrame>
    </p:spTree>
    <p:extLst>
      <p:ext uri="{BB962C8B-B14F-4D97-AF65-F5344CB8AC3E}">
        <p14:creationId xmlns:p14="http://schemas.microsoft.com/office/powerpoint/2010/main" val="13963285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3AEE04-FF8E-45D0-A9CE-7F3325DCF731}"/>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Adapter le management à la situation</a:t>
            </a:r>
          </a:p>
        </p:txBody>
      </p:sp>
      <p:sp>
        <p:nvSpPr>
          <p:cNvPr id="2" name="">
            <a:extLst xmlns:a="http://schemas.openxmlformats.org/drawingml/2006/main">
              <a:ext uri="{FF2B5EF4-FFF2-40B4-BE49-F238E27FC236}">
                <a16:creationId xmlns:a16="http://schemas.microsoft.com/office/drawing/2014/main" id="{CCC35379-1290-41A4-A584-088DB90A0AEA}"/>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C3.3.1 · Simulation pédagogique  ·  10</a:t>
            </a:r>
          </a:p>
        </p:txBody>
      </p:sp>
      <p:sp>
        <p:nvSpPr>
          <p:cNvPr id="3" name="">
            <a:extLst xmlns:a="http://schemas.openxmlformats.org/drawingml/2006/main">
              <a:ext uri="{FF2B5EF4-FFF2-40B4-BE49-F238E27FC236}">
                <a16:creationId xmlns:a16="http://schemas.microsoft.com/office/drawing/2014/main" id="{510B8226-B3D2-43F2-8629-D7743E385446}"/>
              </a:ext>
            </a:extLst>
          </p:cNvPr>
          <p:cNvSpPr>
            <a:spLocks xmlns:a="http://schemas.openxmlformats.org/drawingml/2006/main" noGrp="1"/>
          </p:cNvSpPr>
          <p:nvPr/>
        </p:nvSpPr>
        <p:spPr>
          <a:xfrm xmlns:a="http://schemas.openxmlformats.org/drawingml/2006/main">
            <a:off x="685800" y="1762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Participatif</a:t>
            </a:r>
          </a:p>
        </p:txBody>
      </p:sp>
      <p:sp>
        <p:nvSpPr>
          <p:cNvPr id="4" name="">
            <a:extLst xmlns:a="http://schemas.openxmlformats.org/drawingml/2006/main">
              <a:ext uri="{FF2B5EF4-FFF2-40B4-BE49-F238E27FC236}">
                <a16:creationId xmlns:a16="http://schemas.microsoft.com/office/drawing/2014/main" id="{14F062A8-A5CF-445F-A08B-73268580AEE4}"/>
              </a:ext>
            </a:extLst>
          </p:cNvPr>
          <p:cNvSpPr>
            <a:spLocks xmlns:a="http://schemas.openxmlformats.org/drawingml/2006/main" noGrp="1"/>
          </p:cNvSpPr>
          <p:nvPr/>
        </p:nvSpPr>
        <p:spPr>
          <a:xfrm xmlns:a="http://schemas.openxmlformats.org/drawingml/2006/main">
            <a:off x="685800" y="21717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Estimer et répartir les tâches avec les rôles concernés.</a:t>
            </a:r>
          </a:p>
        </p:txBody>
      </p:sp>
      <p:sp>
        <p:nvSpPr>
          <p:cNvPr id="5" name="">
            <a:extLst xmlns:a="http://schemas.openxmlformats.org/drawingml/2006/main">
              <a:ext uri="{FF2B5EF4-FFF2-40B4-BE49-F238E27FC236}">
                <a16:creationId xmlns:a16="http://schemas.microsoft.com/office/drawing/2014/main" id="{05C04313-2B0E-47BF-981F-8F1EF0EEAD95}"/>
              </a:ext>
            </a:extLst>
          </p:cNvPr>
          <p:cNvSpPr>
            <a:spLocks xmlns:a="http://schemas.openxmlformats.org/drawingml/2006/main" noGrp="1"/>
          </p:cNvSpPr>
          <p:nvPr/>
        </p:nvSpPr>
        <p:spPr>
          <a:xfrm xmlns:a="http://schemas.openxmlformats.org/drawingml/2006/main">
            <a:off x="685800" y="2790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Persuasif et directif</a:t>
            </a:r>
          </a:p>
        </p:txBody>
      </p:sp>
      <p:sp>
        <p:nvSpPr>
          <p:cNvPr id="6" name="">
            <a:extLst xmlns:a="http://schemas.openxmlformats.org/drawingml/2006/main">
              <a:ext uri="{FF2B5EF4-FFF2-40B4-BE49-F238E27FC236}">
                <a16:creationId xmlns:a16="http://schemas.microsoft.com/office/drawing/2014/main" id="{D59DA084-06F8-4FD3-AE9F-455C5462FD96}"/>
              </a:ext>
            </a:extLst>
          </p:cNvPr>
          <p:cNvSpPr>
            <a:spLocks xmlns:a="http://schemas.openxmlformats.org/drawingml/2006/main" noGrp="1"/>
          </p:cNvSpPr>
          <p:nvPr/>
        </p:nvSpPr>
        <p:spPr>
          <a:xfrm xmlns:a="http://schemas.openxmlformats.org/drawingml/2006/main">
            <a:off x="685800" y="32004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Expliquer les arbitrages ; maintenir les critères critiques.</a:t>
            </a:r>
          </a:p>
        </p:txBody>
      </p:sp>
      <p:sp>
        <p:nvSpPr>
          <p:cNvPr id="7" name="">
            <a:extLst xmlns:a="http://schemas.openxmlformats.org/drawingml/2006/main">
              <a:ext uri="{FF2B5EF4-FFF2-40B4-BE49-F238E27FC236}">
                <a16:creationId xmlns:a16="http://schemas.microsoft.com/office/drawing/2014/main" id="{5D281B46-AD90-40FE-B478-B106EA31CF81}"/>
              </a:ext>
            </a:extLst>
          </p:cNvPr>
          <p:cNvSpPr>
            <a:spLocks xmlns:a="http://schemas.openxmlformats.org/drawingml/2006/main" noGrp="1"/>
          </p:cNvSpPr>
          <p:nvPr/>
        </p:nvSpPr>
        <p:spPr>
          <a:xfrm xmlns:a="http://schemas.openxmlformats.org/drawingml/2006/main">
            <a:off x="685800" y="38195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Délégatif</a:t>
            </a:r>
          </a:p>
        </p:txBody>
      </p:sp>
      <p:sp>
        <p:nvSpPr>
          <p:cNvPr id="8" name="">
            <a:extLst xmlns:a="http://schemas.openxmlformats.org/drawingml/2006/main">
              <a:ext uri="{FF2B5EF4-FFF2-40B4-BE49-F238E27FC236}">
                <a16:creationId xmlns:a16="http://schemas.microsoft.com/office/drawing/2014/main" id="{9AC3939F-FB41-460D-BDB1-A357CECB04CA}"/>
              </a:ext>
            </a:extLst>
          </p:cNvPr>
          <p:cNvSpPr>
            <a:spLocks xmlns:a="http://schemas.openxmlformats.org/drawingml/2006/main" noGrp="1"/>
          </p:cNvSpPr>
          <p:nvPr/>
        </p:nvSpPr>
        <p:spPr>
          <a:xfrm xmlns:a="http://schemas.openxmlformats.org/drawingml/2006/main">
            <a:off x="685800" y="42291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Confier un résultat, une autonomie et un point de contrôle.</a:t>
            </a:r>
          </a:p>
        </p:txBody>
      </p:sp>
    </p:spTree>
    <p:extLst>
      <p:ext uri="{BB962C8B-B14F-4D97-AF65-F5344CB8AC3E}">
        <p14:creationId xmlns:p14="http://schemas.microsoft.com/office/powerpoint/2010/main" val="20529488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1BA0E3-1137-4BF0-B055-444060B4F8F2}"/>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Une décision comprise et retrouvable</a:t>
            </a:r>
          </a:p>
        </p:txBody>
      </p:sp>
      <p:sp>
        <p:nvSpPr>
          <p:cNvPr id="2" name="">
            <a:extLst xmlns:a="http://schemas.openxmlformats.org/drawingml/2006/main">
              <a:ext uri="{FF2B5EF4-FFF2-40B4-BE49-F238E27FC236}">
                <a16:creationId xmlns:a16="http://schemas.microsoft.com/office/drawing/2014/main" id="{819DD6AA-6F8B-46A3-8EE5-EECDE989FAED}"/>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C3.3.1 · Simulation pédagogique  ·  11</a:t>
            </a:r>
          </a:p>
        </p:txBody>
      </p:sp>
      <p:sp>
        <p:nvSpPr>
          <p:cNvPr id="3" name="">
            <a:extLst xmlns:a="http://schemas.openxmlformats.org/drawingml/2006/main">
              <a:ext uri="{FF2B5EF4-FFF2-40B4-BE49-F238E27FC236}">
                <a16:creationId xmlns:a16="http://schemas.microsoft.com/office/drawing/2014/main" id="{BF428A34-2887-4E29-AA87-A6FF81600A99}"/>
              </a:ext>
            </a:extLst>
          </p:cNvPr>
          <p:cNvSpPr>
            <a:spLocks xmlns:a="http://schemas.openxmlformats.org/drawingml/2006/main" noGrp="1"/>
          </p:cNvSpPr>
          <p:nvPr/>
        </p:nvSpPr>
        <p:spPr>
          <a:xfrm xmlns:a="http://schemas.openxmlformats.org/drawingml/2006/main">
            <a:off x="685800" y="1762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Un désaccord traité par les faits</a:t>
            </a:r>
          </a:p>
        </p:txBody>
      </p:sp>
      <p:sp>
        <p:nvSpPr>
          <p:cNvPr id="4" name="">
            <a:extLst xmlns:a="http://schemas.openxmlformats.org/drawingml/2006/main">
              <a:ext uri="{FF2B5EF4-FFF2-40B4-BE49-F238E27FC236}">
                <a16:creationId xmlns:a16="http://schemas.microsoft.com/office/drawing/2014/main" id="{F6F8BDDB-0FA9-4B49-ACE5-025C1E0E93FB}"/>
              </a:ext>
            </a:extLst>
          </p:cNvPr>
          <p:cNvSpPr>
            <a:spLocks xmlns:a="http://schemas.openxmlformats.org/drawingml/2006/main" noGrp="1"/>
          </p:cNvSpPr>
          <p:nvPr/>
        </p:nvSpPr>
        <p:spPr>
          <a:xfrm xmlns:a="http://schemas.openxmlformats.org/drawingml/2006/main">
            <a:off x="685800" y="21717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Besoins, capacité et critères avant la décision.</a:t>
            </a:r>
          </a:p>
        </p:txBody>
      </p:sp>
      <p:sp>
        <p:nvSpPr>
          <p:cNvPr id="5" name="">
            <a:extLst xmlns:a="http://schemas.openxmlformats.org/drawingml/2006/main">
              <a:ext uri="{FF2B5EF4-FFF2-40B4-BE49-F238E27FC236}">
                <a16:creationId xmlns:a16="http://schemas.microsoft.com/office/drawing/2014/main" id="{56BA5B83-7020-4C68-9B48-F44663F6229D}"/>
              </a:ext>
            </a:extLst>
          </p:cNvPr>
          <p:cNvSpPr>
            <a:spLocks xmlns:a="http://schemas.openxmlformats.org/drawingml/2006/main" noGrp="1"/>
          </p:cNvSpPr>
          <p:nvPr/>
        </p:nvSpPr>
        <p:spPr>
          <a:xfrm xmlns:a="http://schemas.openxmlformats.org/drawingml/2006/main">
            <a:off x="685800" y="2790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Une trace commune</a:t>
            </a:r>
          </a:p>
        </p:txBody>
      </p:sp>
      <p:sp>
        <p:nvSpPr>
          <p:cNvPr id="6" name="">
            <a:extLst xmlns:a="http://schemas.openxmlformats.org/drawingml/2006/main">
              <a:ext uri="{FF2B5EF4-FFF2-40B4-BE49-F238E27FC236}">
                <a16:creationId xmlns:a16="http://schemas.microsoft.com/office/drawing/2014/main" id="{3B0209DD-8B4D-408B-A578-16945C195641}"/>
              </a:ext>
            </a:extLst>
          </p:cNvPr>
          <p:cNvSpPr>
            <a:spLocks xmlns:a="http://schemas.openxmlformats.org/drawingml/2006/main" noGrp="1"/>
          </p:cNvSpPr>
          <p:nvPr/>
        </p:nvSpPr>
        <p:spPr>
          <a:xfrm xmlns:a="http://schemas.openxmlformats.org/drawingml/2006/main">
            <a:off x="685800" y="32004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Tâche, choix, responsable et échéance dans le compte rendu.</a:t>
            </a:r>
          </a:p>
        </p:txBody>
      </p:sp>
      <p:sp>
        <p:nvSpPr>
          <p:cNvPr id="7" name="">
            <a:extLst xmlns:a="http://schemas.openxmlformats.org/drawingml/2006/main">
              <a:ext uri="{FF2B5EF4-FFF2-40B4-BE49-F238E27FC236}">
                <a16:creationId xmlns:a16="http://schemas.microsoft.com/office/drawing/2014/main" id="{AACBDDCB-3BE7-40E3-AFD0-1139F0D669B4}"/>
              </a:ext>
            </a:extLst>
          </p:cNvPr>
          <p:cNvSpPr>
            <a:spLocks xmlns:a="http://schemas.openxmlformats.org/drawingml/2006/main" noGrp="1"/>
          </p:cNvSpPr>
          <p:nvPr/>
        </p:nvSpPr>
        <p:spPr>
          <a:xfrm xmlns:a="http://schemas.openxmlformats.org/drawingml/2006/main">
            <a:off x="685800" y="38195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Des modalités accessibles</a:t>
            </a:r>
          </a:p>
        </p:txBody>
      </p:sp>
      <p:sp>
        <p:nvSpPr>
          <p:cNvPr id="8" name="">
            <a:extLst xmlns:a="http://schemas.openxmlformats.org/drawingml/2006/main">
              <a:ext uri="{FF2B5EF4-FFF2-40B4-BE49-F238E27FC236}">
                <a16:creationId xmlns:a16="http://schemas.microsoft.com/office/drawing/2014/main" id="{708D7B16-34C6-4D5B-9DEC-B0646763EE32}"/>
              </a:ext>
            </a:extLst>
          </p:cNvPr>
          <p:cNvSpPr>
            <a:spLocks xmlns:a="http://schemas.openxmlformats.org/drawingml/2006/main" noGrp="1"/>
          </p:cNvSpPr>
          <p:nvPr/>
        </p:nvSpPr>
        <p:spPr>
          <a:xfrm xmlns:a="http://schemas.openxmlformats.org/drawingml/2006/main">
            <a:off x="685800" y="42291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Supports structurés, sous-titrage, reformulation et asynchrone.</a:t>
            </a:r>
          </a:p>
        </p:txBody>
      </p:sp>
    </p:spTree>
    <p:extLst>
      <p:ext uri="{BB962C8B-B14F-4D97-AF65-F5344CB8AC3E}">
        <p14:creationId xmlns:p14="http://schemas.microsoft.com/office/powerpoint/2010/main" val="18894749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16CF2CD-BC46-4148-A94E-9E232038FCBD}"/>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Former sur les écarts utiles au projet</a:t>
            </a:r>
          </a:p>
        </p:txBody>
      </p:sp>
      <p:sp>
        <p:nvSpPr>
          <p:cNvPr id="2" name="">
            <a:extLst xmlns:a="http://schemas.openxmlformats.org/drawingml/2006/main">
              <a:ext uri="{FF2B5EF4-FFF2-40B4-BE49-F238E27FC236}">
                <a16:creationId xmlns:a16="http://schemas.microsoft.com/office/drawing/2014/main" id="{3AA404F1-4C6A-4E65-8ECA-75BF8F8A07FF}"/>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C3.3.2 · Simulation pédagogique  ·  12</a:t>
            </a:r>
          </a:p>
        </p:txBody>
      </p:sp>
      <p:graphicFrame>
        <p:nvGraphicFramePr>
          <p:cNvPr id="7" name=""/>
          <p:cNvGraphicFramePr/>
          <p:nvPr/>
        </p:nvGraphicFramePr>
        <p:xfrm>
          <a:off xmlns:a="http://schemas.openxmlformats.org/drawingml/2006/main" x="609600" y="1733550"/>
          <a:ext xmlns:a="http://schemas.openxmlformats.org/drawingml/2006/main" cx="10972800" cy="3143250"/>
        </p:xfrm>
        <a:graphic xmlns:a="http://schemas.openxmlformats.org/drawingml/2006/main">
          <a:graphicData uri="http://schemas.openxmlformats.org/drawingml/2006/table">
            <a:tbl>
              <a:tblPr/>
              <a:tblGrid>
                <a:gridCol w="1714500"/>
                <a:gridCol w="4000500"/>
                <a:gridCol w="5257800"/>
              </a:tblGrid>
              <a:tr h="785813">
                <a:tc>
                  <a:txBody>
                    <a:bodyPr/>
                    <a:lstStyle/>
                    <a:p>
                      <a:r>
                        <a:rPr sz="1725" b="1">
                          <a:solidFill>
                            <a:srgbClr val="FFFFFF"/>
                          </a:solidFill>
                          <a:latin typeface="Arial"/>
                          <a:ea typeface="Arial"/>
                          <a:cs typeface="Arial"/>
                        </a:rPr>
                        <a:t>Rôle</a:t>
                      </a:r>
                    </a:p>
                  </a:txBody>
                  <a:tcPr marL="91440" marR="91440" marT="45720" marB="45720">
                    <a:solidFill>
                      <a:srgbClr val="246B58"/>
                    </a:solidFill>
                  </a:tcPr>
                </a:tc>
                <a:tc>
                  <a:txBody>
                    <a:bodyPr/>
                    <a:lstStyle/>
                    <a:p>
                      <a:r>
                        <a:rPr sz="1725" b="1">
                          <a:solidFill>
                            <a:srgbClr val="FFFFFF"/>
                          </a:solidFill>
                          <a:latin typeface="Arial"/>
                          <a:ea typeface="Arial"/>
                          <a:cs typeface="Arial"/>
                        </a:rPr>
                        <a:t>Écart du cas</a:t>
                      </a:r>
                    </a:p>
                  </a:txBody>
                  <a:tcPr marL="91440" marR="91440" marT="45720" marB="45720">
                    <a:solidFill>
                      <a:srgbClr val="246B58"/>
                    </a:solidFill>
                  </a:tcPr>
                </a:tc>
                <a:tc>
                  <a:txBody>
                    <a:bodyPr/>
                    <a:lstStyle/>
                    <a:p>
                      <a:r>
                        <a:rPr sz="1725" b="1">
                          <a:solidFill>
                            <a:srgbClr val="FFFFFF"/>
                          </a:solidFill>
                          <a:latin typeface="Arial"/>
                          <a:ea typeface="Arial"/>
                          <a:cs typeface="Arial"/>
                        </a:rPr>
                        <a:t>Action et preuve</a:t>
                      </a:r>
                    </a:p>
                  </a:txBody>
                  <a:tcPr marL="91440" marR="91440" marT="45720" marB="45720">
                    <a:solidFill>
                      <a:srgbClr val="246B58"/>
                    </a:solidFill>
                  </a:tcPr>
                </a:tc>
              </a:tr>
              <a:tr h="785813">
                <a:tc>
                  <a:txBody>
                    <a:bodyPr/>
                    <a:lstStyle/>
                    <a:p>
                      <a:r>
                        <a:rPr sz="1725" b="0">
                          <a:solidFill>
                            <a:srgbClr val="18312D"/>
                          </a:solidFill>
                          <a:latin typeface="Arial"/>
                          <a:ea typeface="Arial"/>
                          <a:cs typeface="Arial"/>
                        </a:rPr>
                        <a:t>CP</a:t>
                      </a:r>
                    </a:p>
                  </a:txBody>
                  <a:tcPr marL="91440" marR="91440" marT="45720" marB="45720">
                    <a:solidFill>
                      <a:srgbClr val="EDF3EF"/>
                    </a:solidFill>
                  </a:tcPr>
                </a:tc>
                <a:tc>
                  <a:txBody>
                    <a:bodyPr/>
                    <a:lstStyle/>
                    <a:p>
                      <a:r>
                        <a:rPr sz="1725" b="0">
                          <a:solidFill>
                            <a:srgbClr val="18312D"/>
                          </a:solidFill>
                          <a:latin typeface="Arial"/>
                          <a:ea typeface="Arial"/>
                          <a:cs typeface="Arial"/>
                        </a:rPr>
                        <a:t>Pilotage : 1 → 2</a:t>
                      </a:r>
                    </a:p>
                  </a:txBody>
                  <a:tcPr marL="91440" marR="91440" marT="45720" marB="45720">
                    <a:solidFill>
                      <a:srgbClr val="EDF3EF"/>
                    </a:solidFill>
                  </a:tcPr>
                </a:tc>
                <a:tc>
                  <a:txBody>
                    <a:bodyPr/>
                    <a:lstStyle/>
                    <a:p>
                      <a:r>
                        <a:rPr sz="1725" b="0">
                          <a:solidFill>
                            <a:srgbClr val="18312D"/>
                          </a:solidFill>
                          <a:latin typeface="Arial"/>
                          <a:ea typeface="Arial"/>
                          <a:cs typeface="Arial"/>
                        </a:rPr>
                        <a:t>1 h ; expliquer le recalcul</a:t>
                      </a:r>
                    </a:p>
                  </a:txBody>
                  <a:tcPr marL="91440" marR="91440" marT="45720" marB="45720">
                    <a:solidFill>
                      <a:srgbClr val="EDF3EF"/>
                    </a:solidFill>
                  </a:tcPr>
                </a:tc>
              </a:tr>
              <a:tr h="785813">
                <a:tc>
                  <a:txBody>
                    <a:bodyPr/>
                    <a:lstStyle/>
                    <a:p>
                      <a:r>
                        <a:rPr sz="1725" b="0">
                          <a:solidFill>
                            <a:srgbClr val="18312D"/>
                          </a:solidFill>
                          <a:latin typeface="Arial"/>
                          <a:ea typeface="Arial"/>
                          <a:cs typeface="Arial"/>
                        </a:rPr>
                        <a:t>DEV</a:t>
                      </a:r>
                    </a:p>
                  </a:txBody>
                  <a:tcPr marL="91440" marR="91440" marT="45720" marB="45720">
                    <a:solidFill>
                      <a:srgbClr val="FFFFFF"/>
                    </a:solidFill>
                  </a:tcPr>
                </a:tc>
                <a:tc>
                  <a:txBody>
                    <a:bodyPr/>
                    <a:lstStyle/>
                    <a:p>
                      <a:r>
                        <a:rPr sz="1725" b="0">
                          <a:solidFill>
                            <a:srgbClr val="18312D"/>
                          </a:solidFill>
                          <a:latin typeface="Arial"/>
                          <a:ea typeface="Arial"/>
                          <a:cs typeface="Arial"/>
                        </a:rPr>
                        <a:t>Concurrence : 1 → 2</a:t>
                      </a:r>
                    </a:p>
                  </a:txBody>
                  <a:tcPr marL="91440" marR="91440" marT="45720" marB="45720">
                    <a:solidFill>
                      <a:srgbClr val="FFFFFF"/>
                    </a:solidFill>
                  </a:tcPr>
                </a:tc>
                <a:tc>
                  <a:txBody>
                    <a:bodyPr/>
                    <a:lstStyle/>
                    <a:p>
                      <a:r>
                        <a:rPr sz="1725" b="0">
                          <a:solidFill>
                            <a:srgbClr val="18312D"/>
                          </a:solidFill>
                          <a:latin typeface="Arial"/>
                          <a:ea typeface="Arial"/>
                          <a:cs typeface="Arial"/>
                        </a:rPr>
                        <a:t>2 h ; dernière place protégée</a:t>
                      </a:r>
                    </a:p>
                  </a:txBody>
                  <a:tcPr marL="91440" marR="91440" marT="45720" marB="45720">
                    <a:solidFill>
                      <a:srgbClr val="FFFFFF"/>
                    </a:solidFill>
                  </a:tcPr>
                </a:tc>
              </a:tr>
              <a:tr h="785813">
                <a:tc>
                  <a:txBody>
                    <a:bodyPr/>
                    <a:lstStyle/>
                    <a:p>
                      <a:r>
                        <a:rPr sz="1725" b="0">
                          <a:solidFill>
                            <a:srgbClr val="18312D"/>
                          </a:solidFill>
                          <a:latin typeface="Arial"/>
                          <a:ea typeface="Arial"/>
                          <a:cs typeface="Arial"/>
                        </a:rPr>
                        <a:t>QA</a:t>
                      </a:r>
                    </a:p>
                  </a:txBody>
                  <a:tcPr marL="91440" marR="91440" marT="45720" marB="45720">
                    <a:solidFill>
                      <a:srgbClr val="EDF3EF"/>
                    </a:solidFill>
                  </a:tcPr>
                </a:tc>
                <a:tc>
                  <a:txBody>
                    <a:bodyPr/>
                    <a:lstStyle/>
                    <a:p>
                      <a:r>
                        <a:rPr sz="1725" b="0">
                          <a:solidFill>
                            <a:srgbClr val="18312D"/>
                          </a:solidFill>
                          <a:latin typeface="Arial"/>
                          <a:ea typeface="Arial"/>
                          <a:cs typeface="Arial"/>
                        </a:rPr>
                        <a:t>Recette et clavier : 1 → 2</a:t>
                      </a:r>
                    </a:p>
                  </a:txBody>
                  <a:tcPr marL="91440" marR="91440" marT="45720" marB="45720">
                    <a:solidFill>
                      <a:srgbClr val="EDF3EF"/>
                    </a:solidFill>
                  </a:tcPr>
                </a:tc>
                <a:tc>
                  <a:txBody>
                    <a:bodyPr/>
                    <a:lstStyle/>
                    <a:p>
                      <a:r>
                        <a:rPr sz="1725" b="0">
                          <a:solidFill>
                            <a:srgbClr val="18312D"/>
                          </a:solidFill>
                          <a:latin typeface="Arial"/>
                          <a:ea typeface="Arial"/>
                          <a:cs typeface="Arial"/>
                        </a:rPr>
                        <a:t>3 h ; scénario autonome</a:t>
                      </a:r>
                    </a:p>
                  </a:txBody>
                  <a:tcPr marL="91440" marR="91440" marT="45720" marB="45720">
                    <a:solidFill>
                      <a:srgbClr val="EDF3EF"/>
                    </a:solidFill>
                  </a:tcPr>
                </a:tc>
              </a:tr>
            </a:tbl>
          </a:graphicData>
        </a:graphic>
      </p:graphicFrame>
      <p:sp>
        <p:nvSpPr>
          <p:cNvPr id="4" name="">
            <a:extLst xmlns:a="http://schemas.openxmlformats.org/drawingml/2006/main">
              <a:ext uri="{FF2B5EF4-FFF2-40B4-BE49-F238E27FC236}">
                <a16:creationId xmlns:a16="http://schemas.microsoft.com/office/drawing/2014/main" id="{A9299451-38A4-4157-AB98-98D3F7D75D72}"/>
              </a:ext>
            </a:extLst>
          </p:cNvPr>
          <p:cNvSpPr>
            <a:spLocks xmlns:a="http://schemas.openxmlformats.org/drawingml/2006/main" noGrp="1"/>
          </p:cNvSpPr>
          <p:nvPr/>
        </p:nvSpPr>
        <p:spPr>
          <a:xfrm xmlns:a="http://schemas.openxmlformats.org/drawingml/2006/main">
            <a:off x="685800" y="52387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6B58"/>
                </a:solidFill>
                <a:latin typeface="Arial"/>
                <a:ea typeface="Arial"/>
                <a:cs typeface="Arial"/>
              </a:defRPr>
            </a:pPr>
            <a:r>
              <a:rPr sz="1950" b="1">
                <a:solidFill>
                  <a:srgbClr val="246B58"/>
                </a:solidFill>
                <a:latin typeface="Arial"/>
                <a:ea typeface="Arial"/>
                <a:cs typeface="Arial"/>
              </a:rPr>
              <a:t>6 h intégrées aux tâches · 60 € de ressources complémentaires fictives</a:t>
            </a:r>
          </a:p>
        </p:txBody>
      </p:sp>
    </p:spTree>
    <p:extLst>
      <p:ext uri="{BB962C8B-B14F-4D97-AF65-F5344CB8AC3E}">
        <p14:creationId xmlns:p14="http://schemas.microsoft.com/office/powerpoint/2010/main" val="13106021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371410-D235-4531-8161-7FEE55FD0FD1}"/>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Le client valide des critères explicites</a:t>
            </a:r>
          </a:p>
        </p:txBody>
      </p:sp>
      <p:sp>
        <p:nvSpPr>
          <p:cNvPr id="2" name="">
            <a:extLst xmlns:a="http://schemas.openxmlformats.org/drawingml/2006/main">
              <a:ext uri="{FF2B5EF4-FFF2-40B4-BE49-F238E27FC236}">
                <a16:creationId xmlns:a16="http://schemas.microsoft.com/office/drawing/2014/main" id="{B0F72BB6-B1C0-441D-8C50-E7E31362EB88}"/>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C3.4.1 · Comptes rendus simulés  ·  13</a:t>
            </a:r>
          </a:p>
        </p:txBody>
      </p:sp>
      <p:graphicFrame>
        <p:nvGraphicFramePr>
          <p:cNvPr id="7" name=""/>
          <p:cNvGraphicFramePr/>
          <p:nvPr/>
        </p:nvGraphicFramePr>
        <p:xfrm>
          <a:off xmlns:a="http://schemas.openxmlformats.org/drawingml/2006/main" x="609600" y="1714500"/>
          <a:ext xmlns:a="http://schemas.openxmlformats.org/drawingml/2006/main" cx="10972800" cy="2762250"/>
        </p:xfrm>
        <a:graphic xmlns:a="http://schemas.openxmlformats.org/drawingml/2006/main">
          <a:graphicData uri="http://schemas.openxmlformats.org/drawingml/2006/table">
            <a:tbl>
              <a:tblPr/>
              <a:tblGrid>
                <a:gridCol w="3905250"/>
                <a:gridCol w="7067550"/>
              </a:tblGrid>
              <a:tr h="690563">
                <a:tc>
                  <a:txBody>
                    <a:bodyPr/>
                    <a:lstStyle/>
                    <a:p>
                      <a:r>
                        <a:rPr sz="1725" b="1">
                          <a:solidFill>
                            <a:srgbClr val="FFFFFF"/>
                          </a:solidFill>
                          <a:latin typeface="Arial"/>
                          <a:ea typeface="Arial"/>
                          <a:cs typeface="Arial"/>
                        </a:rPr>
                        <a:t>Point</a:t>
                      </a:r>
                    </a:p>
                  </a:txBody>
                  <a:tcPr marL="91440" marR="91440" marT="45720" marB="45720">
                    <a:solidFill>
                      <a:srgbClr val="246B58"/>
                    </a:solidFill>
                  </a:tcPr>
                </a:tc>
                <a:tc>
                  <a:txBody>
                    <a:bodyPr/>
                    <a:lstStyle/>
                    <a:p>
                      <a:r>
                        <a:rPr sz="1725" b="1">
                          <a:solidFill>
                            <a:srgbClr val="FFFFFF"/>
                          </a:solidFill>
                          <a:latin typeface="Arial"/>
                          <a:ea typeface="Arial"/>
                          <a:cs typeface="Arial"/>
                        </a:rPr>
                        <a:t>Décision du scénario</a:t>
                      </a:r>
                    </a:p>
                  </a:txBody>
                  <a:tcPr marL="91440" marR="91440" marT="45720" marB="45720">
                    <a:solidFill>
                      <a:srgbClr val="246B58"/>
                    </a:solidFill>
                  </a:tcPr>
                </a:tc>
              </a:tr>
              <a:tr h="690563">
                <a:tc>
                  <a:txBody>
                    <a:bodyPr/>
                    <a:lstStyle/>
                    <a:p>
                      <a:r>
                        <a:rPr sz="1725" b="0">
                          <a:solidFill>
                            <a:srgbClr val="18312D"/>
                          </a:solidFill>
                          <a:latin typeface="Arial"/>
                          <a:ea typeface="Arial"/>
                          <a:cs typeface="Arial"/>
                        </a:rPr>
                        <a:t>J3 - Cadrage</a:t>
                      </a:r>
                    </a:p>
                  </a:txBody>
                  <a:tcPr marL="91440" marR="91440" marT="45720" marB="45720">
                    <a:solidFill>
                      <a:srgbClr val="EDF3EF"/>
                    </a:solidFill>
                  </a:tcPr>
                </a:tc>
                <a:tc>
                  <a:txBody>
                    <a:bodyPr/>
                    <a:lstStyle/>
                    <a:p>
                      <a:r>
                        <a:rPr sz="1725" b="0">
                          <a:solidFill>
                            <a:srgbClr val="18312D"/>
                          </a:solidFill>
                          <a:latin typeface="Arial"/>
                          <a:ea typeface="Arial"/>
                          <a:cs typeface="Arial"/>
                        </a:rPr>
                        <a:t>Périmètre et critères de recette</a:t>
                      </a:r>
                    </a:p>
                  </a:txBody>
                  <a:tcPr marL="91440" marR="91440" marT="45720" marB="45720">
                    <a:solidFill>
                      <a:srgbClr val="EDF3EF"/>
                    </a:solidFill>
                  </a:tcPr>
                </a:tc>
              </a:tr>
              <a:tr h="690563">
                <a:tc>
                  <a:txBody>
                    <a:bodyPr/>
                    <a:lstStyle/>
                    <a:p>
                      <a:r>
                        <a:rPr sz="1725" b="0">
                          <a:solidFill>
                            <a:srgbClr val="18312D"/>
                          </a:solidFill>
                          <a:latin typeface="Arial"/>
                          <a:ea typeface="Arial"/>
                          <a:cs typeface="Arial"/>
                        </a:rPr>
                        <a:t>J10 - Écarts</a:t>
                      </a:r>
                    </a:p>
                  </a:txBody>
                  <a:tcPr marL="91440" marR="91440" marT="45720" marB="45720">
                    <a:solidFill>
                      <a:srgbClr val="FFFFFF"/>
                    </a:solidFill>
                  </a:tcPr>
                </a:tc>
                <a:tc>
                  <a:txBody>
                    <a:bodyPr/>
                    <a:lstStyle/>
                    <a:p>
                      <a:r>
                        <a:rPr sz="1725" b="0">
                          <a:solidFill>
                            <a:srgbClr val="18312D"/>
                          </a:solidFill>
                          <a:latin typeface="Arial"/>
                          <a:ea typeface="Arial"/>
                          <a:cs typeface="Arial"/>
                        </a:rPr>
                        <a:t>Report de la demande supplémentaire</a:t>
                      </a:r>
                    </a:p>
                  </a:txBody>
                  <a:tcPr marL="91440" marR="91440" marT="45720" marB="45720">
                    <a:solidFill>
                      <a:srgbClr val="FFFFFF"/>
                    </a:solidFill>
                  </a:tcPr>
                </a:tc>
              </a:tr>
              <a:tr h="690563">
                <a:tc>
                  <a:txBody>
                    <a:bodyPr/>
                    <a:lstStyle/>
                    <a:p>
                      <a:r>
                        <a:rPr sz="1725" b="0">
                          <a:solidFill>
                            <a:srgbClr val="18312D"/>
                          </a:solidFill>
                          <a:latin typeface="Arial"/>
                          <a:ea typeface="Arial"/>
                          <a:cs typeface="Arial"/>
                        </a:rPr>
                        <a:t>J15 - Démonstration</a:t>
                      </a:r>
                    </a:p>
                  </a:txBody>
                  <a:tcPr marL="91440" marR="91440" marT="45720" marB="45720">
                    <a:solidFill>
                      <a:srgbClr val="EDF3EF"/>
                    </a:solidFill>
                  </a:tcPr>
                </a:tc>
                <a:tc>
                  <a:txBody>
                    <a:bodyPr/>
                    <a:lstStyle/>
                    <a:p>
                      <a:r>
                        <a:rPr sz="1725" b="0">
                          <a:solidFill>
                            <a:srgbClr val="18312D"/>
                          </a:solidFill>
                          <a:latin typeface="Arial"/>
                          <a:ea typeface="Arial"/>
                          <a:cs typeface="Arial"/>
                        </a:rPr>
                        <a:t>Acceptation du périmètre avec réserves</a:t>
                      </a:r>
                    </a:p>
                  </a:txBody>
                  <a:tcPr marL="91440" marR="91440" marT="45720" marB="45720">
                    <a:solidFill>
                      <a:srgbClr val="EDF3EF"/>
                    </a:solidFill>
                  </a:tcPr>
                </a:tc>
              </a:tr>
            </a:tbl>
          </a:graphicData>
        </a:graphic>
      </p:graphicFrame>
      <p:sp>
        <p:nvSpPr>
          <p:cNvPr id="4" name="">
            <a:extLst xmlns:a="http://schemas.openxmlformats.org/drawingml/2006/main">
              <a:ext uri="{FF2B5EF4-FFF2-40B4-BE49-F238E27FC236}">
                <a16:creationId xmlns:a16="http://schemas.microsoft.com/office/drawing/2014/main" id="{44DFC5C9-7FD6-4AE4-AEF3-E42C8F67C81E}"/>
              </a:ext>
            </a:extLst>
          </p:cNvPr>
          <p:cNvSpPr>
            <a:spLocks xmlns:a="http://schemas.openxmlformats.org/drawingml/2006/main" noGrp="1"/>
          </p:cNvSpPr>
          <p:nvPr/>
        </p:nvSpPr>
        <p:spPr>
          <a:xfrm xmlns:a="http://schemas.openxmlformats.org/drawingml/2006/main">
            <a:off x="685800" y="49053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Satisfaction réelle : non mesurée</a:t>
            </a:r>
          </a:p>
          <a:p xmlns:a="http://schemas.openxmlformats.org/drawingml/2006/main">
            <a:pPr>
              <a:defRPr sz="2025" b="1">
                <a:solidFill>
                  <a:srgbClr val="246B58"/>
                </a:solidFill>
                <a:latin typeface="Arial"/>
                <a:ea typeface="Arial"/>
                <a:cs typeface="Arial"/>
              </a:defRPr>
            </a:pPr>
            <a:r>
              <a:rPr sz="2025" b="1">
                <a:solidFill>
                  <a:srgbClr val="246B58"/>
                </a:solidFill>
                <a:latin typeface="Arial"/>
                <a:ea typeface="Arial"/>
                <a:cs typeface="Arial"/>
              </a:rPr>
              <a:t>Méthode prête : critères acceptés, autonomie, utilité et blocages</a:t>
            </a:r>
          </a:p>
        </p:txBody>
      </p:sp>
    </p:spTree>
    <p:extLst>
      <p:ext uri="{BB962C8B-B14F-4D97-AF65-F5344CB8AC3E}">
        <p14:creationId xmlns:p14="http://schemas.microsoft.com/office/powerpoint/2010/main" val="19814409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E8275BC-C7F2-4A97-8F29-98C6191110EC}"/>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Démonstration : préparer une sortie</a:t>
            </a:r>
          </a:p>
        </p:txBody>
      </p:sp>
      <p:sp>
        <p:nvSpPr>
          <p:cNvPr id="2" name="">
            <a:extLst xmlns:a="http://schemas.openxmlformats.org/drawingml/2006/main">
              <a:ext uri="{FF2B5EF4-FFF2-40B4-BE49-F238E27FC236}">
                <a16:creationId xmlns:a16="http://schemas.microsoft.com/office/drawing/2014/main" id="{917881D0-66AE-4F4E-8B31-A40D416989A6}"/>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C3.4.2 · Application locale vérifiée  ·  14</a:t>
            </a:r>
          </a:p>
        </p:txBody>
      </p:sp>
      <p:graphicFrame>
        <p:nvGraphicFramePr>
          <p:cNvPr id="6" name=""/>
          <p:cNvGraphicFramePr/>
          <p:nvPr/>
        </p:nvGraphicFramePr>
        <p:xfrm>
          <a:off xmlns:a="http://schemas.openxmlformats.org/drawingml/2006/main" x="609600" y="1714500"/>
          <a:ext xmlns:a="http://schemas.openxmlformats.org/drawingml/2006/main" cx="10972800" cy="3476625"/>
        </p:xfrm>
        <a:graphic xmlns:a="http://schemas.openxmlformats.org/drawingml/2006/main">
          <a:graphicData uri="http://schemas.openxmlformats.org/drawingml/2006/table">
            <a:tbl>
              <a:tblPr/>
              <a:tblGrid>
                <a:gridCol w="4095750"/>
                <a:gridCol w="6877050"/>
              </a:tblGrid>
              <a:tr h="695325">
                <a:tc>
                  <a:txBody>
                    <a:bodyPr/>
                    <a:lstStyle/>
                    <a:p>
                      <a:r>
                        <a:rPr sz="1725" b="1">
                          <a:solidFill>
                            <a:srgbClr val="FFFFFF"/>
                          </a:solidFill>
                          <a:latin typeface="Arial"/>
                          <a:ea typeface="Arial"/>
                          <a:cs typeface="Arial"/>
                        </a:rPr>
                        <a:t>Parcours</a:t>
                      </a:r>
                    </a:p>
                  </a:txBody>
                  <a:tcPr marL="91440" marR="91440" marT="45720" marB="45720">
                    <a:solidFill>
                      <a:srgbClr val="246B58"/>
                    </a:solidFill>
                  </a:tcPr>
                </a:tc>
                <a:tc>
                  <a:txBody>
                    <a:bodyPr/>
                    <a:lstStyle/>
                    <a:p>
                      <a:r>
                        <a:rPr sz="1725" b="1">
                          <a:solidFill>
                            <a:srgbClr val="FFFFFF"/>
                          </a:solidFill>
                          <a:latin typeface="Arial"/>
                          <a:ea typeface="Arial"/>
                          <a:cs typeface="Arial"/>
                        </a:rPr>
                        <a:t>Ce que le client vérifie</a:t>
                      </a:r>
                    </a:p>
                  </a:txBody>
                  <a:tcPr marL="91440" marR="91440" marT="45720" marB="45720">
                    <a:solidFill>
                      <a:srgbClr val="246B58"/>
                    </a:solidFill>
                  </a:tcPr>
                </a:tc>
              </a:tr>
              <a:tr h="695325">
                <a:tc>
                  <a:txBody>
                    <a:bodyPr/>
                    <a:lstStyle/>
                    <a:p>
                      <a:r>
                        <a:rPr sz="1725" b="0">
                          <a:solidFill>
                            <a:srgbClr val="18312D"/>
                          </a:solidFill>
                          <a:latin typeface="Arial"/>
                          <a:ea typeface="Arial"/>
                          <a:cs typeface="Arial"/>
                        </a:rPr>
                        <a:t>Profil et matching</a:t>
                      </a:r>
                    </a:p>
                  </a:txBody>
                  <a:tcPr marL="91440" marR="91440" marT="45720" marB="45720">
                    <a:solidFill>
                      <a:srgbClr val="EDF3EF"/>
                    </a:solidFill>
                  </a:tcPr>
                </a:tc>
                <a:tc>
                  <a:txBody>
                    <a:bodyPr/>
                    <a:lstStyle/>
                    <a:p>
                      <a:r>
                        <a:rPr sz="1725" b="0">
                          <a:solidFill>
                            <a:srgbClr val="18312D"/>
                          </a:solidFill>
                          <a:latin typeface="Arial"/>
                          <a:ea typeface="Arial"/>
                          <a:cs typeface="Arial"/>
                        </a:rPr>
                        <a:t>Compatibilité du partenaire et état de la demande</a:t>
                      </a:r>
                    </a:p>
                  </a:txBody>
                  <a:tcPr marL="91440" marR="91440" marT="45720" marB="45720">
                    <a:solidFill>
                      <a:srgbClr val="EDF3EF"/>
                    </a:solidFill>
                  </a:tcPr>
                </a:tc>
              </a:tr>
              <a:tr h="695325">
                <a:tc>
                  <a:txBody>
                    <a:bodyPr/>
                    <a:lstStyle/>
                    <a:p>
                      <a:r>
                        <a:rPr sz="1725" b="0">
                          <a:solidFill>
                            <a:srgbClr val="18312D"/>
                          </a:solidFill>
                          <a:latin typeface="Arial"/>
                          <a:ea typeface="Arial"/>
                          <a:cs typeface="Arial"/>
                        </a:rPr>
                        <a:t>Événement et inscription</a:t>
                      </a:r>
                    </a:p>
                  </a:txBody>
                  <a:tcPr marL="91440" marR="91440" marT="45720" marB="45720">
                    <a:solidFill>
                      <a:srgbClr val="FFFFFF"/>
                    </a:solidFill>
                  </a:tcPr>
                </a:tc>
                <a:tc>
                  <a:txBody>
                    <a:bodyPr/>
                    <a:lstStyle/>
                    <a:p>
                      <a:r>
                        <a:rPr sz="1725" b="0">
                          <a:solidFill>
                            <a:srgbClr val="18312D"/>
                          </a:solidFill>
                          <a:latin typeface="Arial"/>
                          <a:ea typeface="Arial"/>
                          <a:cs typeface="Arial"/>
                        </a:rPr>
                        <a:t>Informations, place disponible et confirmation</a:t>
                      </a:r>
                    </a:p>
                  </a:txBody>
                  <a:tcPr marL="91440" marR="91440" marT="45720" marB="45720">
                    <a:solidFill>
                      <a:srgbClr val="FFFFFF"/>
                    </a:solidFill>
                  </a:tcPr>
                </a:tc>
              </a:tr>
              <a:tr h="695325">
                <a:tc>
                  <a:txBody>
                    <a:bodyPr/>
                    <a:lstStyle/>
                    <a:p>
                      <a:r>
                        <a:rPr sz="1725" b="0">
                          <a:solidFill>
                            <a:srgbClr val="18312D"/>
                          </a:solidFill>
                          <a:latin typeface="Arial"/>
                          <a:ea typeface="Arial"/>
                          <a:cs typeface="Arial"/>
                        </a:rPr>
                        <a:t>Vue club</a:t>
                      </a:r>
                    </a:p>
                  </a:txBody>
                  <a:tcPr marL="91440" marR="91440" marT="45720" marB="45720">
                    <a:solidFill>
                      <a:srgbClr val="EDF3EF"/>
                    </a:solidFill>
                  </a:tcPr>
                </a:tc>
                <a:tc>
                  <a:txBody>
                    <a:bodyPr/>
                    <a:lstStyle/>
                    <a:p>
                      <a:r>
                        <a:rPr sz="1725" b="0">
                          <a:solidFill>
                            <a:srgbClr val="18312D"/>
                          </a:solidFill>
                          <a:latin typeface="Arial"/>
                          <a:ea typeface="Arial"/>
                          <a:cs typeface="Arial"/>
                        </a:rPr>
                        <a:t>Participants visibles et commandes autorisées</a:t>
                      </a:r>
                    </a:p>
                  </a:txBody>
                  <a:tcPr marL="91440" marR="91440" marT="45720" marB="45720">
                    <a:solidFill>
                      <a:srgbClr val="EDF3EF"/>
                    </a:solidFill>
                  </a:tcPr>
                </a:tc>
              </a:tr>
              <a:tr h="695325">
                <a:tc>
                  <a:txBody>
                    <a:bodyPr/>
                    <a:lstStyle/>
                    <a:p>
                      <a:r>
                        <a:rPr sz="1725" b="0">
                          <a:solidFill>
                            <a:srgbClr val="18312D"/>
                          </a:solidFill>
                          <a:latin typeface="Arial"/>
                          <a:ea typeface="Arial"/>
                          <a:cs typeface="Arial"/>
                        </a:rPr>
                        <a:t>Validation</a:t>
                      </a:r>
                    </a:p>
                  </a:txBody>
                  <a:tcPr marL="91440" marR="91440" marT="45720" marB="45720">
                    <a:solidFill>
                      <a:srgbClr val="FFFFFF"/>
                    </a:solidFill>
                  </a:tcPr>
                </a:tc>
                <a:tc>
                  <a:txBody>
                    <a:bodyPr/>
                    <a:lstStyle/>
                    <a:p>
                      <a:r>
                        <a:rPr sz="1725" b="0">
                          <a:solidFill>
                            <a:srgbClr val="18312D"/>
                          </a:solidFill>
                          <a:latin typeface="Arial"/>
                          <a:ea typeface="Arial"/>
                          <a:cs typeface="Arial"/>
                        </a:rPr>
                        <a:t>Critères couverts et réserves explicites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776628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3164F8-665C-4EC6-BC35-626BFEB9CAA3}"/>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Des décisions reliées à leurs preuves</a:t>
            </a:r>
          </a:p>
        </p:txBody>
      </p:sp>
      <p:sp>
        <p:nvSpPr>
          <p:cNvPr id="2" name="">
            <a:extLst xmlns:a="http://schemas.openxmlformats.org/drawingml/2006/main">
              <a:ext uri="{FF2B5EF4-FFF2-40B4-BE49-F238E27FC236}">
                <a16:creationId xmlns:a16="http://schemas.microsoft.com/office/drawing/2014/main" id="{0D5D3196-65C6-41D6-A612-D76338B7C6D4}"/>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Bilan · 30 minutes de présentation au total  ·  15</a:t>
            </a:r>
          </a:p>
        </p:txBody>
      </p:sp>
      <p:sp>
        <p:nvSpPr>
          <p:cNvPr id="3" name="">
            <a:extLst xmlns:a="http://schemas.openxmlformats.org/drawingml/2006/main">
              <a:ext uri="{FF2B5EF4-FFF2-40B4-BE49-F238E27FC236}">
                <a16:creationId xmlns:a16="http://schemas.microsoft.com/office/drawing/2014/main" id="{C39821C1-8CEC-4468-9F8C-BA04DB966235}"/>
              </a:ext>
            </a:extLst>
          </p:cNvPr>
          <p:cNvSpPr>
            <a:spLocks xmlns:a="http://schemas.openxmlformats.org/drawingml/2006/main" noGrp="1"/>
          </p:cNvSpPr>
          <p:nvPr/>
        </p:nvSpPr>
        <p:spPr>
          <a:xfrm xmlns:a="http://schemas.openxmlformats.org/drawingml/2006/main">
            <a:off x="685800" y="1762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Produit et vérifications</a:t>
            </a:r>
          </a:p>
        </p:txBody>
      </p:sp>
      <p:sp>
        <p:nvSpPr>
          <p:cNvPr id="4" name="">
            <a:extLst xmlns:a="http://schemas.openxmlformats.org/drawingml/2006/main">
              <a:ext uri="{FF2B5EF4-FFF2-40B4-BE49-F238E27FC236}">
                <a16:creationId xmlns:a16="http://schemas.microsoft.com/office/drawing/2014/main" id="{C3099ECD-3949-4F73-80A6-85CEB3D9057A}"/>
              </a:ext>
            </a:extLst>
          </p:cNvPr>
          <p:cNvSpPr>
            <a:spLocks xmlns:a="http://schemas.openxmlformats.org/drawingml/2006/main" noGrp="1"/>
          </p:cNvSpPr>
          <p:nvPr/>
        </p:nvSpPr>
        <p:spPr>
          <a:xfrm xmlns:a="http://schemas.openxmlformats.org/drawingml/2006/main">
            <a:off x="685800" y="21717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389 tests unitaires, 72 suites et six scénarios navigateur réussis.</a:t>
            </a:r>
          </a:p>
        </p:txBody>
      </p:sp>
      <p:sp>
        <p:nvSpPr>
          <p:cNvPr id="5" name="">
            <a:extLst xmlns:a="http://schemas.openxmlformats.org/drawingml/2006/main">
              <a:ext uri="{FF2B5EF4-FFF2-40B4-BE49-F238E27FC236}">
                <a16:creationId xmlns:a16="http://schemas.microsoft.com/office/drawing/2014/main" id="{BE4CE6AF-715C-44B7-9ADF-616A72F398BB}"/>
              </a:ext>
            </a:extLst>
          </p:cNvPr>
          <p:cNvSpPr>
            <a:spLocks xmlns:a="http://schemas.openxmlformats.org/drawingml/2006/main" noGrp="1"/>
          </p:cNvSpPr>
          <p:nvPr/>
        </p:nvSpPr>
        <p:spPr>
          <a:xfrm xmlns:a="http://schemas.openxmlformats.org/drawingml/2006/main">
            <a:off x="685800" y="2790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Pilotage du cas</a:t>
            </a:r>
          </a:p>
        </p:txBody>
      </p:sp>
      <p:sp>
        <p:nvSpPr>
          <p:cNvPr id="6" name="">
            <a:extLst xmlns:a="http://schemas.openxmlformats.org/drawingml/2006/main">
              <a:ext uri="{FF2B5EF4-FFF2-40B4-BE49-F238E27FC236}">
                <a16:creationId xmlns:a16="http://schemas.microsoft.com/office/drawing/2014/main" id="{47248148-C8F1-4CD4-BB92-FEE1A8B55AAD}"/>
              </a:ext>
            </a:extLst>
          </p:cNvPr>
          <p:cNvSpPr>
            <a:spLocks xmlns:a="http://schemas.openxmlformats.org/drawingml/2006/main" noGrp="1"/>
          </p:cNvSpPr>
          <p:nvPr/>
        </p:nvSpPr>
        <p:spPr>
          <a:xfrm xmlns:a="http://schemas.openxmlformats.org/drawingml/2006/main">
            <a:off x="685800" y="32004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Planning, coûts, risques, management et validation structurés.</a:t>
            </a:r>
          </a:p>
        </p:txBody>
      </p:sp>
      <p:sp>
        <p:nvSpPr>
          <p:cNvPr id="7" name="">
            <a:extLst xmlns:a="http://schemas.openxmlformats.org/drawingml/2006/main">
              <a:ext uri="{FF2B5EF4-FFF2-40B4-BE49-F238E27FC236}">
                <a16:creationId xmlns:a16="http://schemas.microsoft.com/office/drawing/2014/main" id="{26731046-D18B-4286-8855-CC10A7374B0B}"/>
              </a:ext>
            </a:extLst>
          </p:cNvPr>
          <p:cNvSpPr>
            <a:spLocks xmlns:a="http://schemas.openxmlformats.org/drawingml/2006/main" noGrp="1"/>
          </p:cNvSpPr>
          <p:nvPr/>
        </p:nvSpPr>
        <p:spPr>
          <a:xfrm xmlns:a="http://schemas.openxmlformats.org/drawingml/2006/main">
            <a:off x="685800" y="38195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6B58"/>
                </a:solidFill>
                <a:latin typeface="Arial"/>
                <a:ea typeface="Arial"/>
                <a:cs typeface="Arial"/>
              </a:defRPr>
            </a:pPr>
            <a:r>
              <a:rPr sz="2175" b="1">
                <a:solidFill>
                  <a:srgbClr val="246B58"/>
                </a:solidFill>
                <a:latin typeface="Arial"/>
                <a:ea typeface="Arial"/>
                <a:cs typeface="Arial"/>
              </a:rPr>
              <a:t>Limites explicites</a:t>
            </a:r>
          </a:p>
        </p:txBody>
      </p:sp>
      <p:sp>
        <p:nvSpPr>
          <p:cNvPr id="8" name="">
            <a:extLst xmlns:a="http://schemas.openxmlformats.org/drawingml/2006/main">
              <a:ext uri="{FF2B5EF4-FFF2-40B4-BE49-F238E27FC236}">
                <a16:creationId xmlns:a16="http://schemas.microsoft.com/office/drawing/2014/main" id="{D41011E8-CE3D-4079-BABC-43B117AFE37A}"/>
              </a:ext>
            </a:extLst>
          </p:cNvPr>
          <p:cNvSpPr>
            <a:spLocks xmlns:a="http://schemas.openxmlformats.org/drawingml/2006/main" noGrp="1"/>
          </p:cNvSpPr>
          <p:nvPr/>
        </p:nvSpPr>
        <p:spPr>
          <a:xfrm xmlns:a="http://schemas.openxmlformats.org/drawingml/2006/main">
            <a:off x="685800" y="42291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Équipe réelle, retours client et consignes du campus à préciser.</a:t>
            </a:r>
          </a:p>
        </p:txBody>
      </p:sp>
    </p:spTree>
    <p:extLst>
      <p:ext uri="{BB962C8B-B14F-4D97-AF65-F5344CB8AC3E}">
        <p14:creationId xmlns:p14="http://schemas.microsoft.com/office/powerpoint/2010/main" val="40821505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351CC25-88B9-484E-A057-431B52F6650D}"/>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Annexe : parcours partenaire</a:t>
            </a:r>
          </a:p>
        </p:txBody>
      </p:sp>
      <p:sp>
        <p:nvSpPr>
          <p:cNvPr id="2" name="">
            <a:extLst xmlns:a="http://schemas.openxmlformats.org/drawingml/2006/main">
              <a:ext uri="{FF2B5EF4-FFF2-40B4-BE49-F238E27FC236}">
                <a16:creationId xmlns:a16="http://schemas.microsoft.com/office/drawing/2014/main" id="{22063181-FA54-4283-902D-D2B3BF5A2A69}"/>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Capture locale du 14 septembre 2026  ·  16</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989953411ba4c1e"/>
          <a:stretch xmlns:a="http://schemas.openxmlformats.org/drawingml/2006/main"/>
        </p:blipFill>
        <p:spPr>
          <a:xfrm xmlns:a="http://schemas.openxmlformats.org/drawingml/2006/main">
            <a:off x="2701290" y="1485900"/>
            <a:ext cx="6789420" cy="4714875"/>
          </a:xfrm>
          <a:prstGeom xmlns:a="http://schemas.openxmlformats.org/drawingml/2006/main" prst="rect">
            <a:avLst/>
          </a:prstGeom>
        </p:spPr>
      </p:pic>
    </p:spTree>
    <p:extLst>
      <p:ext uri="{BB962C8B-B14F-4D97-AF65-F5344CB8AC3E}">
        <p14:creationId xmlns:p14="http://schemas.microsoft.com/office/powerpoint/2010/main" val="5387145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D89EC8F-60C3-480A-AF59-CA58E6D450D8}"/>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Annexe : gestion des événements</a:t>
            </a:r>
          </a:p>
        </p:txBody>
      </p:sp>
      <p:sp>
        <p:nvSpPr>
          <p:cNvPr id="2" name="">
            <a:extLst xmlns:a="http://schemas.openxmlformats.org/drawingml/2006/main">
              <a:ext uri="{FF2B5EF4-FFF2-40B4-BE49-F238E27FC236}">
                <a16:creationId xmlns:a16="http://schemas.microsoft.com/office/drawing/2014/main" id="{AF02AFF1-D4F5-42C8-B936-39779E1A59E4}"/>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Capture locale du 14 septembre 2026  ·  17</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2f604a0150e449c"/>
          <a:stretch xmlns:a="http://schemas.openxmlformats.org/drawingml/2006/main"/>
        </p:blipFill>
        <p:spPr>
          <a:xfrm xmlns:a="http://schemas.openxmlformats.org/drawingml/2006/main">
            <a:off x="2701290" y="1485900"/>
            <a:ext cx="6789420" cy="4714875"/>
          </a:xfrm>
          <a:prstGeom xmlns:a="http://schemas.openxmlformats.org/drawingml/2006/main" prst="rect">
            <a:avLst/>
          </a:prstGeom>
        </p:spPr>
      </p:pic>
    </p:spTree>
    <p:extLst>
      <p:ext uri="{BB962C8B-B14F-4D97-AF65-F5344CB8AC3E}">
        <p14:creationId xmlns:p14="http://schemas.microsoft.com/office/powerpoint/2010/main" val="33678930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4319D09-8713-46F5-B6D2-06F18B0F0707}"/>
              </a:ext>
            </a:extLst>
          </p:cNvPr>
          <p:cNvSpPr>
            <a:spLocks xmlns:a="http://schemas.openxmlformats.org/drawingml/2006/main" noGrp="1"/>
          </p:cNvSpPr>
          <p:nvPr/>
        </p:nvSpPr>
        <p:spPr>
          <a:xfrm xmlns:a="http://schemas.openxmlformats.org/drawingml/2006/main">
            <a:off x="609600" y="419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D"/>
                </a:solidFill>
                <a:latin typeface="Arial"/>
                <a:ea typeface="Arial"/>
                <a:cs typeface="Arial"/>
              </a:defRPr>
            </a:pPr>
            <a:r>
              <a:rPr sz="3300" b="1">
                <a:solidFill>
                  <a:srgbClr val="18312D"/>
                </a:solidFill>
                <a:latin typeface="Arial"/>
                <a:ea typeface="Arial"/>
                <a:cs typeface="Arial"/>
              </a:rPr>
              <a:t>Annexe : retrouver une preuve</a:t>
            </a:r>
          </a:p>
        </p:txBody>
      </p:sp>
      <p:sp>
        <p:nvSpPr>
          <p:cNvPr id="2" name="">
            <a:extLst xmlns:a="http://schemas.openxmlformats.org/drawingml/2006/main">
              <a:ext uri="{FF2B5EF4-FFF2-40B4-BE49-F238E27FC236}">
                <a16:creationId xmlns:a16="http://schemas.microsoft.com/office/drawing/2014/main" id="{9CE662CC-B385-41E9-A935-84E19C55F705}"/>
              </a:ext>
            </a:extLst>
          </p:cNvPr>
          <p:cNvSpPr>
            <a:spLocks xmlns:a="http://schemas.openxmlformats.org/drawingml/2006/main" noGrp="1"/>
          </p:cNvSpPr>
          <p:nvPr/>
        </p:nvSpPr>
        <p:spPr>
          <a:xfrm xmlns:a="http://schemas.openxmlformats.org/drawingml/2006/main">
            <a:off x="609600" y="6353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65F"/>
                </a:solidFill>
                <a:latin typeface="Arial"/>
                <a:ea typeface="Arial"/>
                <a:cs typeface="Arial"/>
              </a:defRPr>
            </a:pPr>
            <a:r>
              <a:rPr sz="1350" b="0">
                <a:solidFill>
                  <a:srgbClr val="56665F"/>
                </a:solidFill>
                <a:latin typeface="Arial"/>
                <a:ea typeface="Arial"/>
                <a:cs typeface="Arial"/>
              </a:rPr>
              <a:t>Correspondance avec les sept compétences  ·  18</a:t>
            </a:r>
          </a:p>
        </p:txBody>
      </p:sp>
      <p:graphicFrame>
        <p:nvGraphicFramePr>
          <p:cNvPr id="6" name=""/>
          <p:cNvGraphicFramePr/>
          <p:nvPr/>
        </p:nvGraphicFramePr>
        <p:xfrm>
          <a:off xmlns:a="http://schemas.openxmlformats.org/drawingml/2006/main" x="609600" y="1733550"/>
          <a:ext xmlns:a="http://schemas.openxmlformats.org/drawingml/2006/main" cx="10972800" cy="3476625"/>
        </p:xfrm>
        <a:graphic xmlns:a="http://schemas.openxmlformats.org/drawingml/2006/main">
          <a:graphicData uri="http://schemas.openxmlformats.org/drawingml/2006/table">
            <a:tbl>
              <a:tblPr/>
              <a:tblGrid>
                <a:gridCol w="4572000"/>
                <a:gridCol w="6400800"/>
              </a:tblGrid>
              <a:tr h="695325">
                <a:tc>
                  <a:txBody>
                    <a:bodyPr/>
                    <a:lstStyle/>
                    <a:p>
                      <a:r>
                        <a:rPr sz="1725" b="1">
                          <a:solidFill>
                            <a:srgbClr val="FFFFFF"/>
                          </a:solidFill>
                          <a:latin typeface="Arial"/>
                          <a:ea typeface="Arial"/>
                          <a:cs typeface="Arial"/>
                        </a:rPr>
                        <a:t>Compétences</a:t>
                      </a:r>
                    </a:p>
                  </a:txBody>
                  <a:tcPr marL="91440" marR="91440" marT="45720" marB="45720">
                    <a:solidFill>
                      <a:srgbClr val="246B58"/>
                    </a:solidFill>
                  </a:tcPr>
                </a:tc>
                <a:tc>
                  <a:txBody>
                    <a:bodyPr/>
                    <a:lstStyle/>
                    <a:p>
                      <a:r>
                        <a:rPr sz="1725" b="1">
                          <a:solidFill>
                            <a:srgbClr val="FFFFFF"/>
                          </a:solidFill>
                          <a:latin typeface="Arial"/>
                          <a:ea typeface="Arial"/>
                          <a:cs typeface="Arial"/>
                        </a:rPr>
                        <a:t>Pièces de référence</a:t>
                      </a:r>
                    </a:p>
                  </a:txBody>
                  <a:tcPr marL="91440" marR="91440" marT="45720" marB="45720">
                    <a:solidFill>
                      <a:srgbClr val="246B58"/>
                    </a:solidFill>
                  </a:tcPr>
                </a:tc>
              </a:tr>
              <a:tr h="695325">
                <a:tc>
                  <a:txBody>
                    <a:bodyPr/>
                    <a:lstStyle/>
                    <a:p>
                      <a:r>
                        <a:rPr sz="1725" b="0">
                          <a:solidFill>
                            <a:srgbClr val="18312D"/>
                          </a:solidFill>
                          <a:latin typeface="Arial"/>
                          <a:ea typeface="Arial"/>
                          <a:cs typeface="Arial"/>
                        </a:rPr>
                        <a:t>C.3.1 et C3.2.1</a:t>
                      </a:r>
                    </a:p>
                  </a:txBody>
                  <a:tcPr marL="91440" marR="91440" marT="45720" marB="45720">
                    <a:solidFill>
                      <a:srgbClr val="EDF3EF"/>
                    </a:solidFill>
                  </a:tcPr>
                </a:tc>
                <a:tc>
                  <a:txBody>
                    <a:bodyPr/>
                    <a:lstStyle/>
                    <a:p>
                      <a:r>
                        <a:rPr sz="1725" b="0">
                          <a:solidFill>
                            <a:srgbClr val="18312D"/>
                          </a:solidFill>
                          <a:latin typeface="Arial"/>
                          <a:ea typeface="Arial"/>
                          <a:cs typeface="Arial"/>
                        </a:rPr>
                        <a:t>A01 à A03 ; classeur de pilotage</a:t>
                      </a:r>
                    </a:p>
                  </a:txBody>
                  <a:tcPr marL="91440" marR="91440" marT="45720" marB="45720">
                    <a:solidFill>
                      <a:srgbClr val="EDF3EF"/>
                    </a:solidFill>
                  </a:tcPr>
                </a:tc>
              </a:tr>
              <a:tr h="695325">
                <a:tc>
                  <a:txBody>
                    <a:bodyPr/>
                    <a:lstStyle/>
                    <a:p>
                      <a:r>
                        <a:rPr sz="1725" b="0">
                          <a:solidFill>
                            <a:srgbClr val="18312D"/>
                          </a:solidFill>
                          <a:latin typeface="Arial"/>
                          <a:ea typeface="Arial"/>
                          <a:cs typeface="Arial"/>
                        </a:rPr>
                        <a:t>C3.2.2</a:t>
                      </a:r>
                    </a:p>
                  </a:txBody>
                  <a:tcPr marL="91440" marR="91440" marT="45720" marB="45720">
                    <a:solidFill>
                      <a:srgbClr val="FFFFFF"/>
                    </a:solidFill>
                  </a:tcPr>
                </a:tc>
                <a:tc>
                  <a:txBody>
                    <a:bodyPr/>
                    <a:lstStyle/>
                    <a:p>
                      <a:r>
                        <a:rPr sz="1725" b="0">
                          <a:solidFill>
                            <a:srgbClr val="18312D"/>
                          </a:solidFill>
                          <a:latin typeface="Arial"/>
                          <a:ea typeface="Arial"/>
                          <a:cs typeface="Arial"/>
                        </a:rPr>
                        <a:t>A04 ; commit 689e59d</a:t>
                      </a:r>
                    </a:p>
                  </a:txBody>
                  <a:tcPr marL="91440" marR="91440" marT="45720" marB="45720">
                    <a:solidFill>
                      <a:srgbClr val="FFFFFF"/>
                    </a:solidFill>
                  </a:tcPr>
                </a:tc>
              </a:tr>
              <a:tr h="695325">
                <a:tc>
                  <a:txBody>
                    <a:bodyPr/>
                    <a:lstStyle/>
                    <a:p>
                      <a:r>
                        <a:rPr sz="1725" b="0">
                          <a:solidFill>
                            <a:srgbClr val="18312D"/>
                          </a:solidFill>
                          <a:latin typeface="Arial"/>
                          <a:ea typeface="Arial"/>
                          <a:cs typeface="Arial"/>
                        </a:rPr>
                        <a:t>C3.3.1 et C3.3.2</a:t>
                      </a:r>
                    </a:p>
                  </a:txBody>
                  <a:tcPr marL="91440" marR="91440" marT="45720" marB="45720">
                    <a:solidFill>
                      <a:srgbClr val="EDF3EF"/>
                    </a:solidFill>
                  </a:tcPr>
                </a:tc>
                <a:tc>
                  <a:txBody>
                    <a:bodyPr/>
                    <a:lstStyle/>
                    <a:p>
                      <a:r>
                        <a:rPr sz="1725" b="0">
                          <a:solidFill>
                            <a:srgbClr val="18312D"/>
                          </a:solidFill>
                          <a:latin typeface="Arial"/>
                          <a:ea typeface="Arial"/>
                          <a:cs typeface="Arial"/>
                        </a:rPr>
                        <a:t>A05 et A06</a:t>
                      </a:r>
                    </a:p>
                  </a:txBody>
                  <a:tcPr marL="91440" marR="91440" marT="45720" marB="45720">
                    <a:solidFill>
                      <a:srgbClr val="EDF3EF"/>
                    </a:solidFill>
                  </a:tcPr>
                </a:tc>
              </a:tr>
              <a:tr h="695325">
                <a:tc>
                  <a:txBody>
                    <a:bodyPr/>
                    <a:lstStyle/>
                    <a:p>
                      <a:r>
                        <a:rPr sz="1725" b="0">
                          <a:solidFill>
                            <a:srgbClr val="18312D"/>
                          </a:solidFill>
                          <a:latin typeface="Arial"/>
                          <a:ea typeface="Arial"/>
                          <a:cs typeface="Arial"/>
                        </a:rPr>
                        <a:t>C3.4.1 et C3.4.2</a:t>
                      </a:r>
                    </a:p>
                  </a:txBody>
                  <a:tcPr marL="91440" marR="91440" marT="45720" marB="45720">
                    <a:solidFill>
                      <a:srgbClr val="FFFFFF"/>
                    </a:solidFill>
                  </a:tcPr>
                </a:tc>
                <a:tc>
                  <a:txBody>
                    <a:bodyPr/>
                    <a:lstStyle/>
                    <a:p>
                      <a:r>
                        <a:rPr sz="1725" b="0">
                          <a:solidFill>
                            <a:srgbClr val="18312D"/>
                          </a:solidFill>
                          <a:latin typeface="Arial"/>
                          <a:ea typeface="Arial"/>
                          <a:cs typeface="Arial"/>
                        </a:rPr>
                        <a:t>A07, A08 et vérifications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254560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2026-09-14T07:59:45.1720000Z</dcterms:created>
  <dcterms:modified xsi:type="dcterms:W3CDTF">2026-09-14T07:59:45.1720000Z</dcterms:modified>
</coreProperties>
</file>