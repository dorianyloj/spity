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6.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7.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e10951114a74a6b" /><Relationship Type="http://schemas.openxmlformats.org/officeDocument/2006/relationships/extended-properties" Target="/docProps/app.xml" Id="R3e216567b1ba44ba" /><Relationship Type="http://schemas.openxmlformats.org/officeDocument/2006/relationships/officeDocument" Target="/ppt/presentation.xml" Id="Rd6f41634ef88446f" /></Relationships>
</file>

<file path=ppt/presentation.xml><?xml version="1.0" encoding="utf-8"?>
<p:presentation xmlns:p="http://schemas.openxmlformats.org/presentationml/2006/main">
  <p:sldMasterIdLst>
    <p:sldMasterId xmlns:r="http://schemas.openxmlformats.org/officeDocument/2006/relationships" id="2147483648" r:id="R381340bffbae4421"/>
  </p:sldMasterIdLst>
  <p:notesMasterIdLst>
    <p:notesMasterId xmlns:r="http://schemas.openxmlformats.org/officeDocument/2006/relationships" r:id="R1838522fdf8f43a7"/>
  </p:notesMasterIdLst>
  <p:sldIdLst>
    <p:sldId xmlns:r="http://schemas.openxmlformats.org/officeDocument/2006/relationships" id="256" r:id="R5a21ae9090604c79"/>
    <p:sldId xmlns:r="http://schemas.openxmlformats.org/officeDocument/2006/relationships" id="257" r:id="R1f11234f7bc94b35"/>
    <p:sldId xmlns:r="http://schemas.openxmlformats.org/officeDocument/2006/relationships" id="258" r:id="Rc59c2d1c45f84bee"/>
    <p:sldId xmlns:r="http://schemas.openxmlformats.org/officeDocument/2006/relationships" id="259" r:id="Rc8944fedde2b4427"/>
    <p:sldId xmlns:r="http://schemas.openxmlformats.org/officeDocument/2006/relationships" id="260" r:id="Rcb4348b6a93b40d4"/>
    <p:sldId xmlns:r="http://schemas.openxmlformats.org/officeDocument/2006/relationships" id="261" r:id="Rec7996dbf43c40bf"/>
    <p:sldId xmlns:r="http://schemas.openxmlformats.org/officeDocument/2006/relationships" id="262" r:id="R11c99e6093f14acc"/>
    <p:sldId xmlns:r="http://schemas.openxmlformats.org/officeDocument/2006/relationships" id="263" r:id="R7703ac1639cd40ee"/>
    <p:sldId xmlns:r="http://schemas.openxmlformats.org/officeDocument/2006/relationships" id="264" r:id="Rfaa3ae54628449ad"/>
    <p:sldId xmlns:r="http://schemas.openxmlformats.org/officeDocument/2006/relationships" id="265" r:id="Rdcb3880d16df4c22"/>
    <p:sldId xmlns:r="http://schemas.openxmlformats.org/officeDocument/2006/relationships" id="266" r:id="Rd63384cc76844dee"/>
    <p:sldId xmlns:r="http://schemas.openxmlformats.org/officeDocument/2006/relationships" id="267" r:id="R08cbfb6365374be3"/>
    <p:sldId xmlns:r="http://schemas.openxmlformats.org/officeDocument/2006/relationships" id="268" r:id="R8e54d04ed63e4149"/>
    <p:sldId xmlns:r="http://schemas.openxmlformats.org/officeDocument/2006/relationships" id="269" r:id="Rb25373cbade44c10"/>
    <p:sldId xmlns:r="http://schemas.openxmlformats.org/officeDocument/2006/relationships" id="270" r:id="R7a90e30acbd54d31"/>
    <p:sldId xmlns:r="http://schemas.openxmlformats.org/officeDocument/2006/relationships" id="271" r:id="R289aa319b18b4b12"/>
    <p:sldId xmlns:r="http://schemas.openxmlformats.org/officeDocument/2006/relationships" id="272" r:id="R362118231caf429a"/>
    <p:sldId xmlns:r="http://schemas.openxmlformats.org/officeDocument/2006/relationships" id="273" r:id="Rc64a5f5572ee4262"/>
    <p:sldId xmlns:r="http://schemas.openxmlformats.org/officeDocument/2006/relationships" id="274" r:id="Reb4d512e98f94f07"/>
    <p:sldId xmlns:r="http://schemas.openxmlformats.org/officeDocument/2006/relationships" id="275" r:id="R57769ee4d31445d6"/>
    <p:sldId xmlns:r="http://schemas.openxmlformats.org/officeDocument/2006/relationships" id="276" r:id="R6a84ffe878144a05"/>
    <p:sldId xmlns:r="http://schemas.openxmlformats.org/officeDocument/2006/relationships" id="277" r:id="R3959f8cedbec403c"/>
    <p:sldId xmlns:r="http://schemas.openxmlformats.org/officeDocument/2006/relationships" id="278" r:id="R8a039f450a7b442e"/>
    <p:sldId xmlns:r="http://schemas.openxmlformats.org/officeDocument/2006/relationships" id="279" r:id="R3d68c868a25940a9"/>
    <p:sldId xmlns:r="http://schemas.openxmlformats.org/officeDocument/2006/relationships" id="280" r:id="R2180a1df266e448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9a9a306a964fdc" /><Relationship Type="http://schemas.openxmlformats.org/officeDocument/2006/relationships/slideMaster" Target="/ppt/slideMasters/slideMaster1.xml" Id="R381340bffbae4421" /><Relationship Type="http://schemas.openxmlformats.org/officeDocument/2006/relationships/notesMaster" Target="/ppt/notesMasters/notesMaster1.xml" Id="R1838522fdf8f43a7" /><Relationship Type="http://schemas.openxmlformats.org/officeDocument/2006/relationships/presProps" Target="/ppt/presProps.xml" Id="R493358bae8924bf4" /><Relationship Type="http://schemas.openxmlformats.org/officeDocument/2006/relationships/tableStyles" Target="/ppt/tableStyles.xml" Id="Rc676646d86334a22" /><Relationship Type="http://schemas.openxmlformats.org/officeDocument/2006/relationships/slide" Target="/ppt/slides/slide1.xml" Id="R5a21ae9090604c79" /><Relationship Type="http://schemas.openxmlformats.org/officeDocument/2006/relationships/slide" Target="/ppt/slides/slide2.xml" Id="R1f11234f7bc94b35" /><Relationship Type="http://schemas.openxmlformats.org/officeDocument/2006/relationships/slide" Target="/ppt/slides/slide3.xml" Id="Rc59c2d1c45f84bee" /><Relationship Type="http://schemas.openxmlformats.org/officeDocument/2006/relationships/slide" Target="/ppt/slides/slide4.xml" Id="Rc8944fedde2b4427" /><Relationship Type="http://schemas.openxmlformats.org/officeDocument/2006/relationships/slide" Target="/ppt/slides/slide5.xml" Id="Rcb4348b6a93b40d4" /><Relationship Type="http://schemas.openxmlformats.org/officeDocument/2006/relationships/slide" Target="/ppt/slides/slide6.xml" Id="Rec7996dbf43c40bf" /><Relationship Type="http://schemas.openxmlformats.org/officeDocument/2006/relationships/slide" Target="/ppt/slides/slide7.xml" Id="R11c99e6093f14acc" /><Relationship Type="http://schemas.openxmlformats.org/officeDocument/2006/relationships/slide" Target="/ppt/slides/slide8.xml" Id="R7703ac1639cd40ee" /><Relationship Type="http://schemas.openxmlformats.org/officeDocument/2006/relationships/slide" Target="/ppt/slides/slide9.xml" Id="Rfaa3ae54628449ad" /><Relationship Type="http://schemas.openxmlformats.org/officeDocument/2006/relationships/slide" Target="/ppt/slides/slide10.xml" Id="Rdcb3880d16df4c22" /><Relationship Type="http://schemas.openxmlformats.org/officeDocument/2006/relationships/slide" Target="/ppt/slides/slide11.xml" Id="Rd63384cc76844dee" /><Relationship Type="http://schemas.openxmlformats.org/officeDocument/2006/relationships/slide" Target="/ppt/slides/slide12.xml" Id="R08cbfb6365374be3" /><Relationship Type="http://schemas.openxmlformats.org/officeDocument/2006/relationships/slide" Target="/ppt/slides/slide13.xml" Id="R8e54d04ed63e4149" /><Relationship Type="http://schemas.openxmlformats.org/officeDocument/2006/relationships/slide" Target="/ppt/slides/slide14.xml" Id="Rb25373cbade44c10" /><Relationship Type="http://schemas.openxmlformats.org/officeDocument/2006/relationships/slide" Target="/ppt/slides/slide15.xml" Id="R7a90e30acbd54d31" /><Relationship Type="http://schemas.openxmlformats.org/officeDocument/2006/relationships/slide" Target="/ppt/slides/slide16.xml" Id="R289aa319b18b4b12" /><Relationship Type="http://schemas.openxmlformats.org/officeDocument/2006/relationships/slide" Target="/ppt/slides/slide17.xml" Id="R362118231caf429a" /><Relationship Type="http://schemas.openxmlformats.org/officeDocument/2006/relationships/slide" Target="/ppt/slides/slide18.xml" Id="Rc64a5f5572ee4262" /><Relationship Type="http://schemas.openxmlformats.org/officeDocument/2006/relationships/slide" Target="/ppt/slides/slide19.xml" Id="Reb4d512e98f94f07" /><Relationship Type="http://schemas.openxmlformats.org/officeDocument/2006/relationships/slide" Target="/ppt/slides/slide20.xml" Id="R57769ee4d31445d6" /><Relationship Type="http://schemas.openxmlformats.org/officeDocument/2006/relationships/slide" Target="/ppt/slides/slide21.xml" Id="R6a84ffe878144a05" /><Relationship Type="http://schemas.openxmlformats.org/officeDocument/2006/relationships/slide" Target="/ppt/slides/slide22.xml" Id="R3959f8cedbec403c" /><Relationship Type="http://schemas.openxmlformats.org/officeDocument/2006/relationships/slide" Target="/ppt/slides/slide23.xml" Id="R8a039f450a7b442e" /><Relationship Type="http://schemas.openxmlformats.org/officeDocument/2006/relationships/slide" Target="/ppt/slides/slide24.xml" Id="R3d68c868a25940a9" /><Relationship Type="http://schemas.openxmlformats.org/officeDocument/2006/relationships/slide" Target="/ppt/slides/slide25.xml" Id="R2180a1df266e448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6ca2f784f447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536f9f6ad74783" /><Relationship Type="http://schemas.openxmlformats.org/officeDocument/2006/relationships/notesMaster" Target="/ppt/notesMasters/notesMaster1.xml" Id="R63a372cf1e1941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ec0d2c74f341d4" /><Relationship Type="http://schemas.openxmlformats.org/officeDocument/2006/relationships/notesMaster" Target="/ppt/notesMasters/notesMaster1.xml" Id="R88e44015909b43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b87cdb08ca4eb6" /><Relationship Type="http://schemas.openxmlformats.org/officeDocument/2006/relationships/notesMaster" Target="/ppt/notesMasters/notesMaster1.xml" Id="R6caec3c2a6354c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1dcac6abfa455a" /><Relationship Type="http://schemas.openxmlformats.org/officeDocument/2006/relationships/notesMaster" Target="/ppt/notesMasters/notesMaster1.xml" Id="R8a0f48bd8a7d42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ee3ec8899a476e" /><Relationship Type="http://schemas.openxmlformats.org/officeDocument/2006/relationships/notesMaster" Target="/ppt/notesMasters/notesMaster1.xml" Id="Rb440a4ea39344a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97d8e23cec40c2" /><Relationship Type="http://schemas.openxmlformats.org/officeDocument/2006/relationships/notesMaster" Target="/ppt/notesMasters/notesMaster1.xml" Id="Rde8b76ec802740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ee81ceda114512" /><Relationship Type="http://schemas.openxmlformats.org/officeDocument/2006/relationships/notesMaster" Target="/ppt/notesMasters/notesMaster1.xml" Id="Rec4eaef0da4349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4b0133d84249a0" /><Relationship Type="http://schemas.openxmlformats.org/officeDocument/2006/relationships/notesMaster" Target="/ppt/notesMasters/notesMaster1.xml" Id="R8e8d8ad48e4a45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41347c7c36461e" /><Relationship Type="http://schemas.openxmlformats.org/officeDocument/2006/relationships/notesMaster" Target="/ppt/notesMasters/notesMaster1.xml" Id="Rc1cdaf9e291545f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16c48e676c4483e" /><Relationship Type="http://schemas.openxmlformats.org/officeDocument/2006/relationships/notesMaster" Target="/ppt/notesMasters/notesMaster1.xml" Id="R7d644e88b37243a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c3dd2568554932" /><Relationship Type="http://schemas.openxmlformats.org/officeDocument/2006/relationships/notesMaster" Target="/ppt/notesMasters/notesMaster1.xml" Id="Rccd9b041bce548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a66f6ea30f47bf" /><Relationship Type="http://schemas.openxmlformats.org/officeDocument/2006/relationships/notesMaster" Target="/ppt/notesMasters/notesMaster1.xml" Id="Rac63fdf31ad64f4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58945235484f14" /><Relationship Type="http://schemas.openxmlformats.org/officeDocument/2006/relationships/notesMaster" Target="/ppt/notesMasters/notesMaster1.xml" Id="Rb8d5f71fa9ca4c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bee8fa9122c4f60" /><Relationship Type="http://schemas.openxmlformats.org/officeDocument/2006/relationships/notesMaster" Target="/ppt/notesMasters/notesMaster1.xml" Id="R37ce6f7f57e34c9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d4786fcfb3e41f2" /><Relationship Type="http://schemas.openxmlformats.org/officeDocument/2006/relationships/notesMaster" Target="/ppt/notesMasters/notesMaster1.xml" Id="R9fe11ebcbb2f465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7c2ca9cc5914b0c" /><Relationship Type="http://schemas.openxmlformats.org/officeDocument/2006/relationships/notesMaster" Target="/ppt/notesMasters/notesMaster1.xml" Id="Rabed766fadda483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9f96246f6014b89" /><Relationship Type="http://schemas.openxmlformats.org/officeDocument/2006/relationships/notesMaster" Target="/ppt/notesMasters/notesMaster1.xml" Id="R690c6d7a17b540d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ac1c67e90e8448a" /><Relationship Type="http://schemas.openxmlformats.org/officeDocument/2006/relationships/notesMaster" Target="/ppt/notesMasters/notesMaster1.xml" Id="R33c14ca7964040e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f727484ae9e4e80" /><Relationship Type="http://schemas.openxmlformats.org/officeDocument/2006/relationships/notesMaster" Target="/ppt/notesMasters/notesMaster1.xml" Id="Rab41c9e18a6946e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9d8b802a62b4a0a" /><Relationship Type="http://schemas.openxmlformats.org/officeDocument/2006/relationships/notesMaster" Target="/ppt/notesMasters/notesMaster1.xml" Id="R407a32687c634aa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22c772aca114492" /><Relationship Type="http://schemas.openxmlformats.org/officeDocument/2006/relationships/notesMaster" Target="/ppt/notesMasters/notesMaster1.xml" Id="R917732644d44406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e8ca9d881db4818" /><Relationship Type="http://schemas.openxmlformats.org/officeDocument/2006/relationships/notesMaster" Target="/ppt/notesMasters/notesMaster1.xml" Id="R5c40acc4385843f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b2d450e45df483e" /><Relationship Type="http://schemas.openxmlformats.org/officeDocument/2006/relationships/notesMaster" Target="/ppt/notesMasters/notesMaster1.xml" Id="R92f74a9e0092495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2fdd44b6e5640ca" /><Relationship Type="http://schemas.openxmlformats.org/officeDocument/2006/relationships/notesMaster" Target="/ppt/notesMasters/notesMaster1.xml" Id="R36dbef90a12642d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cde6aeaaabf4cdc" /><Relationship Type="http://schemas.openxmlformats.org/officeDocument/2006/relationships/notesMaster" Target="/ppt/notesMasters/notesMaster1.xml" Id="Ra715f145cebf4a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00:00 à 00:30. Durée prévue : 00:30.</a:t>
            </a:r>
          </a:p>
          <a:p xmlns:a="http://schemas.openxmlformats.org/drawingml/2006/main">
            <a:r>
              <a:t/>
            </a:r>
          </a:p>
          <a:p xmlns:a="http://schemas.openxmlformats.org/drawingml/2006/main">
            <a:r>
              <a:t>TEXTE ORAL</a:t>
            </a:r>
          </a:p>
          <a:p xmlns:a="http://schemas.openxmlformats.org/drawingml/2006/main">
            <a:r>
              <a:t>Bonjour, je suis Dorian Joly. Je vais présenter le pilotage de Spity, une application destinée à la communauté de l'escalade. Mon fil conducteur est la préparation d'une sortie, depuis la recherche d'un partenaire jusqu'à l'inscription à un événement. Je présenterai l'organisation du projet, les décisions de pilotage, puis une démonstration du logiciel.</a:t>
            </a:r>
          </a:p>
          <a:p xmlns:a="http://schemas.openxmlformats.org/drawingml/2006/main">
            <a:r>
              <a:t/>
            </a:r>
          </a:p>
          <a:p xmlns:a="http://schemas.openxmlformats.org/drawingml/2006/main">
            <a:r>
              <a:t>TRANSITION</a:t>
            </a:r>
          </a:p>
          <a:p xmlns:a="http://schemas.openxmlformats.org/drawingml/2006/main">
            <a:r>
              <a:t>Je commence par le besoin auquel répond le produit.</a:t>
            </a:r>
          </a:p>
          <a:p xmlns:a="http://schemas.openxmlformats.org/drawingml/2006/main">
            <a:r>
              <a:t/>
            </a:r>
          </a:p>
          <a:p xmlns:a="http://schemas.openxmlformats.org/drawingml/2006/main">
            <a:r>
              <a:t>SOURCE ET NATURE</a:t>
            </a:r>
          </a:p>
          <a:p xmlns:a="http://schemas.openxmlformats.org/drawingml/2006/main">
            <a:r>
              <a:t>RNCP39583, Bloc 3. Référentiel RNCP39583, p. 11 à 14. Photo de marque du dépôt, illustration sans lien avec une équipe réelle.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00:30 à 01:30. Durée prévue : 01:00.</a:t>
            </a:r>
          </a:p>
          <a:p xmlns:a="http://schemas.openxmlformats.org/drawingml/2006/main">
            <a:r>
              <a:t/>
            </a:r>
          </a:p>
          <a:p xmlns:a="http://schemas.openxmlformats.org/drawingml/2006/main">
            <a:r>
              <a:t>TEXTE ORAL</a:t>
            </a:r>
          </a:p>
          <a:p xmlns:a="http://schemas.openxmlformats.org/drawingml/2006/main">
            <a:r>
              <a:t>Je reprends le commanditaire du Bloc 1 : le Collectif Altitude Grimpe, association fictive représentée par Claire Martin. Le cadre reste une zone pilote autour de Lyon et Grenoble. Son besoin est de centraliser des usages aujourd'hui dispersés : trouver un partenaire, consulter les lieux et organiser des sorties.</a:t>
            </a:r>
          </a:p>
          <a:p xmlns:a="http://schemas.openxmlformats.org/drawingml/2006/main">
            <a:r>
              <a:t/>
            </a:r>
          </a:p>
          <a:p xmlns:a="http://schemas.openxmlformats.org/drawingml/2006/main">
            <a:r>
              <a:t>Pour cette soutenance, je retiens le parcours déjà développé dans le Bloc 2. Le grimpeur recherche une personne compatible et rejoint un événement. Le club organise cette sortie et retrouve les participants autorisés. Ce choix relie le besoin initial à un résultat démontrable. La capture montre le répertoire de lieux du produit local. Elle illustre le contexte géographique, sans prétendre que toutes les fonctions de la vision initiale sont validées.</a:t>
            </a:r>
          </a:p>
          <a:p xmlns:a="http://schemas.openxmlformats.org/drawingml/2006/main">
            <a:r>
              <a:t/>
            </a:r>
          </a:p>
          <a:p xmlns:a="http://schemas.openxmlformats.org/drawingml/2006/main">
            <a:r>
              <a:t>TRANSITION</a:t>
            </a:r>
          </a:p>
          <a:p xmlns:a="http://schemas.openxmlformats.org/drawingml/2006/main">
            <a:r>
              <a:t>Les quatre blocs abordent ce même projet sous des angles complémentaires.</a:t>
            </a:r>
          </a:p>
          <a:p xmlns:a="http://schemas.openxmlformats.org/drawingml/2006/main">
            <a:r>
              <a:t/>
            </a:r>
          </a:p>
          <a:p xmlns:a="http://schemas.openxmlformats.org/drawingml/2006/main">
            <a:r>
              <a:t>SOURCE ET NATURE</a:t>
            </a:r>
          </a:p>
          <a:p xmlns:a="http://schemas.openxmlformats.org/drawingml/2006/main">
            <a:r>
              <a:t>B1, commanditaire fictif et produit réel. B1 : C1.1.1, p. 2 ; C1.4.1, p. 4-5. B2 : 16_DOSSIER_FINAL_BC02, F01-F10. Capture locale du 15 septembre 2026, données de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01:30 à 02:30. Durée prévue : 01:00.</a:t>
            </a:r>
          </a:p>
          <a:p xmlns:a="http://schemas.openxmlformats.org/drawingml/2006/main">
            <a:r>
              <a:t/>
            </a:r>
          </a:p>
          <a:p xmlns:a="http://schemas.openxmlformats.org/drawingml/2006/main">
            <a:r>
              <a:t>TEXTE ORAL</a:t>
            </a:r>
          </a:p>
          <a:p xmlns:a="http://schemas.openxmlformats.org/drawingml/2006/main">
            <a:r>
              <a:t>Le diaporama du Bloc 1 prévoit quatre-vingt-deux jours-homme pour le MVP. Je reprends ses neuf lots et leurs charges : cadrage, socle technique, authentification, profils, fil social, répertoire, topos, événements et qualité. Leur total correspond à la référence de lancement.</a:t>
            </a:r>
          </a:p>
          <a:p xmlns:a="http://schemas.openxmlformats.org/drawingml/2006/main">
            <a:r>
              <a:t/>
            </a:r>
          </a:p>
          <a:p xmlns:a="http://schemas.openxmlformats.org/drawingml/2006/main">
            <a:r>
              <a:t>Je représente ici une séquence pédagogique à cinq jours-homme par semaine. Elle demande seize virgule quatre semaines de capacité. Les barres ne reconstituent pas les dates réellement travaillées. Chaque lot doit produire un résultat vérifiable avant sa clôture.</a:t>
            </a:r>
          </a:p>
          <a:p xmlns:a="http://schemas.openxmlformats.org/drawingml/2006/main">
            <a:r>
              <a:t/>
            </a:r>
          </a:p>
          <a:p xmlns:a="http://schemas.openxmlformats.org/drawingml/2006/main">
            <a:r>
              <a:t>Le suivi détaillé présenté ensuite porte sur un lot de préparation de démonstration, avec les parcours déjà développés au Bloc 2. Ses jours J1 à J15 désignent des jours relatifs de ce cas. Le budget global reste celui du Bloc 1.</a:t>
            </a:r>
          </a:p>
          <a:p xmlns:a="http://schemas.openxmlformats.org/drawingml/2006/main">
            <a:r>
              <a:t/>
            </a:r>
          </a:p>
          <a:p xmlns:a="http://schemas.openxmlformats.org/drawingml/2006/main">
            <a:r>
              <a:t>GESTE OU MANIPULATION</a:t>
            </a:r>
          </a:p>
          <a:p xmlns:a="http://schemas.openxmlformats.org/drawingml/2006/main">
            <a:r>
              <a:t>Lire les neuf lots du Bloc 1, puis distinguer le planning global du suivi détaillé.</a:t>
            </a:r>
          </a:p>
          <a:p xmlns:a="http://schemas.openxmlformats.org/drawingml/2006/main">
            <a:r>
              <a:t/>
            </a:r>
          </a:p>
          <a:p xmlns:a="http://schemas.openxmlformats.org/drawingml/2006/main">
            <a:r>
              <a:t>TRANSITION</a:t>
            </a:r>
          </a:p>
          <a:p xmlns:a="http://schemas.openxmlformats.org/drawingml/2006/main">
            <a:r>
              <a:t>Je choisis une méthode adaptée au suivi de ce travail.</a:t>
            </a:r>
          </a:p>
          <a:p xmlns:a="http://schemas.openxmlformats.org/drawingml/2006/main">
            <a:r>
              <a:t/>
            </a:r>
          </a:p>
          <a:p xmlns:a="http://schemas.openxmlformats.org/drawingml/2006/main">
            <a:r>
              <a:t>SOURCE ET NATURE</a:t>
            </a:r>
          </a:p>
          <a:p xmlns:a="http://schemas.openxmlformats.org/drawingml/2006/main">
            <a:r>
              <a:t>C.3.1, neuf lots du diaporama Bloc 1. Diaporama B1, p. 21 : 8+6+10+9+12+10+9+8+10=82 j-h. A01 et reference-bloc-01.json. Séquence pédagogique à 5 j-h/semaine, soit 16,4 semaines.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02:30 à 04:00. Durée prévue : 01:30.</a:t>
            </a:r>
          </a:p>
          <a:p xmlns:a="http://schemas.openxmlformats.org/drawingml/2006/main">
            <a:r>
              <a:t/>
            </a:r>
          </a:p>
          <a:p xmlns:a="http://schemas.openxmlformats.org/drawingml/2006/main">
            <a:r>
              <a:t>TEXTE ORAL</a:t>
            </a:r>
          </a:p>
          <a:p xmlns:a="http://schemas.openxmlformats.org/drawingml/2006/main">
            <a:r>
              <a:t>Pour suivre le projet, le scénario combine un tableau Kanban dans Linear et des réunions inspirées de Scrum. Le tableau limite la réalisation à deux tâches simultanées. Les critères de recette conditionnent le passage à terminé. Les réunions donnent un rythme commun aux échanges.</a:t>
            </a:r>
          </a:p>
          <a:p xmlns:a="http://schemas.openxmlformats.org/drawingml/2006/main">
            <a:r>
              <a:t/>
            </a:r>
          </a:p>
          <a:p xmlns:a="http://schemas.openxmlformats.org/drawingml/2006/main">
            <a:r>
              <a:t>À J3, le planning précise l'objectif du lot, les tâches retenues et la capacité disponible. Chaque jour, le daily dure dix minutes : où en sommes-nous, quel obstacle faut-il lever et quelle action adapter ? Le diagnostic technique se poursuit ensuite avec les personnes concernées. À J10 et J15, la review confronte les parcours aux attentes du client. Après la dernière revue, la rétrospective choisit une amélioration de notre fonctionnement.</a:t>
            </a:r>
          </a:p>
          <a:p xmlns:a="http://schemas.openxmlformats.org/drawingml/2006/main">
            <a:r>
              <a:t/>
            </a:r>
          </a:p>
          <a:p xmlns:a="http://schemas.openxmlformats.org/drawingml/2006/main">
            <a:r>
              <a:t>Cette organisation est adaptée au lot de quinze jours. Elle ne revendique pas l'application complète du cadre Scrum. Linear conserve ses données réellement observées : douze tickets terminés sur vingt-quatre non annulés, sans pondération. Les dépendances médias, API et formulaire restent visibles. A05 détaille les réunions et A07 conserve les comptes rendus du cas. Une réunion doit conduire à une action retrouvable.</a:t>
            </a:r>
          </a:p>
          <a:p xmlns:a="http://schemas.openxmlformats.org/drawingml/2006/main">
            <a:r>
              <a:t/>
            </a:r>
          </a:p>
          <a:p xmlns:a="http://schemas.openxmlformats.org/drawingml/2006/main">
            <a:r>
              <a:t>GESTE OU MANIPULATION</a:t>
            </a:r>
          </a:p>
          <a:p xmlns:a="http://schemas.openxmlformats.org/drawingml/2006/main">
            <a:r>
              <a:t>Associer chaque rituel à son objectif et à sa trace. Distinguer le flux Linear observé des réunions du scénario.</a:t>
            </a:r>
          </a:p>
          <a:p xmlns:a="http://schemas.openxmlformats.org/drawingml/2006/main">
            <a:r>
              <a:t/>
            </a:r>
          </a:p>
          <a:p xmlns:a="http://schemas.openxmlformats.org/drawingml/2006/main">
            <a:r>
              <a:t>TRANSITION</a:t>
            </a:r>
          </a:p>
          <a:p xmlns:a="http://schemas.openxmlformats.org/drawingml/2006/main">
            <a:r>
              <a:t>Le planning montre les phases et les rendez-vous du lot.</a:t>
            </a:r>
          </a:p>
          <a:p xmlns:a="http://schemas.openxmlformats.org/drawingml/2006/main">
            <a:r>
              <a:t/>
            </a:r>
          </a:p>
          <a:p xmlns:a="http://schemas.openxmlformats.org/drawingml/2006/main">
            <a:r>
              <a:t>SOURCE ET NATURE</a:t>
            </a:r>
          </a:p>
          <a:p xmlns:a="http://schemas.openxmlformats.org/drawingml/2006/main">
            <a:r>
              <a:t>Linear observé et réunions du scénario fictif. A01/A05/A07 ; rituels.json. Linear observé le 14 septembre 2026. Guide Scrum 2020, p. 9-10 : https://scrumguides.org/docs/scrumguide/v2020/2020-Scrum-Guide-French.pdf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04:00 à 05:30. Durée prévue : 01:30.</a:t>
            </a:r>
          </a:p>
          <a:p xmlns:a="http://schemas.openxmlformats.org/drawingml/2006/main">
            <a:r>
              <a:t/>
            </a:r>
          </a:p>
          <a:p xmlns:a="http://schemas.openxmlformats.org/drawingml/2006/main">
            <a:r>
              <a:t>TEXTE ORAL</a:t>
            </a:r>
          </a:p>
          <a:p xmlns:a="http://schemas.openxmlformats.org/drawingml/2006/main">
            <a:r>
              <a:t>Ce planning détaille quinze jours ouvrés relatifs. L'étude cadre le besoin. La mesure transforme ce besoin en critères observables, par exemple une seule inscription acceptée sur la dernière place. La conception fixe les responsabilités et les moyens. La réalisation fournit les parcours, la recette mesure leur conformité et la restitution prépare la décision du client.</a:t>
            </a:r>
          </a:p>
          <a:p xmlns:a="http://schemas.openxmlformats.org/drawingml/2006/main">
            <a:r>
              <a:t/>
            </a:r>
          </a:p>
          <a:p xmlns:a="http://schemas.openxmlformats.org/drawingml/2006/main">
            <a:r>
              <a:t>Le diagramme à barres rend les chevauchements lisibles. Il complète le tableau Kanban et les réunions sans imposer que toutes les activités attendent la fin de la précédente. QA peut préparer et tester les fonctions déjà disponibles. La clôture de la recette dépend toutefois de la stabilisation des événements et des corrections. La démonstration reste prévue à J15, après la recette J14.</a:t>
            </a:r>
          </a:p>
          <a:p xmlns:a="http://schemas.openxmlformats.org/drawingml/2006/main">
            <a:r>
              <a:t/>
            </a:r>
          </a:p>
          <a:p xmlns:a="http://schemas.openxmlformats.org/drawingml/2006/main">
            <a:r>
              <a:t>Je conserve les dates initiales dans le classeur pour mesurer les dérives. À J10, les événements sont prévus à J12 au lieu de J11 et la recette à J14 au lieu de J13. Chaque glissement vaut un jour. Ce décalage de date est distinct de l'augmentation de charge. A01 conserve les dix tâches et les trente activités estimées sont détaillées dans A09.</a:t>
            </a:r>
          </a:p>
          <a:p xmlns:a="http://schemas.openxmlformats.org/drawingml/2006/main">
            <a:r>
              <a:t/>
            </a:r>
          </a:p>
          <a:p xmlns:a="http://schemas.openxmlformats.org/drawingml/2006/main">
            <a:r>
              <a:t>GESTE OU MANIPULATION</a:t>
            </a:r>
          </a:p>
          <a:p xmlns:a="http://schemas.openxmlformats.org/drawingml/2006/main">
            <a:r>
              <a:t>Lire la phase Mesure, les chevauchements puis les dates initiales et revues.</a:t>
            </a:r>
          </a:p>
          <a:p xmlns:a="http://schemas.openxmlformats.org/drawingml/2006/main">
            <a:r>
              <a:t/>
            </a:r>
          </a:p>
          <a:p xmlns:a="http://schemas.openxmlformats.org/drawingml/2006/main">
            <a:r>
              <a:t>TRANSITION</a:t>
            </a:r>
          </a:p>
          <a:p xmlns:a="http://schemas.openxmlformats.org/drawingml/2006/main">
            <a:r>
              <a:t>La répartition des missions permet de tenir ces engagements.</a:t>
            </a:r>
          </a:p>
          <a:p xmlns:a="http://schemas.openxmlformats.org/drawingml/2006/main">
            <a:r>
              <a:t/>
            </a:r>
          </a:p>
          <a:p xmlns:a="http://schemas.openxmlformats.org/drawingml/2006/main">
            <a:r>
              <a:t>SOURCE ET NATURE</a:t>
            </a:r>
          </a:p>
          <a:p xmlns:a="http://schemas.openxmlformats.org/drawingml/2006/main">
            <a:r>
              <a:t>C.3.1, planning fictif du lot à J10. A01, A03, A09 et Planning. Étude T01, mesure T02, conception T03, réalisation T04-T06, recette T07/T10, restitution T09. A05 : planning J3, reviews J10/J15 et rétrospective J15. Graphique des intervalles de phases à J10, entre les jours relatifs indiqués. Les jalons complets restent dans A01.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05:30 à 06:30. Durée prévue : 01:00.</a:t>
            </a:r>
          </a:p>
          <a:p xmlns:a="http://schemas.openxmlformats.org/drawingml/2006/main">
            <a:r>
              <a:t/>
            </a:r>
          </a:p>
          <a:p xmlns:a="http://schemas.openxmlformats.org/drawingml/2006/main">
            <a:r>
              <a:t>TEXTE ORAL</a:t>
            </a:r>
          </a:p>
          <a:p xmlns:a="http://schemas.openxmlformats.org/drawingml/2006/main">
            <a:r>
              <a:t>Le scénario distingue un chef de projet, un développeur et une testeuse QA nommée Camille. Camille est un personnage fictif malentendant. Je lui confie la préparation des critères et la recette, selon ses compétences. Ce sont les tâches T02 et T07. Sa capacité reste de trente heures pour vingt-quatre heures prévues à terminaison.</a:t>
            </a:r>
          </a:p>
          <a:p xmlns:a="http://schemas.openxmlformats.org/drawingml/2006/main">
            <a:r>
              <a:t/>
            </a:r>
          </a:p>
          <a:p xmlns:a="http://schemas.openxmlformats.org/drawingml/2006/main">
            <a:r>
              <a:t>L'aménagement porte sur les échanges : consignes écrites, réunions sous-titrées et décisions accessibles après la réunion. Le chef de projet prépare ces modalités avec elle. Une heure de préparation est incluse dans les tâches de pilotage existantes. La matrice RACI conserve une autorité de décision par activité. Camille reste responsable de la recette et le client de l'acceptation du périmètre.</a:t>
            </a:r>
          </a:p>
          <a:p xmlns:a="http://schemas.openxmlformats.org/drawingml/2006/main">
            <a:r>
              <a:t/>
            </a:r>
          </a:p>
          <a:p xmlns:a="http://schemas.openxmlformats.org/drawingml/2006/main">
            <a:r>
              <a:t>GESTE OU MANIPULATION</a:t>
            </a:r>
          </a:p>
          <a:p xmlns:a="http://schemas.openxmlformats.org/drawingml/2006/main">
            <a:r>
              <a:t>Présenter les trois rôles et identifier les missions T02/T07 de Camille. Distinguer sa capacité de sa charge prévue.</a:t>
            </a:r>
          </a:p>
          <a:p xmlns:a="http://schemas.openxmlformats.org/drawingml/2006/main">
            <a:r>
              <a:t/>
            </a:r>
          </a:p>
          <a:p xmlns:a="http://schemas.openxmlformats.org/drawingml/2006/main">
            <a:r>
              <a:t>TRANSITION</a:t>
            </a:r>
          </a:p>
          <a:p xmlns:a="http://schemas.openxmlformats.org/drawingml/2006/main">
            <a:r>
              <a:t>Je vérifie ensuite les écarts de charge avant d'engager le reste du lot.</a:t>
            </a:r>
          </a:p>
          <a:p xmlns:a="http://schemas.openxmlformats.org/drawingml/2006/main">
            <a:r>
              <a:t/>
            </a:r>
          </a:p>
          <a:p xmlns:a="http://schemas.openxmlformats.org/drawingml/2006/main">
            <a:r>
              <a:t>SOURCE ET NATURE</a:t>
            </a:r>
          </a:p>
          <a:p xmlns:a="http://schemas.openxmlformats.org/drawingml/2006/main">
            <a:r>
              <a:t>C.3.1, équipe et situation fictives. A02 ; donnees/inclusion.json. Camille est un personnage fictif. C.3.1 : référentiel RNCP39583, p. 11-12. Capacités et charges du cas conservées.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06:30 à 08:00. Durée prévue : 01:30.</a:t>
            </a:r>
          </a:p>
          <a:p xmlns:a="http://schemas.openxmlformats.org/drawingml/2006/main">
            <a:r>
              <a:t/>
            </a:r>
          </a:p>
          <a:p xmlns:a="http://schemas.openxmlformats.org/drawingml/2006/main">
            <a:r>
              <a:t>TEXTE ORAL</a:t>
            </a:r>
          </a:p>
          <a:p xmlns:a="http://schemas.openxmlformats.org/drawingml/2006/main">
            <a:r>
              <a:t>Les chiffres du lot reposent maintenant sur trente activités détaillées, regroupées dans dix tâches. Chaque ligne décrit un travail identifiable, son estimation initiale, son consommé simulé à J10 et son reste à faire. Les trente estimations initiales totalisent cent douze heures. Le consommé atteint soixante-dix-sept heures et le reste à faire quarante heures. La prévision totale devient donc cent dix-sept heures.</a:t>
            </a:r>
          </a:p>
          <a:p xmlns:a="http://schemas.openxmlformats.org/drawingml/2006/main">
            <a:r>
              <a:t/>
            </a:r>
          </a:p>
          <a:p xmlns:a="http://schemas.openxmlformats.org/drawingml/2006/main">
            <a:r>
              <a:t>Le graphique explique les cinq heures supplémentaires. La clarification des dépendances ajoute une heure de pilotage. Les contrôles d'accès ajoutent deux heures, la stabilisation des événements deux heures et la recette deux heures. En sens inverse, la réestimation des corrections retire deux heures. Cette économie reste une hypothèse à surveiller, elle ne justifie pas de réduire les critères de validation.</a:t>
            </a:r>
          </a:p>
          <a:p xmlns:a="http://schemas.openxmlformats.org/drawingml/2006/main">
            <a:r>
              <a:t/>
            </a:r>
          </a:p>
          <a:p xmlns:a="http://schemas.openxmlformats.org/drawingml/2006/main">
            <a:r>
              <a:t>Je conserve la référence initiale et les causes d'écart pour rendre la décision traçable. Les heures sont des données du scénario, pas des temps saisis dans Linear. Les soixante-dix-sept heures consommées ne donnent pas non plus un pourcentage de fonctionnalités terminées. Pour décider, je rapproche ce consommé des livrables vérifiés et des contrôles encore nécessaires. Les dates évoluent aussi : événements J11 à J12, recette J13 à J14. Dans les deux cas, le retard prévu vaut un jour.</a:t>
            </a:r>
          </a:p>
          <a:p xmlns:a="http://schemas.openxmlformats.org/drawingml/2006/main">
            <a:r>
              <a:t/>
            </a:r>
          </a:p>
          <a:p xmlns:a="http://schemas.openxmlformats.org/drawingml/2006/main">
            <a:r>
              <a:t>GESTE OU MANIPULATION</a:t>
            </a:r>
          </a:p>
          <a:p xmlns:a="http://schemas.openxmlformats.org/drawingml/2006/main">
            <a:r>
              <a:t>Lire chaque cause de variation puis montrer le total net de cinq heures.</a:t>
            </a:r>
          </a:p>
          <a:p xmlns:a="http://schemas.openxmlformats.org/drawingml/2006/main">
            <a:r>
              <a:t/>
            </a:r>
          </a:p>
          <a:p xmlns:a="http://schemas.openxmlformats.org/drawingml/2006/main">
            <a:r>
              <a:t>TRANSITION</a:t>
            </a:r>
          </a:p>
          <a:p xmlns:a="http://schemas.openxmlformats.org/drawingml/2006/main">
            <a:r>
              <a:t>Ces heures ont un effet différent sur le budget selon le rôle concerné.</a:t>
            </a:r>
          </a:p>
          <a:p xmlns:a="http://schemas.openxmlformats.org/drawingml/2006/main">
            <a:r>
              <a:t/>
            </a:r>
          </a:p>
          <a:p xmlns:a="http://schemas.openxmlformats.org/drawingml/2006/main">
            <a:r>
              <a:t>SOURCE ET NATURE</a:t>
            </a:r>
          </a:p>
          <a:p xmlns:a="http://schemas.openxmlformats.org/drawingml/2006/main">
            <a:r>
              <a:t>C3.2.1, simulation pédagogique. A09, section 4 et 5 ; donnees/pilotage.json, 30 estimateDetails ; classeur Estimations et Planning. Simulation pédagogique, sans relevés horaires réels.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08:00 à 09:30. Durée prévue : 01:30.</a:t>
            </a:r>
          </a:p>
          <a:p xmlns:a="http://schemas.openxmlformats.org/drawingml/2006/main">
            <a:r>
              <a:t/>
            </a:r>
          </a:p>
          <a:p xmlns:a="http://schemas.openxmlformats.org/drawingml/2006/main">
            <a:r>
              <a:t>TEXTE ORAL</a:t>
            </a:r>
          </a:p>
          <a:p xmlns:a="http://schemas.openxmlformats.org/drawingml/2006/main">
            <a:r>
              <a:t>Je conserve le budget présenté dans le diaporama du Bloc 1 : quarante-quatre mille deux cent cinquante euros. Il comprend quatre-vingt-deux jours-homme à quatre cent cinquante euros, soit trente-six mille neuf cents euros de développement, puis les postes de lancement détaillés en annexe.</a:t>
            </a:r>
          </a:p>
          <a:p xmlns:a="http://schemas.openxmlformats.org/drawingml/2006/main">
            <a:r>
              <a:t/>
            </a:r>
          </a:p>
          <a:p xmlns:a="http://schemas.openxmlformats.org/drawingml/2006/main">
            <a:r>
              <a:t>Le graphique suit un périmètre plus limité : notre cas de préparation de démonstration, valorisé en heures par rôle. La référence de ce lot est de quatre mille deux cent soixante-dix euros. À J10, sa prévision atteint quatre mille quatre cent soixante-cinq euros. L'écart de cent quatre-vingt-quinze euros représente environ quatre virgule six pour cent.</a:t>
            </a:r>
          </a:p>
          <a:p xmlns:a="http://schemas.openxmlformats.org/drawingml/2006/main">
            <a:r>
              <a:t/>
            </a:r>
          </a:p>
          <a:p xmlns:a="http://schemas.openxmlformats.org/drawingml/2006/main">
            <a:r>
              <a:t>La réserve de quatre cent vingt-sept euros porte le plafond du lot à quatre mille six cent quatre-vingt-dix-sept euros. Il reste deux cent trente-deux euros de marge. Toute demande est examinée avec cette marge et la capacité des rôles.</a:t>
            </a:r>
          </a:p>
          <a:p xmlns:a="http://schemas.openxmlformats.org/drawingml/2006/main">
            <a:r>
              <a:t/>
            </a:r>
          </a:p>
          <a:p xmlns:a="http://schemas.openxmlformats.org/drawingml/2006/main">
            <a:r>
              <a:t>Le classeur détaille ces calculs. Les charges du cas sont simulées : elles ne prouvent pas une consommation du budget global. Je conserve les unités et les périmètres pour éviter d'additionner des montants qui recouvrent des travaux communs.</a:t>
            </a:r>
          </a:p>
          <a:p xmlns:a="http://schemas.openxmlformats.org/drawingml/2006/main">
            <a:r>
              <a:t/>
            </a:r>
          </a:p>
          <a:p xmlns:a="http://schemas.openxmlformats.org/drawingml/2006/main">
            <a:r>
              <a:t>GESTE OU MANIPULATION</a:t>
            </a:r>
          </a:p>
          <a:p xmlns:a="http://schemas.openxmlformats.org/drawingml/2006/main">
            <a:r>
              <a:t>Comparer les barres du budget initial, de la prévision et du plafond. Expliquer les 232 euros de marge.</a:t>
            </a:r>
          </a:p>
          <a:p xmlns:a="http://schemas.openxmlformats.org/drawingml/2006/main">
            <a:r>
              <a:t/>
            </a:r>
          </a:p>
          <a:p xmlns:a="http://schemas.openxmlformats.org/drawingml/2006/main">
            <a:r>
              <a:t>TRANSITION</a:t>
            </a:r>
          </a:p>
          <a:p xmlns:a="http://schemas.openxmlformats.org/drawingml/2006/main">
            <a:r>
              <a:t>La marge financière doit être lue avec la disponibilité de chaque rôle.</a:t>
            </a:r>
          </a:p>
          <a:p xmlns:a="http://schemas.openxmlformats.org/drawingml/2006/main">
            <a:r>
              <a:t/>
            </a:r>
          </a:p>
          <a:p xmlns:a="http://schemas.openxmlformats.org/drawingml/2006/main">
            <a:r>
              <a:t>SOURCE ET NATURE</a:t>
            </a:r>
          </a:p>
          <a:p xmlns:a="http://schemas.openxmlformats.org/drawingml/2006/main">
            <a:r>
              <a:t>C3.2.1, montants fictifs en euros. Diaporama B1, p. 21-22 : 82 j-h, 450 EUR/j, total 44 250 EUR. A03, A09 et classeur : cas B3 distinct. reference-bloc-01.json et COHERENCE_INTER_BLOCS.md.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09:30 à 10:30. Durée prévue : 01:00.</a:t>
            </a:r>
          </a:p>
          <a:p xmlns:a="http://schemas.openxmlformats.org/drawingml/2006/main">
            <a:r>
              <a:t/>
            </a:r>
          </a:p>
          <a:p xmlns:a="http://schemas.openxmlformats.org/drawingml/2006/main">
            <a:r>
              <a:t>TEXTE ORAL</a:t>
            </a:r>
          </a:p>
          <a:p xmlns:a="http://schemas.openxmlformats.org/drawingml/2006/main">
            <a:r>
              <a:t>La charge totale reste inférieure à la capacité globale, mais cette somme peut masquer une tension sur un rôle. Le chef de projet est à vingt-neuf heures pour trente disponibles. Il ne conserve qu'une heure de marge. Le développeur dispose de huit heures et QA de six heures.</a:t>
            </a:r>
          </a:p>
          <a:p xmlns:a="http://schemas.openxmlformats.org/drawingml/2006/main">
            <a:r>
              <a:t/>
            </a:r>
          </a:p>
          <a:p xmlns:a="http://schemas.openxmlformats.org/drawingml/2006/main">
            <a:r>
              <a:t>Ces heures ne sont pas librement interchangeables. Transférer une tâche suppose de vérifier la compétence de la personne et l'effet sur la qualité. Le développeur doit pouvoir corriger son travail, tandis que QA conserve un regard sur sa validation. Je protège donc le temps d'arbitrage du chef de projet et je limite les demandes supplémentaires. Le suivi par rôle rend cette décision plus précise qu'un simple total d'heures disponibles. CP dépasse l'alerte de 90 %. QA était déjà chargé de la recette.</a:t>
            </a:r>
          </a:p>
          <a:p xmlns:a="http://schemas.openxmlformats.org/drawingml/2006/main">
            <a:r>
              <a:t/>
            </a:r>
          </a:p>
          <a:p xmlns:a="http://schemas.openxmlformats.org/drawingml/2006/main">
            <a:r>
              <a:t>TRANSITION</a:t>
            </a:r>
          </a:p>
          <a:p xmlns:a="http://schemas.openxmlformats.org/drawingml/2006/main">
            <a:r>
              <a:t>Je relie ensuite ces points de vigilance à un registre des risques.</a:t>
            </a:r>
          </a:p>
          <a:p xmlns:a="http://schemas.openxmlformats.org/drawingml/2006/main">
            <a:r>
              <a:t/>
            </a:r>
          </a:p>
          <a:p xmlns:a="http://schemas.openxmlformats.org/drawingml/2006/main">
            <a:r>
              <a:t>SOURCE ET NATURE</a:t>
            </a:r>
          </a:p>
          <a:p xmlns:a="http://schemas.openxmlformats.org/drawingml/2006/main">
            <a:r>
              <a:t>C3.2.1, simulation pédagogique. A03. Classeur Pilotage, charges à terminaison.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10:30 à 11:30. Durée prévue : 01:00.</a:t>
            </a:r>
          </a:p>
          <a:p xmlns:a="http://schemas.openxmlformats.org/drawingml/2006/main">
            <a:r>
              <a:t/>
            </a:r>
          </a:p>
          <a:p xmlns:a="http://schemas.openxmlformats.org/drawingml/2006/main">
            <a:r>
              <a:t>TEXTE ORAL</a:t>
            </a:r>
          </a:p>
          <a:p xmlns:a="http://schemas.openxmlformats.org/drawingml/2006/main">
            <a:r>
              <a:t>Le registre complet contient cinq risques. Je présente ici ceux qui influencent directement la restitution. Le premier concerne la disponibilité de la démonstration. La réponse consiste à vérifier l'environnement avant l'oral et à conserver des captures datées.</a:t>
            </a:r>
          </a:p>
          <a:p xmlns:a="http://schemas.openxmlformats.org/drawingml/2006/main">
            <a:r>
              <a:t/>
            </a:r>
          </a:p>
          <a:p xmlns:a="http://schemas.openxmlformats.org/drawingml/2006/main">
            <a:r>
              <a:t>Le deuxième concerne la surcharge du chef de projet. Le seuil de quatre-vingt-dix pour cent déclenche une revue de la charge. Le troisième concerne une demande nouvelle qui dépasse la capacité ou le budget. Elle impose un arbitrage avant engagement.</a:t>
            </a:r>
          </a:p>
          <a:p xmlns:a="http://schemas.openxmlformats.org/drawingml/2006/main">
            <a:r>
              <a:t/>
            </a:r>
          </a:p>
          <a:p xmlns:a="http://schemas.openxmlformats.org/drawingml/2006/main">
            <a:r>
              <a:t>Chaque risque possède un responsable, un déclencheur et une réponse. Le score de probabilité et d'impact aide à prioriser, mais la décision doit aussi examiner la conséquence concrète pour le projet. Une couleur seule ne dit pas ce que l'équipe doit faire.</a:t>
            </a:r>
          </a:p>
          <a:p xmlns:a="http://schemas.openxmlformats.org/drawingml/2006/main">
            <a:r>
              <a:t/>
            </a:r>
          </a:p>
          <a:p xmlns:a="http://schemas.openxmlformats.org/drawingml/2006/main">
            <a:r>
              <a:t>TRANSITION</a:t>
            </a:r>
          </a:p>
          <a:p xmlns:a="http://schemas.openxmlformats.org/drawingml/2006/main">
            <a:r>
              <a:t>Je vais illustrer cette logique de décision avec un changement réel du projet.</a:t>
            </a:r>
          </a:p>
          <a:p xmlns:a="http://schemas.openxmlformats.org/drawingml/2006/main">
            <a:r>
              <a:t/>
            </a:r>
          </a:p>
          <a:p xmlns:a="http://schemas.openxmlformats.org/drawingml/2006/main">
            <a:r>
              <a:t>SOURCE ET NATURE</a:t>
            </a:r>
          </a:p>
          <a:p xmlns:a="http://schemas.openxmlformats.org/drawingml/2006/main">
            <a:r>
              <a:t>C3.2.1, extrait du registre fictif. A03, registre des cinq risques.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11:30 à 13:30. Durée prévue : 02:00.</a:t>
            </a:r>
          </a:p>
          <a:p xmlns:a="http://schemas.openxmlformats.org/drawingml/2006/main">
            <a:r>
              <a:t/>
            </a:r>
          </a:p>
          <a:p xmlns:a="http://schemas.openxmlformats.org/drawingml/2006/main">
            <a:r>
              <a:t>TEXTE ORAL</a:t>
            </a:r>
          </a:p>
          <a:p xmlns:a="http://schemas.openxmlformats.org/drawingml/2006/main">
            <a:r>
              <a:t>Un arbitrage réel du dépôt concerne la recette navigateur. Le dossier historique de juillet rapporte un échec pendant l'utilisation du serveur de développement, avec des compilations à froid au cours des scénarios. Cela créait un écart entre l'environnement de recette et l'artefact destiné à être livré.</a:t>
            </a:r>
          </a:p>
          <a:p xmlns:a="http://schemas.openxmlformats.org/drawingml/2006/main">
            <a:r>
              <a:t/>
            </a:r>
          </a:p>
          <a:p xmlns:a="http://schemas.openxmlformats.org/drawingml/2006/main">
            <a:r>
              <a:t>J'ai comparé rétrospectivement trois options pour expliquer le raisonnement. La première consiste à augmenter les délais ou à ajouter des tentatives. Elle est rapide à mettre en place, mais peut masquer la cause. La deuxième consiste à préchauffer le serveur de développement. Elle réduit certaines compilations pendant la recette, à condition d'avoir préparé toutes les routes utiles. La troisième consiste à tester le serveur standalone issu du build. Elle ajoute un temps de construction, mais rapproche la recette du livrable.</a:t>
            </a:r>
          </a:p>
          <a:p xmlns:a="http://schemas.openxmlformats.org/drawingml/2006/main">
            <a:r>
              <a:t/>
            </a:r>
          </a:p>
          <a:p xmlns:a="http://schemas.openxmlformats.org/drawingml/2006/main">
            <a:r>
              <a:t>Le commit visible dans Git retient cette troisième option et ajuste aussi l'utilisation de localhost pour les sessions. Le dossier historique rapporte une exécution réussie après consolidation. Je précise la portée de la preuve : la modification est vérifiable dans Git. Les résultats distants sont rapportés par le dossier de l'époque. La comparaison présentée ici est une analyse rétrospective, pas un procès-verbal rédigé le jour de la décision.</a:t>
            </a:r>
          </a:p>
          <a:p xmlns:a="http://schemas.openxmlformats.org/drawingml/2006/main">
            <a:r>
              <a:t/>
            </a:r>
          </a:p>
          <a:p xmlns:a="http://schemas.openxmlformats.org/drawingml/2006/main">
            <a:r>
              <a:t>Ce cas montre l'intérêt de rechercher la cause avant de modifier un seuil. Une recette utile doit rester reproductible et suffisamment proche des conditions de livraison pour éclairer une décision.</a:t>
            </a:r>
          </a:p>
          <a:p xmlns:a="http://schemas.openxmlformats.org/drawingml/2006/main">
            <a:r>
              <a:t/>
            </a:r>
          </a:p>
          <a:p xmlns:a="http://schemas.openxmlformats.org/drawingml/2006/main">
            <a:r>
              <a:t>GESTE OU MANIPULATION</a:t>
            </a:r>
          </a:p>
          <a:p xmlns:a="http://schemas.openxmlformats.org/drawingml/2006/main">
            <a:r>
              <a:t>Comparer oralement les trois options. Mettre en avant le standalone et le commit qui atteste le choix.</a:t>
            </a:r>
          </a:p>
          <a:p xmlns:a="http://schemas.openxmlformats.org/drawingml/2006/main">
            <a:r>
              <a:t/>
            </a:r>
          </a:p>
          <a:p xmlns:a="http://schemas.openxmlformats.org/drawingml/2006/main">
            <a:r>
              <a:t>TRANSITION</a:t>
            </a:r>
          </a:p>
          <a:p xmlns:a="http://schemas.openxmlformats.org/drawingml/2006/main">
            <a:r>
              <a:t>Un arbitrage peut aussi porter sur le périmètre plutôt que sur un choix technique.</a:t>
            </a:r>
          </a:p>
          <a:p xmlns:a="http://schemas.openxmlformats.org/drawingml/2006/main">
            <a:r>
              <a:t/>
            </a:r>
          </a:p>
          <a:p xmlns:a="http://schemas.openxmlformats.org/drawingml/2006/main">
            <a:r>
              <a:t>SOURCE ET NATURE</a:t>
            </a:r>
          </a:p>
          <a:p xmlns:a="http://schemas.openxmlformats.org/drawingml/2006/main">
            <a:r>
              <a:t>C3.2.2, fait Git et analyse rétrospective. A04. git show 689e59d. Cahier de recettes Bloc 2, consolidation standalone. B2 : 19_RETOUR_EXPERIENCE_ET_CHOIX_TECHNIQUES, section 8. L’arbitrage B3 reprend le même événement et en explicite le raisonnement de pilotage.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13:30 à 15:00. Durée prévue : 01:30.</a:t>
            </a:r>
          </a:p>
          <a:p xmlns:a="http://schemas.openxmlformats.org/drawingml/2006/main">
            <a:r>
              <a:t/>
            </a:r>
          </a:p>
          <a:p xmlns:a="http://schemas.openxmlformats.org/drawingml/2006/main">
            <a:r>
              <a:t>TEXTE ORAL</a:t>
            </a:r>
          </a:p>
          <a:p xmlns:a="http://schemas.openxmlformats.org/drawingml/2006/main">
            <a:r>
              <a:t>À J10, le client fictif demande un lot supplémentaire de contributions aux topos. Il s'agit d'une demande pédagogique, distincte de l'état actuel du code. Son estimation est de douze heures de développement et de quatre heures de recette, soit cinq cent quarante euros.</a:t>
            </a:r>
          </a:p>
          <a:p xmlns:a="http://schemas.openxmlformats.org/drawingml/2006/main">
            <a:r>
              <a:t/>
            </a:r>
          </a:p>
          <a:p xmlns:a="http://schemas.openxmlformats.org/drawingml/2006/main">
            <a:r>
              <a:t>L'ajout porterait la prévision à cinq mille cinq euros, au-dessus du plafond de trois cent huit euros. Il porterait également la charge du développeur à soixante-seize heures pour soixante-douze disponibles. La difficulté concerne donc à la fois le budget et la capacité.</a:t>
            </a:r>
          </a:p>
          <a:p xmlns:a="http://schemas.openxmlformats.org/drawingml/2006/main">
            <a:r>
              <a:t/>
            </a:r>
          </a:p>
          <a:p xmlns:a="http://schemas.openxmlformats.org/drawingml/2006/main">
            <a:r>
              <a:t>Je compare l'ajout, le retrait d'une partie de la recette et le report. Réduire la recette ferait perdre des contrôles sur le périmètre déjà engagé. Le scénario retient le report du lot supplémentaire. Le client fictif valide cette décision dans le compte rendu J10. Les critères restent dans le backlog pour une estimation ultérieure. Cette réponse explique ce qui peut être livré, à quel moment, et pourquoi la demande ne peut pas simplement être ajoutée sans conséquence.</a:t>
            </a:r>
          </a:p>
          <a:p xmlns:a="http://schemas.openxmlformats.org/drawingml/2006/main">
            <a:r>
              <a:t/>
            </a:r>
          </a:p>
          <a:p xmlns:a="http://schemas.openxmlformats.org/drawingml/2006/main">
            <a:r>
              <a:t>GESTE OU MANIPULATION</a:t>
            </a:r>
          </a:p>
          <a:p xmlns:a="http://schemas.openxmlformats.org/drawingml/2006/main">
            <a:r>
              <a:t>Montrer le rattachement de la demande au contexte SPI-22, puis comparer les coûts et la capacité DEV.</a:t>
            </a:r>
          </a:p>
          <a:p xmlns:a="http://schemas.openxmlformats.org/drawingml/2006/main">
            <a:r>
              <a:t/>
            </a:r>
          </a:p>
          <a:p xmlns:a="http://schemas.openxmlformats.org/drawingml/2006/main">
            <a:r>
              <a:t>TRANSITION</a:t>
            </a:r>
          </a:p>
          <a:p xmlns:a="http://schemas.openxmlformats.org/drawingml/2006/main">
            <a:r>
              <a:t>Pour appliquer cette décision, je dois aussi la faire comprendre à l’équipe.</a:t>
            </a:r>
          </a:p>
          <a:p xmlns:a="http://schemas.openxmlformats.org/drawingml/2006/main">
            <a:r>
              <a:t/>
            </a:r>
          </a:p>
          <a:p xmlns:a="http://schemas.openxmlformats.org/drawingml/2006/main">
            <a:r>
              <a:t>SOURCE ET NATURE</a:t>
            </a:r>
          </a:p>
          <a:p xmlns:a="http://schemas.openxmlformats.org/drawingml/2006/main">
            <a:r>
              <a:t>C3.2.2, demande fictive à J10. A04 et CR02 dans A07. Simulation explicitement distincte du code actuel. B1 : diaporama p. 20-21, topos Should dans la vision cible. Le report concerne ce lot pédagogique ; il ne supprime pas la fonctionnalité du projet. Linear SPI-22 est observé en Backlog au 14 septembre. Le chiffrage additionnel 12 h DEV et 4 h QA est une hypothèse du lot, pas une estimation extraite de ce ticket.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15:00 à 16:30. Durée prévue : 01:30.</a:t>
            </a:r>
          </a:p>
          <a:p xmlns:a="http://schemas.openxmlformats.org/drawingml/2006/main">
            <a:r>
              <a:t/>
            </a:r>
          </a:p>
          <a:p xmlns:a="http://schemas.openxmlformats.org/drawingml/2006/main">
            <a:r>
              <a:t>TEXTE ORAL</a:t>
            </a:r>
          </a:p>
          <a:p xmlns:a="http://schemas.openxmlformats.org/drawingml/2006/main">
            <a:r>
              <a:t>Le développeur souhaite ajouter une fonction alors que Camille attend une version stable. Leurs besoins sont différents : faire évoluer le produit et vérifier le périmètre engagé. Je demande les faits, les impacts et l'aide nécessaire avant de choisir une réponse.</a:t>
            </a:r>
          </a:p>
          <a:p xmlns:a="http://schemas.openxmlformats.org/drawingml/2006/main">
            <a:r>
              <a:t/>
            </a:r>
          </a:p>
          <a:p xmlns:a="http://schemas.openxmlformats.org/drawingml/2006/main">
            <a:r>
              <a:t>La posture participative sert à comparer leurs propositions. La posture persuasive permet d'expliquer au client les conséquences du report. Je reste directif sur les critères critiques de livraison : on ne valide pas une capacité non vérifiée. La délégation porte sur un résultat et un contrôle. DEV choisit l'implémentation ; Camille choisit les cas de recette dans les critères convenus.</a:t>
            </a:r>
          </a:p>
          <a:p xmlns:a="http://schemas.openxmlformats.org/drawingml/2006/main">
            <a:r>
              <a:t/>
            </a:r>
          </a:p>
          <a:p xmlns:a="http://schemas.openxmlformats.org/drawingml/2006/main">
            <a:r>
              <a:t>Une réponse seulement directive ferait taire le désaccord sans traiter sa cause. Une discussion sans échéance consommerait la faible marge du chef de projet. Je retiens quinze minutes, avec les options préparées par écrit, une autorité de décision identifiée et une prochaine action datée. La rétrospective J15 complète cette analyse : nous séparons le daily des diagnostics techniques. CP vérifie cette amélioration aux trois premiers points du prochain lot. Cette décision appartient au scénario fictif.</a:t>
            </a:r>
          </a:p>
          <a:p xmlns:a="http://schemas.openxmlformats.org/drawingml/2006/main">
            <a:r>
              <a:t/>
            </a:r>
          </a:p>
          <a:p xmlns:a="http://schemas.openxmlformats.org/drawingml/2006/main">
            <a:r>
              <a:t>GESTE OU MANIPULATION</a:t>
            </a:r>
          </a:p>
          <a:p xmlns:a="http://schemas.openxmlformats.org/drawingml/2006/main">
            <a:r>
              <a:t>Associer chaque style à une action, puis expliquer la limite d’une réponse seulement directive.</a:t>
            </a:r>
          </a:p>
          <a:p xmlns:a="http://schemas.openxmlformats.org/drawingml/2006/main">
            <a:r>
              <a:t/>
            </a:r>
          </a:p>
          <a:p xmlns:a="http://schemas.openxmlformats.org/drawingml/2006/main">
            <a:r>
              <a:t>TRANSITION</a:t>
            </a:r>
          </a:p>
          <a:p xmlns:a="http://schemas.openxmlformats.org/drawingml/2006/main">
            <a:r>
              <a:t>Ces échanges doivent être accessibles à toute l’équipe.</a:t>
            </a:r>
          </a:p>
          <a:p xmlns:a="http://schemas.openxmlformats.org/drawingml/2006/main">
            <a:r>
              <a:t/>
            </a:r>
          </a:p>
          <a:p xmlns:a="http://schemas.openxmlformats.org/drawingml/2006/main">
            <a:r>
              <a:t>SOURCE ET NATURE</a:t>
            </a:r>
          </a:p>
          <a:p xmlns:a="http://schemas.openxmlformats.org/drawingml/2006/main">
            <a:r>
              <a:t>C3.3.1, situation managériale fictive. A05, situation de désaccord, styles et analyse critique. Illustration fictive conservée. A05, RT01 : amélioration du daily lors de la rétrospective J15. Illustration fictive générée avec ImageGen, visuels/equipe-illustration.png. Aucune personne réelle représentée.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16:30 à 18:00. Durée prévue : 01:30.</a:t>
            </a:r>
          </a:p>
          <a:p xmlns:a="http://schemas.openxmlformats.org/drawingml/2006/main">
            <a:r>
              <a:t/>
            </a:r>
          </a:p>
          <a:p xmlns:a="http://schemas.openxmlformats.org/drawingml/2006/main">
            <a:r>
              <a:t>TEXTE ORAL</a:t>
            </a:r>
          </a:p>
          <a:p xmlns:a="http://schemas.openxmlformats.org/drawingml/2006/main">
            <a:r>
              <a:t>Camille est notre testeuse QA malentendante fictive. Nous convenons de supports écrits, de sous-titres testés et d'une seule personne qui parle à la fois. La synthèse conserve l'action, le responsable et l'échéance. La formation utilise des consignes écrites et une démonstration sous-titrée.</a:t>
            </a:r>
          </a:p>
          <a:p xmlns:a="http://schemas.openxmlformats.org/drawingml/2006/main">
            <a:r>
              <a:t/>
            </a:r>
          </a:p>
          <a:p xmlns:a="http://schemas.openxmlformats.org/drawingml/2006/main">
            <a:r>
              <a:t>Dans le même scénario, le développeur travaille depuis Montréal, tandis que CP et Camille sont à Paris. L'invitation indique les deux fuseaux et propose un créneau commun. Comme la maîtrise du français peut varier, j'utilise un résumé simple et un glossaire français-anglais. DEV peut transmettre son avis par écrit avant la décision. Je ne déduis pas un accord du silence ou d'une différence de style d'expression.</a:t>
            </a:r>
          </a:p>
          <a:p xmlns:a="http://schemas.openxmlformats.org/drawingml/2006/main">
            <a:r>
              <a:t/>
            </a:r>
          </a:p>
          <a:p xmlns:a="http://schemas.openxmlformats.org/drawingml/2006/main">
            <a:r>
              <a:t>Le contrôle porte sur l'accès à l'information : reformuler une consigne à J3, retrouver une décision à J10, réaliser un cas sans aide à J14. Les résultats restent à constater. Si les sous-titres ou une formulation ne suffisent pas, je reprends par écrit et ajuste les modalités avec la personne. Le compte rendu partagé devient la référence commune.</a:t>
            </a:r>
          </a:p>
          <a:p xmlns:a="http://schemas.openxmlformats.org/drawingml/2006/main">
            <a:r>
              <a:t/>
            </a:r>
          </a:p>
          <a:p xmlns:a="http://schemas.openxmlformats.org/drawingml/2006/main">
            <a:r>
              <a:t>GESTE OU MANIPULATION</a:t>
            </a:r>
          </a:p>
          <a:p xmlns:a="http://schemas.openxmlformats.org/drawingml/2006/main">
            <a:r>
              <a:t>Présenter les adaptations de Camille puis le cas Paris/Montréal et le contrôle commun.</a:t>
            </a:r>
          </a:p>
          <a:p xmlns:a="http://schemas.openxmlformats.org/drawingml/2006/main">
            <a:r>
              <a:t/>
            </a:r>
          </a:p>
          <a:p xmlns:a="http://schemas.openxmlformats.org/drawingml/2006/main">
            <a:r>
              <a:t>TRANSITION</a:t>
            </a:r>
          </a:p>
          <a:p xmlns:a="http://schemas.openxmlformats.org/drawingml/2006/main">
            <a:r>
              <a:t>Je compare ensuite les compétences disponibles aux besoins du projet.</a:t>
            </a:r>
          </a:p>
          <a:p xmlns:a="http://schemas.openxmlformats.org/drawingml/2006/main">
            <a:r>
              <a:t/>
            </a:r>
          </a:p>
          <a:p xmlns:a="http://schemas.openxmlformats.org/drawingml/2006/main">
            <a:r>
              <a:t>SOURCE ET NATURE</a:t>
            </a:r>
          </a:p>
          <a:p xmlns:a="http://schemas.openxmlformats.org/drawingml/2006/main">
            <a:r>
              <a:t>C3.3.1, handicap et contexte international simulés. A02/A05/A06 ; inclusion.json et consolidation.json. Camille et le contexte Paris/Montréal sont fictifs ; aucune nationalité ou situation réelle inférée.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18:00 à 19:00. Durée prévue : 01:00.</a:t>
            </a:r>
          </a:p>
          <a:p xmlns:a="http://schemas.openxmlformats.org/drawingml/2006/main">
            <a:r>
              <a:t/>
            </a:r>
          </a:p>
          <a:p xmlns:a="http://schemas.openxmlformats.org/drawingml/2006/main">
            <a:r>
              <a:t>TEXTE ORAL</a:t>
            </a:r>
          </a:p>
          <a:p xmlns:a="http://schemas.openxmlformats.org/drawingml/2006/main">
            <a:r>
              <a:t>Cette grille compare une compétence précise à un niveau attendu. Zéro signifie non abordé, un réalisé avec accompagnement, deux autonome sur un cas courant et trois capable de traiter les cas complexes. Les niveaux sont ceux de l'exercice fictif, pas des évaluations réelles des personnes.</a:t>
            </a:r>
          </a:p>
          <a:p xmlns:a="http://schemas.openxmlformats.org/drawingml/2006/main">
            <a:r>
              <a:t/>
            </a:r>
          </a:p>
          <a:p xmlns:a="http://schemas.openxmlformats.org/drawingml/2006/main">
            <a:r>
              <a:t>Le chef de projet progresse sur le suivi des écarts. DEV doit sécuriser les inscriptions concurrentes. Camille doit rendre la recette navigateur et le contrôle clavier reproductibles. L'animation et le développement typé sont maintenus au niveau deux dans le cas.</a:t>
            </a:r>
          </a:p>
          <a:p xmlns:a="http://schemas.openxmlformats.org/drawingml/2006/main">
            <a:r>
              <a:t/>
            </a:r>
          </a:p>
          <a:p xmlns:a="http://schemas.openxmlformats.org/drawingml/2006/main">
            <a:r>
              <a:t>Je commente l'écart avec un exemple observable : expliquer pourquoi une seule demande obtient la dernière place. Une note globale par personne masquerait ce besoin. L'objectif reste la compétence utile au projet, indépendamment de la situation de handicap.</a:t>
            </a:r>
          </a:p>
          <a:p xmlns:a="http://schemas.openxmlformats.org/drawingml/2006/main">
            <a:r>
              <a:t/>
            </a:r>
          </a:p>
          <a:p xmlns:a="http://schemas.openxmlformats.org/drawingml/2006/main">
            <a:r>
              <a:t>GESTE OU MANIPULATION</a:t>
            </a:r>
          </a:p>
          <a:p xmlns:a="http://schemas.openxmlformats.org/drawingml/2006/main">
            <a:r>
              <a:t>Commenter une ligne complète : rôle, compétence, niveau actuel et cible.</a:t>
            </a:r>
          </a:p>
          <a:p xmlns:a="http://schemas.openxmlformats.org/drawingml/2006/main">
            <a:r>
              <a:t/>
            </a:r>
          </a:p>
          <a:p xmlns:a="http://schemas.openxmlformats.org/drawingml/2006/main">
            <a:r>
              <a:t>TRANSITION</a:t>
            </a:r>
          </a:p>
          <a:p xmlns:a="http://schemas.openxmlformats.org/drawingml/2006/main">
            <a:r>
              <a:t>Chaque écart conduit à une action de formation ciblée.</a:t>
            </a:r>
          </a:p>
          <a:p xmlns:a="http://schemas.openxmlformats.org/drawingml/2006/main">
            <a:r>
              <a:t/>
            </a:r>
          </a:p>
          <a:p xmlns:a="http://schemas.openxmlformats.org/drawingml/2006/main">
            <a:r>
              <a:t>SOURCE ET NATURE</a:t>
            </a:r>
          </a:p>
          <a:p xmlns:a="http://schemas.openxmlformats.org/drawingml/2006/main">
            <a:r>
              <a:t>C3.3.2, niveaux hypothétiques du cas. A06 : six compétences et échelle 0-3. Besoins et niveaux simulés.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19:00 à 20:30. Durée prévue : 01:30.</a:t>
            </a:r>
          </a:p>
          <a:p xmlns:a="http://schemas.openxmlformats.org/drawingml/2006/main">
            <a:r>
              <a:t/>
            </a:r>
          </a:p>
          <a:p xmlns:a="http://schemas.openxmlformats.org/drawingml/2006/main">
            <a:r>
              <a:t>TEXTE ORAL</a:t>
            </a:r>
          </a:p>
          <a:p xmlns:a="http://schemas.openxmlformats.org/drawingml/2006/main">
            <a:r>
              <a:t>Les six heures de formation sont déjà comprises dans les tâches. À J3, le chef de projet consacre une heure au tableau de bord et doit expliquer un écart recalculé. DEV dispose de deux heures pendant T06, entre J9 et J12, pour pratiquer les inscriptions concurrentes. Camille dispose de trois heures dans T07, entre J10 et J14 : deux pour la recette navigateur et une pour le clavier.</a:t>
            </a:r>
          </a:p>
          <a:p xmlns:a="http://schemas.openxmlformats.org/drawingml/2006/main">
            <a:r>
              <a:t/>
            </a:r>
          </a:p>
          <a:p xmlns:a="http://schemas.openxmlformats.org/drawingml/2006/main">
            <a:r>
              <a:t>Les ateliers commencent par une pratique accompagnée, puis un cas autonome. Camille reçoit des consignes écrites et une démonstration sous-titrée. Si le support est inaccessible, on le corrige ; si la difficulté reste technique, on ajuste l'accompagnement. Soixante euros de ressources sont prévus dans le budget fictif.</a:t>
            </a:r>
          </a:p>
          <a:p xmlns:a="http://schemas.openxmlformats.org/drawingml/2006/main">
            <a:r>
              <a:t/>
            </a:r>
          </a:p>
          <a:p xmlns:a="http://schemas.openxmlformats.org/drawingml/2006/main">
            <a:r>
              <a:t>À J12, si une compétence critique reste indisponible, CP prépare une demande de renfort aux RH. La fiche précise mission, délai, exercice de sélection et coût maximal. L'annexe présente une variante chiffrée qui doit être arbitrée avant engagement. Elle n'est pas activée dans le budget de base et aucune demande réelle n'est envoyée.</a:t>
            </a:r>
          </a:p>
          <a:p xmlns:a="http://schemas.openxmlformats.org/drawingml/2006/main">
            <a:r>
              <a:t/>
            </a:r>
          </a:p>
          <a:p xmlns:a="http://schemas.openxmlformats.org/drawingml/2006/main">
            <a:r>
              <a:t>GESTE OU MANIPULATION</a:t>
            </a:r>
          </a:p>
          <a:p xmlns:a="http://schemas.openxmlformats.org/drawingml/2006/main">
            <a:r>
              <a:t>Lire les trois actions et leurs critères de réussite, puis indiquer le déclencheur RH.</a:t>
            </a:r>
          </a:p>
          <a:p xmlns:a="http://schemas.openxmlformats.org/drawingml/2006/main">
            <a:r>
              <a:t/>
            </a:r>
          </a:p>
          <a:p xmlns:a="http://schemas.openxmlformats.org/drawingml/2006/main">
            <a:r>
              <a:t>TRANSITION</a:t>
            </a:r>
          </a:p>
          <a:p xmlns:a="http://schemas.openxmlformats.org/drawingml/2006/main">
            <a:r>
              <a:t>Le client reçoit ensuite un compte rendu qui permet de décider.</a:t>
            </a:r>
          </a:p>
          <a:p xmlns:a="http://schemas.openxmlformats.org/drawingml/2006/main">
            <a:r>
              <a:t/>
            </a:r>
          </a:p>
          <a:p xmlns:a="http://schemas.openxmlformats.org/drawingml/2006/main">
            <a:r>
              <a:t>SOURCE ET NATURE</a:t>
            </a:r>
          </a:p>
          <a:p xmlns:a="http://schemas.openxmlformats.org/drawingml/2006/main">
            <a:r>
              <a:t>C3.3.2, formations et besoin RH simulés. A06 et consolidation.json. Formation CP 1 h/T03, DEV 2 h/T06, QA 3 h/T07. Variante RH séparée, annexe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20:30 à 22:00. Durée prévue : 01:30.</a:t>
            </a:r>
          </a:p>
          <a:p xmlns:a="http://schemas.openxmlformats.org/drawingml/2006/main">
            <a:r>
              <a:t/>
            </a:r>
          </a:p>
          <a:p xmlns:a="http://schemas.openxmlformats.org/drawingml/2006/main">
            <a:r>
              <a:t>TEXTE ORAL</a:t>
            </a:r>
          </a:p>
          <a:p xmlns:a="http://schemas.openxmlformats.org/drawingml/2006/main">
            <a:r>
              <a:t>La review est un échange sur le produit avec Claire Martin, pour le Collectif Altitude Grimpe. Dans le scénario, nous regardons les parcours disponibles et leurs critères, puis nous adaptons les priorités. Le planning J3 fixe le périmètre. Les reviews J10 et J15 organisent les retours intermédiaires puis la validation du parcours démontré.</a:t>
            </a:r>
          </a:p>
          <a:p xmlns:a="http://schemas.openxmlformats.org/drawingml/2006/main">
            <a:r>
              <a:t/>
            </a:r>
          </a:p>
          <a:p xmlns:a="http://schemas.openxmlformats.org/drawingml/2006/main">
            <a:r>
              <a:t>À J10, le matching est disponible dans le cas, mais les événements restent à stabiliser. Leur fin glisse de J11 à J12. La prévision atteint quatre mille quatre cent soixante-cinq euros, avec deux cent trente-deux euros sous le plafond. La nouvelle demande de contributions aux topos dépasserait le budget et la capacité DEV. Le client fictif retient son report, en conservant les critères de recette.</a:t>
            </a:r>
          </a:p>
          <a:p xmlns:a="http://schemas.openxmlformats.org/drawingml/2006/main">
            <a:r>
              <a:t/>
            </a:r>
          </a:p>
          <a:p xmlns:a="http://schemas.openxmlformats.org/drawingml/2006/main">
            <a:r>
              <a:t>CR02 garde la trace de cette décision. DEV termine T06 à J12, Camille clôt la recette après corrections à J14 et CP prépare la validation J15. Le document partagé relie l'écart, le choix et la prochaine action. La rétrospective examine ensuite notre façon de travailler, tandis que la review porte sur le produit. Les comptes rendus décrivent un exercice pédagogique, sans accord client réel attesté.</a:t>
            </a:r>
          </a:p>
          <a:p xmlns:a="http://schemas.openxmlformats.org/drawingml/2006/main">
            <a:r>
              <a:t/>
            </a:r>
          </a:p>
          <a:p xmlns:a="http://schemas.openxmlformats.org/drawingml/2006/main">
            <a:r>
              <a:t>GESTE OU MANIPULATION</a:t>
            </a:r>
          </a:p>
          <a:p xmlns:a="http://schemas.openxmlformats.org/drawingml/2006/main">
            <a:r>
              <a:t>Montrer le résultat présenté, la décision issue du retour client et les actions datées.</a:t>
            </a:r>
          </a:p>
          <a:p xmlns:a="http://schemas.openxmlformats.org/drawingml/2006/main">
            <a:r>
              <a:t/>
            </a:r>
          </a:p>
          <a:p xmlns:a="http://schemas.openxmlformats.org/drawingml/2006/main">
            <a:r>
              <a:t>TRANSITION</a:t>
            </a:r>
          </a:p>
          <a:p xmlns:a="http://schemas.openxmlformats.org/drawingml/2006/main">
            <a:r>
              <a:t>Les retours du client sont aussi suivis par un protocole de satisfaction.</a:t>
            </a:r>
          </a:p>
          <a:p xmlns:a="http://schemas.openxmlformats.org/drawingml/2006/main">
            <a:r>
              <a:t/>
            </a:r>
          </a:p>
          <a:p xmlns:a="http://schemas.openxmlformats.org/drawingml/2006/main">
            <a:r>
              <a:t>SOURCE ET NATURE</a:t>
            </a:r>
          </a:p>
          <a:p xmlns:a="http://schemas.openxmlformats.org/drawingml/2006/main">
            <a:r>
              <a:t>C3.4.1, comptes rendus simulés. A05, protocole des reviews ; A07, CR02 ; rituels.json. Compte rendu et accord client fictifs.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22:00 à 23:00. Durée prévue : 01:00.</a:t>
            </a:r>
          </a:p>
          <a:p xmlns:a="http://schemas.openxmlformats.org/drawingml/2006/main">
            <a:r>
              <a:t/>
            </a:r>
          </a:p>
          <a:p xmlns:a="http://schemas.openxmlformats.org/drawingml/2006/main">
            <a:r>
              <a:t>TEXTE ORAL</a:t>
            </a:r>
          </a:p>
          <a:p xmlns:a="http://schemas.openxmlformats.org/drawingml/2006/main">
            <a:r>
              <a:t>À J15, je prévois une session pilote fictive avec deux grimpeurs et un représentant de club. Aucun participant n'a réellement été recruté pour cette mesure. Les résultats restent non mesurés.</a:t>
            </a:r>
          </a:p>
          <a:p xmlns:a="http://schemas.openxmlformats.org/drawingml/2006/main">
            <a:r>
              <a:t/>
            </a:r>
          </a:p>
          <a:p xmlns:a="http://schemas.openxmlformats.org/drawingml/2006/main">
            <a:r>
              <a:t>Je relève la part de critères critiques acceptés, avec une cible de cent pour cent. Je compte les parcours réussis sans aide, avec une cible de quatre-vingts pour cent. L'utilité attendue est au moins quatre sur cinq et aucun blocage critique ne doit rester ouvert.</a:t>
            </a:r>
          </a:p>
          <a:p xmlns:a="http://schemas.openxmlformats.org/drawingml/2006/main">
            <a:r>
              <a:t/>
            </a:r>
          </a:p>
          <a:p xmlns:a="http://schemas.openxmlformats.org/drawingml/2006/main">
            <a:r>
              <a:t>Chaque résultat indique sa date, son effectif et sa méthode. Un faible effectif ne représente pas tous les utilisateurs. Sous le seuil, je qualifie l'obstacle, affecte une correction et vérifie le parcours à nouveau. Les tests techniques ne remplacent pas cette appréciation du besoin par les utilisateurs.</a:t>
            </a:r>
          </a:p>
          <a:p xmlns:a="http://schemas.openxmlformats.org/drawingml/2006/main">
            <a:r>
              <a:t/>
            </a:r>
          </a:p>
          <a:p xmlns:a="http://schemas.openxmlformats.org/drawingml/2006/main">
            <a:r>
              <a:t>GESTE OU MANIPULATION</a:t>
            </a:r>
          </a:p>
          <a:p xmlns:a="http://schemas.openxmlformats.org/drawingml/2006/main">
            <a:r>
              <a:t>Lire un indicateur avec son calcul et son seuil, puis expliquer l’action déclenchée.</a:t>
            </a:r>
          </a:p>
          <a:p xmlns:a="http://schemas.openxmlformats.org/drawingml/2006/main">
            <a:r>
              <a:t/>
            </a:r>
          </a:p>
          <a:p xmlns:a="http://schemas.openxmlformats.org/drawingml/2006/main">
            <a:r>
              <a:t>TRANSITION</a:t>
            </a:r>
          </a:p>
          <a:p xmlns:a="http://schemas.openxmlformats.org/drawingml/2006/main">
            <a:r>
              <a:t>Je montre maintenant le parcours qui sera évalué.</a:t>
            </a:r>
          </a:p>
          <a:p xmlns:a="http://schemas.openxmlformats.org/drawingml/2006/main">
            <a:r>
              <a:t/>
            </a:r>
          </a:p>
          <a:p xmlns:a="http://schemas.openxmlformats.org/drawingml/2006/main">
            <a:r>
              <a:t>SOURCE ET NATURE</a:t>
            </a:r>
          </a:p>
          <a:p xmlns:a="http://schemas.openxmlformats.org/drawingml/2006/main">
            <a:r>
              <a:t>C3.4.1, aucun résultat client réel disponible. A07 : définitions, seuils et questionnaire ; consolidation.json : effectif prévu uniquement, résultats null.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23:00 à 23:30. Durée prévue : 00:30.</a:t>
            </a:r>
          </a:p>
          <a:p xmlns:a="http://schemas.openxmlformats.org/drawingml/2006/main">
            <a:r>
              <a:t/>
            </a:r>
          </a:p>
          <a:p xmlns:a="http://schemas.openxmlformats.org/drawingml/2006/main">
            <a:r>
              <a:t>TEXTE ORAL</a:t>
            </a:r>
          </a:p>
          <a:p xmlns:a="http://schemas.openxmlformats.org/drawingml/2006/main">
            <a:r>
              <a:t>Je passe à la démonstration locale, sur le même parcours grimpeur et club que dans le Bloc 2. Les comptes contiennent des données fictives. Je montre d'abord la recherche d'un partenaire, puis les inscriptions et les participants côté club. Comme le rappelle le Bloc 4, une validation locale ne prouve pas une mise à jour de la production.</a:t>
            </a:r>
          </a:p>
          <a:p xmlns:a="http://schemas.openxmlformats.org/drawingml/2006/main">
            <a:r>
              <a:t/>
            </a:r>
          </a:p>
          <a:p xmlns:a="http://schemas.openxmlformats.org/drawingml/2006/main">
            <a:r>
              <a:t>GESTE OU MANIPULATION</a:t>
            </a:r>
          </a:p>
          <a:p xmlns:a="http://schemas.openxmlformats.org/drawingml/2006/main">
            <a:r>
              <a:t>Ouvrir les deux sessions déjà connectées. Lancer le chronomètre de démonstration.</a:t>
            </a:r>
          </a:p>
          <a:p xmlns:a="http://schemas.openxmlformats.org/drawingml/2006/main">
            <a:r>
              <a:t/>
            </a:r>
          </a:p>
          <a:p xmlns:a="http://schemas.openxmlformats.org/drawingml/2006/main">
            <a:r>
              <a:t>TRANSITION</a:t>
            </a:r>
          </a:p>
          <a:p xmlns:a="http://schemas.openxmlformats.org/drawingml/2006/main">
            <a:r>
              <a:t>Je commence avec le compte grimpeur.</a:t>
            </a:r>
          </a:p>
          <a:p xmlns:a="http://schemas.openxmlformats.org/drawingml/2006/main">
            <a:r>
              <a:t/>
            </a:r>
          </a:p>
          <a:p xmlns:a="http://schemas.openxmlformats.org/drawingml/2006/main">
            <a:r>
              <a:t>SOURCE ET NATURE</a:t>
            </a:r>
          </a:p>
          <a:p xmlns:a="http://schemas.openxmlformats.org/drawingml/2006/main">
            <a:r>
              <a:t>C3.4.2, séquence de six minutes. A08 et preuves/verification.json. B2 : F03-F08. B4 : B4-C421-02 et dossier-jury/01_CADRAGE_PROJET, distinction local, staging et production. État de production historique non réactualisé. Photo de marque existante escalade-falaise-gros-plan.jpeg, illustration de la pratique.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23:30 à 26:30. Durée prévue : 03:00.</a:t>
            </a:r>
          </a:p>
          <a:p xmlns:a="http://schemas.openxmlformats.org/drawingml/2006/main">
            <a:r>
              <a:t/>
            </a:r>
          </a:p>
          <a:p xmlns:a="http://schemas.openxmlformats.org/drawingml/2006/main">
            <a:r>
              <a:t>TEXTE ORAL</a:t>
            </a:r>
          </a:p>
          <a:p xmlns:a="http://schemas.openxmlformats.org/drawingml/2006/main">
            <a:r>
              <a:t>Je suis connecté en tant que grimpeur. Le profil donne les informations utiles pour ma pratique. Dans la recherche de partenaires, les filtres permettent de réduire les résultats. Je montre un filtre et j'explique ce qui change dans la liste. L'état de la demande permet ensuite de savoir si un échange est déjà engagé.</a:t>
            </a:r>
          </a:p>
          <a:p xmlns:a="http://schemas.openxmlformats.org/drawingml/2006/main">
            <a:r>
              <a:t/>
            </a:r>
          </a:p>
          <a:p xmlns:a="http://schemas.openxmlformats.org/drawingml/2006/main">
            <a:r>
              <a:t>Je rejoins maintenant la page des événements. Je lis la date, le lieu et la capacité avant de m'inscrire. Je vérifie que l'interface confirme l'inscription et que l'état affiché reste cohérent. Si le compte était déjà inscrit, je l'annonce et j'utilise l'événement préparé pour la répétition.</a:t>
            </a:r>
          </a:p>
          <a:p xmlns:a="http://schemas.openxmlformats.org/drawingml/2006/main">
            <a:r>
              <a:t/>
            </a:r>
          </a:p>
          <a:p xmlns:a="http://schemas.openxmlformats.org/drawingml/2006/main">
            <a:r>
              <a:t>Je décris le résultat du point de vue de l'utilisateur : il sait quelle sortie il rejoint et peut retrouver son inscription. Je vais vérifier ce même résultat depuis le rôle club.</a:t>
            </a:r>
          </a:p>
          <a:p xmlns:a="http://schemas.openxmlformats.org/drawingml/2006/main">
            <a:r>
              <a:t/>
            </a:r>
          </a:p>
          <a:p xmlns:a="http://schemas.openxmlformats.org/drawingml/2006/main">
            <a:r>
              <a:t>GESTE OU MANIPULATION</a:t>
            </a:r>
          </a:p>
          <a:p xmlns:a="http://schemas.openxmlformats.org/drawingml/2006/main">
            <a:r>
              <a:t>0:00–0:40 : profil. 0:40–1:35 : filtre et demande. 1:35–2:40 : événement et inscription. 2:40–3:00 : confirmation. Laisser le navigateur affiché pendant les manipulations. La capture sert de secours.</a:t>
            </a:r>
          </a:p>
          <a:p xmlns:a="http://schemas.openxmlformats.org/drawingml/2006/main">
            <a:r>
              <a:t/>
            </a:r>
          </a:p>
          <a:p xmlns:a="http://schemas.openxmlformats.org/drawingml/2006/main">
            <a:r>
              <a:t>TRANSITION</a:t>
            </a:r>
          </a:p>
          <a:p xmlns:a="http://schemas.openxmlformats.org/drawingml/2006/main">
            <a:r>
              <a:t>Je bascule sur la session du club organisateur.</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15 septembre 2026. A08, recette navigateur datée.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26:30 à 29:00. Durée prévue : 02:30.</a:t>
            </a:r>
          </a:p>
          <a:p xmlns:a="http://schemas.openxmlformats.org/drawingml/2006/main">
            <a:r>
              <a:t/>
            </a:r>
          </a:p>
          <a:p xmlns:a="http://schemas.openxmlformats.org/drawingml/2006/main">
            <a:r>
              <a:t>TEXTE ORAL</a:t>
            </a:r>
          </a:p>
          <a:p xmlns:a="http://schemas.openxmlformats.org/drawingml/2006/main">
            <a:r>
              <a:t>Je suis maintenant connecté avec le rôle club. Je retrouve l'événement et je consulte les participants. L'inscription effectuée côté grimpeur doit apparaître de façon cohérente. Les commandes de gestion correspondent au rôle de l'organisateur.</a:t>
            </a:r>
          </a:p>
          <a:p xmlns:a="http://schemas.openxmlformats.org/drawingml/2006/main">
            <a:r>
              <a:t/>
            </a:r>
          </a:p>
          <a:p xmlns:a="http://schemas.openxmlformats.org/drawingml/2006/main">
            <a:r>
              <a:t>Je montre aussi un passage au clavier sur les commandes utiles. Les règles de capacité et les refus d'accès disposent de scénarios de recette identifiés. Si je ne reproduis pas un contrôle en direct, je précise la preuve de test utilisée et sa date.</a:t>
            </a:r>
          </a:p>
          <a:p xmlns:a="http://schemas.openxmlformats.org/drawingml/2006/main">
            <a:r>
              <a:t/>
            </a:r>
          </a:p>
          <a:p xmlns:a="http://schemas.openxmlformats.org/drawingml/2006/main">
            <a:r>
              <a:t>Je termine en reprenant les critères annoncés : un partenaire recherché, un état de demande compréhensible, une inscription cohérente et un participant visible pour le club. Je distingue les critères vérifiés de ceux qui restent hors du parcours. La validation attendue porte sur ce périmètre explicite, avec ses réserves éventuelles.</a:t>
            </a:r>
          </a:p>
          <a:p xmlns:a="http://schemas.openxmlformats.org/drawingml/2006/main">
            <a:r>
              <a:t/>
            </a:r>
          </a:p>
          <a:p xmlns:a="http://schemas.openxmlformats.org/drawingml/2006/main">
            <a:r>
              <a:t>GESTE OU MANIPULATION</a:t>
            </a:r>
          </a:p>
          <a:p xmlns:a="http://schemas.openxmlformats.org/drawingml/2006/main">
            <a:r>
              <a:t>0:00–1:15 : événement, commandes et participants. 1:15–2:00 : clavier et portée des preuves de capacité. 2:00–2:30 : critères et réserves. En cas d’incident, annoncer le contrôle non revalidé et utiliser la capture datée.</a:t>
            </a:r>
          </a:p>
          <a:p xmlns:a="http://schemas.openxmlformats.org/drawingml/2006/main">
            <a:r>
              <a:t/>
            </a:r>
          </a:p>
          <a:p xmlns:a="http://schemas.openxmlformats.org/drawingml/2006/main">
            <a:r>
              <a:t>TRANSITION</a:t>
            </a:r>
          </a:p>
          <a:p xmlns:a="http://schemas.openxmlformats.org/drawingml/2006/main">
            <a:r>
              <a:t>Je reviens au bilan du pilotage.</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15 septembre 2026. A08 et preuves/verification.json.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29:00 à 30:00. Durée prévue : 01:00.</a:t>
            </a:r>
          </a:p>
          <a:p xmlns:a="http://schemas.openxmlformats.org/drawingml/2006/main">
            <a:r>
              <a:t/>
            </a:r>
          </a:p>
          <a:p xmlns:a="http://schemas.openxmlformats.org/drawingml/2006/main">
            <a:r>
              <a:t>TEXTE ORAL</a:t>
            </a:r>
          </a:p>
          <a:p xmlns:a="http://schemas.openxmlformats.org/drawingml/2006/main">
            <a:r>
              <a:t>Je termine par les critères annoncés : trouver un partenaire adapté, comprendre l'état de la demande, confirmer une inscription et retrouver le participant côté club. Je rappelle les contrôles montrés au clavier ainsi que la portée des preuves de capacité.</a:t>
            </a:r>
          </a:p>
          <a:p xmlns:a="http://schemas.openxmlformats.org/drawingml/2006/main">
            <a:r>
              <a:t/>
            </a:r>
          </a:p>
          <a:p xmlns:a="http://schemas.openxmlformats.org/drawingml/2006/main">
            <a:r>
              <a:t>Pour chacun, la décision attendue est accepté, accepté avec réserve ou refusé. Le constat doit correspondre à ce qui a réellement été observé pendant la démonstration. Si une fonction n'a pas été parcourue ou un contrôle a échoué, je l'indique et je conserve la réserve avec son responsable et sa prochaine vérification.</a:t>
            </a:r>
          </a:p>
          <a:p xmlns:a="http://schemas.openxmlformats.org/drawingml/2006/main">
            <a:r>
              <a:t/>
            </a:r>
          </a:p>
          <a:p xmlns:a="http://schemas.openxmlformats.org/drawingml/2006/main">
            <a:r>
              <a:t>Je demande alors si ce périmètre répond aux critères convenus. Les réserves alimentent le suivi de maintenance du Bloc 4 avec la version identifiée. Aucun accord réel n'est prérempli au nom du client.</a:t>
            </a:r>
          </a:p>
          <a:p xmlns:a="http://schemas.openxmlformats.org/drawingml/2006/main">
            <a:r>
              <a:t/>
            </a:r>
          </a:p>
          <a:p xmlns:a="http://schemas.openxmlformats.org/drawingml/2006/main">
            <a:r>
              <a:t>GESTE OU MANIPULATION</a:t>
            </a:r>
          </a:p>
          <a:p xmlns:a="http://schemas.openxmlformats.org/drawingml/2006/main">
            <a:r>
              <a:t>Demander la décision sur les critères. Terminer à 30:00.</a:t>
            </a:r>
          </a:p>
          <a:p xmlns:a="http://schemas.openxmlformats.org/drawingml/2006/main">
            <a:r>
              <a:t/>
            </a:r>
          </a:p>
          <a:p xmlns:a="http://schemas.openxmlformats.org/drawingml/2006/main">
            <a:r>
              <a:t>TRANSITION</a:t>
            </a:r>
          </a:p>
          <a:p xmlns:a="http://schemas.openxmlformats.org/drawingml/2006/main">
            <a:r>
              <a:t>Je suis prêt à répondre aux questions et à retrouver les preuves.</a:t>
            </a:r>
          </a:p>
          <a:p xmlns:a="http://schemas.openxmlformats.org/drawingml/2006/main">
            <a:r>
              <a:t/>
            </a:r>
          </a:p>
          <a:p xmlns:a="http://schemas.openxmlformats.org/drawingml/2006/main">
            <a:r>
              <a:t>SOURCE ET NATURE</a:t>
            </a:r>
          </a:p>
          <a:p xmlns:a="http://schemas.openxmlformats.org/drawingml/2006/main">
            <a:r>
              <a:t>C3.4.2, décision attendue après démonstration. A07 grille de validation ; A08 ; Bloc 4 suivi des réserves et anomalies.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La matrice RACI distingue réalisation, décision, consultation et information. Une seule autorité A est retenue par activité. Camille est le rôle QA fictif. Les aménagements modifient les échanges, sans retirer sa responsabilité de recette.</a:t>
            </a:r>
          </a:p>
          <a:p xmlns:a="http://schemas.openxmlformats.org/drawingml/2006/main">
            <a:r>
              <a:t/>
            </a:r>
          </a:p>
          <a:p xmlns:a="http://schemas.openxmlformats.org/drawingml/2006/main">
            <a:r>
              <a:t>SOURCE ET NATURE</a:t>
            </a:r>
          </a:p>
          <a:p xmlns:a="http://schemas.openxmlformats.org/drawingml/2006/main">
            <a:r>
              <a:t>Annexe, organisation fictive. A02, matrice RACI du scénario.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Chaque ligne ajoute une hypothèse isolée à la prévision J10. Six heures QA consomment cent quatre-vingts euros et laissent cinquante-deux euros de marge. Huit heures DEV dépassent le budget de quarante-huit euros, malgré une capacité encore respectée. Deux heures CP conservent cent quarante-deux euros de marge mais portent sa charge à trente et une heures pour trente heures disponibles. La demande topo dépasse les deux contraintes. Les lignes ne se cumulent pas. Les formules de la feuille Pilotage permettent de modifier les heures supplémentaires et de vérifier les effets.</a:t>
            </a:r>
          </a:p>
          <a:p xmlns:a="http://schemas.openxmlformats.org/drawingml/2006/main">
            <a:r>
              <a:t/>
            </a:r>
          </a:p>
          <a:p xmlns:a="http://schemas.openxmlformats.org/drawingml/2006/main">
            <a:r>
              <a:t>GESTE OU MANIPULATION</a:t>
            </a:r>
          </a:p>
          <a:p xmlns:a="http://schemas.openxmlformats.org/drawingml/2006/main">
            <a:r>
              <a:t>Choisir un scénario dans le tableau et expliquer séparément la contrainte budgétaire et la capacité.</a:t>
            </a:r>
          </a:p>
          <a:p xmlns:a="http://schemas.openxmlformats.org/drawingml/2006/main">
            <a:r>
              <a:t/>
            </a:r>
          </a:p>
          <a:p xmlns:a="http://schemas.openxmlformats.org/drawingml/2006/main">
            <a:r>
              <a:t>SOURCE ET NATURE</a:t>
            </a:r>
          </a:p>
          <a:p xmlns:a="http://schemas.openxmlformats.org/drawingml/2006/main">
            <a:r>
              <a:t>Annexe, scénarios pédagogiques. A09 section 6 ; classeur Pilotage, sensibilité ; donnees/pilotage.json. Taux et capacités fictifs du 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Si une compétence critique reste indisponible à J12, le scénario prévoit une demande au service RH fictif. Quatre heures de spécialiste à 45 euros ajoutent 180 euros, et une demi-heure de CP ajoute 22,50 euros. La prévision de cette variante devient 4 667,50 euros, soit 29,50 euros sous le plafond. La disponibilité J12-J13, le devis et le résultat attendu restent à confirmer. Cette variante indépendante n’est ni activée dans le classeur de base ni présentée comme une embauche réelle.</a:t>
            </a:r>
          </a:p>
          <a:p xmlns:a="http://schemas.openxmlformats.org/drawingml/2006/main">
            <a:r>
              <a:t/>
            </a:r>
          </a:p>
          <a:p xmlns:a="http://schemas.openxmlformats.org/drawingml/2006/main">
            <a:r>
              <a:t>SOURCE ET NATURE</a:t>
            </a:r>
          </a:p>
          <a:p xmlns:a="http://schemas.openxmlformats.org/drawingml/2006/main">
            <a:r>
              <a:t>Annexe, demande et devis pédagogiques. A06 et consolidation.json, variante RH non activée.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c54eee371547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9050258b7c460e" /><Relationship Type="http://schemas.openxmlformats.org/officeDocument/2006/relationships/slideLayout" Target="/ppt/slideLayouts/slideLayout1.xml" Id="R3749b3ad91d84a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49b3ad91d84a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f83a4d6419428c" /><Relationship Type="http://schemas.openxmlformats.org/officeDocument/2006/relationships/image" Target="/ppt/media/image.jpeg" Id="R9d30fe9fad7d49a5" /><Relationship Type="http://schemas.openxmlformats.org/officeDocument/2006/relationships/notesSlide" Target="/ppt/notesSlides/notesSlide1.xml" Id="R2a6e090ae01440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fa488694ee4b3f" /><Relationship Type="http://schemas.openxmlformats.org/officeDocument/2006/relationships/image" Target="/ppt/media/image.png" Id="Ra22eb4ba9694478b" /><Relationship Type="http://schemas.openxmlformats.org/officeDocument/2006/relationships/notesSlide" Target="/ppt/notesSlides/notesSlide2.xml" Id="Rcc9e489f7cdf4b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6055c38f6104f62" /><Relationship Type="http://schemas.openxmlformats.org/officeDocument/2006/relationships/chart" Target="/ppt/slides/charts/chart1.xml" Id="Rc590d6f9fbd04b08" /><Relationship Type="http://schemas.openxmlformats.org/officeDocument/2006/relationships/notesSlide" Target="/ppt/notesSlides/notesSlide3.xml" Id="R18c4e62a74444a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e98b3b9c8204dfc" /><Relationship Type="http://schemas.openxmlformats.org/officeDocument/2006/relationships/chart" Target="/ppt/slides/charts/chart2.xml" Id="R254adc13bb9744a7" /><Relationship Type="http://schemas.openxmlformats.org/officeDocument/2006/relationships/notesSlide" Target="/ppt/notesSlides/notesSlide4.xml" Id="R7d2752f30b0f4c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a4b8b6522049aa" /><Relationship Type="http://schemas.openxmlformats.org/officeDocument/2006/relationships/chart" Target="/ppt/slides/charts/chart3.xml" Id="R7095c832cc1349d6" /><Relationship Type="http://schemas.openxmlformats.org/officeDocument/2006/relationships/notesSlide" Target="/ppt/notesSlides/notesSlide5.xml" Id="Redf7958396704a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7f40a134034c8a" /><Relationship Type="http://schemas.openxmlformats.org/officeDocument/2006/relationships/notesSlide" Target="/ppt/notesSlides/notesSlide6.xml" Id="R3d39061e62f24b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7b01283cb314b8c" /><Relationship Type="http://schemas.openxmlformats.org/officeDocument/2006/relationships/chart" Target="/ppt/slides/charts/chart4.xml" Id="R7631bbcaea5a4236" /><Relationship Type="http://schemas.openxmlformats.org/officeDocument/2006/relationships/notesSlide" Target="/ppt/notesSlides/notesSlide7.xml" Id="R5fe5e6dc9eb149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3337fcecb1e4628" /><Relationship Type="http://schemas.openxmlformats.org/officeDocument/2006/relationships/chart" Target="/ppt/slides/charts/chart5.xml" Id="R6c968fe6b03b4f4f" /><Relationship Type="http://schemas.openxmlformats.org/officeDocument/2006/relationships/notesSlide" Target="/ppt/notesSlides/notesSlide8.xml" Id="Rb6b4b09853534c6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1723fa203e64752" /><Relationship Type="http://schemas.openxmlformats.org/officeDocument/2006/relationships/chart" Target="/ppt/slides/charts/chart6.xml" Id="Re8be49956d0943a5" /><Relationship Type="http://schemas.openxmlformats.org/officeDocument/2006/relationships/notesSlide" Target="/ppt/notesSlides/notesSlide9.xml" Id="R4bf9954ff4c847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6671aae2da14ecd" /><Relationship Type="http://schemas.openxmlformats.org/officeDocument/2006/relationships/notesSlide" Target="/ppt/notesSlides/notesSlide10.xml" Id="R9677eb934e5f4d7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845832f351a43c4" /><Relationship Type="http://schemas.openxmlformats.org/officeDocument/2006/relationships/notesSlide" Target="/ppt/notesSlides/notesSlide11.xml" Id="R8d63951dd11e44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55c539efde94967" /><Relationship Type="http://schemas.openxmlformats.org/officeDocument/2006/relationships/chart" Target="/ppt/slides/charts/chart7.xml" Id="Ra9197df4c1c74a0f" /><Relationship Type="http://schemas.openxmlformats.org/officeDocument/2006/relationships/notesSlide" Target="/ppt/notesSlides/notesSlide12.xml" Id="Rf263605f10bc420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1776f9ab09c471f" /><Relationship Type="http://schemas.openxmlformats.org/officeDocument/2006/relationships/image" Target="/ppt/media/image2.png" Id="R8779a7dfda2248ac" /><Relationship Type="http://schemas.openxmlformats.org/officeDocument/2006/relationships/notesSlide" Target="/ppt/notesSlides/notesSlide13.xml" Id="Rf0bb504c318c48f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a05772ce2bf4568" /><Relationship Type="http://schemas.openxmlformats.org/officeDocument/2006/relationships/notesSlide" Target="/ppt/notesSlides/notesSlide14.xml" Id="Rd265d39192014a0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42ebe891b05468c" /><Relationship Type="http://schemas.openxmlformats.org/officeDocument/2006/relationships/notesSlide" Target="/ppt/notesSlides/notesSlide15.xml" Id="R761688a56983457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a865b6976664bb0" /><Relationship Type="http://schemas.openxmlformats.org/officeDocument/2006/relationships/notesSlide" Target="/ppt/notesSlides/notesSlide16.xml" Id="Rd19e3722137b484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822d7812795404b" /><Relationship Type="http://schemas.openxmlformats.org/officeDocument/2006/relationships/notesSlide" Target="/ppt/notesSlides/notesSlide17.xml" Id="R5875a25fe697490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f03841582234f96" /><Relationship Type="http://schemas.openxmlformats.org/officeDocument/2006/relationships/notesSlide" Target="/ppt/notesSlides/notesSlide18.xml" Id="Reefc7dc6e975483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e75659dfa1e41dd" /><Relationship Type="http://schemas.openxmlformats.org/officeDocument/2006/relationships/image" Target="/ppt/media/image2.jpeg" Id="Rfb42b86188094a47" /><Relationship Type="http://schemas.openxmlformats.org/officeDocument/2006/relationships/notesSlide" Target="/ppt/notesSlides/notesSlide19.xml" Id="R14f1e23042b74d1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268342985494cc6" /><Relationship Type="http://schemas.openxmlformats.org/officeDocument/2006/relationships/image" Target="/ppt/media/image3.png" Id="R9593a254986a44cd" /><Relationship Type="http://schemas.openxmlformats.org/officeDocument/2006/relationships/notesSlide" Target="/ppt/notesSlides/notesSlide20.xml" Id="R0c461059bf354af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8db678e2a074cb2" /><Relationship Type="http://schemas.openxmlformats.org/officeDocument/2006/relationships/image" Target="/ppt/media/image4.png" Id="R79ef732985f44e11" /><Relationship Type="http://schemas.openxmlformats.org/officeDocument/2006/relationships/notesSlide" Target="/ppt/notesSlides/notesSlide21.xml" Id="Red5caf410a324de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8458f59fb5d490b" /><Relationship Type="http://schemas.openxmlformats.org/officeDocument/2006/relationships/notesSlide" Target="/ppt/notesSlides/notesSlide22.xml" Id="R137d28282aed49a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d7d42716fe04af5" /><Relationship Type="http://schemas.openxmlformats.org/officeDocument/2006/relationships/notesSlide" Target="/ppt/notesSlides/notesSlide23.xml" Id="R476f23f2337a4b0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0f2f039a66b4356" /><Relationship Type="http://schemas.openxmlformats.org/officeDocument/2006/relationships/notesSlide" Target="/ppt/notesSlides/notesSlide24.xml" Id="Rfda6adb86ce54b0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c8ac4b2fe3f490d" /><Relationship Type="http://schemas.openxmlformats.org/officeDocument/2006/relationships/notesSlide" Target="/ppt/notesSlides/notesSlide25.xml" Id="R9cf77c67895b4d4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Début</c:v>
          </c:tx>
          <c:spPr>
            <a:noFill xmlns:a="http://schemas.openxmlformats.org/drawingml/2006/main"/>
            <a:ln xmlns:a="http://schemas.openxmlformats.org/drawingml/2006/main" w="0">
              <a:noFill/>
            </a:ln>
          </c:spPr>
          <c:cat>
            <c:strRef>
              <c:f>'Chart Data'!$A$2:$A$10</c:f>
              <c:strCache>
                <c:ptCount val="9"/>
                <c:pt idx="0">
                  <c:v>Tests / access. / doc. (10 j-h)</c:v>
                </c:pt>
                <c:pt idx="1">
                  <c:v>Événements (8 j-h)</c:v>
                </c:pt>
                <c:pt idx="2">
                  <c:v>Topos (9 j-h)</c:v>
                </c:pt>
                <c:pt idx="3">
                  <c:v>Répertoire (10 j-h)</c:v>
                </c:pt>
                <c:pt idx="4">
                  <c:v>Feed social (12 j-h)</c:v>
                </c:pt>
                <c:pt idx="5">
                  <c:v>Profils (9 j-h)</c:v>
                </c:pt>
                <c:pt idx="6">
                  <c:v>Auth / sécurité (10 j-h)</c:v>
                </c:pt>
                <c:pt idx="7">
                  <c:v>Setup technique (6 j-h)</c:v>
                </c:pt>
                <c:pt idx="8">
                  <c:v>Cadrage / UX (8 j-h)</c:v>
                </c:pt>
              </c:strCache>
            </c:strRef>
          </c:cat>
          <c:val>
            <c:numRef>
              <c:f>'Chart Data'!$B$2:$B$10</c:f>
              <c:numCache>
                <c:formatCode>0" sem."</c:formatCode>
                <c:ptCount val="9"/>
                <c:pt idx="0">
                  <c:v>14.4</c:v>
                </c:pt>
                <c:pt idx="1">
                  <c:v>12.8</c:v>
                </c:pt>
                <c:pt idx="2">
                  <c:v>11</c:v>
                </c:pt>
                <c:pt idx="3">
                  <c:v>9</c:v>
                </c:pt>
                <c:pt idx="4">
                  <c:v>6.6</c:v>
                </c:pt>
                <c:pt idx="5">
                  <c:v>4.8</c:v>
                </c:pt>
                <c:pt idx="6">
                  <c:v>2.8</c:v>
                </c:pt>
                <c:pt idx="7">
                  <c:v>1.6</c:v>
                </c:pt>
                <c:pt idx="8">
                  <c:v>0</c:v>
                </c:pt>
              </c:numCache>
            </c:numRef>
          </c:val>
        </c:ser>
        <c:ser>
          <c:idx val="1"/>
          <c:order val="1"/>
          <c:tx>
            <c:v>Durée de capacité</c:v>
          </c:tx>
          <c:spPr>
            <a:solidFill xmlns:a="http://schemas.openxmlformats.org/drawingml/2006/main">
              <a:srgbClr val="28725F"/>
            </a:solidFill>
          </c:spPr>
          <c:cat>
            <c:strRef>
              <c:f>'Chart Data'!$C$2:$C$10</c:f>
              <c:strCache>
                <c:ptCount val="9"/>
                <c:pt idx="0">
                  <c:v>Tests / access. / doc. (10 j-h)</c:v>
                </c:pt>
                <c:pt idx="1">
                  <c:v>Événements (8 j-h)</c:v>
                </c:pt>
                <c:pt idx="2">
                  <c:v>Topos (9 j-h)</c:v>
                </c:pt>
                <c:pt idx="3">
                  <c:v>Répertoire (10 j-h)</c:v>
                </c:pt>
                <c:pt idx="4">
                  <c:v>Feed social (12 j-h)</c:v>
                </c:pt>
                <c:pt idx="5">
                  <c:v>Profils (9 j-h)</c:v>
                </c:pt>
                <c:pt idx="6">
                  <c:v>Auth / sécurité (10 j-h)</c:v>
                </c:pt>
                <c:pt idx="7">
                  <c:v>Setup technique (6 j-h)</c:v>
                </c:pt>
                <c:pt idx="8">
                  <c:v>Cadrage / UX (8 j-h)</c:v>
                </c:pt>
              </c:strCache>
            </c:strRef>
          </c:cat>
          <c:val>
            <c:numRef>
              <c:f>'Chart Data'!$D$2:$D$10</c:f>
              <c:numCache>
                <c:formatCode>0" sem."</c:formatCode>
                <c:ptCount val="9"/>
                <c:pt idx="0">
                  <c:v>2</c:v>
                </c:pt>
                <c:pt idx="1">
                  <c:v>1.6</c:v>
                </c:pt>
                <c:pt idx="2">
                  <c:v>1.8</c:v>
                </c:pt>
                <c:pt idx="3">
                  <c:v>2</c:v>
                </c:pt>
                <c:pt idx="4">
                  <c:v>2.4</c:v>
                </c:pt>
                <c:pt idx="5">
                  <c:v>1.8</c:v>
                </c:pt>
                <c:pt idx="6">
                  <c:v>2</c:v>
                </c:pt>
                <c:pt idx="7">
                  <c:v>1.2</c:v>
                </c:pt>
                <c:pt idx="8">
                  <c:v>1.6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8312D"/>
                </a:solidFill>
                <a:latin typeface="Arial"/>
                <a:ea typeface="Arial"/>
                <a:cs typeface="Arial"/>
              </a:defRPr>
            </a:pPr>
          </a:p>
        </c:txPr>
        <c:crossAx val="48672768"/>
      </c:catAx>
      <c:valAx>
        <c:axId val="48672768"/>
        <c:scaling>
          <c:orientation val="minMax"/>
          <c:max val="18"/>
          <c:min val="0"/>
        </c:scaling>
        <c:delete val="0"/>
        <c:axPos val="b"/>
        <c:majorGridlines>
          <c:spPr>
            <a:ln xmlns:a="http://schemas.openxmlformats.org/drawingml/2006/main" w="9525">
              <a:solidFill>
                <a:srgbClr val="DBDFD5"/>
              </a:solidFill>
            </a:ln>
          </c:spPr>
        </c:majorGridlines>
        <c:numFmt formatCode="0&quot; sem.&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312D"/>
                </a:solidFill>
                <a:latin typeface="Arial"/>
                <a:ea typeface="Arial"/>
                <a:cs typeface="Arial"/>
              </a:defRPr>
            </a:pPr>
          </a:p>
        </c:txPr>
        <c:crossAx val="48650112"/>
        <c:crossBetween val="between"/>
        <c:majorUnit val="3"/>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Tickets</c:v>
          </c:tx>
          <c:spPr>
            <a:solidFill xmlns:a="http://schemas.openxmlformats.org/drawingml/2006/main">
              <a:srgbClr val="28725F"/>
            </a:solidFill>
          </c:spPr>
          <c:dPt>
            <c:idx val="0"/>
            <c:invertIfNegative val="0"/>
            <c:spPr>
              <a:solidFill xmlns:a="http://schemas.openxmlformats.org/drawingml/2006/main">
                <a:srgbClr val="DADFD4"/>
              </a:solidFill>
            </c:spPr>
          </c:dPt>
          <c:dPt>
            <c:idx val="1"/>
            <c:invertIfNegative val="0"/>
            <c:spPr>
              <a:solidFill xmlns:a="http://schemas.openxmlformats.org/drawingml/2006/main">
                <a:srgbClr val="91AE91"/>
              </a:solidFill>
            </c:spPr>
          </c:dPt>
          <c:dPt>
            <c:idx val="2"/>
            <c:invertIfNegative val="0"/>
            <c:spPr>
              <a:solidFill xmlns:a="http://schemas.openxmlformats.org/drawingml/2006/main">
                <a:srgbClr val="C77952"/>
              </a:solidFill>
            </c:spPr>
          </c:dPt>
          <c:dPt>
            <c:idx val="3"/>
            <c:invertIfNegative val="0"/>
            <c:spPr>
              <a:solidFill xmlns:a="http://schemas.openxmlformats.org/drawingml/2006/main">
                <a:srgbClr val="28725F"/>
              </a:solidFill>
            </c:spPr>
          </c:dPt>
          <c:cat>
            <c:strRef>
              <c:f>'Chart Data'!$A$2:$A$5</c:f>
              <c:strCache>
                <c:ptCount val="4"/>
                <c:pt idx="0">
                  <c:v>Backlog</c:v>
                </c:pt>
                <c:pt idx="1">
                  <c:v>À faire</c:v>
                </c:pt>
                <c:pt idx="2">
                  <c:v>En cours</c:v>
                </c:pt>
                <c:pt idx="3">
                  <c:v>Terminé</c:v>
                </c:pt>
              </c:strCache>
            </c:strRef>
          </c:cat>
          <c:val>
            <c:numRef>
              <c:f>'Chart Data'!$B$2:$B$5</c:f>
              <c:numCache>
                <c:formatCode>General</c:formatCode>
                <c:ptCount val="4"/>
                <c:pt idx="0">
                  <c:v>7</c:v>
                </c:pt>
                <c:pt idx="1">
                  <c:v>4</c:v>
                </c:pt>
                <c:pt idx="2">
                  <c:v>1</c:v>
                </c:pt>
                <c:pt idx="3">
                  <c:v>12</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Début</c:v>
          </c:tx>
          <c:spPr>
            <a:noFill xmlns:a="http://schemas.openxmlformats.org/drawingml/2006/main"/>
            <a:ln xmlns:a="http://schemas.openxmlformats.org/drawingml/2006/main" w="0">
              <a:noFill/>
            </a:ln>
          </c:spPr>
          <c:dLbls>
            <c:dLbl>
              <c:idx val="0"/>
              <c:showLegendKey val="0"/>
              <c:showVal val="0"/>
              <c:showCatName val="0"/>
              <c:showSerName val="0"/>
              <c:showPercent val="0"/>
              <c:showBubbleSize val="0"/>
            </c:dLbl>
            <c:dLbl>
              <c:idx val="1"/>
              <c:showLegendKey val="0"/>
              <c:showVal val="0"/>
              <c:showCatName val="0"/>
              <c:showSerName val="0"/>
              <c:showPercent val="0"/>
              <c:showBubbleSize val="0"/>
            </c:dLbl>
            <c:dLbl>
              <c:idx val="2"/>
              <c:showLegendKey val="0"/>
              <c:showVal val="0"/>
              <c:showCatName val="0"/>
              <c:showSerName val="0"/>
              <c:showPercent val="0"/>
              <c:showBubbleSize val="0"/>
            </c:dLbl>
            <c:dLbl>
              <c:idx val="3"/>
              <c:showLegendKey val="0"/>
              <c:showVal val="0"/>
              <c:showCatName val="0"/>
              <c:showSerName val="0"/>
              <c:showPercent val="0"/>
              <c:showBubbleSize val="0"/>
            </c:dLbl>
            <c:dLbl>
              <c:idx val="4"/>
              <c:showLegendKey val="0"/>
              <c:showVal val="0"/>
              <c:showCatName val="0"/>
              <c:showSerName val="0"/>
              <c:showPercent val="0"/>
              <c:showBubbleSize val="0"/>
            </c:dLbl>
            <c:dLbl>
              <c:idx val="5"/>
              <c:showLegendKey val="0"/>
              <c:showVal val="0"/>
              <c:showCatName val="0"/>
              <c:showSerName val="0"/>
              <c:showPercent val="0"/>
              <c:showBubbleSize val="0"/>
            </c:dLbl>
          </c:dLbls>
          <c:cat>
            <c:strRef>
              <c:f>'Chart Data'!$A$2:$A$7</c:f>
              <c:strCache>
                <c:ptCount val="6"/>
                <c:pt idx="0">
                  <c:v>Restitution</c:v>
                </c:pt>
                <c:pt idx="1">
                  <c:v>Recette</c:v>
                </c:pt>
                <c:pt idx="2">
                  <c:v>Réalisation</c:v>
                </c:pt>
                <c:pt idx="3">
                  <c:v>Conception</c:v>
                </c:pt>
                <c:pt idx="4">
                  <c:v>Mesure</c:v>
                </c:pt>
                <c:pt idx="5">
                  <c:v>Étude</c:v>
                </c:pt>
              </c:strCache>
            </c:strRef>
          </c:cat>
          <c:val>
            <c:numRef>
              <c:f>'Chart Data'!$B$2:$B$7</c:f>
              <c:numCache>
                <c:formatCode>"J"0</c:formatCode>
                <c:ptCount val="6"/>
                <c:pt idx="0">
                  <c:v>14</c:v>
                </c:pt>
                <c:pt idx="1">
                  <c:v>10</c:v>
                </c:pt>
                <c:pt idx="2">
                  <c:v>3</c:v>
                </c:pt>
                <c:pt idx="3">
                  <c:v>2</c:v>
                </c:pt>
                <c:pt idx="4">
                  <c:v>1</c:v>
                </c:pt>
                <c:pt idx="5">
                  <c:v>1</c:v>
                </c:pt>
              </c:numCache>
            </c:numRef>
          </c:val>
        </c:ser>
        <c:ser>
          <c:idx val="1"/>
          <c:order val="1"/>
          <c:tx>
            <c:v>Intervalle</c:v>
          </c:tx>
          <c:spPr>
            <a:solidFill xmlns:a="http://schemas.openxmlformats.org/drawingml/2006/main">
              <a:srgbClr val="28725F"/>
            </a:solidFill>
            <a:ln xmlns:a="http://schemas.openxmlformats.org/drawingml/2006/main" w="0">
              <a:noFill/>
            </a:ln>
          </c:spPr>
          <c:cat>
            <c:strRef>
              <c:f>'Chart Data'!$C$2:$C$7</c:f>
              <c:strCache>
                <c:ptCount val="6"/>
                <c:pt idx="0">
                  <c:v>Restitution</c:v>
                </c:pt>
                <c:pt idx="1">
                  <c:v>Recette</c:v>
                </c:pt>
                <c:pt idx="2">
                  <c:v>Réalisation</c:v>
                </c:pt>
                <c:pt idx="3">
                  <c:v>Conception</c:v>
                </c:pt>
                <c:pt idx="4">
                  <c:v>Mesure</c:v>
                </c:pt>
                <c:pt idx="5">
                  <c:v>Étude</c:v>
                </c:pt>
              </c:strCache>
            </c:strRef>
          </c:cat>
          <c:val>
            <c:numRef>
              <c:f>'Chart Data'!$D$2:$D$7</c:f>
              <c:numCache>
                <c:formatCode>"J"0</c:formatCode>
                <c:ptCount val="6"/>
                <c:pt idx="0">
                  <c:v>1</c:v>
                </c:pt>
                <c:pt idx="1">
                  <c:v>4</c:v>
                </c:pt>
                <c:pt idx="2">
                  <c:v>9</c:v>
                </c:pt>
                <c:pt idx="3">
                  <c:v>2</c:v>
                </c:pt>
                <c:pt idx="4">
                  <c:v>2</c:v>
                </c:pt>
                <c:pt idx="5">
                  <c:v>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72768"/>
      </c:catAx>
      <c:valAx>
        <c:axId val="48672768"/>
        <c:scaling>
          <c:orientation val="minMax"/>
          <c:max val="15"/>
          <c:min val="1"/>
        </c:scaling>
        <c:delete val="0"/>
        <c:axPos val="b"/>
        <c:majorGridlines>
          <c:spPr>
            <a:ln xmlns:a="http://schemas.openxmlformats.org/drawingml/2006/main" w="9525">
              <a:solidFill>
                <a:srgbClr val="DBDFD5"/>
              </a:solidFill>
            </a:ln>
          </c:spPr>
        </c:majorGridlines>
        <c:numFmt formatCode="&quot;J&quot;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crossAx val="48650112"/>
        <c:crossBetween val="between"/>
        <c:majorUnit val="2"/>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Écart en heures</c:v>
          </c:tx>
          <c:spPr>
            <a:solidFill xmlns:a="http://schemas.openxmlformats.org/drawingml/2006/main">
              <a:srgbClr val="C77952"/>
            </a:solidFill>
          </c:spPr>
          <c:invertIfNegative val="0"/>
          <c:dPt>
            <c:idx val="0"/>
            <c:invertIfNegative val="0"/>
            <c:spPr>
              <a:solidFill xmlns:a="http://schemas.openxmlformats.org/drawingml/2006/main">
                <a:srgbClr val="28725F"/>
              </a:solidFill>
            </c:spPr>
          </c:dPt>
          <c:dLbls>
            <c:dLbl>
              <c:idx val="0"/>
              <c:tx>
                <c:rich>
                  <a:bodyPr xmlns:a="http://schemas.openxmlformats.org/drawingml/2006/main"/>
                  <a:lstStyle xmlns:a="http://schemas.openxmlformats.org/drawingml/2006/main"/>
                  <a:p xmlns:a="http://schemas.openxmlformats.org/drawingml/2006/main">
                    <a:r>
                      <a:rPr sz="1650" b="1">
                        <a:solidFill>
                          <a:srgbClr val="FFFFFF"/>
                        </a:solidFill>
                        <a:latin typeface="Arial"/>
                        <a:ea typeface="Arial"/>
                        <a:cs typeface="Arial"/>
                      </a:rPr>
                      <a:t>Corrections −2 h</a:t>
                    </a:r>
                  </a:p>
                </c:rich>
              </c:tx>
              <c:txPr>
                <a:bodyPr xmlns:a="http://schemas.openxmlformats.org/drawingml/2006/main" anchorCtr="1"/>
                <a:lstStyle xmlns:a="http://schemas.openxmlformats.org/drawingml/2006/main"/>
                <a:p xmlns:a="http://schemas.openxmlformats.org/drawingml/2006/main">
                  <a:pPr>
                    <a:defRPr sz="1650" b="1">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3"/>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4"/>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s>
          <c:cat>
            <c:strRef>
              <c:f>'Chart Data'!$A$2:$A$6</c:f>
              <c:strCache>
                <c:ptCount val="5"/>
                <c:pt idx="0">
                  <c:v>Corrections</c:v>
                </c:pt>
                <c:pt idx="1">
                  <c:v>Recette</c:v>
                </c:pt>
                <c:pt idx="2">
                  <c:v>Événements</c:v>
                </c:pt>
                <c:pt idx="3">
                  <c:v>Accès</c:v>
                </c:pt>
                <c:pt idx="4">
                  <c:v>Planning</c:v>
                </c:pt>
              </c:strCache>
            </c:strRef>
          </c:cat>
          <c:val>
            <c:numRef>
              <c:f>'Chart Data'!$B$2:$B$6</c:f>
              <c:numCache>
                <c:formatCode>+0" h";-0" h";0" h"</c:formatCode>
                <c:ptCount val="5"/>
                <c:pt idx="0">
                  <c:v>-2</c:v>
                </c:pt>
                <c:pt idx="1">
                  <c:v>2</c:v>
                </c:pt>
                <c:pt idx="2">
                  <c:v>2</c:v>
                </c:pt>
                <c:pt idx="3">
                  <c:v>2</c:v>
                </c:pt>
                <c:pt idx="4">
                  <c:v>1</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72768"/>
      </c:catAx>
      <c:valAx>
        <c:axId val="48672768"/>
        <c:scaling>
          <c:orientation val="minMax"/>
          <c:max val="3"/>
          <c:min val="-3"/>
        </c:scaling>
        <c:delete val="0"/>
        <c:axPos val="b"/>
        <c:majorGridlines>
          <c:spPr>
            <a:ln xmlns:a="http://schemas.openxmlformats.org/drawingml/2006/main" w="9525">
              <a:solidFill>
                <a:srgbClr val="DBDFD5"/>
              </a:solidFill>
            </a:ln>
          </c:spPr>
        </c:majorGridlines>
        <c:numFmt formatCode="0&quot; h&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crossAx val="48650112"/>
        <c:crossBetween val="between"/>
        <c:majorUnit val="1"/>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Euros</c:v>
          </c:tx>
          <c:spPr>
            <a:solidFill xmlns:a="http://schemas.openxmlformats.org/drawingml/2006/main">
              <a:srgbClr val="28725F"/>
            </a:solidFill>
          </c:spPr>
          <c:dPt>
            <c:idx val="0"/>
            <c:invertIfNegative val="0"/>
            <c:spPr>
              <a:solidFill xmlns:a="http://schemas.openxmlformats.org/drawingml/2006/main">
                <a:srgbClr val="91AE91"/>
              </a:solidFill>
            </c:spPr>
          </c:dPt>
          <c:dPt>
            <c:idx val="1"/>
            <c:invertIfNegative val="0"/>
            <c:spPr>
              <a:solidFill xmlns:a="http://schemas.openxmlformats.org/drawingml/2006/main">
                <a:srgbClr val="C77952"/>
              </a:solidFill>
            </c:spPr>
          </c:dPt>
          <c:dPt>
            <c:idx val="2"/>
            <c:invertIfNegative val="0"/>
            <c:spPr>
              <a:solidFill xmlns:a="http://schemas.openxmlformats.org/drawingml/2006/main">
                <a:srgbClr val="28725F"/>
              </a:solidFill>
            </c:spPr>
          </c:dPt>
          <c:cat>
            <c:strRef>
              <c:f>'Chart Data'!$A$2:$A$4</c:f>
              <c:strCache>
                <c:ptCount val="3"/>
                <c:pt idx="0">
                  <c:v>Initial</c:v>
                </c:pt>
                <c:pt idx="1">
                  <c:v>Prévision</c:v>
                </c:pt>
                <c:pt idx="2">
                  <c:v>Plafond</c:v>
                </c:pt>
              </c:strCache>
            </c:strRef>
          </c:cat>
          <c:val>
            <c:numRef>
              <c:f>'Chart Data'!$B$2:$B$4</c:f>
              <c:numCache>
                <c:formatCode>0" €"</c:formatCode>
                <c:ptCount val="3"/>
                <c:pt idx="0">
                  <c:v>4270</c:v>
                </c:pt>
                <c:pt idx="1">
                  <c:v>4465</c:v>
                </c:pt>
                <c:pt idx="2">
                  <c:v>4697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Charge</c:v>
          </c:tx>
          <c:spPr>
            <a:solidFill xmlns:a="http://schemas.openxmlformats.org/drawingml/2006/main">
              <a:srgbClr val="28725F"/>
            </a:solidFill>
          </c:spPr>
          <c:dLbls>
            <c:dLbl>
              <c:idx val="0"/>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Data'!$A$2:$A$4</c:f>
              <c:strCache>
                <c:ptCount val="3"/>
                <c:pt idx="0">
                  <c:v>QA</c:v>
                </c:pt>
                <c:pt idx="1">
                  <c:v>DEV</c:v>
                </c:pt>
                <c:pt idx="2">
                  <c:v>CP</c:v>
                </c:pt>
              </c:strCache>
            </c:strRef>
          </c:cat>
          <c:val>
            <c:numRef>
              <c:f>'Chart Data'!$B$2:$B$4</c:f>
              <c:numCache>
                <c:formatCode>0" h"</c:formatCode>
                <c:ptCount val="3"/>
                <c:pt idx="0">
                  <c:v>24</c:v>
                </c:pt>
                <c:pt idx="1">
                  <c:v>64</c:v>
                </c:pt>
                <c:pt idx="2">
                  <c:v>29</c:v>
                </c:pt>
              </c:numCache>
            </c:numRef>
          </c:val>
        </c:ser>
        <c:ser>
          <c:idx val="1"/>
          <c:order val="1"/>
          <c:tx>
            <c:v>Marge</c:v>
          </c:tx>
          <c:spPr>
            <a:solidFill xmlns:a="http://schemas.openxmlformats.org/drawingml/2006/main">
              <a:srgbClr val="DADFD4"/>
            </a:solidFill>
          </c:spPr>
          <c:dLbls>
            <c:dLbl>
              <c:idx val="0"/>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0"/>
              <c:showCatName val="0"/>
              <c:showSerName val="0"/>
              <c:showPercent val="0"/>
              <c:showBubbleSize val="0"/>
            </c:dLbl>
          </c:dLbls>
          <c:cat>
            <c:strRef>
              <c:f>'Chart Data'!$C$2:$C$4</c:f>
              <c:strCache>
                <c:ptCount val="3"/>
                <c:pt idx="0">
                  <c:v>QA</c:v>
                </c:pt>
                <c:pt idx="1">
                  <c:v>DEV</c:v>
                </c:pt>
                <c:pt idx="2">
                  <c:v>CP</c:v>
                </c:pt>
              </c:strCache>
            </c:strRef>
          </c:cat>
          <c:val>
            <c:numRef>
              <c:f>'Chart Data'!$D$2:$D$4</c:f>
              <c:numCache>
                <c:formatCode>0" h"</c:formatCode>
                <c:ptCount val="3"/>
                <c:pt idx="0">
                  <c:v>6</c:v>
                </c:pt>
                <c:pt idx="1">
                  <c:v>8</c:v>
                </c:pt>
                <c:pt idx="2">
                  <c:v>1</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legend>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Euros</c:v>
          </c:tx>
          <c:spPr>
            <a:solidFill xmlns:a="http://schemas.openxmlformats.org/drawingml/2006/main">
              <a:srgbClr val="28725F"/>
            </a:solidFill>
          </c:spPr>
          <c:dPt>
            <c:idx val="0"/>
            <c:invertIfNegative val="0"/>
            <c:spPr>
              <a:solidFill xmlns:a="http://schemas.openxmlformats.org/drawingml/2006/main">
                <a:srgbClr val="28725F"/>
              </a:solidFill>
            </c:spPr>
          </c:dPt>
          <c:dPt>
            <c:idx val="1"/>
            <c:invertIfNegative val="0"/>
            <c:spPr>
              <a:solidFill xmlns:a="http://schemas.openxmlformats.org/drawingml/2006/main">
                <a:srgbClr val="C77952"/>
              </a:solidFill>
            </c:spPr>
          </c:dPt>
          <c:dPt>
            <c:idx val="2"/>
            <c:invertIfNegative val="0"/>
            <c:spPr>
              <a:solidFill xmlns:a="http://schemas.openxmlformats.org/drawingml/2006/main">
                <a:srgbClr val="91AE91"/>
              </a:solidFill>
            </c:spPr>
          </c:dPt>
          <c:cat>
            <c:strRef>
              <c:f>'Chart Data'!$A$2:$A$4</c:f>
              <c:strCache>
                <c:ptCount val="3"/>
                <c:pt idx="0">
                  <c:v>Lot engagé</c:v>
                </c:pt>
                <c:pt idx="1">
                  <c:v>Avec demande</c:v>
                </c:pt>
                <c:pt idx="2">
                  <c:v>Plafond</c:v>
                </c:pt>
              </c:strCache>
            </c:strRef>
          </c:cat>
          <c:val>
            <c:numRef>
              <c:f>'Chart Data'!$B$2:$B$4</c:f>
              <c:numCache>
                <c:formatCode>0" €"</c:formatCode>
                <c:ptCount val="3"/>
                <c:pt idx="0">
                  <c:v>4465</c:v>
                </c:pt>
                <c:pt idx="1">
                  <c:v>5005</c:v>
                </c:pt>
                <c:pt idx="2">
                  <c:v>4697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12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d30fe9fad7d49a5"/>
          <a:srcRect xmlns:a="http://schemas.openxmlformats.org/drawingml/2006/main" l="0" t="3448" r="0" b="3448"/>
          <a:stretch xmlns:a="http://schemas.openxmlformats.org/drawingml/2006/main">
            <a:fillRect l="0" t="0" r="0" b="0"/>
          </a:stretch>
        </p:blipFill>
        <p:spPr>
          <a:xfrm xmlns:a="http://schemas.openxmlformats.org/drawingml/2006/main">
            <a:off x="6667500" y="0"/>
            <a:ext cx="5524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1B484BA-B95A-4B27-991C-156608D0AF7F}"/>
              </a:ext>
            </a:extLst>
          </p:cNvPr>
          <p:cNvSpPr>
            <a:spLocks xmlns:a="http://schemas.openxmlformats.org/drawingml/2006/main" noGrp="1"/>
          </p:cNvSpPr>
          <p:nvPr/>
        </p:nvSpPr>
        <p:spPr>
          <a:xfrm xmlns:a="http://schemas.openxmlformats.org/drawingml/2006/main">
            <a:off x="609600" y="904875"/>
            <a:ext cx="5905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SPITY</a:t>
            </a:r>
          </a:p>
        </p:txBody>
      </p:sp>
      <p:sp>
        <p:nvSpPr>
          <p:cNvPr id="3" name="">
            <a:extLst xmlns:a="http://schemas.openxmlformats.org/drawingml/2006/main">
              <a:ext uri="{FF2B5EF4-FFF2-40B4-BE49-F238E27FC236}">
                <a16:creationId xmlns:a16="http://schemas.microsoft.com/office/drawing/2014/main" id="{0D6F0F16-077A-4D07-9924-E507A1F619B6}"/>
              </a:ext>
            </a:extLst>
          </p:cNvPr>
          <p:cNvSpPr>
            <a:spLocks xmlns:a="http://schemas.openxmlformats.org/drawingml/2006/main" noGrp="1"/>
          </p:cNvSpPr>
          <p:nvPr/>
        </p:nvSpPr>
        <p:spPr>
          <a:xfrm xmlns:a="http://schemas.openxmlformats.org/drawingml/2006/main">
            <a:off x="609600" y="2638425"/>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Piloter le projet</a:t>
            </a:r>
          </a:p>
        </p:txBody>
      </p:sp>
      <p:sp>
        <p:nvSpPr>
          <p:cNvPr id="4" name="">
            <a:extLst xmlns:a="http://schemas.openxmlformats.org/drawingml/2006/main">
              <a:ext uri="{FF2B5EF4-FFF2-40B4-BE49-F238E27FC236}">
                <a16:creationId xmlns:a16="http://schemas.microsoft.com/office/drawing/2014/main" id="{190C15DA-5D6A-4122-9FFE-8A8A2E32201B}"/>
              </a:ext>
            </a:extLst>
          </p:cNvPr>
          <p:cNvSpPr>
            <a:spLocks xmlns:a="http://schemas.openxmlformats.org/drawingml/2006/main" noGrp="1"/>
          </p:cNvSpPr>
          <p:nvPr/>
        </p:nvSpPr>
        <p:spPr>
          <a:xfrm xmlns:a="http://schemas.openxmlformats.org/drawingml/2006/main">
            <a:off x="609600" y="4743450"/>
            <a:ext cx="5334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5DC83"/>
                </a:solidFill>
                <a:latin typeface="Arial"/>
                <a:ea typeface="Arial"/>
                <a:cs typeface="Arial"/>
              </a:defRPr>
            </a:pPr>
            <a:r>
              <a:rPr sz="2175" b="0">
                <a:solidFill>
                  <a:srgbClr val="C5DC83"/>
                </a:solidFill>
                <a:latin typeface="Arial"/>
                <a:ea typeface="Arial"/>
                <a:cs typeface="Arial"/>
              </a:rPr>
              <a:t>Dorian Joly</a:t>
            </a:r>
          </a:p>
          <a:p xmlns:a="http://schemas.openxmlformats.org/drawingml/2006/main">
            <a:pPr>
              <a:defRPr sz="2175" b="0">
                <a:solidFill>
                  <a:srgbClr val="C5DC83"/>
                </a:solidFill>
                <a:latin typeface="Arial"/>
                <a:ea typeface="Arial"/>
                <a:cs typeface="Arial"/>
              </a:defRPr>
            </a:pPr>
            <a:r>
              <a:rPr sz="2175" b="0">
                <a:solidFill>
                  <a:srgbClr val="C5DC83"/>
                </a:solidFill>
                <a:latin typeface="Arial"/>
                <a:ea typeface="Arial"/>
                <a:cs typeface="Arial"/>
              </a:rPr>
              <a:t>RNCP39583, Bloc 3</a:t>
            </a:r>
          </a:p>
        </p:txBody>
      </p:sp>
      <p:sp>
        <p:nvSpPr>
          <p:cNvPr id="5" name="">
            <a:extLst xmlns:a="http://schemas.openxmlformats.org/drawingml/2006/main">
              <a:ext uri="{FF2B5EF4-FFF2-40B4-BE49-F238E27FC236}">
                <a16:creationId xmlns:a16="http://schemas.microsoft.com/office/drawing/2014/main" id="{C3E96829-9B2B-43D3-8126-F308C8E7AD9B}"/>
              </a:ext>
            </a:extLst>
          </p:cNvPr>
          <p:cNvSpPr>
            <a:spLocks xmlns:a="http://schemas.openxmlformats.org/drawingml/2006/main" noGrp="1"/>
          </p:cNvSpPr>
          <p:nvPr/>
        </p:nvSpPr>
        <p:spPr>
          <a:xfrm xmlns:a="http://schemas.openxmlformats.org/drawingml/2006/main">
            <a:off x="609600" y="611505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AF1E6"/>
                </a:solidFill>
                <a:latin typeface="Arial"/>
                <a:ea typeface="Arial"/>
                <a:cs typeface="Arial"/>
              </a:defRPr>
            </a:pPr>
            <a:r>
              <a:rPr sz="1800" b="0">
                <a:solidFill>
                  <a:srgbClr val="EAF1E6"/>
                </a:solidFill>
                <a:latin typeface="Arial"/>
                <a:ea typeface="Arial"/>
                <a:cs typeface="Arial"/>
              </a:rPr>
              <a:t>30 minutes, démonstration incluse</a:t>
            </a:r>
          </a:p>
        </p:txBody>
      </p:sp>
    </p:spTree>
    <p:extLst>
      <p:ext uri="{BB962C8B-B14F-4D97-AF65-F5344CB8AC3E}">
        <p14:creationId xmlns:p14="http://schemas.microsoft.com/office/powerpoint/2010/main" val="26245011"/>
      </p:ext>
    </p:extLst>
  </p:cSld>
</p:sld>
</file>

<file path=ppt/slides/slide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DB8105A-1B00-4428-B87F-9C13F21681F0}"/>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besoin d’Altitude Grimpe</a:t>
            </a:r>
          </a:p>
        </p:txBody>
      </p:sp>
      <p:sp>
        <p:nvSpPr>
          <p:cNvPr id="2" name="">
            <a:extLst xmlns:a="http://schemas.openxmlformats.org/drawingml/2006/main">
              <a:ext uri="{FF2B5EF4-FFF2-40B4-BE49-F238E27FC236}">
                <a16:creationId xmlns:a16="http://schemas.microsoft.com/office/drawing/2014/main" id="{DC4CD0C9-8737-4035-B53A-0E44934A655B}"/>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B1, commanditaire fictif et produit réel    00:30 à 01:30    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22eb4ba9694478b"/>
          <a:stretch xmlns:a="http://schemas.openxmlformats.org/drawingml/2006/main"/>
        </p:blipFill>
        <p:spPr>
          <a:xfrm xmlns:a="http://schemas.openxmlformats.org/drawingml/2006/main">
            <a:off x="4460748" y="1600200"/>
            <a:ext cx="6432804" cy="44672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771DE0C-8662-437E-A9D2-1F790C656C52}"/>
              </a:ext>
            </a:extLst>
          </p:cNvPr>
          <p:cNvSpPr>
            <a:spLocks xmlns:a="http://schemas.openxmlformats.org/drawingml/2006/main" noGrp="1"/>
          </p:cNvSpPr>
          <p:nvPr/>
        </p:nvSpPr>
        <p:spPr>
          <a:xfrm xmlns:a="http://schemas.openxmlformats.org/drawingml/2006/main">
            <a:off x="685800" y="212407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725F"/>
                </a:solidFill>
                <a:latin typeface="Arial"/>
                <a:ea typeface="Arial"/>
                <a:cs typeface="Arial"/>
              </a:defRPr>
            </a:pPr>
            <a:r>
              <a:rPr sz="2850" b="1">
                <a:solidFill>
                  <a:srgbClr val="28725F"/>
                </a:solidFill>
                <a:latin typeface="Arial"/>
                <a:ea typeface="Arial"/>
                <a:cs typeface="Arial"/>
              </a:rPr>
              <a:t>Grimpeur</a:t>
            </a:r>
          </a:p>
        </p:txBody>
      </p:sp>
      <p:sp>
        <p:nvSpPr>
          <p:cNvPr id="5" name="">
            <a:extLst xmlns:a="http://schemas.openxmlformats.org/drawingml/2006/main">
              <a:ext uri="{FF2B5EF4-FFF2-40B4-BE49-F238E27FC236}">
                <a16:creationId xmlns:a16="http://schemas.microsoft.com/office/drawing/2014/main" id="{E3B1CF81-133D-42DC-ACC4-43FD57B025CB}"/>
              </a:ext>
            </a:extLst>
          </p:cNvPr>
          <p:cNvSpPr>
            <a:spLocks xmlns:a="http://schemas.openxmlformats.org/drawingml/2006/main" noGrp="1"/>
          </p:cNvSpPr>
          <p:nvPr/>
        </p:nvSpPr>
        <p:spPr>
          <a:xfrm xmlns:a="http://schemas.openxmlformats.org/drawingml/2006/main">
            <a:off x="685800" y="2924175"/>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Trouver</a:t>
            </a:r>
          </a:p>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un partenaire</a:t>
            </a:r>
          </a:p>
        </p:txBody>
      </p:sp>
      <p:sp>
        <p:nvSpPr>
          <p:cNvPr id="6" name="">
            <a:extLst xmlns:a="http://schemas.openxmlformats.org/drawingml/2006/main">
              <a:ext uri="{FF2B5EF4-FFF2-40B4-BE49-F238E27FC236}">
                <a16:creationId xmlns:a16="http://schemas.microsoft.com/office/drawing/2014/main" id="{3009915D-0C31-4DF8-A8C6-FE1278FFA4D3}"/>
              </a:ext>
            </a:extLst>
          </p:cNvPr>
          <p:cNvSpPr>
            <a:spLocks xmlns:a="http://schemas.openxmlformats.org/drawingml/2006/main" noGrp="1"/>
          </p:cNvSpPr>
          <p:nvPr/>
        </p:nvSpPr>
        <p:spPr>
          <a:xfrm xmlns:a="http://schemas.openxmlformats.org/drawingml/2006/main">
            <a:off x="685800" y="454342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725F"/>
                </a:solidFill>
                <a:latin typeface="Arial"/>
                <a:ea typeface="Arial"/>
                <a:cs typeface="Arial"/>
              </a:defRPr>
            </a:pPr>
            <a:r>
              <a:rPr sz="2850" b="1">
                <a:solidFill>
                  <a:srgbClr val="28725F"/>
                </a:solidFill>
                <a:latin typeface="Arial"/>
                <a:ea typeface="Arial"/>
                <a:cs typeface="Arial"/>
              </a:rPr>
              <a:t>Club</a:t>
            </a:r>
          </a:p>
        </p:txBody>
      </p:sp>
      <p:sp>
        <p:nvSpPr>
          <p:cNvPr id="7" name="">
            <a:extLst xmlns:a="http://schemas.openxmlformats.org/drawingml/2006/main">
              <a:ext uri="{FF2B5EF4-FFF2-40B4-BE49-F238E27FC236}">
                <a16:creationId xmlns:a16="http://schemas.microsoft.com/office/drawing/2014/main" id="{BD2932F6-BAEC-45BD-8C96-6CF53AAEFCE4}"/>
              </a:ext>
            </a:extLst>
          </p:cNvPr>
          <p:cNvSpPr>
            <a:spLocks xmlns:a="http://schemas.openxmlformats.org/drawingml/2006/main" noGrp="1"/>
          </p:cNvSpPr>
          <p:nvPr/>
        </p:nvSpPr>
        <p:spPr>
          <a:xfrm xmlns:a="http://schemas.openxmlformats.org/drawingml/2006/main">
            <a:off x="685800" y="53054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Organiser</a:t>
            </a:r>
          </a:p>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une sortie</a:t>
            </a:r>
          </a:p>
        </p:txBody>
      </p:sp>
    </p:spTree>
    <p:extLst>
      <p:ext uri="{BB962C8B-B14F-4D97-AF65-F5344CB8AC3E}">
        <p14:creationId xmlns:p14="http://schemas.microsoft.com/office/powerpoint/2010/main" val="1688310174"/>
      </p:ext>
    </p:extLst>
  </p:cSld>
</p:sld>
</file>

<file path=ppt/slides/slide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7E5482-C964-4239-8365-07B72DE23C3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planning global du Bloc 1</a:t>
            </a:r>
          </a:p>
        </p:txBody>
      </p:sp>
      <p:sp>
        <p:nvSpPr>
          <p:cNvPr id="2" name="">
            <a:extLst xmlns:a="http://schemas.openxmlformats.org/drawingml/2006/main">
              <a:ext uri="{FF2B5EF4-FFF2-40B4-BE49-F238E27FC236}">
                <a16:creationId xmlns:a16="http://schemas.microsoft.com/office/drawing/2014/main" id="{167601DE-050B-4449-AB01-5C48D866BCA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neuf lots du diaporama Bloc 1    01:30 à 02:30    3</a:t>
            </a:r>
          </a:p>
        </p:txBody>
      </p:sp>
      <p:graphicFrame>
        <p:nvGraphicFramePr>
          <p:cNvPr id="8" name="Chart"/>
          <p:cNvGraphicFramePr/>
          <p:nvPr/>
        </p:nvGraphicFramePr>
        <p:xfrm>
          <a:off xmlns:a="http://schemas.openxmlformats.org/drawingml/2006/main" x="609600" y="1647825"/>
          <a:ext xmlns:a="http://schemas.openxmlformats.org/drawingml/2006/main" cx="10820400" cy="3895725"/>
        </p:xfrm>
        <a:graphic xmlns:a="http://schemas.openxmlformats.org/drawingml/2006/main">
          <a:graphicData uri="http://schemas.openxmlformats.org/drawingml/2006/chart">
            <c:chart xmlns:r="http://schemas.openxmlformats.org/officeDocument/2006/relationships" xmlns:c="http://schemas.openxmlformats.org/drawingml/2006/chart" r:id="Rc590d6f9fbd04b08"/>
          </a:graphicData>
        </a:graphic>
      </p:graphicFrame>
      <p:sp>
        <p:nvSpPr>
          <p:cNvPr id="4" name="">
            <a:extLst xmlns:a="http://schemas.openxmlformats.org/drawingml/2006/main">
              <a:ext uri="{FF2B5EF4-FFF2-40B4-BE49-F238E27FC236}">
                <a16:creationId xmlns:a16="http://schemas.microsoft.com/office/drawing/2014/main" id="{E4883C6E-D478-48B3-B25A-7EFA342B3075}"/>
              </a:ext>
            </a:extLst>
          </p:cNvPr>
          <p:cNvSpPr>
            <a:spLocks xmlns:a="http://schemas.openxmlformats.org/drawingml/2006/main" noGrp="1"/>
          </p:cNvSpPr>
          <p:nvPr/>
        </p:nvSpPr>
        <p:spPr>
          <a:xfrm xmlns:a="http://schemas.openxmlformats.org/drawingml/2006/main">
            <a:off x="685800" y="56959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82 j-h du Bloc 1 : 16,4 semaines à 5 j-h/semaine.</a:t>
            </a:r>
          </a:p>
        </p:txBody>
      </p:sp>
      <p:sp>
        <p:nvSpPr>
          <p:cNvPr id="5" name="">
            <a:extLst xmlns:a="http://schemas.openxmlformats.org/drawingml/2006/main">
              <a:ext uri="{FF2B5EF4-FFF2-40B4-BE49-F238E27FC236}">
                <a16:creationId xmlns:a16="http://schemas.microsoft.com/office/drawing/2014/main" id="{FCA44B71-821E-4E2E-930B-89B6DF2F6F92}"/>
              </a:ext>
            </a:extLst>
          </p:cNvPr>
          <p:cNvSpPr>
            <a:spLocks xmlns:a="http://schemas.openxmlformats.org/drawingml/2006/main" noGrp="1"/>
          </p:cNvSpPr>
          <p:nvPr/>
        </p:nvSpPr>
        <p:spPr>
          <a:xfrm xmlns:a="http://schemas.openxmlformats.org/drawingml/2006/main">
            <a:off x="685800" y="6105525"/>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7068"/>
                </a:solidFill>
                <a:latin typeface="Arial"/>
                <a:ea typeface="Arial"/>
                <a:cs typeface="Arial"/>
              </a:defRPr>
            </a:pPr>
            <a:r>
              <a:rPr sz="1575" b="0">
                <a:solidFill>
                  <a:srgbClr val="5D7068"/>
                </a:solidFill>
                <a:latin typeface="Arial"/>
                <a:ea typeface="Arial"/>
                <a:cs typeface="Arial"/>
              </a:rPr>
              <a:t>Ordre pédagogique du MVP cible. Le lot B3 est un zoom distinct.</a:t>
            </a:r>
          </a:p>
        </p:txBody>
      </p:sp>
    </p:spTree>
    <p:extLst>
      <p:ext uri="{BB962C8B-B14F-4D97-AF65-F5344CB8AC3E}">
        <p14:creationId xmlns:p14="http://schemas.microsoft.com/office/powerpoint/2010/main" val="1715373317"/>
      </p:ext>
    </p:extLst>
  </p:cSld>
</p:sld>
</file>

<file path=ppt/slides/slide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7B8A850-C322-44B1-922A-4FB94F7E092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suivi : Linear et les rituels Scrum</a:t>
            </a:r>
          </a:p>
        </p:txBody>
      </p:sp>
      <p:sp>
        <p:nvSpPr>
          <p:cNvPr id="2" name="">
            <a:extLst xmlns:a="http://schemas.openxmlformats.org/drawingml/2006/main">
              <a:ext uri="{FF2B5EF4-FFF2-40B4-BE49-F238E27FC236}">
                <a16:creationId xmlns:a16="http://schemas.microsoft.com/office/drawing/2014/main" id="{D0594E0E-8E1F-438C-9556-59B6793E966C}"/>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Linear observé et réunions du scénario fictif    02:30 à 04:00    4</a:t>
            </a:r>
          </a:p>
        </p:txBody>
      </p:sp>
      <p:graphicFrame>
        <p:nvGraphicFramePr>
          <p:cNvPr id="16" name="Chart"/>
          <p:cNvGraphicFramePr/>
          <p:nvPr/>
        </p:nvGraphicFramePr>
        <p:xfrm>
          <a:off xmlns:a="http://schemas.openxmlformats.org/drawingml/2006/main" x="609600" y="1809750"/>
          <a:ext xmlns:a="http://schemas.openxmlformats.org/drawingml/2006/main" cx="6638925" cy="3495675"/>
        </p:xfrm>
        <a:graphic xmlns:a="http://schemas.openxmlformats.org/drawingml/2006/main">
          <a:graphicData uri="http://schemas.openxmlformats.org/drawingml/2006/chart">
            <c:chart xmlns:r="http://schemas.openxmlformats.org/officeDocument/2006/relationships" xmlns:c="http://schemas.openxmlformats.org/drawingml/2006/chart" r:id="R254adc13bb9744a7"/>
          </a:graphicData>
        </a:graphic>
      </p:graphicFrame>
      <p:sp>
        <p:nvSpPr>
          <p:cNvPr id="4" name="">
            <a:extLst xmlns:a="http://schemas.openxmlformats.org/drawingml/2006/main">
              <a:ext uri="{FF2B5EF4-FFF2-40B4-BE49-F238E27FC236}">
                <a16:creationId xmlns:a16="http://schemas.microsoft.com/office/drawing/2014/main" id="{76272BEF-709A-434B-9BA5-B72A6B92542F}"/>
              </a:ext>
            </a:extLst>
          </p:cNvPr>
          <p:cNvSpPr>
            <a:spLocks xmlns:a="http://schemas.openxmlformats.org/drawingml/2006/main" noGrp="1"/>
          </p:cNvSpPr>
          <p:nvPr/>
        </p:nvSpPr>
        <p:spPr>
          <a:xfrm xmlns:a="http://schemas.openxmlformats.org/drawingml/2006/main">
            <a:off x="7696200" y="1638300"/>
            <a:ext cx="3848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Planning</a:t>
            </a:r>
          </a:p>
        </p:txBody>
      </p:sp>
      <p:sp>
        <p:nvSpPr>
          <p:cNvPr id="5" name="">
            <a:extLst xmlns:a="http://schemas.openxmlformats.org/drawingml/2006/main">
              <a:ext uri="{FF2B5EF4-FFF2-40B4-BE49-F238E27FC236}">
                <a16:creationId xmlns:a16="http://schemas.microsoft.com/office/drawing/2014/main" id="{B5DEF83D-3BA8-4C0E-9A88-94160B9B0861}"/>
              </a:ext>
            </a:extLst>
          </p:cNvPr>
          <p:cNvSpPr>
            <a:spLocks xmlns:a="http://schemas.openxmlformats.org/drawingml/2006/main" noGrp="1"/>
          </p:cNvSpPr>
          <p:nvPr/>
        </p:nvSpPr>
        <p:spPr>
          <a:xfrm xmlns:a="http://schemas.openxmlformats.org/drawingml/2006/main">
            <a:off x="7696200" y="2076450"/>
            <a:ext cx="3848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J3 : objectif et capacité.</a:t>
            </a:r>
          </a:p>
        </p:txBody>
      </p:sp>
      <p:sp>
        <p:nvSpPr>
          <p:cNvPr id="6" name="">
            <a:extLst xmlns:a="http://schemas.openxmlformats.org/drawingml/2006/main">
              <a:ext uri="{FF2B5EF4-FFF2-40B4-BE49-F238E27FC236}">
                <a16:creationId xmlns:a16="http://schemas.microsoft.com/office/drawing/2014/main" id="{716B03E0-8F13-47F9-9380-3259C110FE7D}"/>
              </a:ext>
            </a:extLst>
          </p:cNvPr>
          <p:cNvSpPr>
            <a:spLocks xmlns:a="http://schemas.openxmlformats.org/drawingml/2006/main" noGrp="1"/>
          </p:cNvSpPr>
          <p:nvPr/>
        </p:nvSpPr>
        <p:spPr>
          <a:xfrm xmlns:a="http://schemas.openxmlformats.org/drawingml/2006/main">
            <a:off x="7696200" y="2571750"/>
            <a:ext cx="3848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Daily</a:t>
            </a:r>
          </a:p>
        </p:txBody>
      </p:sp>
      <p:sp>
        <p:nvSpPr>
          <p:cNvPr id="7" name="">
            <a:extLst xmlns:a="http://schemas.openxmlformats.org/drawingml/2006/main">
              <a:ext uri="{FF2B5EF4-FFF2-40B4-BE49-F238E27FC236}">
                <a16:creationId xmlns:a16="http://schemas.microsoft.com/office/drawing/2014/main" id="{A5A613ED-B521-41EB-98DC-FCAF657FBDF8}"/>
              </a:ext>
            </a:extLst>
          </p:cNvPr>
          <p:cNvSpPr>
            <a:spLocks xmlns:a="http://schemas.openxmlformats.org/drawingml/2006/main" noGrp="1"/>
          </p:cNvSpPr>
          <p:nvPr/>
        </p:nvSpPr>
        <p:spPr>
          <a:xfrm xmlns:a="http://schemas.openxmlformats.org/drawingml/2006/main">
            <a:off x="7696200" y="3009900"/>
            <a:ext cx="3848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Chaque jour : 10 minutes.</a:t>
            </a:r>
          </a:p>
        </p:txBody>
      </p:sp>
      <p:sp>
        <p:nvSpPr>
          <p:cNvPr id="8" name="">
            <a:extLst xmlns:a="http://schemas.openxmlformats.org/drawingml/2006/main">
              <a:ext uri="{FF2B5EF4-FFF2-40B4-BE49-F238E27FC236}">
                <a16:creationId xmlns:a16="http://schemas.microsoft.com/office/drawing/2014/main" id="{C1885504-C324-4936-8809-2D688042A0D3}"/>
              </a:ext>
            </a:extLst>
          </p:cNvPr>
          <p:cNvSpPr>
            <a:spLocks xmlns:a="http://schemas.openxmlformats.org/drawingml/2006/main" noGrp="1"/>
          </p:cNvSpPr>
          <p:nvPr/>
        </p:nvSpPr>
        <p:spPr>
          <a:xfrm xmlns:a="http://schemas.openxmlformats.org/drawingml/2006/main">
            <a:off x="7696200" y="3505200"/>
            <a:ext cx="3848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Review</a:t>
            </a:r>
          </a:p>
        </p:txBody>
      </p:sp>
      <p:sp>
        <p:nvSpPr>
          <p:cNvPr id="9" name="">
            <a:extLst xmlns:a="http://schemas.openxmlformats.org/drawingml/2006/main">
              <a:ext uri="{FF2B5EF4-FFF2-40B4-BE49-F238E27FC236}">
                <a16:creationId xmlns:a16="http://schemas.microsoft.com/office/drawing/2014/main" id="{1A12BBC7-9EE2-4E88-AB05-A194DB007BFA}"/>
              </a:ext>
            </a:extLst>
          </p:cNvPr>
          <p:cNvSpPr>
            <a:spLocks xmlns:a="http://schemas.openxmlformats.org/drawingml/2006/main" noGrp="1"/>
          </p:cNvSpPr>
          <p:nvPr/>
        </p:nvSpPr>
        <p:spPr>
          <a:xfrm xmlns:a="http://schemas.openxmlformats.org/drawingml/2006/main">
            <a:off x="7696200" y="3943350"/>
            <a:ext cx="3848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J10 et J15 : retour client.</a:t>
            </a:r>
          </a:p>
        </p:txBody>
      </p:sp>
      <p:sp>
        <p:nvSpPr>
          <p:cNvPr id="10" name="">
            <a:extLst xmlns:a="http://schemas.openxmlformats.org/drawingml/2006/main">
              <a:ext uri="{FF2B5EF4-FFF2-40B4-BE49-F238E27FC236}">
                <a16:creationId xmlns:a16="http://schemas.microsoft.com/office/drawing/2014/main" id="{3E185E63-217E-4265-A900-17B20EB6DF14}"/>
              </a:ext>
            </a:extLst>
          </p:cNvPr>
          <p:cNvSpPr>
            <a:spLocks xmlns:a="http://schemas.openxmlformats.org/drawingml/2006/main" noGrp="1"/>
          </p:cNvSpPr>
          <p:nvPr/>
        </p:nvSpPr>
        <p:spPr>
          <a:xfrm xmlns:a="http://schemas.openxmlformats.org/drawingml/2006/main">
            <a:off x="7696200" y="4438650"/>
            <a:ext cx="3848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Rétrospective</a:t>
            </a:r>
          </a:p>
        </p:txBody>
      </p:sp>
      <p:sp>
        <p:nvSpPr>
          <p:cNvPr id="11" name="">
            <a:extLst xmlns:a="http://schemas.openxmlformats.org/drawingml/2006/main">
              <a:ext uri="{FF2B5EF4-FFF2-40B4-BE49-F238E27FC236}">
                <a16:creationId xmlns:a16="http://schemas.microsoft.com/office/drawing/2014/main" id="{EC666228-4B9D-4AA5-B6DC-93A3A8B51B41}"/>
              </a:ext>
            </a:extLst>
          </p:cNvPr>
          <p:cNvSpPr>
            <a:spLocks xmlns:a="http://schemas.openxmlformats.org/drawingml/2006/main" noGrp="1"/>
          </p:cNvSpPr>
          <p:nvPr/>
        </p:nvSpPr>
        <p:spPr>
          <a:xfrm xmlns:a="http://schemas.openxmlformats.org/drawingml/2006/main">
            <a:off x="7696200" y="4876800"/>
            <a:ext cx="3848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J15 : une amélioration.</a:t>
            </a:r>
          </a:p>
        </p:txBody>
      </p:sp>
      <p:sp>
        <p:nvSpPr>
          <p:cNvPr id="12" name="">
            <a:extLst xmlns:a="http://schemas.openxmlformats.org/drawingml/2006/main">
              <a:ext uri="{FF2B5EF4-FFF2-40B4-BE49-F238E27FC236}">
                <a16:creationId xmlns:a16="http://schemas.microsoft.com/office/drawing/2014/main" id="{88600DF1-9274-432B-A35E-1FAB0FC8FF07}"/>
              </a:ext>
            </a:extLst>
          </p:cNvPr>
          <p:cNvSpPr>
            <a:spLocks xmlns:a="http://schemas.openxmlformats.org/drawingml/2006/main" noGrp="1"/>
          </p:cNvSpPr>
          <p:nvPr/>
        </p:nvSpPr>
        <p:spPr>
          <a:xfrm xmlns:a="http://schemas.openxmlformats.org/drawingml/2006/main">
            <a:off x="685800" y="56197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Kanban : 2 tâches en réalisation. Rituels inspirés de Scrum.</a:t>
            </a:r>
          </a:p>
        </p:txBody>
      </p:sp>
      <p:sp>
        <p:nvSpPr>
          <p:cNvPr id="13" name="">
            <a:extLst xmlns:a="http://schemas.openxmlformats.org/drawingml/2006/main">
              <a:ext uri="{FF2B5EF4-FFF2-40B4-BE49-F238E27FC236}">
                <a16:creationId xmlns:a16="http://schemas.microsoft.com/office/drawing/2014/main" id="{CFCA3BBE-C333-4358-96B9-5D27E965EAC6}"/>
              </a:ext>
            </a:extLst>
          </p:cNvPr>
          <p:cNvSpPr>
            <a:spLocks xmlns:a="http://schemas.openxmlformats.org/drawingml/2006/main" noGrp="1"/>
          </p:cNvSpPr>
          <p:nvPr/>
        </p:nvSpPr>
        <p:spPr>
          <a:xfrm xmlns:a="http://schemas.openxmlformats.org/drawingml/2006/main">
            <a:off x="685800" y="60769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068"/>
                </a:solidFill>
                <a:latin typeface="Arial"/>
                <a:ea typeface="Arial"/>
                <a:cs typeface="Arial"/>
              </a:defRPr>
            </a:pPr>
            <a:r>
              <a:rPr sz="1650" b="0">
                <a:solidFill>
                  <a:srgbClr val="5D7068"/>
                </a:solidFill>
                <a:latin typeface="Arial"/>
                <a:ea typeface="Arial"/>
                <a:cs typeface="Arial"/>
              </a:rPr>
              <a:t>Linear : 12/24 terminés, sans pondération. Réunions et traces : A05/A07.</a:t>
            </a:r>
          </a:p>
        </p:txBody>
      </p:sp>
    </p:spTree>
    <p:extLst>
      <p:ext uri="{BB962C8B-B14F-4D97-AF65-F5344CB8AC3E}">
        <p14:creationId xmlns:p14="http://schemas.microsoft.com/office/powerpoint/2010/main" val="1811964380"/>
      </p:ext>
    </p:extLst>
  </p:cSld>
</p:sld>
</file>

<file path=ppt/slides/slide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922B5B3-CB19-4093-A7C7-20FA1E6FA92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lot : phases, mesures et dépendances</a:t>
            </a:r>
          </a:p>
        </p:txBody>
      </p:sp>
      <p:sp>
        <p:nvSpPr>
          <p:cNvPr id="2" name="">
            <a:extLst xmlns:a="http://schemas.openxmlformats.org/drawingml/2006/main">
              <a:ext uri="{FF2B5EF4-FFF2-40B4-BE49-F238E27FC236}">
                <a16:creationId xmlns:a16="http://schemas.microsoft.com/office/drawing/2014/main" id="{6BF97DE7-FA5B-4CEF-BE5E-069C3F32363B}"/>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planning fictif du lot à J10    04:00 à 05:30    5</a:t>
            </a:r>
          </a:p>
        </p:txBody>
      </p:sp>
      <p:graphicFrame>
        <p:nvGraphicFramePr>
          <p:cNvPr id="7" name="Chart"/>
          <p:cNvGraphicFramePr/>
          <p:nvPr/>
        </p:nvGraphicFramePr>
        <p:xfrm>
          <a:off xmlns:a="http://schemas.openxmlformats.org/drawingml/2006/main" x="666750" y="1666875"/>
          <a:ext xmlns:a="http://schemas.openxmlformats.org/drawingml/2006/main" cx="10477500" cy="3952875"/>
        </p:xfrm>
        <a:graphic xmlns:a="http://schemas.openxmlformats.org/drawingml/2006/main">
          <a:graphicData uri="http://schemas.openxmlformats.org/drawingml/2006/chart">
            <c:chart xmlns:r="http://schemas.openxmlformats.org/officeDocument/2006/relationships" xmlns:c="http://schemas.openxmlformats.org/drawingml/2006/chart" r:id="R7095c832cc1349d6"/>
          </a:graphicData>
        </a:graphic>
      </p:graphicFrame>
      <p:sp>
        <p:nvSpPr>
          <p:cNvPr id="4" name="">
            <a:extLst xmlns:a="http://schemas.openxmlformats.org/drawingml/2006/main">
              <a:ext uri="{FF2B5EF4-FFF2-40B4-BE49-F238E27FC236}">
                <a16:creationId xmlns:a16="http://schemas.microsoft.com/office/drawing/2014/main" id="{0D8082B5-32BF-457F-AE7C-F0756A9C7F15}"/>
              </a:ext>
            </a:extLst>
          </p:cNvPr>
          <p:cNvSpPr>
            <a:spLocks xmlns:a="http://schemas.openxmlformats.org/drawingml/2006/main" noGrp="1"/>
          </p:cNvSpPr>
          <p:nvPr/>
        </p:nvSpPr>
        <p:spPr>
          <a:xfrm xmlns:a="http://schemas.openxmlformats.org/drawingml/2006/main">
            <a:off x="685800" y="57435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Recette à J14. Démonstration à J15.</a:t>
            </a:r>
          </a:p>
        </p:txBody>
      </p:sp>
    </p:spTree>
    <p:extLst>
      <p:ext uri="{BB962C8B-B14F-4D97-AF65-F5344CB8AC3E}">
        <p14:creationId xmlns:p14="http://schemas.microsoft.com/office/powerpoint/2010/main" val="1589591976"/>
      </p:ext>
    </p:extLst>
  </p:cSld>
</p:sld>
</file>

<file path=ppt/slides/slide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99F1389-95A0-4366-B297-D4BCE38D55A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Les missions et les aménagements</a:t>
            </a:r>
          </a:p>
        </p:txBody>
      </p:sp>
      <p:sp>
        <p:nvSpPr>
          <p:cNvPr id="2" name="">
            <a:extLst xmlns:a="http://schemas.openxmlformats.org/drawingml/2006/main">
              <a:ext uri="{FF2B5EF4-FFF2-40B4-BE49-F238E27FC236}">
                <a16:creationId xmlns:a16="http://schemas.microsoft.com/office/drawing/2014/main" id="{65A6D2C6-D597-4BFC-B20D-303431C47317}"/>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équipe et situation fictives    05:30 à 06:30    6</a:t>
            </a:r>
          </a:p>
        </p:txBody>
      </p:sp>
      <p:sp>
        <p:nvSpPr>
          <p:cNvPr id="3" name="">
            <a:extLst xmlns:a="http://schemas.openxmlformats.org/drawingml/2006/main">
              <a:ext uri="{FF2B5EF4-FFF2-40B4-BE49-F238E27FC236}">
                <a16:creationId xmlns:a16="http://schemas.microsoft.com/office/drawing/2014/main" id="{7B67C438-8BA6-4EE6-BE94-336449F0F383}"/>
              </a:ext>
            </a:extLst>
          </p:cNvPr>
          <p:cNvSpPr>
            <a:spLocks xmlns:a="http://schemas.openxmlformats.org/drawingml/2006/main" noGrp="1"/>
          </p:cNvSpPr>
          <p:nvPr/>
        </p:nvSpPr>
        <p:spPr>
          <a:xfrm xmlns:a="http://schemas.openxmlformats.org/drawingml/2006/main">
            <a:off x="6858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30 h</a:t>
            </a:r>
          </a:p>
        </p:txBody>
      </p:sp>
      <p:sp>
        <p:nvSpPr>
          <p:cNvPr id="4" name="">
            <a:extLst xmlns:a="http://schemas.openxmlformats.org/drawingml/2006/main">
              <a:ext uri="{FF2B5EF4-FFF2-40B4-BE49-F238E27FC236}">
                <a16:creationId xmlns:a16="http://schemas.microsoft.com/office/drawing/2014/main" id="{3011D855-907B-4253-A702-A9318122DEA2}"/>
              </a:ext>
            </a:extLst>
          </p:cNvPr>
          <p:cNvSpPr>
            <a:spLocks xmlns:a="http://schemas.openxmlformats.org/drawingml/2006/main" noGrp="1"/>
          </p:cNvSpPr>
          <p:nvPr/>
        </p:nvSpPr>
        <p:spPr>
          <a:xfrm xmlns:a="http://schemas.openxmlformats.org/drawingml/2006/main">
            <a:off x="6858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Chef de projet</a:t>
            </a:r>
          </a:p>
        </p:txBody>
      </p:sp>
      <p:sp>
        <p:nvSpPr>
          <p:cNvPr id="5" name="">
            <a:extLst xmlns:a="http://schemas.openxmlformats.org/drawingml/2006/main">
              <a:ext uri="{FF2B5EF4-FFF2-40B4-BE49-F238E27FC236}">
                <a16:creationId xmlns:a16="http://schemas.microsoft.com/office/drawing/2014/main" id="{2BE27C65-16A5-4313-9DFE-C5120AAD9E67}"/>
              </a:ext>
            </a:extLst>
          </p:cNvPr>
          <p:cNvSpPr>
            <a:spLocks xmlns:a="http://schemas.openxmlformats.org/drawingml/2006/main" noGrp="1"/>
          </p:cNvSpPr>
          <p:nvPr/>
        </p:nvSpPr>
        <p:spPr>
          <a:xfrm xmlns:a="http://schemas.openxmlformats.org/drawingml/2006/main">
            <a:off x="6858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Organiser et arbitrer.</a:t>
            </a:r>
          </a:p>
        </p:txBody>
      </p:sp>
      <p:sp>
        <p:nvSpPr>
          <p:cNvPr id="6" name="">
            <a:extLst xmlns:a="http://schemas.openxmlformats.org/drawingml/2006/main">
              <a:ext uri="{FF2B5EF4-FFF2-40B4-BE49-F238E27FC236}">
                <a16:creationId xmlns:a16="http://schemas.microsoft.com/office/drawing/2014/main" id="{65ADC88E-21C6-4FFF-BED5-A1FFB97CCC47}"/>
              </a:ext>
            </a:extLst>
          </p:cNvPr>
          <p:cNvSpPr>
            <a:spLocks xmlns:a="http://schemas.openxmlformats.org/drawingml/2006/main" noGrp="1"/>
          </p:cNvSpPr>
          <p:nvPr/>
        </p:nvSpPr>
        <p:spPr>
          <a:xfrm xmlns:a="http://schemas.openxmlformats.org/drawingml/2006/main">
            <a:off x="42926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72 h</a:t>
            </a:r>
          </a:p>
        </p:txBody>
      </p:sp>
      <p:sp>
        <p:nvSpPr>
          <p:cNvPr id="7" name="">
            <a:extLst xmlns:a="http://schemas.openxmlformats.org/drawingml/2006/main">
              <a:ext uri="{FF2B5EF4-FFF2-40B4-BE49-F238E27FC236}">
                <a16:creationId xmlns:a16="http://schemas.microsoft.com/office/drawing/2014/main" id="{D310E509-DEA3-4B77-9F33-C43B6B2CC413}"/>
              </a:ext>
            </a:extLst>
          </p:cNvPr>
          <p:cNvSpPr>
            <a:spLocks xmlns:a="http://schemas.openxmlformats.org/drawingml/2006/main" noGrp="1"/>
          </p:cNvSpPr>
          <p:nvPr/>
        </p:nvSpPr>
        <p:spPr>
          <a:xfrm xmlns:a="http://schemas.openxmlformats.org/drawingml/2006/main">
            <a:off x="42926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Développeur</a:t>
            </a:r>
          </a:p>
        </p:txBody>
      </p:sp>
      <p:sp>
        <p:nvSpPr>
          <p:cNvPr id="8" name="">
            <a:extLst xmlns:a="http://schemas.openxmlformats.org/drawingml/2006/main">
              <a:ext uri="{FF2B5EF4-FFF2-40B4-BE49-F238E27FC236}">
                <a16:creationId xmlns:a16="http://schemas.microsoft.com/office/drawing/2014/main" id="{F925A1CC-4A7C-438B-99C2-68DE5395B75F}"/>
              </a:ext>
            </a:extLst>
          </p:cNvPr>
          <p:cNvSpPr>
            <a:spLocks xmlns:a="http://schemas.openxmlformats.org/drawingml/2006/main" noGrp="1"/>
          </p:cNvSpPr>
          <p:nvPr/>
        </p:nvSpPr>
        <p:spPr>
          <a:xfrm xmlns:a="http://schemas.openxmlformats.org/drawingml/2006/main">
            <a:off x="42926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Réaliser et corriger.</a:t>
            </a:r>
          </a:p>
        </p:txBody>
      </p:sp>
      <p:sp>
        <p:nvSpPr>
          <p:cNvPr id="9" name="">
            <a:extLst xmlns:a="http://schemas.openxmlformats.org/drawingml/2006/main">
              <a:ext uri="{FF2B5EF4-FFF2-40B4-BE49-F238E27FC236}">
                <a16:creationId xmlns:a16="http://schemas.microsoft.com/office/drawing/2014/main" id="{C1464895-3720-4BF5-8BAA-417FCD61FE0F}"/>
              </a:ext>
            </a:extLst>
          </p:cNvPr>
          <p:cNvSpPr>
            <a:spLocks xmlns:a="http://schemas.openxmlformats.org/drawingml/2006/main" noGrp="1"/>
          </p:cNvSpPr>
          <p:nvPr/>
        </p:nvSpPr>
        <p:spPr>
          <a:xfrm xmlns:a="http://schemas.openxmlformats.org/drawingml/2006/main">
            <a:off x="78994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30 h</a:t>
            </a:r>
          </a:p>
        </p:txBody>
      </p:sp>
      <p:sp>
        <p:nvSpPr>
          <p:cNvPr id="10" name="">
            <a:extLst xmlns:a="http://schemas.openxmlformats.org/drawingml/2006/main">
              <a:ext uri="{FF2B5EF4-FFF2-40B4-BE49-F238E27FC236}">
                <a16:creationId xmlns:a16="http://schemas.microsoft.com/office/drawing/2014/main" id="{F0881CEB-47D5-40E3-ACCE-4F328D972D0F}"/>
              </a:ext>
            </a:extLst>
          </p:cNvPr>
          <p:cNvSpPr>
            <a:spLocks xmlns:a="http://schemas.openxmlformats.org/drawingml/2006/main" noGrp="1"/>
          </p:cNvSpPr>
          <p:nvPr/>
        </p:nvSpPr>
        <p:spPr>
          <a:xfrm xmlns:a="http://schemas.openxmlformats.org/drawingml/2006/main">
            <a:off x="78994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Camille, QA</a:t>
            </a:r>
          </a:p>
        </p:txBody>
      </p:sp>
      <p:sp>
        <p:nvSpPr>
          <p:cNvPr id="11" name="">
            <a:extLst xmlns:a="http://schemas.openxmlformats.org/drawingml/2006/main">
              <a:ext uri="{FF2B5EF4-FFF2-40B4-BE49-F238E27FC236}">
                <a16:creationId xmlns:a16="http://schemas.microsoft.com/office/drawing/2014/main" id="{202ADFAE-1928-4C96-80D7-9120919994A5}"/>
              </a:ext>
            </a:extLst>
          </p:cNvPr>
          <p:cNvSpPr>
            <a:spLocks xmlns:a="http://schemas.openxmlformats.org/drawingml/2006/main" noGrp="1"/>
          </p:cNvSpPr>
          <p:nvPr/>
        </p:nvSpPr>
        <p:spPr>
          <a:xfrm xmlns:a="http://schemas.openxmlformats.org/drawingml/2006/main">
            <a:off x="78994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Critères et recette.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T02 et T07.</a:t>
            </a:r>
          </a:p>
        </p:txBody>
      </p:sp>
      <p:sp>
        <p:nvSpPr>
          <p:cNvPr id="12" name="">
            <a:extLst xmlns:a="http://schemas.openxmlformats.org/drawingml/2006/main">
              <a:ext uri="{FF2B5EF4-FFF2-40B4-BE49-F238E27FC236}">
                <a16:creationId xmlns:a16="http://schemas.microsoft.com/office/drawing/2014/main" id="{1153E1E0-5C13-46D3-8296-C088337C394F}"/>
              </a:ext>
            </a:extLst>
          </p:cNvPr>
          <p:cNvSpPr>
            <a:spLocks xmlns:a="http://schemas.openxmlformats.org/drawingml/2006/main" noGrp="1"/>
          </p:cNvSpPr>
          <p:nvPr/>
        </p:nvSpPr>
        <p:spPr>
          <a:xfrm xmlns:a="http://schemas.openxmlformats.org/drawingml/2006/main">
            <a:off x="685800" y="57531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Cas fictif : Camille est malentendante, les échanges sont adaptés.</a:t>
            </a:r>
          </a:p>
        </p:txBody>
      </p:sp>
    </p:spTree>
    <p:extLst>
      <p:ext uri="{BB962C8B-B14F-4D97-AF65-F5344CB8AC3E}">
        <p14:creationId xmlns:p14="http://schemas.microsoft.com/office/powerpoint/2010/main" val="1651819936"/>
      </p:ext>
    </p:extLst>
  </p:cSld>
</p:sld>
</file>

<file path=ppt/slides/slide7.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2BA689-C708-402D-A056-EB8B6E610FEB}"/>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Les causes des 5 heures supplémentaires</a:t>
            </a:r>
          </a:p>
        </p:txBody>
      </p:sp>
      <p:sp>
        <p:nvSpPr>
          <p:cNvPr id="2" name="">
            <a:extLst xmlns:a="http://schemas.openxmlformats.org/drawingml/2006/main">
              <a:ext uri="{FF2B5EF4-FFF2-40B4-BE49-F238E27FC236}">
                <a16:creationId xmlns:a16="http://schemas.microsoft.com/office/drawing/2014/main" id="{6C0556B0-062D-4F49-A055-33A7B5796648}"/>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simulation pédagogique    06:30 à 08:00    7</a:t>
            </a:r>
          </a:p>
        </p:txBody>
      </p:sp>
      <p:graphicFrame>
        <p:nvGraphicFramePr>
          <p:cNvPr id="10" name="Chart"/>
          <p:cNvGraphicFramePr/>
          <p:nvPr/>
        </p:nvGraphicFramePr>
        <p:xfrm>
          <a:off xmlns:a="http://schemas.openxmlformats.org/drawingml/2006/main" x="647700" y="1714500"/>
          <a:ext xmlns:a="http://schemas.openxmlformats.org/drawingml/2006/main" cx="7620000" cy="3810000"/>
        </p:xfrm>
        <a:graphic xmlns:a="http://schemas.openxmlformats.org/drawingml/2006/main">
          <a:graphicData uri="http://schemas.openxmlformats.org/drawingml/2006/chart">
            <c:chart xmlns:r="http://schemas.openxmlformats.org/officeDocument/2006/relationships" xmlns:c="http://schemas.openxmlformats.org/drawingml/2006/chart" r:id="R7631bbcaea5a4236"/>
          </a:graphicData>
        </a:graphic>
      </p:graphicFrame>
      <p:sp>
        <p:nvSpPr>
          <p:cNvPr id="4" name="">
            <a:extLst xmlns:a="http://schemas.openxmlformats.org/drawingml/2006/main">
              <a:ext uri="{FF2B5EF4-FFF2-40B4-BE49-F238E27FC236}">
                <a16:creationId xmlns:a16="http://schemas.microsoft.com/office/drawing/2014/main" id="{F6D809A3-CAE3-4EBB-A5B0-CF64BAE60BBF}"/>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+5 h</a:t>
            </a:r>
          </a:p>
        </p:txBody>
      </p:sp>
      <p:sp>
        <p:nvSpPr>
          <p:cNvPr id="5" name="">
            <a:extLst xmlns:a="http://schemas.openxmlformats.org/drawingml/2006/main">
              <a:ext uri="{FF2B5EF4-FFF2-40B4-BE49-F238E27FC236}">
                <a16:creationId xmlns:a16="http://schemas.microsoft.com/office/drawing/2014/main" id="{B6E25B21-AABD-4C39-8596-7A89FCF5B722}"/>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Écart de charge</a:t>
            </a:r>
          </a:p>
        </p:txBody>
      </p:sp>
      <p:sp>
        <p:nvSpPr>
          <p:cNvPr id="6" name="">
            <a:extLst xmlns:a="http://schemas.openxmlformats.org/drawingml/2006/main">
              <a:ext uri="{FF2B5EF4-FFF2-40B4-BE49-F238E27FC236}">
                <a16:creationId xmlns:a16="http://schemas.microsoft.com/office/drawing/2014/main" id="{4D6EE94E-3CF2-4D55-BC7F-7BD29A8ADA90}"/>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Événements : J11 à J12</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Recette : J13 à J14</a:t>
            </a:r>
          </a:p>
        </p:txBody>
      </p:sp>
      <p:sp>
        <p:nvSpPr>
          <p:cNvPr id="7" name="">
            <a:extLst xmlns:a="http://schemas.openxmlformats.org/drawingml/2006/main">
              <a:ext uri="{FF2B5EF4-FFF2-40B4-BE49-F238E27FC236}">
                <a16:creationId xmlns:a16="http://schemas.microsoft.com/office/drawing/2014/main" id="{C5447E0A-AE31-4CEC-8759-81F7E620B917}"/>
              </a:ext>
            </a:extLst>
          </p:cNvPr>
          <p:cNvSpPr>
            <a:spLocks xmlns:a="http://schemas.openxmlformats.org/drawingml/2006/main" noGrp="1"/>
          </p:cNvSpPr>
          <p:nvPr/>
        </p:nvSpPr>
        <p:spPr>
          <a:xfrm xmlns:a="http://schemas.openxmlformats.org/drawingml/2006/main">
            <a:off x="685800" y="57816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T06 : +1 jour. T07 : +1 jour. La charge et le délai se distinguent.</a:t>
            </a:r>
          </a:p>
        </p:txBody>
      </p:sp>
    </p:spTree>
    <p:extLst>
      <p:ext uri="{BB962C8B-B14F-4D97-AF65-F5344CB8AC3E}">
        <p14:creationId xmlns:p14="http://schemas.microsoft.com/office/powerpoint/2010/main" val="379821396"/>
      </p:ext>
    </p:extLst>
  </p:cSld>
</p:sld>
</file>

<file path=ppt/slides/slide8.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B0A0C7-7233-4B7B-B181-0826DD9A3DD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budget du lot de démonstration</a:t>
            </a:r>
          </a:p>
        </p:txBody>
      </p:sp>
      <p:sp>
        <p:nvSpPr>
          <p:cNvPr id="2" name="">
            <a:extLst xmlns:a="http://schemas.openxmlformats.org/drawingml/2006/main">
              <a:ext uri="{FF2B5EF4-FFF2-40B4-BE49-F238E27FC236}">
                <a16:creationId xmlns:a16="http://schemas.microsoft.com/office/drawing/2014/main" id="{EB51B68F-76F2-4017-9199-A89D2C098725}"/>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montants fictifs en euros    08:00 à 09:30    8</a:t>
            </a:r>
          </a:p>
        </p:txBody>
      </p:sp>
      <p:graphicFrame>
        <p:nvGraphicFramePr>
          <p:cNvPr id="10" name="Chart"/>
          <p:cNvGraphicFramePr/>
          <p:nvPr/>
        </p:nvGraphicFramePr>
        <p:xfrm>
          <a:off xmlns:a="http://schemas.openxmlformats.org/drawingml/2006/main" x="647700" y="17145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6c968fe6b03b4f4f"/>
          </a:graphicData>
        </a:graphic>
      </p:graphicFrame>
      <p:sp>
        <p:nvSpPr>
          <p:cNvPr id="4" name="">
            <a:extLst xmlns:a="http://schemas.openxmlformats.org/drawingml/2006/main">
              <a:ext uri="{FF2B5EF4-FFF2-40B4-BE49-F238E27FC236}">
                <a16:creationId xmlns:a16="http://schemas.microsoft.com/office/drawing/2014/main" id="{0405A327-385B-453C-BDB3-9CD53C426E18}"/>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232 €</a:t>
            </a:r>
          </a:p>
        </p:txBody>
      </p:sp>
      <p:sp>
        <p:nvSpPr>
          <p:cNvPr id="5" name="">
            <a:extLst xmlns:a="http://schemas.openxmlformats.org/drawingml/2006/main">
              <a:ext uri="{FF2B5EF4-FFF2-40B4-BE49-F238E27FC236}">
                <a16:creationId xmlns:a16="http://schemas.microsoft.com/office/drawing/2014/main" id="{5F86B85A-7E47-4946-ADE2-241F3E2886F4}"/>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Marge du lot</a:t>
            </a:r>
          </a:p>
        </p:txBody>
      </p:sp>
      <p:sp>
        <p:nvSpPr>
          <p:cNvPr id="6" name="">
            <a:extLst xmlns:a="http://schemas.openxmlformats.org/drawingml/2006/main">
              <a:ext uri="{FF2B5EF4-FFF2-40B4-BE49-F238E27FC236}">
                <a16:creationId xmlns:a16="http://schemas.microsoft.com/office/drawing/2014/main" id="{98DD903D-3039-4481-8B05-4ED7D135310D}"/>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195 € au-dessus</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de sa référence.</a:t>
            </a:r>
          </a:p>
        </p:txBody>
      </p:sp>
      <p:sp>
        <p:nvSpPr>
          <p:cNvPr id="7" name="">
            <a:extLst xmlns:a="http://schemas.openxmlformats.org/drawingml/2006/main">
              <a:ext uri="{FF2B5EF4-FFF2-40B4-BE49-F238E27FC236}">
                <a16:creationId xmlns:a16="http://schemas.microsoft.com/office/drawing/2014/main" id="{C0D73476-1ADE-4555-92B5-4EF27BF26B03}"/>
              </a:ext>
            </a:extLst>
          </p:cNvPr>
          <p:cNvSpPr>
            <a:spLocks xmlns:a="http://schemas.openxmlformats.org/drawingml/2006/main" noGrp="1"/>
          </p:cNvSpPr>
          <p:nvPr/>
        </p:nvSpPr>
        <p:spPr>
          <a:xfrm xmlns:a="http://schemas.openxmlformats.org/drawingml/2006/main">
            <a:off x="685800" y="58102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Budget global B1 : 44 250 €. Suivi du lot distinct.</a:t>
            </a:r>
          </a:p>
        </p:txBody>
      </p:sp>
    </p:spTree>
    <p:extLst>
      <p:ext uri="{BB962C8B-B14F-4D97-AF65-F5344CB8AC3E}">
        <p14:creationId xmlns:p14="http://schemas.microsoft.com/office/powerpoint/2010/main" val="1505250394"/>
      </p:ext>
    </p:extLst>
  </p:cSld>
</p:sld>
</file>

<file path=ppt/slides/slide9.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096F44-2CBB-442A-BE2D-0B21A3930D00}"/>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chef de projet approche sa limite</a:t>
            </a:r>
          </a:p>
        </p:txBody>
      </p:sp>
      <p:sp>
        <p:nvSpPr>
          <p:cNvPr id="2" name="">
            <a:extLst xmlns:a="http://schemas.openxmlformats.org/drawingml/2006/main">
              <a:ext uri="{FF2B5EF4-FFF2-40B4-BE49-F238E27FC236}">
                <a16:creationId xmlns:a16="http://schemas.microsoft.com/office/drawing/2014/main" id="{6144753E-F869-4D12-B18B-797A5E37A5DC}"/>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simulation pédagogique    09:30 à 10:30    9</a:t>
            </a:r>
          </a:p>
        </p:txBody>
      </p:sp>
      <p:graphicFrame>
        <p:nvGraphicFramePr>
          <p:cNvPr id="10" name="Chart"/>
          <p:cNvGraphicFramePr/>
          <p:nvPr/>
        </p:nvGraphicFramePr>
        <p:xfrm>
          <a:off xmlns:a="http://schemas.openxmlformats.org/drawingml/2006/main" x="666750" y="1762125"/>
          <a:ext xmlns:a="http://schemas.openxmlformats.org/drawingml/2006/main" cx="7667625" cy="4000500"/>
        </p:xfrm>
        <a:graphic xmlns:a="http://schemas.openxmlformats.org/drawingml/2006/main">
          <a:graphicData uri="http://schemas.openxmlformats.org/drawingml/2006/chart">
            <c:chart xmlns:r="http://schemas.openxmlformats.org/officeDocument/2006/relationships" xmlns:c="http://schemas.openxmlformats.org/drawingml/2006/chart" r:id="Re8be49956d0943a5"/>
          </a:graphicData>
        </a:graphic>
      </p:graphicFrame>
      <p:sp>
        <p:nvSpPr>
          <p:cNvPr id="4" name="">
            <a:extLst xmlns:a="http://schemas.openxmlformats.org/drawingml/2006/main">
              <a:ext uri="{FF2B5EF4-FFF2-40B4-BE49-F238E27FC236}">
                <a16:creationId xmlns:a16="http://schemas.microsoft.com/office/drawing/2014/main" id="{5945EB04-B463-4978-AD46-2FBFB1424786}"/>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1 h</a:t>
            </a:r>
          </a:p>
        </p:txBody>
      </p:sp>
      <p:sp>
        <p:nvSpPr>
          <p:cNvPr id="5" name="">
            <a:extLst xmlns:a="http://schemas.openxmlformats.org/drawingml/2006/main">
              <a:ext uri="{FF2B5EF4-FFF2-40B4-BE49-F238E27FC236}">
                <a16:creationId xmlns:a16="http://schemas.microsoft.com/office/drawing/2014/main" id="{557D4785-D91A-43FF-B405-7D352FF6C982}"/>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Marge du CP</a:t>
            </a:r>
          </a:p>
        </p:txBody>
      </p:sp>
      <p:sp>
        <p:nvSpPr>
          <p:cNvPr id="6" name="">
            <a:extLst xmlns:a="http://schemas.openxmlformats.org/drawingml/2006/main">
              <a:ext uri="{FF2B5EF4-FFF2-40B4-BE49-F238E27FC236}">
                <a16:creationId xmlns:a16="http://schemas.microsoft.com/office/drawing/2014/main" id="{81D57CB1-DB15-494F-93DA-56EA0F2C9E89}"/>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Alerte au-delà de 90 %.</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CP atteint 96,7 %.</a:t>
            </a:r>
          </a:p>
        </p:txBody>
      </p:sp>
      <p:sp>
        <p:nvSpPr>
          <p:cNvPr id="7" name="">
            <a:extLst xmlns:a="http://schemas.openxmlformats.org/drawingml/2006/main">
              <a:ext uri="{FF2B5EF4-FFF2-40B4-BE49-F238E27FC236}">
                <a16:creationId xmlns:a16="http://schemas.microsoft.com/office/drawing/2014/main" id="{679185AF-C3C4-4601-85FC-253E731F17AE}"/>
              </a:ext>
            </a:extLst>
          </p:cNvPr>
          <p:cNvSpPr>
            <a:spLocks xmlns:a="http://schemas.openxmlformats.org/drawingml/2006/main" noGrp="1"/>
          </p:cNvSpPr>
          <p:nvPr/>
        </p:nvSpPr>
        <p:spPr>
          <a:xfrm xmlns:a="http://schemas.openxmlformats.org/drawingml/2006/main">
            <a:off x="685800" y="58674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Limiter les demandes. Protéger les créneaux d’arbitrage.</a:t>
            </a:r>
          </a:p>
        </p:txBody>
      </p:sp>
    </p:spTree>
    <p:extLst>
      <p:ext uri="{BB962C8B-B14F-4D97-AF65-F5344CB8AC3E}">
        <p14:creationId xmlns:p14="http://schemas.microsoft.com/office/powerpoint/2010/main" val="55610776"/>
      </p:ext>
    </p:extLst>
  </p:cSld>
</p:sld>
</file>

<file path=ppt/slides/slide10.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7B45452-0F1E-4EA6-9A8E-89DD1361223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Des risques qui déclenchent une action</a:t>
            </a:r>
          </a:p>
        </p:txBody>
      </p:sp>
      <p:sp>
        <p:nvSpPr>
          <p:cNvPr id="2" name="">
            <a:extLst xmlns:a="http://schemas.openxmlformats.org/drawingml/2006/main">
              <a:ext uri="{FF2B5EF4-FFF2-40B4-BE49-F238E27FC236}">
                <a16:creationId xmlns:a16="http://schemas.microsoft.com/office/drawing/2014/main" id="{3FCAA354-E4D0-431D-97DE-CB864C96C7ED}"/>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extrait du registre fictif    10:30 à 11:30    10</a:t>
            </a:r>
          </a:p>
        </p:txBody>
      </p:sp>
      <p:graphicFrame>
        <p:nvGraphicFramePr>
          <p:cNvPr id="16" name=""/>
          <p:cNvGraphicFramePr/>
          <p:nvPr/>
        </p:nvGraphicFramePr>
        <p:xfrm>
          <a:off xmlns:a="http://schemas.openxmlformats.org/drawingml/2006/main" x="1333500" y="2047875"/>
          <a:ext xmlns:a="http://schemas.openxmlformats.org/drawingml/2006/main" cx="5286375" cy="3143250"/>
        </p:xfrm>
        <a:graphic xmlns:a="http://schemas.openxmlformats.org/drawingml/2006/main">
          <a:graphicData uri="http://schemas.openxmlformats.org/drawingml/2006/table">
            <a:tbl>
              <a:tblPr/>
              <a:tblGrid>
                <a:gridCol w="1762125"/>
                <a:gridCol w="1762125"/>
                <a:gridCol w="1762125"/>
              </a:tblGrid>
              <a:tr h="1047750">
                <a:tc>
                  <a:txBody>
                    <a:bodyPr/>
                    <a:lstStyle/>
                    <a:p>
                      <a:r>
                        <a:rPr sz="1950" b="1">
                          <a:solidFill>
                            <a:srgbClr val="18312D"/>
                          </a:solidFill>
                          <a:latin typeface="Arial"/>
                          <a:ea typeface="Arial"/>
                          <a:cs typeface="Arial"/>
                        </a:rPr>
                        <a:t/>
                      </a:r>
                    </a:p>
                  </a:txBody>
                  <a:tcPr marL="91440" marR="91440" marT="45720" marB="45720">
                    <a:solidFill>
                      <a:srgbClr val="D6DDAD"/>
                    </a:solidFill>
                  </a:tcPr>
                </a:tc>
                <a:tc>
                  <a:txBody>
                    <a:bodyPr/>
                    <a:lstStyle/>
                    <a:p>
                      <a:r>
                        <a:rPr sz="1950" b="1">
                          <a:solidFill>
                            <a:srgbClr val="18312D"/>
                          </a:solidFill>
                          <a:latin typeface="Arial"/>
                          <a:ea typeface="Arial"/>
                          <a:cs typeface="Arial"/>
                        </a:rPr>
                        <a:t/>
                      </a:r>
                    </a:p>
                  </a:txBody>
                  <a:tcPr marL="91440" marR="91440" marT="45720" marB="45720">
                    <a:solidFill>
                      <a:srgbClr val="E6B08D"/>
                    </a:solidFill>
                  </a:tcPr>
                </a:tc>
                <a:tc>
                  <a:txBody>
                    <a:bodyPr/>
                    <a:lstStyle/>
                    <a:p>
                      <a:r>
                        <a:rPr sz="1950" b="1">
                          <a:solidFill>
                            <a:srgbClr val="18312D"/>
                          </a:solidFill>
                          <a:latin typeface="Arial"/>
                          <a:ea typeface="Arial"/>
                          <a:cs typeface="Arial"/>
                        </a:rPr>
                        <a:t>R01</a:t>
                      </a:r>
                    </a:p>
                  </a:txBody>
                  <a:tcPr marL="91440" marR="91440" marT="45720" marB="45720">
                    <a:solidFill>
                      <a:srgbClr val="E6B08D"/>
                    </a:solidFill>
                  </a:tcPr>
                </a:tc>
              </a:tr>
              <a:tr h="1047750">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D6DDAD"/>
                    </a:solidFill>
                  </a:tcPr>
                </a:tc>
                <a:tc>
                  <a:txBody>
                    <a:bodyPr/>
                    <a:lstStyle/>
                    <a:p>
                      <a:r>
                        <a:rPr sz="1950" b="1">
                          <a:solidFill>
                            <a:srgbClr val="18312D"/>
                          </a:solidFill>
                          <a:latin typeface="Arial"/>
                          <a:ea typeface="Arial"/>
                          <a:cs typeface="Arial"/>
                        </a:rPr>
                        <a:t>R02  R03</a:t>
                      </a:r>
                    </a:p>
                    <a:p>
                      <a:r>
                        <a:rPr sz="1950" b="1">
                          <a:solidFill>
                            <a:srgbClr val="18312D"/>
                          </a:solidFill>
                          <a:latin typeface="Arial"/>
                          <a:ea typeface="Arial"/>
                          <a:cs typeface="Arial"/>
                        </a:rPr>
                        <a:t>R04  R05</a:t>
                      </a:r>
                    </a:p>
                  </a:txBody>
                  <a:tcPr marL="91440" marR="91440" marT="45720" marB="45720">
                    <a:solidFill>
                      <a:srgbClr val="E6B08D"/>
                    </a:solidFill>
                  </a:tcPr>
                </a:tc>
              </a:tr>
              <a:tr h="1047750">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D6DDAD"/>
                    </a:solidFill>
                  </a:tcPr>
                </a:tc>
              </a:tr>
            </a:tbl>
          </a:graphicData>
        </a:graphic>
      </p:graphicFrame>
      <p:sp>
        <p:nvSpPr>
          <p:cNvPr id="4" name="">
            <a:extLst xmlns:a="http://schemas.openxmlformats.org/drawingml/2006/main">
              <a:ext uri="{FF2B5EF4-FFF2-40B4-BE49-F238E27FC236}">
                <a16:creationId xmlns:a16="http://schemas.microsoft.com/office/drawing/2014/main" id="{1A8BDBC0-78EC-4D18-8DA2-D92F19BD0347}"/>
              </a:ext>
            </a:extLst>
          </p:cNvPr>
          <p:cNvSpPr>
            <a:spLocks xmlns:a="http://schemas.openxmlformats.org/drawingml/2006/main" noGrp="1"/>
          </p:cNvSpPr>
          <p:nvPr/>
        </p:nvSpPr>
        <p:spPr>
          <a:xfrm xmlns:a="http://schemas.openxmlformats.org/drawingml/2006/main">
            <a:off x="666750" y="152400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12D"/>
                </a:solidFill>
                <a:latin typeface="Arial"/>
                <a:ea typeface="Arial"/>
                <a:cs typeface="Arial"/>
              </a:defRPr>
            </a:pPr>
            <a:r>
              <a:rPr sz="1800" b="1">
                <a:solidFill>
                  <a:srgbClr val="18312D"/>
                </a:solidFill>
                <a:latin typeface="Arial"/>
                <a:ea typeface="Arial"/>
                <a:cs typeface="Arial"/>
              </a:rPr>
              <a:t>Probabilité</a:t>
            </a:r>
          </a:p>
        </p:txBody>
      </p:sp>
      <p:sp>
        <p:nvSpPr>
          <p:cNvPr id="5" name="">
            <a:extLst xmlns:a="http://schemas.openxmlformats.org/drawingml/2006/main">
              <a:ext uri="{FF2B5EF4-FFF2-40B4-BE49-F238E27FC236}">
                <a16:creationId xmlns:a16="http://schemas.microsoft.com/office/drawing/2014/main" id="{3567F038-CD78-42BD-836A-19AFE10365AC}"/>
              </a:ext>
            </a:extLst>
          </p:cNvPr>
          <p:cNvSpPr>
            <a:spLocks xmlns:a="http://schemas.openxmlformats.org/drawingml/2006/main" noGrp="1"/>
          </p:cNvSpPr>
          <p:nvPr/>
        </p:nvSpPr>
        <p:spPr>
          <a:xfrm xmlns:a="http://schemas.openxmlformats.org/drawingml/2006/main">
            <a:off x="876300" y="23812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5305E136-503E-4952-AA93-E899697E6C8D}"/>
              </a:ext>
            </a:extLst>
          </p:cNvPr>
          <p:cNvSpPr>
            <a:spLocks xmlns:a="http://schemas.openxmlformats.org/drawingml/2006/main" noGrp="1"/>
          </p:cNvSpPr>
          <p:nvPr/>
        </p:nvSpPr>
        <p:spPr>
          <a:xfrm xmlns:a="http://schemas.openxmlformats.org/drawingml/2006/main">
            <a:off x="876300" y="34290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497F11D1-557A-4C54-BD3B-3D943AA910BE}"/>
              </a:ext>
            </a:extLst>
          </p:cNvPr>
          <p:cNvSpPr>
            <a:spLocks xmlns:a="http://schemas.openxmlformats.org/drawingml/2006/main" noGrp="1"/>
          </p:cNvSpPr>
          <p:nvPr/>
        </p:nvSpPr>
        <p:spPr>
          <a:xfrm xmlns:a="http://schemas.openxmlformats.org/drawingml/2006/main">
            <a:off x="876300" y="4476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FDAA9673-3972-43AF-B10A-FA927F748CCC}"/>
              </a:ext>
            </a:extLst>
          </p:cNvPr>
          <p:cNvSpPr>
            <a:spLocks xmlns:a="http://schemas.openxmlformats.org/drawingml/2006/main" noGrp="1"/>
          </p:cNvSpPr>
          <p:nvPr/>
        </p:nvSpPr>
        <p:spPr>
          <a:xfrm xmlns:a="http://schemas.openxmlformats.org/drawingml/2006/main">
            <a:off x="1371600" y="5505450"/>
            <a:ext cx="114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12D"/>
                </a:solidFill>
                <a:latin typeface="Arial"/>
                <a:ea typeface="Arial"/>
                <a:cs typeface="Arial"/>
              </a:defRPr>
            </a:pPr>
            <a:r>
              <a:rPr sz="1800" b="1">
                <a:solidFill>
                  <a:srgbClr val="18312D"/>
                </a:solidFill>
                <a:latin typeface="Arial"/>
                <a:ea typeface="Arial"/>
                <a:cs typeface="Arial"/>
              </a:rPr>
              <a:t>Impact</a:t>
            </a:r>
          </a:p>
        </p:txBody>
      </p:sp>
      <p:sp>
        <p:nvSpPr>
          <p:cNvPr id="9" name="">
            <a:extLst xmlns:a="http://schemas.openxmlformats.org/drawingml/2006/main">
              <a:ext uri="{FF2B5EF4-FFF2-40B4-BE49-F238E27FC236}">
                <a16:creationId xmlns:a16="http://schemas.microsoft.com/office/drawing/2014/main" id="{161EC0C0-D240-425E-9564-0D07F5700059}"/>
              </a:ext>
            </a:extLst>
          </p:cNvPr>
          <p:cNvSpPr>
            <a:spLocks xmlns:a="http://schemas.openxmlformats.org/drawingml/2006/main" noGrp="1"/>
          </p:cNvSpPr>
          <p:nvPr/>
        </p:nvSpPr>
        <p:spPr>
          <a:xfrm xmlns:a="http://schemas.openxmlformats.org/drawingml/2006/main">
            <a:off x="2076450"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3A9C132C-290E-4BCA-BB44-F3073EFB5462}"/>
              </a:ext>
            </a:extLst>
          </p:cNvPr>
          <p:cNvSpPr>
            <a:spLocks xmlns:a="http://schemas.openxmlformats.org/drawingml/2006/main" noGrp="1"/>
          </p:cNvSpPr>
          <p:nvPr/>
        </p:nvSpPr>
        <p:spPr>
          <a:xfrm xmlns:a="http://schemas.openxmlformats.org/drawingml/2006/main">
            <a:off x="3838575"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B6120B4A-5EAE-4FEE-A38D-210CE97EB6CC}"/>
              </a:ext>
            </a:extLst>
          </p:cNvPr>
          <p:cNvSpPr>
            <a:spLocks xmlns:a="http://schemas.openxmlformats.org/drawingml/2006/main" noGrp="1"/>
          </p:cNvSpPr>
          <p:nvPr/>
        </p:nvSpPr>
        <p:spPr>
          <a:xfrm xmlns:a="http://schemas.openxmlformats.org/drawingml/2006/main">
            <a:off x="5600700"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D3DAFC61-CECF-4C9F-8785-B45302BF0C36}"/>
              </a:ext>
            </a:extLst>
          </p:cNvPr>
          <p:cNvSpPr>
            <a:spLocks xmlns:a="http://schemas.openxmlformats.org/drawingml/2006/main" noGrp="1"/>
          </p:cNvSpPr>
          <p:nvPr/>
        </p:nvSpPr>
        <p:spPr>
          <a:xfrm xmlns:a="http://schemas.openxmlformats.org/drawingml/2006/main">
            <a:off x="7296150" y="1981200"/>
            <a:ext cx="428625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R01  Démonstration</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R02  Charge du CP</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R03  Périmètre</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R04  Inscriptions</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R05  Dépôt</a:t>
            </a:r>
          </a:p>
        </p:txBody>
      </p:sp>
      <p:sp>
        <p:nvSpPr>
          <p:cNvPr id="13" name="">
            <a:extLst xmlns:a="http://schemas.openxmlformats.org/drawingml/2006/main">
              <a:ext uri="{FF2B5EF4-FFF2-40B4-BE49-F238E27FC236}">
                <a16:creationId xmlns:a16="http://schemas.microsoft.com/office/drawing/2014/main" id="{25F9E3F6-74F2-4DA2-AFD7-863895EA7D93}"/>
              </a:ext>
            </a:extLst>
          </p:cNvPr>
          <p:cNvSpPr>
            <a:spLocks xmlns:a="http://schemas.openxmlformats.org/drawingml/2006/main" noGrp="1"/>
          </p:cNvSpPr>
          <p:nvPr/>
        </p:nvSpPr>
        <p:spPr>
          <a:xfrm xmlns:a="http://schemas.openxmlformats.org/drawingml/2006/main">
            <a:off x="7296150" y="5067300"/>
            <a:ext cx="4286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8725F"/>
                </a:solidFill>
                <a:latin typeface="Arial"/>
                <a:ea typeface="Arial"/>
                <a:cs typeface="Arial"/>
              </a:defRPr>
            </a:pPr>
            <a:r>
              <a:rPr sz="1950" b="0">
                <a:solidFill>
                  <a:srgbClr val="28725F"/>
                </a:solidFill>
                <a:latin typeface="Arial"/>
                <a:ea typeface="Arial"/>
                <a:cs typeface="Arial"/>
              </a:rPr>
              <a:t>Responsable, déclencheur</a:t>
            </a:r>
          </a:p>
          <a:p xmlns:a="http://schemas.openxmlformats.org/drawingml/2006/main">
            <a:pPr>
              <a:defRPr sz="1950" b="0">
                <a:solidFill>
                  <a:srgbClr val="28725F"/>
                </a:solidFill>
                <a:latin typeface="Arial"/>
                <a:ea typeface="Arial"/>
                <a:cs typeface="Arial"/>
              </a:defRPr>
            </a:pPr>
            <a:r>
              <a:rPr sz="1950" b="0">
                <a:solidFill>
                  <a:srgbClr val="28725F"/>
                </a:solidFill>
                <a:latin typeface="Arial"/>
                <a:ea typeface="Arial"/>
                <a:cs typeface="Arial"/>
              </a:rPr>
              <a:t>et réponse pour chaque risque.</a:t>
            </a:r>
          </a:p>
        </p:txBody>
      </p:sp>
    </p:spTree>
    <p:extLst>
      <p:ext uri="{BB962C8B-B14F-4D97-AF65-F5344CB8AC3E}">
        <p14:creationId xmlns:p14="http://schemas.microsoft.com/office/powerpoint/2010/main" val="1661470066"/>
      </p:ext>
    </p:extLst>
  </p:cSld>
</p:sld>
</file>

<file path=ppt/slides/slide11.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71960E3-64B5-4675-8EF9-5A2B5E0C5D59}"/>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choix du build standalone</a:t>
            </a:r>
          </a:p>
        </p:txBody>
      </p:sp>
      <p:sp>
        <p:nvSpPr>
          <p:cNvPr id="2" name="">
            <a:extLst xmlns:a="http://schemas.openxmlformats.org/drawingml/2006/main">
              <a:ext uri="{FF2B5EF4-FFF2-40B4-BE49-F238E27FC236}">
                <a16:creationId xmlns:a16="http://schemas.microsoft.com/office/drawing/2014/main" id="{D66B0B95-A296-4058-8B9F-9959CAEF1B83}"/>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C3.2.2, fait Git et analyse rétrospective    11:30 à 13:30    11</a:t>
            </a:r>
          </a:p>
        </p:txBody>
      </p:sp>
      <p:sp>
        <p:nvSpPr>
          <p:cNvPr id="3" name="">
            <a:extLst xmlns:a="http://schemas.openxmlformats.org/drawingml/2006/main">
              <a:ext uri="{FF2B5EF4-FFF2-40B4-BE49-F238E27FC236}">
                <a16:creationId xmlns:a16="http://schemas.microsoft.com/office/drawing/2014/main" id="{B24F6C12-DEDE-443C-BD9C-574BD69185A0}"/>
              </a:ext>
            </a:extLst>
          </p:cNvPr>
          <p:cNvSpPr>
            <a:spLocks xmlns:a="http://schemas.openxmlformats.org/drawingml/2006/main" noGrp="1"/>
          </p:cNvSpPr>
          <p:nvPr/>
        </p:nvSpPr>
        <p:spPr>
          <a:xfrm xmlns:a="http://schemas.openxmlformats.org/drawingml/2006/main">
            <a:off x="6858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750732A-7F6F-41C4-93DE-0CE4AAA35420}"/>
              </a:ext>
            </a:extLst>
          </p:cNvPr>
          <p:cNvSpPr>
            <a:spLocks xmlns:a="http://schemas.openxmlformats.org/drawingml/2006/main" noGrp="1"/>
          </p:cNvSpPr>
          <p:nvPr/>
        </p:nvSpPr>
        <p:spPr>
          <a:xfrm xmlns:a="http://schemas.openxmlformats.org/drawingml/2006/main">
            <a:off x="6858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Retries</a:t>
            </a:r>
          </a:p>
        </p:txBody>
      </p:sp>
      <p:sp>
        <p:nvSpPr>
          <p:cNvPr id="5" name="">
            <a:extLst xmlns:a="http://schemas.openxmlformats.org/drawingml/2006/main">
              <a:ext uri="{FF2B5EF4-FFF2-40B4-BE49-F238E27FC236}">
                <a16:creationId xmlns:a16="http://schemas.microsoft.com/office/drawing/2014/main" id="{BF4F739B-DBA1-4B94-875E-734A0AB69876}"/>
              </a:ext>
            </a:extLst>
          </p:cNvPr>
          <p:cNvSpPr>
            <a:spLocks xmlns:a="http://schemas.openxmlformats.org/drawingml/2006/main" noGrp="1"/>
          </p:cNvSpPr>
          <p:nvPr/>
        </p:nvSpPr>
        <p:spPr>
          <a:xfrm xmlns:a="http://schemas.openxmlformats.org/drawingml/2006/main">
            <a:off x="6858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Plus de temps.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Cause possiblement masquée.</a:t>
            </a:r>
          </a:p>
        </p:txBody>
      </p:sp>
      <p:sp>
        <p:nvSpPr>
          <p:cNvPr id="6" name="">
            <a:extLst xmlns:a="http://schemas.openxmlformats.org/drawingml/2006/main">
              <a:ext uri="{FF2B5EF4-FFF2-40B4-BE49-F238E27FC236}">
                <a16:creationId xmlns:a16="http://schemas.microsoft.com/office/drawing/2014/main" id="{061E363B-958B-4003-94FB-7A63C4EC72AB}"/>
              </a:ext>
            </a:extLst>
          </p:cNvPr>
          <p:cNvSpPr>
            <a:spLocks xmlns:a="http://schemas.openxmlformats.org/drawingml/2006/main" noGrp="1"/>
          </p:cNvSpPr>
          <p:nvPr/>
        </p:nvSpPr>
        <p:spPr>
          <a:xfrm xmlns:a="http://schemas.openxmlformats.org/drawingml/2006/main">
            <a:off x="42926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E49BC25D-1CF2-4EA2-A73E-D4DCCD78D298}"/>
              </a:ext>
            </a:extLst>
          </p:cNvPr>
          <p:cNvSpPr>
            <a:spLocks xmlns:a="http://schemas.openxmlformats.org/drawingml/2006/main" noGrp="1"/>
          </p:cNvSpPr>
          <p:nvPr/>
        </p:nvSpPr>
        <p:spPr>
          <a:xfrm xmlns:a="http://schemas.openxmlformats.org/drawingml/2006/main">
            <a:off x="42926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Préchauffage</a:t>
            </a:r>
          </a:p>
        </p:txBody>
      </p:sp>
      <p:sp>
        <p:nvSpPr>
          <p:cNvPr id="8" name="">
            <a:extLst xmlns:a="http://schemas.openxmlformats.org/drawingml/2006/main">
              <a:ext uri="{FF2B5EF4-FFF2-40B4-BE49-F238E27FC236}">
                <a16:creationId xmlns:a16="http://schemas.microsoft.com/office/drawing/2014/main" id="{4C3021E1-0B94-4431-8FF7-62BE8B12AB06}"/>
              </a:ext>
            </a:extLst>
          </p:cNvPr>
          <p:cNvSpPr>
            <a:spLocks xmlns:a="http://schemas.openxmlformats.org/drawingml/2006/main" noGrp="1"/>
          </p:cNvSpPr>
          <p:nvPr/>
        </p:nvSpPr>
        <p:spPr>
          <a:xfrm xmlns:a="http://schemas.openxmlformats.org/drawingml/2006/main">
            <a:off x="42926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Compilations réduites.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Routes à préparer.</a:t>
            </a:r>
          </a:p>
        </p:txBody>
      </p:sp>
      <p:sp>
        <p:nvSpPr>
          <p:cNvPr id="9" name="">
            <a:extLst xmlns:a="http://schemas.openxmlformats.org/drawingml/2006/main">
              <a:ext uri="{FF2B5EF4-FFF2-40B4-BE49-F238E27FC236}">
                <a16:creationId xmlns:a16="http://schemas.microsoft.com/office/drawing/2014/main" id="{F1D23E18-B175-4375-8EAE-B7ACEAC26DF4}"/>
              </a:ext>
            </a:extLst>
          </p:cNvPr>
          <p:cNvSpPr>
            <a:spLocks xmlns:a="http://schemas.openxmlformats.org/drawingml/2006/main" noGrp="1"/>
          </p:cNvSpPr>
          <p:nvPr/>
        </p:nvSpPr>
        <p:spPr>
          <a:xfrm xmlns:a="http://schemas.openxmlformats.org/drawingml/2006/main">
            <a:off x="78994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8C334345-AB30-4A0B-998C-30BC9835AD2C}"/>
              </a:ext>
            </a:extLst>
          </p:cNvPr>
          <p:cNvSpPr>
            <a:spLocks xmlns:a="http://schemas.openxmlformats.org/drawingml/2006/main" noGrp="1"/>
          </p:cNvSpPr>
          <p:nvPr/>
        </p:nvSpPr>
        <p:spPr>
          <a:xfrm xmlns:a="http://schemas.openxmlformats.org/drawingml/2006/main">
            <a:off x="78994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Standalone</a:t>
            </a:r>
          </a:p>
        </p:txBody>
      </p:sp>
      <p:sp>
        <p:nvSpPr>
          <p:cNvPr id="11" name="">
            <a:extLst xmlns:a="http://schemas.openxmlformats.org/drawingml/2006/main">
              <a:ext uri="{FF2B5EF4-FFF2-40B4-BE49-F238E27FC236}">
                <a16:creationId xmlns:a16="http://schemas.microsoft.com/office/drawing/2014/main" id="{14BB158B-7118-46BB-AAA5-A901A1825A07}"/>
              </a:ext>
            </a:extLst>
          </p:cNvPr>
          <p:cNvSpPr>
            <a:spLocks xmlns:a="http://schemas.openxmlformats.org/drawingml/2006/main" noGrp="1"/>
          </p:cNvSpPr>
          <p:nvPr/>
        </p:nvSpPr>
        <p:spPr>
          <a:xfrm xmlns:a="http://schemas.openxmlformats.org/drawingml/2006/main">
            <a:off x="78994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Un test proche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du livrable.</a:t>
            </a:r>
          </a:p>
        </p:txBody>
      </p:sp>
      <p:sp>
        <p:nvSpPr>
          <p:cNvPr id="12" name="">
            <a:extLst xmlns:a="http://schemas.openxmlformats.org/drawingml/2006/main">
              <a:ext uri="{FF2B5EF4-FFF2-40B4-BE49-F238E27FC236}">
                <a16:creationId xmlns:a16="http://schemas.microsoft.com/office/drawing/2014/main" id="{B198ABAB-9846-4CDD-8EC0-4B00A7D563B2}"/>
              </a:ext>
            </a:extLst>
          </p:cNvPr>
          <p:cNvSpPr>
            <a:spLocks xmlns:a="http://schemas.openxmlformats.org/drawingml/2006/main" noGrp="1"/>
          </p:cNvSpPr>
          <p:nvPr/>
        </p:nvSpPr>
        <p:spPr>
          <a:xfrm xmlns:a="http://schemas.openxmlformats.org/drawingml/2006/main">
            <a:off x="685800" y="58102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Choix visible dans Git : 689e59d, 20 juillet 2026.</a:t>
            </a:r>
          </a:p>
        </p:txBody>
      </p:sp>
    </p:spTree>
    <p:extLst>
      <p:ext uri="{BB962C8B-B14F-4D97-AF65-F5344CB8AC3E}">
        <p14:creationId xmlns:p14="http://schemas.microsoft.com/office/powerpoint/2010/main" val="1169849675"/>
      </p:ext>
    </p:extLst>
  </p:cSld>
</p:sld>
</file>

<file path=ppt/slides/slide1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EBCE1A8-4BE0-4507-B01F-F0CB48D3F739}"/>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Une demande qui dépasse le lot</a:t>
            </a:r>
          </a:p>
        </p:txBody>
      </p:sp>
      <p:sp>
        <p:nvSpPr>
          <p:cNvPr id="2" name="">
            <a:extLst xmlns:a="http://schemas.openxmlformats.org/drawingml/2006/main">
              <a:ext uri="{FF2B5EF4-FFF2-40B4-BE49-F238E27FC236}">
                <a16:creationId xmlns:a16="http://schemas.microsoft.com/office/drawing/2014/main" id="{59058B14-6C3C-41DA-8526-03402592F863}"/>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C3.2.2, demande fictive à J10    13:30 à 15:00    12</a:t>
            </a:r>
          </a:p>
        </p:txBody>
      </p:sp>
      <p:graphicFrame>
        <p:nvGraphicFramePr>
          <p:cNvPr id="9" name="Chart"/>
          <p:cNvGraphicFramePr/>
          <p:nvPr/>
        </p:nvGraphicFramePr>
        <p:xfrm>
          <a:off xmlns:a="http://schemas.openxmlformats.org/drawingml/2006/main" x="647700" y="17145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a9197df4c1c74a0f"/>
          </a:graphicData>
        </a:graphic>
      </p:graphicFrame>
      <p:sp>
        <p:nvSpPr>
          <p:cNvPr id="4" name="">
            <a:extLst xmlns:a="http://schemas.openxmlformats.org/drawingml/2006/main">
              <a:ext uri="{FF2B5EF4-FFF2-40B4-BE49-F238E27FC236}">
                <a16:creationId xmlns:a16="http://schemas.microsoft.com/office/drawing/2014/main" id="{9FD8651F-B430-479C-A12C-65B44A05D221}"/>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Report</a:t>
            </a:r>
          </a:p>
        </p:txBody>
      </p:sp>
      <p:sp>
        <p:nvSpPr>
          <p:cNvPr id="5" name="">
            <a:extLst xmlns:a="http://schemas.openxmlformats.org/drawingml/2006/main">
              <a:ext uri="{FF2B5EF4-FFF2-40B4-BE49-F238E27FC236}">
                <a16:creationId xmlns:a16="http://schemas.microsoft.com/office/drawing/2014/main" id="{A7EC7BEC-33E6-437B-90D7-76A704016FAD}"/>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Décision du cas</a:t>
            </a:r>
          </a:p>
        </p:txBody>
      </p:sp>
      <p:sp>
        <p:nvSpPr>
          <p:cNvPr id="6" name="">
            <a:extLst xmlns:a="http://schemas.openxmlformats.org/drawingml/2006/main">
              <a:ext uri="{FF2B5EF4-FFF2-40B4-BE49-F238E27FC236}">
                <a16:creationId xmlns:a16="http://schemas.microsoft.com/office/drawing/2014/main" id="{30B090E1-699E-4329-864D-5438EE2C6144}"/>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Ajout au lot : +540 €</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DEV : 76 h / 72 h</a:t>
            </a:r>
          </a:p>
        </p:txBody>
      </p:sp>
    </p:spTree>
    <p:extLst>
      <p:ext uri="{BB962C8B-B14F-4D97-AF65-F5344CB8AC3E}">
        <p14:creationId xmlns:p14="http://schemas.microsoft.com/office/powerpoint/2010/main" val="1767740575"/>
      </p:ext>
    </p:extLst>
  </p:cSld>
</p:sld>
</file>

<file path=ppt/slides/slide1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B1F2303-8754-489F-BD9F-74DC683D13CE}"/>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Des styles adaptés à la situation</a:t>
            </a:r>
          </a:p>
        </p:txBody>
      </p:sp>
      <p:sp>
        <p:nvSpPr>
          <p:cNvPr id="2" name="">
            <a:extLst xmlns:a="http://schemas.openxmlformats.org/drawingml/2006/main">
              <a:ext uri="{FF2B5EF4-FFF2-40B4-BE49-F238E27FC236}">
                <a16:creationId xmlns:a16="http://schemas.microsoft.com/office/drawing/2014/main" id="{9567B5A7-5A05-4F36-AEB8-DAD31C288E9A}"/>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C3.3.1, situation managériale fictive    15:00 à 16:30    13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779a7dfda2248ac"/>
          <a:stretch xmlns:a="http://schemas.openxmlformats.org/drawingml/2006/main"/>
        </p:blipFill>
        <p:spPr>
          <a:xfrm xmlns:a="http://schemas.openxmlformats.org/drawingml/2006/main">
            <a:off x="3607594" y="2095500"/>
            <a:ext cx="4786313" cy="3190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6F6936E-A14E-4E49-959A-60DDC8102386}"/>
              </a:ext>
            </a:extLst>
          </p:cNvPr>
          <p:cNvSpPr>
            <a:spLocks xmlns:a="http://schemas.openxmlformats.org/drawingml/2006/main" noGrp="1"/>
          </p:cNvSpPr>
          <p:nvPr/>
        </p:nvSpPr>
        <p:spPr>
          <a:xfrm xmlns:a="http://schemas.openxmlformats.org/drawingml/2006/main">
            <a:off x="685800" y="1885950"/>
            <a:ext cx="2714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Participatif</a:t>
            </a:r>
          </a:p>
        </p:txBody>
      </p:sp>
      <p:sp>
        <p:nvSpPr>
          <p:cNvPr id="5" name="">
            <a:extLst xmlns:a="http://schemas.openxmlformats.org/drawingml/2006/main">
              <a:ext uri="{FF2B5EF4-FFF2-40B4-BE49-F238E27FC236}">
                <a16:creationId xmlns:a16="http://schemas.microsoft.com/office/drawing/2014/main" id="{0E99341C-9B92-429E-87D6-C08F8C6E3DCC}"/>
              </a:ext>
            </a:extLst>
          </p:cNvPr>
          <p:cNvSpPr>
            <a:spLocks xmlns:a="http://schemas.openxmlformats.org/drawingml/2006/main" noGrp="1"/>
          </p:cNvSpPr>
          <p:nvPr/>
        </p:nvSpPr>
        <p:spPr>
          <a:xfrm xmlns:a="http://schemas.openxmlformats.org/drawingml/2006/main">
            <a:off x="685800" y="2419350"/>
            <a:ext cx="2781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Comparer les options.</a:t>
            </a:r>
          </a:p>
        </p:txBody>
      </p:sp>
      <p:sp>
        <p:nvSpPr>
          <p:cNvPr id="6" name="">
            <a:extLst xmlns:a="http://schemas.openxmlformats.org/drawingml/2006/main">
              <a:ext uri="{FF2B5EF4-FFF2-40B4-BE49-F238E27FC236}">
                <a16:creationId xmlns:a16="http://schemas.microsoft.com/office/drawing/2014/main" id="{6F4BD92C-C591-4CE5-87E1-758506C55E9B}"/>
              </a:ext>
            </a:extLst>
          </p:cNvPr>
          <p:cNvSpPr>
            <a:spLocks xmlns:a="http://schemas.openxmlformats.org/drawingml/2006/main" noGrp="1"/>
          </p:cNvSpPr>
          <p:nvPr/>
        </p:nvSpPr>
        <p:spPr>
          <a:xfrm xmlns:a="http://schemas.openxmlformats.org/drawingml/2006/main">
            <a:off x="685800" y="3848100"/>
            <a:ext cx="2714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Persuasif</a:t>
            </a:r>
          </a:p>
        </p:txBody>
      </p:sp>
      <p:sp>
        <p:nvSpPr>
          <p:cNvPr id="7" name="">
            <a:extLst xmlns:a="http://schemas.openxmlformats.org/drawingml/2006/main">
              <a:ext uri="{FF2B5EF4-FFF2-40B4-BE49-F238E27FC236}">
                <a16:creationId xmlns:a16="http://schemas.microsoft.com/office/drawing/2014/main" id="{B381FD4F-2ABA-4144-A710-7939B84C77EF}"/>
              </a:ext>
            </a:extLst>
          </p:cNvPr>
          <p:cNvSpPr>
            <a:spLocks xmlns:a="http://schemas.openxmlformats.org/drawingml/2006/main" noGrp="1"/>
          </p:cNvSpPr>
          <p:nvPr/>
        </p:nvSpPr>
        <p:spPr>
          <a:xfrm xmlns:a="http://schemas.openxmlformats.org/drawingml/2006/main">
            <a:off x="685800" y="4381500"/>
            <a:ext cx="2781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Expliquer le report.</a:t>
            </a:r>
          </a:p>
        </p:txBody>
      </p:sp>
      <p:sp>
        <p:nvSpPr>
          <p:cNvPr id="8" name="">
            <a:extLst xmlns:a="http://schemas.openxmlformats.org/drawingml/2006/main">
              <a:ext uri="{FF2B5EF4-FFF2-40B4-BE49-F238E27FC236}">
                <a16:creationId xmlns:a16="http://schemas.microsoft.com/office/drawing/2014/main" id="{45717C3F-09A2-4636-B8B3-302CFFA6998A}"/>
              </a:ext>
            </a:extLst>
          </p:cNvPr>
          <p:cNvSpPr>
            <a:spLocks xmlns:a="http://schemas.openxmlformats.org/drawingml/2006/main" noGrp="1"/>
          </p:cNvSpPr>
          <p:nvPr/>
        </p:nvSpPr>
        <p:spPr>
          <a:xfrm xmlns:a="http://schemas.openxmlformats.org/drawingml/2006/main">
            <a:off x="8963025" y="1885950"/>
            <a:ext cx="2638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Directif</a:t>
            </a:r>
          </a:p>
        </p:txBody>
      </p:sp>
      <p:sp>
        <p:nvSpPr>
          <p:cNvPr id="9" name="">
            <a:extLst xmlns:a="http://schemas.openxmlformats.org/drawingml/2006/main">
              <a:ext uri="{FF2B5EF4-FFF2-40B4-BE49-F238E27FC236}">
                <a16:creationId xmlns:a16="http://schemas.microsoft.com/office/drawing/2014/main" id="{9F948802-4655-4DC0-9FE7-0A72AC14BAD4}"/>
              </a:ext>
            </a:extLst>
          </p:cNvPr>
          <p:cNvSpPr>
            <a:spLocks xmlns:a="http://schemas.openxmlformats.org/drawingml/2006/main" noGrp="1"/>
          </p:cNvSpPr>
          <p:nvPr/>
        </p:nvSpPr>
        <p:spPr>
          <a:xfrm xmlns:a="http://schemas.openxmlformats.org/drawingml/2006/main">
            <a:off x="8963025" y="2419350"/>
            <a:ext cx="26384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Fixer les critères</a:t>
            </a:r>
          </a:p>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de livraison.</a:t>
            </a:r>
          </a:p>
        </p:txBody>
      </p:sp>
      <p:sp>
        <p:nvSpPr>
          <p:cNvPr id="10" name="">
            <a:extLst xmlns:a="http://schemas.openxmlformats.org/drawingml/2006/main">
              <a:ext uri="{FF2B5EF4-FFF2-40B4-BE49-F238E27FC236}">
                <a16:creationId xmlns:a16="http://schemas.microsoft.com/office/drawing/2014/main" id="{B86062C8-A2CE-4A3C-AD34-717C31B59BD2}"/>
              </a:ext>
            </a:extLst>
          </p:cNvPr>
          <p:cNvSpPr>
            <a:spLocks xmlns:a="http://schemas.openxmlformats.org/drawingml/2006/main" noGrp="1"/>
          </p:cNvSpPr>
          <p:nvPr/>
        </p:nvSpPr>
        <p:spPr>
          <a:xfrm xmlns:a="http://schemas.openxmlformats.org/drawingml/2006/main">
            <a:off x="8963025" y="3848100"/>
            <a:ext cx="2638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Délégatif</a:t>
            </a:r>
          </a:p>
        </p:txBody>
      </p:sp>
      <p:sp>
        <p:nvSpPr>
          <p:cNvPr id="11" name="">
            <a:extLst xmlns:a="http://schemas.openxmlformats.org/drawingml/2006/main">
              <a:ext uri="{FF2B5EF4-FFF2-40B4-BE49-F238E27FC236}">
                <a16:creationId xmlns:a16="http://schemas.microsoft.com/office/drawing/2014/main" id="{B0B4DEA7-ADF4-414C-8514-310608F4BD80}"/>
              </a:ext>
            </a:extLst>
          </p:cNvPr>
          <p:cNvSpPr>
            <a:spLocks xmlns:a="http://schemas.openxmlformats.org/drawingml/2006/main" noGrp="1"/>
          </p:cNvSpPr>
          <p:nvPr/>
        </p:nvSpPr>
        <p:spPr>
          <a:xfrm xmlns:a="http://schemas.openxmlformats.org/drawingml/2006/main">
            <a:off x="8963025" y="4381500"/>
            <a:ext cx="26384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Confier un résultat</a:t>
            </a:r>
          </a:p>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et un contrôle.</a:t>
            </a:r>
          </a:p>
        </p:txBody>
      </p:sp>
      <p:sp>
        <p:nvSpPr>
          <p:cNvPr id="12" name="">
            <a:extLst xmlns:a="http://schemas.openxmlformats.org/drawingml/2006/main">
              <a:ext uri="{FF2B5EF4-FFF2-40B4-BE49-F238E27FC236}">
                <a16:creationId xmlns:a16="http://schemas.microsoft.com/office/drawing/2014/main" id="{4D37F50D-E178-498F-87CC-7E6B0DC22114}"/>
              </a:ext>
            </a:extLst>
          </p:cNvPr>
          <p:cNvSpPr>
            <a:spLocks xmlns:a="http://schemas.openxmlformats.org/drawingml/2006/main" noGrp="1"/>
          </p:cNvSpPr>
          <p:nvPr/>
        </p:nvSpPr>
        <p:spPr>
          <a:xfrm xmlns:a="http://schemas.openxmlformats.org/drawingml/2006/main">
            <a:off x="685800" y="57912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Rétro J15 : un constat, une action, un responsable.</a:t>
            </a:r>
          </a:p>
        </p:txBody>
      </p:sp>
    </p:spTree>
    <p:extLst>
      <p:ext uri="{BB962C8B-B14F-4D97-AF65-F5344CB8AC3E}">
        <p14:creationId xmlns:p14="http://schemas.microsoft.com/office/powerpoint/2010/main" val="811382841"/>
      </p:ext>
    </p:extLst>
  </p:cSld>
</p:sld>
</file>

<file path=ppt/slides/slide1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C0AB4F-EBDB-4953-A8BF-0799E04D4848}"/>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Camille et une équipe à distance</a:t>
            </a:r>
          </a:p>
        </p:txBody>
      </p:sp>
      <p:sp>
        <p:nvSpPr>
          <p:cNvPr id="2" name="">
            <a:extLst xmlns:a="http://schemas.openxmlformats.org/drawingml/2006/main">
              <a:ext uri="{FF2B5EF4-FFF2-40B4-BE49-F238E27FC236}">
                <a16:creationId xmlns:a16="http://schemas.microsoft.com/office/drawing/2014/main" id="{D4798C8A-AD5E-47D7-B69B-7B409649302C}"/>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C3.3.1, handicap et contexte international simulés    16:30 à 18:00    14</a:t>
            </a:r>
          </a:p>
        </p:txBody>
      </p:sp>
      <p:sp>
        <p:nvSpPr>
          <p:cNvPr id="3" name="">
            <a:extLst xmlns:a="http://schemas.openxmlformats.org/drawingml/2006/main">
              <a:ext uri="{FF2B5EF4-FFF2-40B4-BE49-F238E27FC236}">
                <a16:creationId xmlns:a16="http://schemas.microsoft.com/office/drawing/2014/main" id="{1B6EB3E8-2CDE-485E-82BD-B3B5602D9166}"/>
              </a:ext>
            </a:extLst>
          </p:cNvPr>
          <p:cNvSpPr>
            <a:spLocks xmlns:a="http://schemas.openxmlformats.org/drawingml/2006/main" noGrp="1"/>
          </p:cNvSpPr>
          <p:nvPr/>
        </p:nvSpPr>
        <p:spPr>
          <a:xfrm xmlns:a="http://schemas.openxmlformats.org/drawingml/2006/main">
            <a:off x="685800" y="1476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7068"/>
                </a:solidFill>
                <a:latin typeface="Arial"/>
                <a:ea typeface="Arial"/>
                <a:cs typeface="Arial"/>
              </a:defRPr>
            </a:pPr>
            <a:r>
              <a:rPr sz="2025" b="0">
                <a:solidFill>
                  <a:srgbClr val="5D7068"/>
                </a:solidFill>
                <a:latin typeface="Arial"/>
                <a:ea typeface="Arial"/>
                <a:cs typeface="Arial"/>
              </a:rPr>
              <a:t>Camille, QA malentendante. Équipe fictive Paris / Montréal.</a:t>
            </a:r>
          </a:p>
        </p:txBody>
      </p:sp>
      <p:graphicFrame>
        <p:nvGraphicFramePr>
          <p:cNvPr id="11" name=""/>
          <p:cNvGraphicFramePr/>
          <p:nvPr/>
        </p:nvGraphicFramePr>
        <p:xfrm>
          <a:off xmlns:a="http://schemas.openxmlformats.org/drawingml/2006/main" x="609600" y="2095500"/>
          <a:ext xmlns:a="http://schemas.openxmlformats.org/drawingml/2006/main" cx="10972800" cy="2514600"/>
        </p:xfrm>
        <a:graphic xmlns:a="http://schemas.openxmlformats.org/drawingml/2006/main">
          <a:graphicData uri="http://schemas.openxmlformats.org/drawingml/2006/table">
            <a:tbl>
              <a:tblPr/>
              <a:tblGrid>
                <a:gridCol w="2571750"/>
                <a:gridCol w="8401050"/>
              </a:tblGrid>
              <a:tr h="628650">
                <a:tc>
                  <a:txBody>
                    <a:bodyPr/>
                    <a:lstStyle/>
                    <a:p>
                      <a:r>
                        <a:rPr sz="1800" b="1">
                          <a:solidFill>
                            <a:srgbClr val="FFFFFF"/>
                          </a:solidFill>
                          <a:latin typeface="Arial"/>
                          <a:ea typeface="Arial"/>
                          <a:cs typeface="Arial"/>
                        </a:rPr>
                        <a:t>Situation</a:t>
                      </a:r>
                    </a:p>
                  </a:txBody>
                  <a:tcPr marL="91440" marR="91440" marT="45720" marB="45720">
                    <a:solidFill>
                      <a:srgbClr val="28725F"/>
                    </a:solidFill>
                  </a:tcPr>
                </a:tc>
                <a:tc>
                  <a:txBody>
                    <a:bodyPr/>
                    <a:lstStyle/>
                    <a:p>
                      <a:r>
                        <a:rPr sz="1800" b="1">
                          <a:solidFill>
                            <a:srgbClr val="FFFFFF"/>
                          </a:solidFill>
                          <a:latin typeface="Arial"/>
                          <a:ea typeface="Arial"/>
                          <a:cs typeface="Arial"/>
                        </a:rPr>
                        <a:t>Aménagement retenu</a:t>
                      </a:r>
                    </a:p>
                  </a:txBody>
                  <a:tcPr marL="91440" marR="91440" marT="45720" marB="45720">
                    <a:solidFill>
                      <a:srgbClr val="28725F"/>
                    </a:solidFill>
                  </a:tcPr>
                </a:tc>
              </a:tr>
              <a:tr h="628650">
                <a:tc>
                  <a:txBody>
                    <a:bodyPr/>
                    <a:lstStyle/>
                    <a:p>
                      <a:r>
                        <a:rPr sz="1800" b="0">
                          <a:solidFill>
                            <a:srgbClr val="18312D"/>
                          </a:solidFill>
                          <a:latin typeface="Arial"/>
                          <a:ea typeface="Arial"/>
                          <a:cs typeface="Arial"/>
                        </a:rPr>
                        <a:t>Réunions</a:t>
                      </a:r>
                    </a:p>
                  </a:txBody>
                  <a:tcPr marL="91440" marR="91440" marT="45720" marB="45720">
                    <a:solidFill>
                      <a:srgbClr val="E9EEE4"/>
                    </a:solidFill>
                  </a:tcPr>
                </a:tc>
                <a:tc>
                  <a:txBody>
                    <a:bodyPr/>
                    <a:lstStyle/>
                    <a:p>
                      <a:r>
                        <a:rPr sz="1800" b="0">
                          <a:solidFill>
                            <a:srgbClr val="18312D"/>
                          </a:solidFill>
                          <a:latin typeface="Arial"/>
                          <a:ea typeface="Arial"/>
                          <a:cs typeface="Arial"/>
                        </a:rPr>
                        <a:t>Sous-titres testés, une personne parle à la fois.</a:t>
                      </a:r>
                    </a:p>
                  </a:txBody>
                  <a:tcPr marL="91440" marR="91440" marT="45720" marB="45720">
                    <a:solidFill>
                      <a:srgbClr val="E9EEE4"/>
                    </a:solidFill>
                  </a:tcPr>
                </a:tc>
              </a:tr>
              <a:tr h="628650">
                <a:tc>
                  <a:txBody>
                    <a:bodyPr/>
                    <a:lstStyle/>
                    <a:p>
                      <a:r>
                        <a:rPr sz="1800" b="0">
                          <a:solidFill>
                            <a:srgbClr val="18312D"/>
                          </a:solidFill>
                          <a:latin typeface="Arial"/>
                          <a:ea typeface="Arial"/>
                          <a:cs typeface="Arial"/>
                        </a:rPr>
                        <a:t>Décisions</a:t>
                      </a:r>
                    </a:p>
                  </a:txBody>
                  <a:tcPr marL="91440" marR="91440" marT="45720" marB="45720">
                    <a:solidFill>
                      <a:srgbClr val="F5F3EA"/>
                    </a:solidFill>
                  </a:tcPr>
                </a:tc>
                <a:tc>
                  <a:txBody>
                    <a:bodyPr/>
                    <a:lstStyle/>
                    <a:p>
                      <a:r>
                        <a:rPr sz="1800" b="0">
                          <a:solidFill>
                            <a:srgbClr val="18312D"/>
                          </a:solidFill>
                          <a:latin typeface="Arial"/>
                          <a:ea typeface="Arial"/>
                          <a:cs typeface="Arial"/>
                        </a:rPr>
                        <a:t>Synthèse écrite avec responsable et échéance.</a:t>
                      </a:r>
                    </a:p>
                  </a:txBody>
                  <a:tcPr marL="91440" marR="91440" marT="45720" marB="45720">
                    <a:solidFill>
                      <a:srgbClr val="F5F3EA"/>
                    </a:solidFill>
                  </a:tcPr>
                </a:tc>
              </a:tr>
              <a:tr h="628650">
                <a:tc>
                  <a:txBody>
                    <a:bodyPr/>
                    <a:lstStyle/>
                    <a:p>
                      <a:r>
                        <a:rPr sz="1800" b="0">
                          <a:solidFill>
                            <a:srgbClr val="18312D"/>
                          </a:solidFill>
                          <a:latin typeface="Arial"/>
                          <a:ea typeface="Arial"/>
                          <a:cs typeface="Arial"/>
                        </a:rPr>
                        <a:t>Formation</a:t>
                      </a:r>
                    </a:p>
                  </a:txBody>
                  <a:tcPr marL="91440" marR="91440" marT="45720" marB="45720">
                    <a:solidFill>
                      <a:srgbClr val="E9EEE4"/>
                    </a:solidFill>
                  </a:tcPr>
                </a:tc>
                <a:tc>
                  <a:txBody>
                    <a:bodyPr/>
                    <a:lstStyle/>
                    <a:p>
                      <a:r>
                        <a:rPr sz="1800" b="0">
                          <a:solidFill>
                            <a:srgbClr val="18312D"/>
                          </a:solidFill>
                          <a:latin typeface="Arial"/>
                          <a:ea typeface="Arial"/>
                          <a:cs typeface="Arial"/>
                        </a:rPr>
                        <a:t>Consignes écrites, démonstration sous-titrée.</a:t>
                      </a:r>
                    </a:p>
                  </a:txBody>
                  <a:tcPr marL="91440" marR="91440" marT="45720" marB="45720">
                    <a:solidFill>
                      <a:srgbClr val="E9EEE4"/>
                    </a:solidFill>
                  </a:tcPr>
                </a:tc>
              </a:tr>
            </a:tbl>
          </a:graphicData>
        </a:graphic>
      </p:graphicFrame>
      <p:sp>
        <p:nvSpPr>
          <p:cNvPr id="5" name="">
            <a:extLst xmlns:a="http://schemas.openxmlformats.org/drawingml/2006/main">
              <a:ext uri="{FF2B5EF4-FFF2-40B4-BE49-F238E27FC236}">
                <a16:creationId xmlns:a16="http://schemas.microsoft.com/office/drawing/2014/main" id="{17126A06-4DF8-45AC-905E-788D0B156395}"/>
              </a:ext>
            </a:extLst>
          </p:cNvPr>
          <p:cNvSpPr>
            <a:spLocks xmlns:a="http://schemas.openxmlformats.org/drawingml/2006/main" noGrp="1"/>
          </p:cNvSpPr>
          <p:nvPr/>
        </p:nvSpPr>
        <p:spPr>
          <a:xfrm xmlns:a="http://schemas.openxmlformats.org/drawingml/2006/main">
            <a:off x="685800" y="48958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Paris / Montréal : avis écrits avant décision, glossaire FR/EN.</a:t>
            </a:r>
          </a:p>
        </p:txBody>
      </p:sp>
      <p:sp>
        <p:nvSpPr>
          <p:cNvPr id="6" name="">
            <a:extLst xmlns:a="http://schemas.openxmlformats.org/drawingml/2006/main">
              <a:ext uri="{FF2B5EF4-FFF2-40B4-BE49-F238E27FC236}">
                <a16:creationId xmlns:a16="http://schemas.microsoft.com/office/drawing/2014/main" id="{1ADE9156-C774-4410-8C33-30AC1F5A5EFD}"/>
              </a:ext>
            </a:extLst>
          </p:cNvPr>
          <p:cNvSpPr>
            <a:spLocks xmlns:a="http://schemas.openxmlformats.org/drawingml/2006/main" noGrp="1"/>
          </p:cNvSpPr>
          <p:nvPr/>
        </p:nvSpPr>
        <p:spPr>
          <a:xfrm xmlns:a="http://schemas.openxmlformats.org/drawingml/2006/main">
            <a:off x="685800" y="53149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Créneau commun avec fuseaux. Reformulation de l’action attendue.</a:t>
            </a:r>
          </a:p>
        </p:txBody>
      </p:sp>
      <p:sp>
        <p:nvSpPr>
          <p:cNvPr id="7" name="">
            <a:extLst xmlns:a="http://schemas.openxmlformats.org/drawingml/2006/main">
              <a:ext uri="{FF2B5EF4-FFF2-40B4-BE49-F238E27FC236}">
                <a16:creationId xmlns:a16="http://schemas.microsoft.com/office/drawing/2014/main" id="{8DAE27DB-1D3A-482A-B701-4F03B8EE7F35}"/>
              </a:ext>
            </a:extLst>
          </p:cNvPr>
          <p:cNvSpPr>
            <a:spLocks xmlns:a="http://schemas.openxmlformats.org/drawingml/2006/main" noGrp="1"/>
          </p:cNvSpPr>
          <p:nvPr/>
        </p:nvSpPr>
        <p:spPr>
          <a:xfrm xmlns:a="http://schemas.openxmlformats.org/drawingml/2006/main">
            <a:off x="685800" y="58578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J3 : comprendre. J10 : retrouver. J14 : réaliser sans aide.</a:t>
            </a:r>
          </a:p>
        </p:txBody>
      </p:sp>
    </p:spTree>
    <p:extLst>
      <p:ext uri="{BB962C8B-B14F-4D97-AF65-F5344CB8AC3E}">
        <p14:creationId xmlns:p14="http://schemas.microsoft.com/office/powerpoint/2010/main" val="1038239177"/>
      </p:ext>
    </p:extLst>
  </p:cSld>
</p:sld>
</file>

<file path=ppt/slides/slide1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B0706FA-999F-4BFE-BBB3-A66FEBF8569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grille des compétences du lot</a:t>
            </a:r>
          </a:p>
        </p:txBody>
      </p:sp>
      <p:sp>
        <p:nvSpPr>
          <p:cNvPr id="2" name="">
            <a:extLst xmlns:a="http://schemas.openxmlformats.org/drawingml/2006/main">
              <a:ext uri="{FF2B5EF4-FFF2-40B4-BE49-F238E27FC236}">
                <a16:creationId xmlns:a16="http://schemas.microsoft.com/office/drawing/2014/main" id="{320CE401-14A9-4E97-AAEA-1561D675BF6E}"/>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C3.3.2, niveaux hypothétiques du cas    18:00 à 19:00    15</a:t>
            </a:r>
          </a:p>
        </p:txBody>
      </p:sp>
      <p:graphicFrame>
        <p:nvGraphicFramePr>
          <p:cNvPr id="7" name=""/>
          <p:cNvGraphicFramePr/>
          <p:nvPr/>
        </p:nvGraphicFramePr>
        <p:xfrm>
          <a:off xmlns:a="http://schemas.openxmlformats.org/drawingml/2006/main" x="609600" y="1714500"/>
          <a:ext xmlns:a="http://schemas.openxmlformats.org/drawingml/2006/main" cx="10972800" cy="3943350"/>
        </p:xfrm>
        <a:graphic xmlns:a="http://schemas.openxmlformats.org/drawingml/2006/main">
          <a:graphicData uri="http://schemas.openxmlformats.org/drawingml/2006/table">
            <a:tbl>
              <a:tblPr/>
              <a:tblGrid>
                <a:gridCol w="1733550"/>
                <a:gridCol w="6191250"/>
                <a:gridCol w="1524000"/>
                <a:gridCol w="1524000"/>
              </a:tblGrid>
              <a:tr h="563336">
                <a:tc>
                  <a:txBody>
                    <a:bodyPr/>
                    <a:lstStyle/>
                    <a:p>
                      <a:r>
                        <a:rPr sz="1800" b="1">
                          <a:solidFill>
                            <a:srgbClr val="FFFFFF"/>
                          </a:solidFill>
                          <a:latin typeface="Arial"/>
                          <a:ea typeface="Arial"/>
                          <a:cs typeface="Arial"/>
                        </a:rPr>
                        <a:t>Rôle</a:t>
                      </a:r>
                    </a:p>
                  </a:txBody>
                  <a:tcPr marL="91440" marR="91440" marT="45720" marB="45720">
                    <a:solidFill>
                      <a:srgbClr val="28725F"/>
                    </a:solidFill>
                  </a:tcPr>
                </a:tc>
                <a:tc>
                  <a:txBody>
                    <a:bodyPr/>
                    <a:lstStyle/>
                    <a:p>
                      <a:r>
                        <a:rPr sz="1800" b="1">
                          <a:solidFill>
                            <a:srgbClr val="FFFFFF"/>
                          </a:solidFill>
                          <a:latin typeface="Arial"/>
                          <a:ea typeface="Arial"/>
                          <a:cs typeface="Arial"/>
                        </a:rPr>
                        <a:t>Compétence</a:t>
                      </a:r>
                    </a:p>
                  </a:txBody>
                  <a:tcPr marL="91440" marR="91440" marT="45720" marB="45720">
                    <a:solidFill>
                      <a:srgbClr val="28725F"/>
                    </a:solidFill>
                  </a:tcPr>
                </a:tc>
                <a:tc>
                  <a:txBody>
                    <a:bodyPr/>
                    <a:lstStyle/>
                    <a:p>
                      <a:r>
                        <a:rPr sz="1800" b="1">
                          <a:solidFill>
                            <a:srgbClr val="FFFFFF"/>
                          </a:solidFill>
                          <a:latin typeface="Arial"/>
                          <a:ea typeface="Arial"/>
                          <a:cs typeface="Arial"/>
                        </a:rPr>
                        <a:t>Actuel</a:t>
                      </a:r>
                    </a:p>
                  </a:txBody>
                  <a:tcPr marL="91440" marR="91440" marT="45720" marB="45720">
                    <a:solidFill>
                      <a:srgbClr val="28725F"/>
                    </a:solidFill>
                  </a:tcPr>
                </a:tc>
                <a:tc>
                  <a:txBody>
                    <a:bodyPr/>
                    <a:lstStyle/>
                    <a:p>
                      <a:r>
                        <a:rPr sz="1800" b="1">
                          <a:solidFill>
                            <a:srgbClr val="FFFFFF"/>
                          </a:solidFill>
                          <a:latin typeface="Arial"/>
                          <a:ea typeface="Arial"/>
                          <a:cs typeface="Arial"/>
                        </a:rPr>
                        <a:t>Cible</a:t>
                      </a:r>
                    </a:p>
                  </a:txBody>
                  <a:tcPr marL="91440" marR="91440" marT="45720" marB="45720">
                    <a:solidFill>
                      <a:srgbClr val="28725F"/>
                    </a:solidFill>
                  </a:tcPr>
                </a:tc>
              </a:tr>
              <a:tr h="563336">
                <a:tc>
                  <a:txBody>
                    <a:bodyPr/>
                    <a:lstStyle/>
                    <a:p>
                      <a:r>
                        <a:rPr sz="1800" b="0">
                          <a:solidFill>
                            <a:srgbClr val="18312D"/>
                          </a:solidFill>
                          <a:latin typeface="Arial"/>
                          <a:ea typeface="Arial"/>
                          <a:cs typeface="Arial"/>
                        </a:rPr>
                        <a:t>CP</a:t>
                      </a:r>
                    </a:p>
                  </a:txBody>
                  <a:tcPr marL="91440" marR="91440" marT="45720" marB="45720">
                    <a:solidFill>
                      <a:srgbClr val="E9EEE4"/>
                    </a:solidFill>
                  </a:tcPr>
                </a:tc>
                <a:tc>
                  <a:txBody>
                    <a:bodyPr/>
                    <a:lstStyle/>
                    <a:p>
                      <a:r>
                        <a:rPr sz="1800" b="0">
                          <a:solidFill>
                            <a:srgbClr val="18312D"/>
                          </a:solidFill>
                          <a:latin typeface="Arial"/>
                          <a:ea typeface="Arial"/>
                          <a:cs typeface="Arial"/>
                        </a:rPr>
                        <a:t>Planning et suivi des écarts</a:t>
                      </a:r>
                    </a:p>
                  </a:txBody>
                  <a:tcPr marL="91440" marR="91440" marT="45720" marB="45720">
                    <a:solidFill>
                      <a:srgbClr val="E9EEE4"/>
                    </a:solidFill>
                  </a:tcPr>
                </a:tc>
                <a:tc>
                  <a:txBody>
                    <a:bodyPr/>
                    <a:lstStyle/>
                    <a:p>
                      <a:r>
                        <a:rPr sz="1800" b="0">
                          <a:solidFill>
                            <a:srgbClr val="18312D"/>
                          </a:solidFill>
                          <a:latin typeface="Arial"/>
                          <a:ea typeface="Arial"/>
                          <a:cs typeface="Arial"/>
                        </a:rPr>
                        <a:t>1</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r>
              <a:tr h="563336">
                <a:tc>
                  <a:txBody>
                    <a:bodyPr/>
                    <a:lstStyle/>
                    <a:p>
                      <a:r>
                        <a:rPr sz="1800" b="0">
                          <a:solidFill>
                            <a:srgbClr val="18312D"/>
                          </a:solidFill>
                          <a:latin typeface="Arial"/>
                          <a:ea typeface="Arial"/>
                          <a:cs typeface="Arial"/>
                        </a:rPr>
                        <a:t>CP</a:t>
                      </a:r>
                    </a:p>
                  </a:txBody>
                  <a:tcPr marL="91440" marR="91440" marT="45720" marB="45720">
                    <a:solidFill>
                      <a:srgbClr val="F5F3EA"/>
                    </a:solidFill>
                  </a:tcPr>
                </a:tc>
                <a:tc>
                  <a:txBody>
                    <a:bodyPr/>
                    <a:lstStyle/>
                    <a:p>
                      <a:r>
                        <a:rPr sz="1800" b="0">
                          <a:solidFill>
                            <a:srgbClr val="18312D"/>
                          </a:solidFill>
                          <a:latin typeface="Arial"/>
                          <a:ea typeface="Arial"/>
                          <a:cs typeface="Arial"/>
                        </a:rPr>
                        <a:t>Animation et arbitrage</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r>
              <a:tr h="563336">
                <a:tc>
                  <a:txBody>
                    <a:bodyPr/>
                    <a:lstStyle/>
                    <a:p>
                      <a:r>
                        <a:rPr sz="1800" b="0">
                          <a:solidFill>
                            <a:srgbClr val="18312D"/>
                          </a:solidFill>
                          <a:latin typeface="Arial"/>
                          <a:ea typeface="Arial"/>
                          <a:cs typeface="Arial"/>
                        </a:rPr>
                        <a:t>DEV</a:t>
                      </a:r>
                    </a:p>
                  </a:txBody>
                  <a:tcPr marL="91440" marR="91440" marT="45720" marB="45720">
                    <a:solidFill>
                      <a:srgbClr val="E9EEE4"/>
                    </a:solidFill>
                  </a:tcPr>
                </a:tc>
                <a:tc>
                  <a:txBody>
                    <a:bodyPr/>
                    <a:lstStyle/>
                    <a:p>
                      <a:r>
                        <a:rPr sz="1800" b="0">
                          <a:solidFill>
                            <a:srgbClr val="18312D"/>
                          </a:solidFill>
                          <a:latin typeface="Arial"/>
                          <a:ea typeface="Arial"/>
                          <a:cs typeface="Arial"/>
                        </a:rPr>
                        <a:t>Développement typé et validation</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r>
              <a:tr h="563336">
                <a:tc>
                  <a:txBody>
                    <a:bodyPr/>
                    <a:lstStyle/>
                    <a:p>
                      <a:r>
                        <a:rPr sz="1800" b="0">
                          <a:solidFill>
                            <a:srgbClr val="18312D"/>
                          </a:solidFill>
                          <a:latin typeface="Arial"/>
                          <a:ea typeface="Arial"/>
                          <a:cs typeface="Arial"/>
                        </a:rPr>
                        <a:t>DEV</a:t>
                      </a:r>
                    </a:p>
                  </a:txBody>
                  <a:tcPr marL="91440" marR="91440" marT="45720" marB="45720">
                    <a:solidFill>
                      <a:srgbClr val="F5F3EA"/>
                    </a:solidFill>
                  </a:tcPr>
                </a:tc>
                <a:tc>
                  <a:txBody>
                    <a:bodyPr/>
                    <a:lstStyle/>
                    <a:p>
                      <a:r>
                        <a:rPr sz="1800" b="0">
                          <a:solidFill>
                            <a:srgbClr val="18312D"/>
                          </a:solidFill>
                          <a:latin typeface="Arial"/>
                          <a:ea typeface="Arial"/>
                          <a:cs typeface="Arial"/>
                        </a:rPr>
                        <a:t>Transactions et concurrence</a:t>
                      </a:r>
                    </a:p>
                  </a:txBody>
                  <a:tcPr marL="91440" marR="91440" marT="45720" marB="45720">
                    <a:solidFill>
                      <a:srgbClr val="F5F3EA"/>
                    </a:solidFill>
                  </a:tcPr>
                </a:tc>
                <a:tc>
                  <a:txBody>
                    <a:bodyPr/>
                    <a:lstStyle/>
                    <a:p>
                      <a:r>
                        <a:rPr sz="1800" b="0">
                          <a:solidFill>
                            <a:srgbClr val="18312D"/>
                          </a:solidFill>
                          <a:latin typeface="Arial"/>
                          <a:ea typeface="Arial"/>
                          <a:cs typeface="Arial"/>
                        </a:rPr>
                        <a:t>1</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r>
              <a:tr h="563336">
                <a:tc>
                  <a:txBody>
                    <a:bodyPr/>
                    <a:lstStyle/>
                    <a:p>
                      <a:r>
                        <a:rPr sz="1800" b="0">
                          <a:solidFill>
                            <a:srgbClr val="18312D"/>
                          </a:solidFill>
                          <a:latin typeface="Arial"/>
                          <a:ea typeface="Arial"/>
                          <a:cs typeface="Arial"/>
                        </a:rPr>
                        <a:t>Camille, QA</a:t>
                      </a:r>
                    </a:p>
                  </a:txBody>
                  <a:tcPr marL="91440" marR="91440" marT="45720" marB="45720">
                    <a:solidFill>
                      <a:srgbClr val="E9EEE4"/>
                    </a:solidFill>
                  </a:tcPr>
                </a:tc>
                <a:tc>
                  <a:txBody>
                    <a:bodyPr/>
                    <a:lstStyle/>
                    <a:p>
                      <a:r>
                        <a:rPr sz="1800" b="0">
                          <a:solidFill>
                            <a:srgbClr val="18312D"/>
                          </a:solidFill>
                          <a:latin typeface="Arial"/>
                          <a:ea typeface="Arial"/>
                          <a:cs typeface="Arial"/>
                        </a:rPr>
                        <a:t>Recette navigateur reproductible</a:t>
                      </a:r>
                    </a:p>
                  </a:txBody>
                  <a:tcPr marL="91440" marR="91440" marT="45720" marB="45720">
                    <a:solidFill>
                      <a:srgbClr val="E9EEE4"/>
                    </a:solidFill>
                  </a:tcPr>
                </a:tc>
                <a:tc>
                  <a:txBody>
                    <a:bodyPr/>
                    <a:lstStyle/>
                    <a:p>
                      <a:r>
                        <a:rPr sz="1800" b="0">
                          <a:solidFill>
                            <a:srgbClr val="18312D"/>
                          </a:solidFill>
                          <a:latin typeface="Arial"/>
                          <a:ea typeface="Arial"/>
                          <a:cs typeface="Arial"/>
                        </a:rPr>
                        <a:t>1</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r>
              <a:tr h="563336">
                <a:tc>
                  <a:txBody>
                    <a:bodyPr/>
                    <a:lstStyle/>
                    <a:p>
                      <a:r>
                        <a:rPr sz="1800" b="0">
                          <a:solidFill>
                            <a:srgbClr val="18312D"/>
                          </a:solidFill>
                          <a:latin typeface="Arial"/>
                          <a:ea typeface="Arial"/>
                          <a:cs typeface="Arial"/>
                        </a:rPr>
                        <a:t>Camille, QA</a:t>
                      </a:r>
                    </a:p>
                  </a:txBody>
                  <a:tcPr marL="91440" marR="91440" marT="45720" marB="45720">
                    <a:solidFill>
                      <a:srgbClr val="F5F3EA"/>
                    </a:solidFill>
                  </a:tcPr>
                </a:tc>
                <a:tc>
                  <a:txBody>
                    <a:bodyPr/>
                    <a:lstStyle/>
                    <a:p>
                      <a:r>
                        <a:rPr sz="1800" b="0">
                          <a:solidFill>
                            <a:srgbClr val="18312D"/>
                          </a:solidFill>
                          <a:latin typeface="Arial"/>
                          <a:ea typeface="Arial"/>
                          <a:cs typeface="Arial"/>
                        </a:rPr>
                        <a:t>Clavier et formulaires</a:t>
                      </a:r>
                    </a:p>
                  </a:txBody>
                  <a:tcPr marL="91440" marR="91440" marT="45720" marB="45720">
                    <a:solidFill>
                      <a:srgbClr val="F5F3EA"/>
                    </a:solidFill>
                  </a:tcPr>
                </a:tc>
                <a:tc>
                  <a:txBody>
                    <a:bodyPr/>
                    <a:lstStyle/>
                    <a:p>
                      <a:r>
                        <a:rPr sz="1800" b="0">
                          <a:solidFill>
                            <a:srgbClr val="18312D"/>
                          </a:solidFill>
                          <a:latin typeface="Arial"/>
                          <a:ea typeface="Arial"/>
                          <a:cs typeface="Arial"/>
                        </a:rPr>
                        <a:t>1</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r>
            </a:tbl>
          </a:graphicData>
        </a:graphic>
      </p:graphicFrame>
      <p:sp>
        <p:nvSpPr>
          <p:cNvPr id="4" name="">
            <a:extLst xmlns:a="http://schemas.openxmlformats.org/drawingml/2006/main">
              <a:ext uri="{FF2B5EF4-FFF2-40B4-BE49-F238E27FC236}">
                <a16:creationId xmlns:a16="http://schemas.microsoft.com/office/drawing/2014/main" id="{09742B34-A3B7-43F5-A57F-266230CE8F00}"/>
              </a:ext>
            </a:extLst>
          </p:cNvPr>
          <p:cNvSpPr>
            <a:spLocks xmlns:a="http://schemas.openxmlformats.org/drawingml/2006/main" noGrp="1"/>
          </p:cNvSpPr>
          <p:nvPr/>
        </p:nvSpPr>
        <p:spPr>
          <a:xfrm xmlns:a="http://schemas.openxmlformats.org/drawingml/2006/main">
            <a:off x="685800" y="59055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725F"/>
                </a:solidFill>
                <a:latin typeface="Arial"/>
                <a:ea typeface="Arial"/>
                <a:cs typeface="Arial"/>
              </a:defRPr>
            </a:pPr>
            <a:r>
              <a:rPr sz="1725" b="1">
                <a:solidFill>
                  <a:srgbClr val="28725F"/>
                </a:solidFill>
                <a:latin typeface="Arial"/>
                <a:ea typeface="Arial"/>
                <a:cs typeface="Arial"/>
              </a:rPr>
              <a:t>0 : non abordé. 1 : accompagné. 2 : autonome. 3 : cas complexes.</a:t>
            </a:r>
          </a:p>
        </p:txBody>
      </p:sp>
    </p:spTree>
    <p:extLst>
      <p:ext uri="{BB962C8B-B14F-4D97-AF65-F5344CB8AC3E}">
        <p14:creationId xmlns:p14="http://schemas.microsoft.com/office/powerpoint/2010/main" val="1682373075"/>
      </p:ext>
    </p:extLst>
  </p:cSld>
</p:sld>
</file>

<file path=ppt/slides/slide1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518A50-676D-4EC1-8689-4FF92526D747}"/>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 plan de formation pour chaque rôle</a:t>
            </a:r>
          </a:p>
        </p:txBody>
      </p:sp>
      <p:sp>
        <p:nvSpPr>
          <p:cNvPr id="2" name="">
            <a:extLst xmlns:a="http://schemas.openxmlformats.org/drawingml/2006/main">
              <a:ext uri="{FF2B5EF4-FFF2-40B4-BE49-F238E27FC236}">
                <a16:creationId xmlns:a16="http://schemas.microsoft.com/office/drawing/2014/main" id="{283AC15A-CADB-4F90-9DE3-48EF6F08715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C3.3.2, formations et besoin RH simulés    19:00 à 20:30    16</a:t>
            </a:r>
          </a:p>
        </p:txBody>
      </p:sp>
      <p:sp>
        <p:nvSpPr>
          <p:cNvPr id="3" name="">
            <a:extLst xmlns:a="http://schemas.openxmlformats.org/drawingml/2006/main">
              <a:ext uri="{FF2B5EF4-FFF2-40B4-BE49-F238E27FC236}">
                <a16:creationId xmlns:a16="http://schemas.microsoft.com/office/drawing/2014/main" id="{D3E5F667-8BB1-4388-8199-C63E808FF1BA}"/>
              </a:ext>
            </a:extLst>
          </p:cNvPr>
          <p:cNvSpPr>
            <a:spLocks xmlns:a="http://schemas.openxmlformats.org/drawingml/2006/main" noGrp="1"/>
          </p:cNvSpPr>
          <p:nvPr/>
        </p:nvSpPr>
        <p:spPr>
          <a:xfrm xmlns:a="http://schemas.openxmlformats.org/drawingml/2006/main">
            <a:off x="685800" y="14382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7068"/>
                </a:solidFill>
                <a:latin typeface="Arial"/>
                <a:ea typeface="Arial"/>
                <a:cs typeface="Arial"/>
              </a:defRPr>
            </a:pPr>
            <a:r>
              <a:rPr sz="2025" b="0">
                <a:solidFill>
                  <a:srgbClr val="5D7068"/>
                </a:solidFill>
                <a:latin typeface="Arial"/>
                <a:ea typeface="Arial"/>
                <a:cs typeface="Arial"/>
              </a:rPr>
              <a:t>6 h incluses dans les tâches. 60 € de ressources du cas.</a:t>
            </a:r>
          </a:p>
        </p:txBody>
      </p:sp>
      <p:graphicFrame>
        <p:nvGraphicFramePr>
          <p:cNvPr id="10" name=""/>
          <p:cNvGraphicFramePr/>
          <p:nvPr/>
        </p:nvGraphicFramePr>
        <p:xfrm>
          <a:off xmlns:a="http://schemas.openxmlformats.org/drawingml/2006/main" x="609600" y="2105025"/>
          <a:ext xmlns:a="http://schemas.openxmlformats.org/drawingml/2006/main" cx="10972800" cy="2781300"/>
        </p:xfrm>
        <a:graphic xmlns:a="http://schemas.openxmlformats.org/drawingml/2006/main">
          <a:graphicData uri="http://schemas.openxmlformats.org/drawingml/2006/table">
            <a:tbl>
              <a:tblPr/>
              <a:tblGrid>
                <a:gridCol w="2371725"/>
                <a:gridCol w="4324350"/>
                <a:gridCol w="4276725"/>
              </a:tblGrid>
              <a:tr h="695325">
                <a:tc>
                  <a:txBody>
                    <a:bodyPr/>
                    <a:lstStyle/>
                    <a:p>
                      <a:r>
                        <a:rPr sz="1800" b="1">
                          <a:solidFill>
                            <a:srgbClr val="FFFFFF"/>
                          </a:solidFill>
                          <a:latin typeface="Arial"/>
                          <a:ea typeface="Arial"/>
                          <a:cs typeface="Arial"/>
                        </a:rPr>
                        <a:t>Rôle et moment</a:t>
                      </a:r>
                    </a:p>
                  </a:txBody>
                  <a:tcPr marL="91440" marR="91440" marT="45720" marB="45720">
                    <a:solidFill>
                      <a:srgbClr val="28725F"/>
                    </a:solidFill>
                  </a:tcPr>
                </a:tc>
                <a:tc>
                  <a:txBody>
                    <a:bodyPr/>
                    <a:lstStyle/>
                    <a:p>
                      <a:r>
                        <a:rPr sz="1800" b="1">
                          <a:solidFill>
                            <a:srgbClr val="FFFFFF"/>
                          </a:solidFill>
                          <a:latin typeface="Arial"/>
                          <a:ea typeface="Arial"/>
                          <a:cs typeface="Arial"/>
                        </a:rPr>
                        <a:t>Atelier prévu</a:t>
                      </a:r>
                    </a:p>
                  </a:txBody>
                  <a:tcPr marL="91440" marR="91440" marT="45720" marB="45720">
                    <a:solidFill>
                      <a:srgbClr val="28725F"/>
                    </a:solidFill>
                  </a:tcPr>
                </a:tc>
                <a:tc>
                  <a:txBody>
                    <a:bodyPr/>
                    <a:lstStyle/>
                    <a:p>
                      <a:r>
                        <a:rPr sz="1800" b="1">
                          <a:solidFill>
                            <a:srgbClr val="FFFFFF"/>
                          </a:solidFill>
                          <a:latin typeface="Arial"/>
                          <a:ea typeface="Arial"/>
                          <a:cs typeface="Arial"/>
                        </a:rPr>
                        <a:t>Critère de réussite</a:t>
                      </a:r>
                    </a:p>
                  </a:txBody>
                  <a:tcPr marL="91440" marR="91440" marT="45720" marB="45720">
                    <a:solidFill>
                      <a:srgbClr val="28725F"/>
                    </a:solidFill>
                  </a:tcPr>
                </a:tc>
              </a:tr>
              <a:tr h="695325">
                <a:tc>
                  <a:txBody>
                    <a:bodyPr/>
                    <a:lstStyle/>
                    <a:p>
                      <a:r>
                        <a:rPr sz="1800" b="0">
                          <a:solidFill>
                            <a:srgbClr val="18312D"/>
                          </a:solidFill>
                          <a:latin typeface="Arial"/>
                          <a:ea typeface="Arial"/>
                          <a:cs typeface="Arial"/>
                        </a:rPr>
                        <a:t>CP, J3</a:t>
                      </a:r>
                    </a:p>
                  </a:txBody>
                  <a:tcPr marL="91440" marR="91440" marT="45720" marB="45720">
                    <a:solidFill>
                      <a:srgbClr val="E9EEE4"/>
                    </a:solidFill>
                  </a:tcPr>
                </a:tc>
                <a:tc>
                  <a:txBody>
                    <a:bodyPr/>
                    <a:lstStyle/>
                    <a:p>
                      <a:r>
                        <a:rPr sz="1800" b="0">
                          <a:solidFill>
                            <a:srgbClr val="18312D"/>
                          </a:solidFill>
                          <a:latin typeface="Arial"/>
                          <a:ea typeface="Arial"/>
                          <a:cs typeface="Arial"/>
                        </a:rPr>
                        <a:t>Tableau de bord : 1 h</a:t>
                      </a:r>
                    </a:p>
                  </a:txBody>
                  <a:tcPr marL="91440" marR="91440" marT="45720" marB="45720">
                    <a:solidFill>
                      <a:srgbClr val="E9EEE4"/>
                    </a:solidFill>
                  </a:tcPr>
                </a:tc>
                <a:tc>
                  <a:txBody>
                    <a:bodyPr/>
                    <a:lstStyle/>
                    <a:p>
                      <a:r>
                        <a:rPr sz="1800" b="0">
                          <a:solidFill>
                            <a:srgbClr val="18312D"/>
                          </a:solidFill>
                          <a:latin typeface="Arial"/>
                          <a:ea typeface="Arial"/>
                          <a:cs typeface="Arial"/>
                        </a:rPr>
                        <a:t>Expliquer un écart recalculé.</a:t>
                      </a:r>
                    </a:p>
                  </a:txBody>
                  <a:tcPr marL="91440" marR="91440" marT="45720" marB="45720">
                    <a:solidFill>
                      <a:srgbClr val="E9EEE4"/>
                    </a:solidFill>
                  </a:tcPr>
                </a:tc>
              </a:tr>
              <a:tr h="695325">
                <a:tc>
                  <a:txBody>
                    <a:bodyPr/>
                    <a:lstStyle/>
                    <a:p>
                      <a:r>
                        <a:rPr sz="1800" b="0">
                          <a:solidFill>
                            <a:srgbClr val="18312D"/>
                          </a:solidFill>
                          <a:latin typeface="Arial"/>
                          <a:ea typeface="Arial"/>
                          <a:cs typeface="Arial"/>
                        </a:rPr>
                        <a:t>DEV, J9-J12</a:t>
                      </a:r>
                    </a:p>
                  </a:txBody>
                  <a:tcPr marL="91440" marR="91440" marT="45720" marB="45720">
                    <a:solidFill>
                      <a:srgbClr val="F5F3EA"/>
                    </a:solidFill>
                  </a:tcPr>
                </a:tc>
                <a:tc>
                  <a:txBody>
                    <a:bodyPr/>
                    <a:lstStyle/>
                    <a:p>
                      <a:r>
                        <a:rPr sz="1800" b="0">
                          <a:solidFill>
                            <a:srgbClr val="18312D"/>
                          </a:solidFill>
                          <a:latin typeface="Arial"/>
                          <a:ea typeface="Arial"/>
                          <a:cs typeface="Arial"/>
                        </a:rPr>
                        <a:t>Concurrence : 2 h</a:t>
                      </a:r>
                    </a:p>
                  </a:txBody>
                  <a:tcPr marL="91440" marR="91440" marT="45720" marB="45720">
                    <a:solidFill>
                      <a:srgbClr val="F5F3EA"/>
                    </a:solidFill>
                  </a:tcPr>
                </a:tc>
                <a:tc>
                  <a:txBody>
                    <a:bodyPr/>
                    <a:lstStyle/>
                    <a:p>
                      <a:r>
                        <a:rPr sz="1800" b="0">
                          <a:solidFill>
                            <a:srgbClr val="18312D"/>
                          </a:solidFill>
                          <a:latin typeface="Arial"/>
                          <a:ea typeface="Arial"/>
                          <a:cs typeface="Arial"/>
                        </a:rPr>
                        <a:t>Une place, une inscription acceptée.</a:t>
                      </a:r>
                    </a:p>
                  </a:txBody>
                  <a:tcPr marL="91440" marR="91440" marT="45720" marB="45720">
                    <a:solidFill>
                      <a:srgbClr val="F5F3EA"/>
                    </a:solidFill>
                  </a:tcPr>
                </a:tc>
              </a:tr>
              <a:tr h="695325">
                <a:tc>
                  <a:txBody>
                    <a:bodyPr/>
                    <a:lstStyle/>
                    <a:p>
                      <a:r>
                        <a:rPr sz="1800" b="0">
                          <a:solidFill>
                            <a:srgbClr val="18312D"/>
                          </a:solidFill>
                          <a:latin typeface="Arial"/>
                          <a:ea typeface="Arial"/>
                          <a:cs typeface="Arial"/>
                        </a:rPr>
                        <a:t>Camille, J10-J14</a:t>
                      </a:r>
                    </a:p>
                  </a:txBody>
                  <a:tcPr marL="91440" marR="91440" marT="45720" marB="45720">
                    <a:solidFill>
                      <a:srgbClr val="E9EEE4"/>
                    </a:solidFill>
                  </a:tcPr>
                </a:tc>
                <a:tc>
                  <a:txBody>
                    <a:bodyPr/>
                    <a:lstStyle/>
                    <a:p>
                      <a:r>
                        <a:rPr sz="1800" b="0">
                          <a:solidFill>
                            <a:srgbClr val="18312D"/>
                          </a:solidFill>
                          <a:latin typeface="Arial"/>
                          <a:ea typeface="Arial"/>
                          <a:cs typeface="Arial"/>
                        </a:rPr>
                        <a:t>Recette : 2 h. Clavier : 1 h.</a:t>
                      </a:r>
                    </a:p>
                  </a:txBody>
                  <a:tcPr marL="91440" marR="91440" marT="45720" marB="45720">
                    <a:solidFill>
                      <a:srgbClr val="E9EEE4"/>
                    </a:solidFill>
                  </a:tcPr>
                </a:tc>
                <a:tc>
                  <a:txBody>
                    <a:bodyPr/>
                    <a:lstStyle/>
                    <a:p>
                      <a:r>
                        <a:rPr sz="1800" b="0">
                          <a:solidFill>
                            <a:srgbClr val="18312D"/>
                          </a:solidFill>
                          <a:latin typeface="Arial"/>
                          <a:ea typeface="Arial"/>
                          <a:cs typeface="Arial"/>
                        </a:rPr>
                        <a:t>Rejouer un cas sans aide.</a:t>
                      </a:r>
                    </a:p>
                  </a:txBody>
                  <a:tcPr marL="91440" marR="91440" marT="45720" marB="45720">
                    <a:solidFill>
                      <a:srgbClr val="E9EEE4"/>
                    </a:solidFill>
                  </a:tcPr>
                </a:tc>
              </a:tr>
            </a:tbl>
          </a:graphicData>
        </a:graphic>
      </p:graphicFrame>
      <p:sp>
        <p:nvSpPr>
          <p:cNvPr id="5" name="">
            <a:extLst xmlns:a="http://schemas.openxmlformats.org/drawingml/2006/main">
              <a:ext uri="{FF2B5EF4-FFF2-40B4-BE49-F238E27FC236}">
                <a16:creationId xmlns:a16="http://schemas.microsoft.com/office/drawing/2014/main" id="{9A7F2753-D0FD-40BF-BBC2-F3675350A05A}"/>
              </a:ext>
            </a:extLst>
          </p:cNvPr>
          <p:cNvSpPr>
            <a:spLocks xmlns:a="http://schemas.openxmlformats.org/drawingml/2006/main" noGrp="1"/>
          </p:cNvSpPr>
          <p:nvPr/>
        </p:nvSpPr>
        <p:spPr>
          <a:xfrm xmlns:a="http://schemas.openxmlformats.org/drawingml/2006/main">
            <a:off x="685800" y="51720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Camille : consignes écrites et démonstration sous-titrée.</a:t>
            </a:r>
          </a:p>
        </p:txBody>
      </p:sp>
      <p:sp>
        <p:nvSpPr>
          <p:cNvPr id="6" name="">
            <a:extLst xmlns:a="http://schemas.openxmlformats.org/drawingml/2006/main">
              <a:ext uri="{FF2B5EF4-FFF2-40B4-BE49-F238E27FC236}">
                <a16:creationId xmlns:a16="http://schemas.microsoft.com/office/drawing/2014/main" id="{2BEB22B5-68FE-4047-9EDD-FA72397C7BCA}"/>
              </a:ext>
            </a:extLst>
          </p:cNvPr>
          <p:cNvSpPr>
            <a:spLocks xmlns:a="http://schemas.openxmlformats.org/drawingml/2006/main" noGrp="1"/>
          </p:cNvSpPr>
          <p:nvPr/>
        </p:nvSpPr>
        <p:spPr>
          <a:xfrm xmlns:a="http://schemas.openxmlformats.org/drawingml/2006/main">
            <a:off x="685800" y="58102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À J12, compétence critique indisponible : demande RH à arbitrer.</a:t>
            </a:r>
          </a:p>
        </p:txBody>
      </p:sp>
    </p:spTree>
    <p:extLst>
      <p:ext uri="{BB962C8B-B14F-4D97-AF65-F5344CB8AC3E}">
        <p14:creationId xmlns:p14="http://schemas.microsoft.com/office/powerpoint/2010/main" val="893110505"/>
      </p:ext>
    </p:extLst>
  </p:cSld>
</p:sld>
</file>

<file path=ppt/slides/slide17.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72EAB2-7458-40D4-8537-2C9F1D8FEAD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Review J10 : une décision dans CR02</a:t>
            </a:r>
          </a:p>
        </p:txBody>
      </p:sp>
      <p:sp>
        <p:nvSpPr>
          <p:cNvPr id="2" name="">
            <a:extLst xmlns:a="http://schemas.openxmlformats.org/drawingml/2006/main">
              <a:ext uri="{FF2B5EF4-FFF2-40B4-BE49-F238E27FC236}">
                <a16:creationId xmlns:a16="http://schemas.microsoft.com/office/drawing/2014/main" id="{C716A71B-F6E6-420E-B750-12A33D9D30E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C3.4.1, comptes rendus simulés    20:30 à 22:00    17</a:t>
            </a:r>
          </a:p>
        </p:txBody>
      </p:sp>
      <p:graphicFrame>
        <p:nvGraphicFramePr>
          <p:cNvPr id="8" name=""/>
          <p:cNvGraphicFramePr/>
          <p:nvPr/>
        </p:nvGraphicFramePr>
        <p:xfrm>
          <a:off xmlns:a="http://schemas.openxmlformats.org/drawingml/2006/main" x="609600" y="1847850"/>
          <a:ext xmlns:a="http://schemas.openxmlformats.org/drawingml/2006/main" cx="10972800" cy="3524250"/>
        </p:xfrm>
        <a:graphic xmlns:a="http://schemas.openxmlformats.org/drawingml/2006/main">
          <a:graphicData uri="http://schemas.openxmlformats.org/drawingml/2006/table">
            <a:tbl>
              <a:tblPr/>
              <a:tblGrid>
                <a:gridCol w="2381250"/>
                <a:gridCol w="8591550"/>
              </a:tblGrid>
              <a:tr h="704850">
                <a:tc>
                  <a:txBody>
                    <a:bodyPr/>
                    <a:lstStyle/>
                    <a:p>
                      <a:r>
                        <a:rPr sz="1800" b="1">
                          <a:solidFill>
                            <a:srgbClr val="FFFFFF"/>
                          </a:solidFill>
                          <a:latin typeface="Arial"/>
                          <a:ea typeface="Arial"/>
                          <a:cs typeface="Arial"/>
                        </a:rPr>
                        <a:t>CR02 à J10</a:t>
                      </a:r>
                    </a:p>
                  </a:txBody>
                  <a:tcPr marL="91440" marR="91440" marT="45720" marB="45720">
                    <a:solidFill>
                      <a:srgbClr val="28725F"/>
                    </a:solidFill>
                  </a:tcPr>
                </a:tc>
                <a:tc>
                  <a:txBody>
                    <a:bodyPr/>
                    <a:lstStyle/>
                    <a:p>
                      <a:r>
                        <a:rPr sz="1800" b="1">
                          <a:solidFill>
                            <a:srgbClr val="FFFFFF"/>
                          </a:solidFill>
                          <a:latin typeface="Arial"/>
                          <a:ea typeface="Arial"/>
                          <a:cs typeface="Arial"/>
                        </a:rPr>
                        <a:t>Extrait du compte rendu fictif</a:t>
                      </a:r>
                    </a:p>
                  </a:txBody>
                  <a:tcPr marL="91440" marR="91440" marT="45720" marB="45720">
                    <a:solidFill>
                      <a:srgbClr val="28725F"/>
                    </a:solidFill>
                  </a:tcPr>
                </a:tc>
              </a:tr>
              <a:tr h="704850">
                <a:tc>
                  <a:txBody>
                    <a:bodyPr/>
                    <a:lstStyle/>
                    <a:p>
                      <a:r>
                        <a:rPr sz="1800" b="0">
                          <a:solidFill>
                            <a:srgbClr val="18312D"/>
                          </a:solidFill>
                          <a:latin typeface="Arial"/>
                          <a:ea typeface="Arial"/>
                          <a:cs typeface="Arial"/>
                        </a:rPr>
                        <a:t>Écart</a:t>
                      </a:r>
                    </a:p>
                  </a:txBody>
                  <a:tcPr marL="91440" marR="91440" marT="45720" marB="45720">
                    <a:solidFill>
                      <a:srgbClr val="E9EEE4"/>
                    </a:solidFill>
                  </a:tcPr>
                </a:tc>
                <a:tc>
                  <a:txBody>
                    <a:bodyPr/>
                    <a:lstStyle/>
                    <a:p>
                      <a:r>
                        <a:rPr sz="1800" b="0">
                          <a:solidFill>
                            <a:srgbClr val="18312D"/>
                          </a:solidFill>
                          <a:latin typeface="Arial"/>
                          <a:ea typeface="Arial"/>
                          <a:cs typeface="Arial"/>
                        </a:rPr>
                        <a:t>Événements J11 à J12. Prévision : 4 465 €.</a:t>
                      </a:r>
                    </a:p>
                  </a:txBody>
                  <a:tcPr marL="91440" marR="91440" marT="45720" marB="45720">
                    <a:solidFill>
                      <a:srgbClr val="E9EEE4"/>
                    </a:solidFill>
                  </a:tcPr>
                </a:tc>
              </a:tr>
              <a:tr h="704850">
                <a:tc>
                  <a:txBody>
                    <a:bodyPr/>
                    <a:lstStyle/>
                    <a:p>
                      <a:r>
                        <a:rPr sz="1800" b="0">
                          <a:solidFill>
                            <a:srgbClr val="18312D"/>
                          </a:solidFill>
                          <a:latin typeface="Arial"/>
                          <a:ea typeface="Arial"/>
                          <a:cs typeface="Arial"/>
                        </a:rPr>
                        <a:t>Décision client</a:t>
                      </a:r>
                    </a:p>
                  </a:txBody>
                  <a:tcPr marL="91440" marR="91440" marT="45720" marB="45720">
                    <a:solidFill>
                      <a:srgbClr val="F5F3EA"/>
                    </a:solidFill>
                  </a:tcPr>
                </a:tc>
                <a:tc>
                  <a:txBody>
                    <a:bodyPr/>
                    <a:lstStyle/>
                    <a:p>
                      <a:r>
                        <a:rPr sz="1800" b="0">
                          <a:solidFill>
                            <a:srgbClr val="18312D"/>
                          </a:solidFill>
                          <a:latin typeface="Arial"/>
                          <a:ea typeface="Arial"/>
                          <a:cs typeface="Arial"/>
                        </a:rPr>
                        <a:t>Reporter les topos, maintenir les critères de recette.</a:t>
                      </a:r>
                    </a:p>
                  </a:txBody>
                  <a:tcPr marL="91440" marR="91440" marT="45720" marB="45720">
                    <a:solidFill>
                      <a:srgbClr val="F5F3EA"/>
                    </a:solidFill>
                  </a:tcPr>
                </a:tc>
              </a:tr>
              <a:tr h="704850">
                <a:tc>
                  <a:txBody>
                    <a:bodyPr/>
                    <a:lstStyle/>
                    <a:p>
                      <a:r>
                        <a:rPr sz="1800" b="0">
                          <a:solidFill>
                            <a:srgbClr val="18312D"/>
                          </a:solidFill>
                          <a:latin typeface="Arial"/>
                          <a:ea typeface="Arial"/>
                          <a:cs typeface="Arial"/>
                        </a:rPr>
                        <a:t>Actions</a:t>
                      </a:r>
                    </a:p>
                  </a:txBody>
                  <a:tcPr marL="91440" marR="91440" marT="45720" marB="45720">
                    <a:solidFill>
                      <a:srgbClr val="E9EEE4"/>
                    </a:solidFill>
                  </a:tcPr>
                </a:tc>
                <a:tc>
                  <a:txBody>
                    <a:bodyPr/>
                    <a:lstStyle/>
                    <a:p>
                      <a:r>
                        <a:rPr sz="1800" b="0">
                          <a:solidFill>
                            <a:srgbClr val="18312D"/>
                          </a:solidFill>
                          <a:latin typeface="Arial"/>
                          <a:ea typeface="Arial"/>
                          <a:cs typeface="Arial"/>
                        </a:rPr>
                        <a:t>DEV : T06 à J12. QA : recette à J14. CP : restitution J15.</a:t>
                      </a:r>
                    </a:p>
                  </a:txBody>
                  <a:tcPr marL="91440" marR="91440" marT="45720" marB="45720">
                    <a:solidFill>
                      <a:srgbClr val="E9EEE4"/>
                    </a:solidFill>
                  </a:tcPr>
                </a:tc>
              </a:tr>
              <a:tr h="704850">
                <a:tc>
                  <a:txBody>
                    <a:bodyPr/>
                    <a:lstStyle/>
                    <a:p>
                      <a:r>
                        <a:rPr sz="1800" b="0">
                          <a:solidFill>
                            <a:srgbClr val="18312D"/>
                          </a:solidFill>
                          <a:latin typeface="Arial"/>
                          <a:ea typeface="Arial"/>
                          <a:cs typeface="Arial"/>
                        </a:rPr>
                        <a:t>Suite</a:t>
                      </a:r>
                    </a:p>
                  </a:txBody>
                  <a:tcPr marL="91440" marR="91440" marT="45720" marB="45720">
                    <a:solidFill>
                      <a:srgbClr val="F5F3EA"/>
                    </a:solidFill>
                  </a:tcPr>
                </a:tc>
                <a:tc>
                  <a:txBody>
                    <a:bodyPr/>
                    <a:lstStyle/>
                    <a:p>
                      <a:r>
                        <a:rPr sz="1800" b="0">
                          <a:solidFill>
                            <a:srgbClr val="18312D"/>
                          </a:solidFill>
                          <a:latin typeface="Arial"/>
                          <a:ea typeface="Arial"/>
                          <a:cs typeface="Arial"/>
                        </a:rPr>
                        <a:t>Claire Martin, Altitude Grimpe. Validation du parcours à J15.</a:t>
                      </a:r>
                    </a:p>
                  </a:txBody>
                  <a:tcPr marL="91440" marR="91440" marT="45720" marB="45720">
                    <a:solidFill>
                      <a:srgbClr val="F5F3EA"/>
                    </a:solidFill>
                  </a:tcPr>
                </a:tc>
              </a:tr>
            </a:tbl>
          </a:graphicData>
        </a:graphic>
      </p:graphicFrame>
      <p:sp>
        <p:nvSpPr>
          <p:cNvPr id="4" name="">
            <a:extLst xmlns:a="http://schemas.openxmlformats.org/drawingml/2006/main">
              <a:ext uri="{FF2B5EF4-FFF2-40B4-BE49-F238E27FC236}">
                <a16:creationId xmlns:a16="http://schemas.microsoft.com/office/drawing/2014/main" id="{8B0C51EC-1DB6-4AFF-BDA5-D6844EB016D0}"/>
              </a:ext>
            </a:extLst>
          </p:cNvPr>
          <p:cNvSpPr>
            <a:spLocks xmlns:a="http://schemas.openxmlformats.org/drawingml/2006/main" noGrp="1"/>
          </p:cNvSpPr>
          <p:nvPr/>
        </p:nvSpPr>
        <p:spPr>
          <a:xfrm xmlns:a="http://schemas.openxmlformats.org/drawingml/2006/main">
            <a:off x="685800" y="55816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Ressource partagée : A07, compte rendu CR02 et critères.</a:t>
            </a:r>
          </a:p>
        </p:txBody>
      </p:sp>
      <p:sp>
        <p:nvSpPr>
          <p:cNvPr id="5" name="">
            <a:extLst xmlns:a="http://schemas.openxmlformats.org/drawingml/2006/main">
              <a:ext uri="{FF2B5EF4-FFF2-40B4-BE49-F238E27FC236}">
                <a16:creationId xmlns:a16="http://schemas.microsoft.com/office/drawing/2014/main" id="{9B200708-2840-4F9F-B8C3-C6D825FF6F11}"/>
              </a:ext>
            </a:extLst>
          </p:cNvPr>
          <p:cNvSpPr>
            <a:spLocks xmlns:a="http://schemas.openxmlformats.org/drawingml/2006/main" noGrp="1"/>
          </p:cNvSpPr>
          <p:nvPr/>
        </p:nvSpPr>
        <p:spPr>
          <a:xfrm xmlns:a="http://schemas.openxmlformats.org/drawingml/2006/main">
            <a:off x="685800" y="60293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12D"/>
                </a:solidFill>
                <a:latin typeface="Arial"/>
                <a:ea typeface="Arial"/>
                <a:cs typeface="Arial"/>
              </a:defRPr>
            </a:pPr>
            <a:r>
              <a:rPr sz="1650" b="0">
                <a:solidFill>
                  <a:srgbClr val="18312D"/>
                </a:solidFill>
                <a:latin typeface="Arial"/>
                <a:ea typeface="Arial"/>
                <a:cs typeface="Arial"/>
              </a:rPr>
              <a:t>Planning J3. Reviews J10 et J15. Rétrospective après la review J15.</a:t>
            </a:r>
          </a:p>
        </p:txBody>
      </p:sp>
    </p:spTree>
    <p:extLst>
      <p:ext uri="{BB962C8B-B14F-4D97-AF65-F5344CB8AC3E}">
        <p14:creationId xmlns:p14="http://schemas.microsoft.com/office/powerpoint/2010/main" val="56633659"/>
      </p:ext>
    </p:extLst>
  </p:cSld>
</p:sld>
</file>

<file path=ppt/slides/slide18.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94C0ED-AC4E-4DE8-BA06-79A72AA91D8B}"/>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Mesurer la satisfaction et agir</a:t>
            </a:r>
          </a:p>
        </p:txBody>
      </p:sp>
      <p:sp>
        <p:nvSpPr>
          <p:cNvPr id="2" name="">
            <a:extLst xmlns:a="http://schemas.openxmlformats.org/drawingml/2006/main">
              <a:ext uri="{FF2B5EF4-FFF2-40B4-BE49-F238E27FC236}">
                <a16:creationId xmlns:a16="http://schemas.microsoft.com/office/drawing/2014/main" id="{7C8CEF61-91CA-442D-A432-AF071CB0B51F}"/>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C3.4.1, aucun résultat client réel disponible    22:00 à 23:00    18</a:t>
            </a:r>
          </a:p>
        </p:txBody>
      </p:sp>
      <p:sp>
        <p:nvSpPr>
          <p:cNvPr id="3" name="">
            <a:extLst xmlns:a="http://schemas.openxmlformats.org/drawingml/2006/main">
              <a:ext uri="{FF2B5EF4-FFF2-40B4-BE49-F238E27FC236}">
                <a16:creationId xmlns:a16="http://schemas.microsoft.com/office/drawing/2014/main" id="{3E0F6FA3-FDC9-4220-930D-AD9A66E0B218}"/>
              </a:ext>
            </a:extLst>
          </p:cNvPr>
          <p:cNvSpPr>
            <a:spLocks xmlns:a="http://schemas.openxmlformats.org/drawingml/2006/main" noGrp="1"/>
          </p:cNvSpPr>
          <p:nvPr/>
        </p:nvSpPr>
        <p:spPr>
          <a:xfrm xmlns:a="http://schemas.openxmlformats.org/drawingml/2006/main">
            <a:off x="685800" y="14382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7068"/>
                </a:solidFill>
                <a:latin typeface="Arial"/>
                <a:ea typeface="Arial"/>
                <a:cs typeface="Arial"/>
              </a:defRPr>
            </a:pPr>
            <a:r>
              <a:rPr sz="2025" b="0">
                <a:solidFill>
                  <a:srgbClr val="5D7068"/>
                </a:solidFill>
                <a:latin typeface="Arial"/>
                <a:ea typeface="Arial"/>
                <a:cs typeface="Arial"/>
              </a:rPr>
              <a:t>Protocole proposé. Résultats réels non mesurés.</a:t>
            </a:r>
          </a:p>
        </p:txBody>
      </p:sp>
      <p:graphicFrame>
        <p:nvGraphicFramePr>
          <p:cNvPr id="10" name=""/>
          <p:cNvGraphicFramePr/>
          <p:nvPr/>
        </p:nvGraphicFramePr>
        <p:xfrm>
          <a:off xmlns:a="http://schemas.openxmlformats.org/drawingml/2006/main" x="609600" y="2066925"/>
          <a:ext xmlns:a="http://schemas.openxmlformats.org/drawingml/2006/main" cx="10972800" cy="3248025"/>
        </p:xfrm>
        <a:graphic xmlns:a="http://schemas.openxmlformats.org/drawingml/2006/main">
          <a:graphicData uri="http://schemas.openxmlformats.org/drawingml/2006/table">
            <a:tbl>
              <a:tblPr/>
              <a:tblGrid>
                <a:gridCol w="2990850"/>
                <a:gridCol w="5372100"/>
                <a:gridCol w="2609850"/>
              </a:tblGrid>
              <a:tr h="649605">
                <a:tc>
                  <a:txBody>
                    <a:bodyPr/>
                    <a:lstStyle/>
                    <a:p>
                      <a:r>
                        <a:rPr sz="1800" b="1">
                          <a:solidFill>
                            <a:srgbClr val="FFFFFF"/>
                          </a:solidFill>
                          <a:latin typeface="Arial"/>
                          <a:ea typeface="Arial"/>
                          <a:cs typeface="Arial"/>
                        </a:rPr>
                        <a:t>Indicateur</a:t>
                      </a:r>
                    </a:p>
                  </a:txBody>
                  <a:tcPr marL="91440" marR="91440" marT="45720" marB="45720">
                    <a:solidFill>
                      <a:srgbClr val="28725F"/>
                    </a:solidFill>
                  </a:tcPr>
                </a:tc>
                <a:tc>
                  <a:txBody>
                    <a:bodyPr/>
                    <a:lstStyle/>
                    <a:p>
                      <a:r>
                        <a:rPr sz="1800" b="1">
                          <a:solidFill>
                            <a:srgbClr val="FFFFFF"/>
                          </a:solidFill>
                          <a:latin typeface="Arial"/>
                          <a:ea typeface="Arial"/>
                          <a:cs typeface="Arial"/>
                        </a:rPr>
                        <a:t>Calcul ou méthode</a:t>
                      </a:r>
                    </a:p>
                  </a:txBody>
                  <a:tcPr marL="91440" marR="91440" marT="45720" marB="45720">
                    <a:solidFill>
                      <a:srgbClr val="28725F"/>
                    </a:solidFill>
                  </a:tcPr>
                </a:tc>
                <a:tc>
                  <a:txBody>
                    <a:bodyPr/>
                    <a:lstStyle/>
                    <a:p>
                      <a:r>
                        <a:rPr sz="1800" b="1">
                          <a:solidFill>
                            <a:srgbClr val="FFFFFF"/>
                          </a:solidFill>
                          <a:latin typeface="Arial"/>
                          <a:ea typeface="Arial"/>
                          <a:cs typeface="Arial"/>
                        </a:rPr>
                        <a:t>Seuil visé</a:t>
                      </a:r>
                    </a:p>
                  </a:txBody>
                  <a:tcPr marL="91440" marR="91440" marT="45720" marB="45720">
                    <a:solidFill>
                      <a:srgbClr val="28725F"/>
                    </a:solidFill>
                  </a:tcPr>
                </a:tc>
              </a:tr>
              <a:tr h="649605">
                <a:tc>
                  <a:txBody>
                    <a:bodyPr/>
                    <a:lstStyle/>
                    <a:p>
                      <a:r>
                        <a:rPr sz="1800" b="0">
                          <a:solidFill>
                            <a:srgbClr val="18312D"/>
                          </a:solidFill>
                          <a:latin typeface="Arial"/>
                          <a:ea typeface="Arial"/>
                          <a:cs typeface="Arial"/>
                        </a:rPr>
                        <a:t>Critères critiques</a:t>
                      </a:r>
                    </a:p>
                  </a:txBody>
                  <a:tcPr marL="91440" marR="91440" marT="45720" marB="45720">
                    <a:solidFill>
                      <a:srgbClr val="E9EEE4"/>
                    </a:solidFill>
                  </a:tcPr>
                </a:tc>
                <a:tc>
                  <a:txBody>
                    <a:bodyPr/>
                    <a:lstStyle/>
                    <a:p>
                      <a:r>
                        <a:rPr sz="1800" b="0">
                          <a:solidFill>
                            <a:srgbClr val="18312D"/>
                          </a:solidFill>
                          <a:latin typeface="Arial"/>
                          <a:ea typeface="Arial"/>
                          <a:cs typeface="Arial"/>
                        </a:rPr>
                        <a:t>Acceptés / évalués</a:t>
                      </a:r>
                    </a:p>
                  </a:txBody>
                  <a:tcPr marL="91440" marR="91440" marT="45720" marB="45720">
                    <a:solidFill>
                      <a:srgbClr val="E9EEE4"/>
                    </a:solidFill>
                  </a:tcPr>
                </a:tc>
                <a:tc>
                  <a:txBody>
                    <a:bodyPr/>
                    <a:lstStyle/>
                    <a:p>
                      <a:r>
                        <a:rPr sz="1800" b="0">
                          <a:solidFill>
                            <a:srgbClr val="18312D"/>
                          </a:solidFill>
                          <a:latin typeface="Arial"/>
                          <a:ea typeface="Arial"/>
                          <a:cs typeface="Arial"/>
                        </a:rPr>
                        <a:t>100 %</a:t>
                      </a:r>
                    </a:p>
                  </a:txBody>
                  <a:tcPr marL="91440" marR="91440" marT="45720" marB="45720">
                    <a:solidFill>
                      <a:srgbClr val="E9EEE4"/>
                    </a:solidFill>
                  </a:tcPr>
                </a:tc>
              </a:tr>
              <a:tr h="649605">
                <a:tc>
                  <a:txBody>
                    <a:bodyPr/>
                    <a:lstStyle/>
                    <a:p>
                      <a:r>
                        <a:rPr sz="1800" b="0">
                          <a:solidFill>
                            <a:srgbClr val="18312D"/>
                          </a:solidFill>
                          <a:latin typeface="Arial"/>
                          <a:ea typeface="Arial"/>
                          <a:cs typeface="Arial"/>
                        </a:rPr>
                        <a:t>Parcours sans aide</a:t>
                      </a:r>
                    </a:p>
                  </a:txBody>
                  <a:tcPr marL="91440" marR="91440" marT="45720" marB="45720">
                    <a:solidFill>
                      <a:srgbClr val="F5F3EA"/>
                    </a:solidFill>
                  </a:tcPr>
                </a:tc>
                <a:tc>
                  <a:txBody>
                    <a:bodyPr/>
                    <a:lstStyle/>
                    <a:p>
                      <a:r>
                        <a:rPr sz="1800" b="0">
                          <a:solidFill>
                            <a:srgbClr val="18312D"/>
                          </a:solidFill>
                          <a:latin typeface="Arial"/>
                          <a:ea typeface="Arial"/>
                          <a:cs typeface="Arial"/>
                        </a:rPr>
                        <a:t>Réussis sans aide / tentés</a:t>
                      </a:r>
                    </a:p>
                  </a:txBody>
                  <a:tcPr marL="91440" marR="91440" marT="45720" marB="45720">
                    <a:solidFill>
                      <a:srgbClr val="F5F3EA"/>
                    </a:solidFill>
                  </a:tcPr>
                </a:tc>
                <a:tc>
                  <a:txBody>
                    <a:bodyPr/>
                    <a:lstStyle/>
                    <a:p>
                      <a:r>
                        <a:rPr sz="1800" b="0">
                          <a:solidFill>
                            <a:srgbClr val="18312D"/>
                          </a:solidFill>
                          <a:latin typeface="Arial"/>
                          <a:ea typeface="Arial"/>
                          <a:cs typeface="Arial"/>
                        </a:rPr>
                        <a:t>Au moins 80 %</a:t>
                      </a:r>
                    </a:p>
                  </a:txBody>
                  <a:tcPr marL="91440" marR="91440" marT="45720" marB="45720">
                    <a:solidFill>
                      <a:srgbClr val="F5F3EA"/>
                    </a:solidFill>
                  </a:tcPr>
                </a:tc>
              </a:tr>
              <a:tr h="649605">
                <a:tc>
                  <a:txBody>
                    <a:bodyPr/>
                    <a:lstStyle/>
                    <a:p>
                      <a:r>
                        <a:rPr sz="1800" b="0">
                          <a:solidFill>
                            <a:srgbClr val="18312D"/>
                          </a:solidFill>
                          <a:latin typeface="Arial"/>
                          <a:ea typeface="Arial"/>
                          <a:cs typeface="Arial"/>
                        </a:rPr>
                        <a:t>Utilité perçue</a:t>
                      </a:r>
                    </a:p>
                  </a:txBody>
                  <a:tcPr marL="91440" marR="91440" marT="45720" marB="45720">
                    <a:solidFill>
                      <a:srgbClr val="E9EEE4"/>
                    </a:solidFill>
                  </a:tcPr>
                </a:tc>
                <a:tc>
                  <a:txBody>
                    <a:bodyPr/>
                    <a:lstStyle/>
                    <a:p>
                      <a:r>
                        <a:rPr sz="1800" b="0">
                          <a:solidFill>
                            <a:srgbClr val="18312D"/>
                          </a:solidFill>
                          <a:latin typeface="Arial"/>
                          <a:ea typeface="Arial"/>
                          <a:cs typeface="Arial"/>
                        </a:rPr>
                        <a:t>Moyenne des notes, avec effectif</a:t>
                      </a:r>
                    </a:p>
                  </a:txBody>
                  <a:tcPr marL="91440" marR="91440" marT="45720" marB="45720">
                    <a:solidFill>
                      <a:srgbClr val="E9EEE4"/>
                    </a:solidFill>
                  </a:tcPr>
                </a:tc>
                <a:tc>
                  <a:txBody>
                    <a:bodyPr/>
                    <a:lstStyle/>
                    <a:p>
                      <a:r>
                        <a:rPr sz="1800" b="0">
                          <a:solidFill>
                            <a:srgbClr val="18312D"/>
                          </a:solidFill>
                          <a:latin typeface="Arial"/>
                          <a:ea typeface="Arial"/>
                          <a:cs typeface="Arial"/>
                        </a:rPr>
                        <a:t>Au moins 4/5</a:t>
                      </a:r>
                    </a:p>
                  </a:txBody>
                  <a:tcPr marL="91440" marR="91440" marT="45720" marB="45720">
                    <a:solidFill>
                      <a:srgbClr val="E9EEE4"/>
                    </a:solidFill>
                  </a:tcPr>
                </a:tc>
              </a:tr>
              <a:tr h="649605">
                <a:tc>
                  <a:txBody>
                    <a:bodyPr/>
                    <a:lstStyle/>
                    <a:p>
                      <a:r>
                        <a:rPr sz="1800" b="0">
                          <a:solidFill>
                            <a:srgbClr val="18312D"/>
                          </a:solidFill>
                          <a:latin typeface="Arial"/>
                          <a:ea typeface="Arial"/>
                          <a:cs typeface="Arial"/>
                        </a:rPr>
                        <a:t>Blocages critiques</a:t>
                      </a:r>
                    </a:p>
                  </a:txBody>
                  <a:tcPr marL="91440" marR="91440" marT="45720" marB="45720">
                    <a:solidFill>
                      <a:srgbClr val="F5F3EA"/>
                    </a:solidFill>
                  </a:tcPr>
                </a:tc>
                <a:tc>
                  <a:txBody>
                    <a:bodyPr/>
                    <a:lstStyle/>
                    <a:p>
                      <a:r>
                        <a:rPr sz="1800" b="0">
                          <a:solidFill>
                            <a:srgbClr val="18312D"/>
                          </a:solidFill>
                          <a:latin typeface="Arial"/>
                          <a:ea typeface="Arial"/>
                          <a:cs typeface="Arial"/>
                        </a:rPr>
                        <a:t>Nombre de tâches empêchées</a:t>
                      </a:r>
                    </a:p>
                  </a:txBody>
                  <a:tcPr marL="91440" marR="91440" marT="45720" marB="45720">
                    <a:solidFill>
                      <a:srgbClr val="F5F3EA"/>
                    </a:solidFill>
                  </a:tcPr>
                </a:tc>
                <a:tc>
                  <a:txBody>
                    <a:bodyPr/>
                    <a:lstStyle/>
                    <a:p>
                      <a:r>
                        <a:rPr sz="1800" b="0">
                          <a:solidFill>
                            <a:srgbClr val="18312D"/>
                          </a:solidFill>
                          <a:latin typeface="Arial"/>
                          <a:ea typeface="Arial"/>
                          <a:cs typeface="Arial"/>
                        </a:rPr>
                        <a:t>0 ouvert</a:t>
                      </a:r>
                    </a:p>
                  </a:txBody>
                  <a:tcPr marL="91440" marR="91440" marT="45720" marB="45720">
                    <a:solidFill>
                      <a:srgbClr val="F5F3EA"/>
                    </a:solidFill>
                  </a:tcPr>
                </a:tc>
              </a:tr>
            </a:tbl>
          </a:graphicData>
        </a:graphic>
      </p:graphicFrame>
      <p:sp>
        <p:nvSpPr>
          <p:cNvPr id="5" name="">
            <a:extLst xmlns:a="http://schemas.openxmlformats.org/drawingml/2006/main">
              <a:ext uri="{FF2B5EF4-FFF2-40B4-BE49-F238E27FC236}">
                <a16:creationId xmlns:a16="http://schemas.microsoft.com/office/drawing/2014/main" id="{0BE245F1-DEF3-45AB-A97F-1BFFAF9E47ED}"/>
              </a:ext>
            </a:extLst>
          </p:cNvPr>
          <p:cNvSpPr>
            <a:spLocks xmlns:a="http://schemas.openxmlformats.org/drawingml/2006/main" noGrp="1"/>
          </p:cNvSpPr>
          <p:nvPr/>
        </p:nvSpPr>
        <p:spPr>
          <a:xfrm xmlns:a="http://schemas.openxmlformats.org/drawingml/2006/main">
            <a:off x="685800" y="56102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8725F"/>
                </a:solidFill>
                <a:latin typeface="Arial"/>
                <a:ea typeface="Arial"/>
                <a:cs typeface="Arial"/>
              </a:defRPr>
            </a:pPr>
            <a:r>
              <a:rPr sz="1875" b="1">
                <a:solidFill>
                  <a:srgbClr val="28725F"/>
                </a:solidFill>
                <a:latin typeface="Arial"/>
                <a:ea typeface="Arial"/>
                <a:cs typeface="Arial"/>
              </a:rPr>
              <a:t>J15 : 2 grimpeurs et 1 club prévus. Date et effectif à relever.</a:t>
            </a:r>
          </a:p>
        </p:txBody>
      </p:sp>
      <p:sp>
        <p:nvSpPr>
          <p:cNvPr id="6" name="">
            <a:extLst xmlns:a="http://schemas.openxmlformats.org/drawingml/2006/main">
              <a:ext uri="{FF2B5EF4-FFF2-40B4-BE49-F238E27FC236}">
                <a16:creationId xmlns:a16="http://schemas.microsoft.com/office/drawing/2014/main" id="{469E1249-B134-4BD5-AA49-D410BC9389D1}"/>
              </a:ext>
            </a:extLst>
          </p:cNvPr>
          <p:cNvSpPr>
            <a:spLocks xmlns:a="http://schemas.openxmlformats.org/drawingml/2006/main" noGrp="1"/>
          </p:cNvSpPr>
          <p:nvPr/>
        </p:nvSpPr>
        <p:spPr>
          <a:xfrm xmlns:a="http://schemas.openxmlformats.org/drawingml/2006/main">
            <a:off x="685800" y="606742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12D"/>
                </a:solidFill>
                <a:latin typeface="Arial"/>
                <a:ea typeface="Arial"/>
                <a:cs typeface="Arial"/>
              </a:defRPr>
            </a:pPr>
            <a:r>
              <a:rPr sz="1650" b="0">
                <a:solidFill>
                  <a:srgbClr val="18312D"/>
                </a:solidFill>
                <a:latin typeface="Arial"/>
                <a:ea typeface="Arial"/>
                <a:cs typeface="Arial"/>
              </a:rPr>
              <a:t>Sous le seuil : qualifier, affecter une correction, vérifier à nouveau.</a:t>
            </a:r>
          </a:p>
        </p:txBody>
      </p:sp>
    </p:spTree>
    <p:extLst>
      <p:ext uri="{BB962C8B-B14F-4D97-AF65-F5344CB8AC3E}">
        <p14:creationId xmlns:p14="http://schemas.microsoft.com/office/powerpoint/2010/main" val="921792512"/>
      </p:ext>
    </p:extLst>
  </p:cSld>
</p:sld>
</file>

<file path=ppt/slides/slide19.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b42b86188094a47"/>
          <a:srcRect xmlns:a="http://schemas.openxmlformats.org/drawingml/2006/main" l="0" t="7823" r="0" b="782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AFF2FDC-49E9-4590-ABB1-E2FC8B5CB468}"/>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312D"/>
                </a:solidFill>
                <a:latin typeface="Arial"/>
                <a:ea typeface="Arial"/>
                <a:cs typeface="Arial"/>
              </a:defRPr>
            </a:pPr>
            <a:r>
              <a:rPr sz="4050" b="1">
                <a:solidFill>
                  <a:srgbClr val="18312D"/>
                </a:solidFill>
                <a:latin typeface="Arial"/>
                <a:ea typeface="Arial"/>
                <a:cs typeface="Arial"/>
              </a:rPr>
              <a:t>Place à la démonstration</a:t>
            </a:r>
          </a:p>
        </p:txBody>
      </p:sp>
      <p:sp>
        <p:nvSpPr>
          <p:cNvPr id="3" name="">
            <a:extLst xmlns:a="http://schemas.openxmlformats.org/drawingml/2006/main">
              <a:ext uri="{FF2B5EF4-FFF2-40B4-BE49-F238E27FC236}">
                <a16:creationId xmlns:a16="http://schemas.microsoft.com/office/drawing/2014/main" id="{04D6796B-90A1-4F1D-B6B5-9A4B1FB92FAB}"/>
              </a:ext>
            </a:extLst>
          </p:cNvPr>
          <p:cNvSpPr>
            <a:spLocks xmlns:a="http://schemas.openxmlformats.org/drawingml/2006/main" noGrp="1"/>
          </p:cNvSpPr>
          <p:nvPr/>
        </p:nvSpPr>
        <p:spPr>
          <a:xfrm xmlns:a="http://schemas.openxmlformats.org/drawingml/2006/main">
            <a:off x="609600" y="4210050"/>
            <a:ext cx="419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650" b="1">
                <a:solidFill>
                  <a:srgbClr val="FFFFFF"/>
                </a:solidFill>
                <a:latin typeface="Arial"/>
                <a:ea typeface="Arial"/>
                <a:cs typeface="Arial"/>
              </a:defRPr>
            </a:pPr>
            <a:r>
              <a:rPr sz="7650" b="1">
                <a:solidFill>
                  <a:srgbClr val="FFFFFF"/>
                </a:solidFill>
                <a:latin typeface="Arial"/>
                <a:ea typeface="Arial"/>
                <a:cs typeface="Arial"/>
              </a:rPr>
              <a:t>6 min</a:t>
            </a:r>
          </a:p>
        </p:txBody>
      </p:sp>
      <p:sp>
        <p:nvSpPr>
          <p:cNvPr id="4" name="">
            <a:extLst xmlns:a="http://schemas.openxmlformats.org/drawingml/2006/main">
              <a:ext uri="{FF2B5EF4-FFF2-40B4-BE49-F238E27FC236}">
                <a16:creationId xmlns:a16="http://schemas.microsoft.com/office/drawing/2014/main" id="{4287948E-28AF-45BC-BBDB-07F9A6CDE53A}"/>
              </a:ext>
            </a:extLst>
          </p:cNvPr>
          <p:cNvSpPr>
            <a:spLocks xmlns:a="http://schemas.openxmlformats.org/drawingml/2006/main" noGrp="1"/>
          </p:cNvSpPr>
          <p:nvPr/>
        </p:nvSpPr>
        <p:spPr>
          <a:xfrm xmlns:a="http://schemas.openxmlformats.org/drawingml/2006/main">
            <a:off x="609600" y="565785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Grimpeur, puis club</a:t>
            </a:r>
          </a:p>
        </p:txBody>
      </p:sp>
      <p:sp>
        <p:nvSpPr>
          <p:cNvPr id="5" name="">
            <a:extLst xmlns:a="http://schemas.openxmlformats.org/drawingml/2006/main">
              <a:ext uri="{FF2B5EF4-FFF2-40B4-BE49-F238E27FC236}">
                <a16:creationId xmlns:a16="http://schemas.microsoft.com/office/drawing/2014/main" id="{777DDA22-4E91-4FA3-90D8-50BFA768817E}"/>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EAF1E6"/>
                </a:solidFill>
                <a:latin typeface="Arial"/>
                <a:ea typeface="Arial"/>
                <a:cs typeface="Arial"/>
              </a:defRPr>
            </a:pPr>
            <a:r>
              <a:rPr sz="1200" b="0">
                <a:solidFill>
                  <a:srgbClr val="EAF1E6"/>
                </a:solidFill>
                <a:latin typeface="Arial"/>
                <a:ea typeface="Arial"/>
                <a:cs typeface="Arial"/>
              </a:rPr>
              <a:t>C3.4.2, séquence de six minutes    23:00 à 23:30    19</a:t>
            </a:r>
          </a:p>
        </p:txBody>
      </p:sp>
    </p:spTree>
    <p:extLst>
      <p:ext uri="{BB962C8B-B14F-4D97-AF65-F5344CB8AC3E}">
        <p14:creationId xmlns:p14="http://schemas.microsoft.com/office/powerpoint/2010/main" val="1769978553"/>
      </p:ext>
    </p:extLst>
  </p:cSld>
</p:sld>
</file>

<file path=ppt/slides/slide20.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D62E274-93DE-4A2F-886A-3EC2F209C99F}"/>
              </a:ext>
            </a:extLst>
          </p:cNvPr>
          <p:cNvSpPr>
            <a:spLocks xmlns:a="http://schemas.openxmlformats.org/drawingml/2006/main" noGrp="1"/>
          </p:cNvSpPr>
          <p:nvPr/>
        </p:nvSpPr>
        <p:spPr>
          <a:xfrm xmlns:a="http://schemas.openxmlformats.org/drawingml/2006/main">
            <a:off x="457200" y="723900"/>
            <a:ext cx="2619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Trouver un</a:t>
            </a:r>
          </a:p>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partenaire</a:t>
            </a:r>
          </a:p>
        </p:txBody>
      </p:sp>
      <p:sp>
        <p:nvSpPr>
          <p:cNvPr id="2" name="">
            <a:extLst xmlns:a="http://schemas.openxmlformats.org/drawingml/2006/main">
              <a:ext uri="{FF2B5EF4-FFF2-40B4-BE49-F238E27FC236}">
                <a16:creationId xmlns:a16="http://schemas.microsoft.com/office/drawing/2014/main" id="{0FE4AC90-469A-435B-8964-2CE64431A56D}"/>
              </a:ext>
            </a:extLst>
          </p:cNvPr>
          <p:cNvSpPr>
            <a:spLocks xmlns:a="http://schemas.openxmlformats.org/drawingml/2006/main" noGrp="1"/>
          </p:cNvSpPr>
          <p:nvPr/>
        </p:nvSpPr>
        <p:spPr>
          <a:xfrm xmlns:a="http://schemas.openxmlformats.org/drawingml/2006/main">
            <a:off x="457200" y="3352800"/>
            <a:ext cx="26193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01  Profil</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02  Filtres</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03  Demande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593a254986a44cd"/>
          <a:stretch xmlns:a="http://schemas.openxmlformats.org/drawingml/2006/main"/>
        </p:blipFill>
        <p:spPr>
          <a:xfrm xmlns:a="http://schemas.openxmlformats.org/drawingml/2006/main">
            <a:off x="3173730" y="190500"/>
            <a:ext cx="8778240" cy="6096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8F76304-9D67-4BAE-8AF4-D5A458581995}"/>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application locale et données de test    23:30 à 26:30    20</a:t>
            </a:r>
          </a:p>
        </p:txBody>
      </p:sp>
    </p:spTree>
    <p:extLst>
      <p:ext uri="{BB962C8B-B14F-4D97-AF65-F5344CB8AC3E}">
        <p14:creationId xmlns:p14="http://schemas.microsoft.com/office/powerpoint/2010/main" val="775485667"/>
      </p:ext>
    </p:extLst>
  </p:cSld>
</p:sld>
</file>

<file path=ppt/slides/slide21.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5B2896-561D-49FC-8961-FE826F2E0011}"/>
              </a:ext>
            </a:extLst>
          </p:cNvPr>
          <p:cNvSpPr>
            <a:spLocks xmlns:a="http://schemas.openxmlformats.org/drawingml/2006/main" noGrp="1"/>
          </p:cNvSpPr>
          <p:nvPr/>
        </p:nvSpPr>
        <p:spPr>
          <a:xfrm xmlns:a="http://schemas.openxmlformats.org/drawingml/2006/main">
            <a:off x="457200" y="723900"/>
            <a:ext cx="2619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Retrouver les</a:t>
            </a:r>
          </a:p>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participants</a:t>
            </a:r>
          </a:p>
        </p:txBody>
      </p:sp>
      <p:sp>
        <p:nvSpPr>
          <p:cNvPr id="2" name="">
            <a:extLst xmlns:a="http://schemas.openxmlformats.org/drawingml/2006/main">
              <a:ext uri="{FF2B5EF4-FFF2-40B4-BE49-F238E27FC236}">
                <a16:creationId xmlns:a16="http://schemas.microsoft.com/office/drawing/2014/main" id="{4C7B12F5-0EEA-4422-B8B8-6AD58AA27DEC}"/>
              </a:ext>
            </a:extLst>
          </p:cNvPr>
          <p:cNvSpPr>
            <a:spLocks xmlns:a="http://schemas.openxmlformats.org/drawingml/2006/main" noGrp="1"/>
          </p:cNvSpPr>
          <p:nvPr/>
        </p:nvSpPr>
        <p:spPr>
          <a:xfrm xmlns:a="http://schemas.openxmlformats.org/drawingml/2006/main">
            <a:off x="457200" y="3352800"/>
            <a:ext cx="26193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01  Événement</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02  Inscription</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03  Participants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9ef732985f44e11"/>
          <a:stretch xmlns:a="http://schemas.openxmlformats.org/drawingml/2006/main"/>
        </p:blipFill>
        <p:spPr>
          <a:xfrm xmlns:a="http://schemas.openxmlformats.org/drawingml/2006/main">
            <a:off x="3173730" y="190500"/>
            <a:ext cx="8778240" cy="6096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00B0769-9A1C-4FA0-90F4-03FFAF491BBB}"/>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application locale et données de test    26:30 à 29:00    21</a:t>
            </a:r>
          </a:p>
        </p:txBody>
      </p:sp>
    </p:spTree>
    <p:extLst>
      <p:ext uri="{BB962C8B-B14F-4D97-AF65-F5344CB8AC3E}">
        <p14:creationId xmlns:p14="http://schemas.microsoft.com/office/powerpoint/2010/main" val="31155853"/>
      </p:ext>
    </p:extLst>
  </p:cSld>
</p:sld>
</file>

<file path=ppt/slides/slide2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7182383-6651-4C7C-85BF-341918D2347D}"/>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Les critères de validation du parcours</a:t>
            </a:r>
          </a:p>
        </p:txBody>
      </p:sp>
      <p:sp>
        <p:nvSpPr>
          <p:cNvPr id="2" name="">
            <a:extLst xmlns:a="http://schemas.openxmlformats.org/drawingml/2006/main">
              <a:ext uri="{FF2B5EF4-FFF2-40B4-BE49-F238E27FC236}">
                <a16:creationId xmlns:a16="http://schemas.microsoft.com/office/drawing/2014/main" id="{B0F93F2B-62C5-4F64-AB5B-110F6CE1E527}"/>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décision attendue après démonstration    29:00 à 30:00    22</a:t>
            </a:r>
          </a:p>
        </p:txBody>
      </p:sp>
      <p:graphicFrame>
        <p:nvGraphicFramePr>
          <p:cNvPr id="8" name=""/>
          <p:cNvGraphicFramePr/>
          <p:nvPr/>
        </p:nvGraphicFramePr>
        <p:xfrm>
          <a:off xmlns:a="http://schemas.openxmlformats.org/drawingml/2006/main" x="609600" y="1809750"/>
          <a:ext xmlns:a="http://schemas.openxmlformats.org/drawingml/2006/main" cx="10972800" cy="3362325"/>
        </p:xfrm>
        <a:graphic xmlns:a="http://schemas.openxmlformats.org/drawingml/2006/main">
          <a:graphicData uri="http://schemas.openxmlformats.org/drawingml/2006/table">
            <a:tbl>
              <a:tblPr/>
              <a:tblGrid>
                <a:gridCol w="3105150"/>
                <a:gridCol w="7867650"/>
              </a:tblGrid>
              <a:tr h="672465">
                <a:tc>
                  <a:txBody>
                    <a:bodyPr/>
                    <a:lstStyle/>
                    <a:p>
                      <a:r>
                        <a:rPr sz="1875" b="1">
                          <a:solidFill>
                            <a:srgbClr val="FFFFFF"/>
                          </a:solidFill>
                          <a:latin typeface="Arial"/>
                          <a:ea typeface="Arial"/>
                          <a:cs typeface="Arial"/>
                        </a:rPr>
                        <a:t>Critère à valider</a:t>
                      </a:r>
                    </a:p>
                  </a:txBody>
                  <a:tcPr marL="91440" marR="91440" marT="45720" marB="45720">
                    <a:solidFill>
                      <a:srgbClr val="28725F"/>
                    </a:solidFill>
                  </a:tcPr>
                </a:tc>
                <a:tc>
                  <a:txBody>
                    <a:bodyPr/>
                    <a:lstStyle/>
                    <a:p>
                      <a:r>
                        <a:rPr sz="1875" b="1">
                          <a:solidFill>
                            <a:srgbClr val="FFFFFF"/>
                          </a:solidFill>
                          <a:latin typeface="Arial"/>
                          <a:ea typeface="Arial"/>
                          <a:cs typeface="Arial"/>
                        </a:rPr>
                        <a:t>Constat attendu pendant la démonstration</a:t>
                      </a:r>
                    </a:p>
                  </a:txBody>
                  <a:tcPr marL="91440" marR="91440" marT="45720" marB="45720">
                    <a:solidFill>
                      <a:srgbClr val="28725F"/>
                    </a:solidFill>
                  </a:tcPr>
                </a:tc>
              </a:tr>
              <a:tr h="672465">
                <a:tc>
                  <a:txBody>
                    <a:bodyPr/>
                    <a:lstStyle/>
                    <a:p>
                      <a:r>
                        <a:rPr sz="1875" b="0">
                          <a:solidFill>
                            <a:srgbClr val="18312D"/>
                          </a:solidFill>
                          <a:latin typeface="Arial"/>
                          <a:ea typeface="Arial"/>
                          <a:cs typeface="Arial"/>
                        </a:rPr>
                        <a:t>Partenaire</a:t>
                      </a:r>
                    </a:p>
                  </a:txBody>
                  <a:tcPr marL="91440" marR="91440" marT="45720" marB="45720">
                    <a:solidFill>
                      <a:srgbClr val="E9EEE4"/>
                    </a:solidFill>
                  </a:tcPr>
                </a:tc>
                <a:tc>
                  <a:txBody>
                    <a:bodyPr/>
                    <a:lstStyle/>
                    <a:p>
                      <a:r>
                        <a:rPr sz="1875" b="0">
                          <a:solidFill>
                            <a:srgbClr val="18312D"/>
                          </a:solidFill>
                          <a:latin typeface="Arial"/>
                          <a:ea typeface="Arial"/>
                          <a:cs typeface="Arial"/>
                        </a:rPr>
                        <a:t>Filtres cohérents et état de demande compréhensible.</a:t>
                      </a:r>
                    </a:p>
                  </a:txBody>
                  <a:tcPr marL="91440" marR="91440" marT="45720" marB="45720">
                    <a:solidFill>
                      <a:srgbClr val="E9EEE4"/>
                    </a:solidFill>
                  </a:tcPr>
                </a:tc>
              </a:tr>
              <a:tr h="672465">
                <a:tc>
                  <a:txBody>
                    <a:bodyPr/>
                    <a:lstStyle/>
                    <a:p>
                      <a:r>
                        <a:rPr sz="1875" b="0">
                          <a:solidFill>
                            <a:srgbClr val="18312D"/>
                          </a:solidFill>
                          <a:latin typeface="Arial"/>
                          <a:ea typeface="Arial"/>
                          <a:cs typeface="Arial"/>
                        </a:rPr>
                        <a:t>Inscription</a:t>
                      </a:r>
                    </a:p>
                  </a:txBody>
                  <a:tcPr marL="91440" marR="91440" marT="45720" marB="45720">
                    <a:solidFill>
                      <a:srgbClr val="F5F3EA"/>
                    </a:solidFill>
                  </a:tcPr>
                </a:tc>
                <a:tc>
                  <a:txBody>
                    <a:bodyPr/>
                    <a:lstStyle/>
                    <a:p>
                      <a:r>
                        <a:rPr sz="1875" b="0">
                          <a:solidFill>
                            <a:srgbClr val="18312D"/>
                          </a:solidFill>
                          <a:latin typeface="Arial"/>
                          <a:ea typeface="Arial"/>
                          <a:cs typeface="Arial"/>
                        </a:rPr>
                        <a:t>Confirmation et capacité respectée.</a:t>
                      </a:r>
                    </a:p>
                  </a:txBody>
                  <a:tcPr marL="91440" marR="91440" marT="45720" marB="45720">
                    <a:solidFill>
                      <a:srgbClr val="F5F3EA"/>
                    </a:solidFill>
                  </a:tcPr>
                </a:tc>
              </a:tr>
              <a:tr h="672465">
                <a:tc>
                  <a:txBody>
                    <a:bodyPr/>
                    <a:lstStyle/>
                    <a:p>
                      <a:r>
                        <a:rPr sz="1875" b="0">
                          <a:solidFill>
                            <a:srgbClr val="18312D"/>
                          </a:solidFill>
                          <a:latin typeface="Arial"/>
                          <a:ea typeface="Arial"/>
                          <a:cs typeface="Arial"/>
                        </a:rPr>
                        <a:t>Organisation club</a:t>
                      </a:r>
                    </a:p>
                  </a:txBody>
                  <a:tcPr marL="91440" marR="91440" marT="45720" marB="45720">
                    <a:solidFill>
                      <a:srgbClr val="E9EEE4"/>
                    </a:solidFill>
                  </a:tcPr>
                </a:tc>
                <a:tc>
                  <a:txBody>
                    <a:bodyPr/>
                    <a:lstStyle/>
                    <a:p>
                      <a:r>
                        <a:rPr sz="1875" b="0">
                          <a:solidFill>
                            <a:srgbClr val="18312D"/>
                          </a:solidFill>
                          <a:latin typeface="Arial"/>
                          <a:ea typeface="Arial"/>
                          <a:cs typeface="Arial"/>
                        </a:rPr>
                        <a:t>Participant visible et commandes autorisées.</a:t>
                      </a:r>
                    </a:p>
                  </a:txBody>
                  <a:tcPr marL="91440" marR="91440" marT="45720" marB="45720">
                    <a:solidFill>
                      <a:srgbClr val="E9EEE4"/>
                    </a:solidFill>
                  </a:tcPr>
                </a:tc>
              </a:tr>
              <a:tr h="672465">
                <a:tc>
                  <a:txBody>
                    <a:bodyPr/>
                    <a:lstStyle/>
                    <a:p>
                      <a:r>
                        <a:rPr sz="1875" b="0">
                          <a:solidFill>
                            <a:srgbClr val="18312D"/>
                          </a:solidFill>
                          <a:latin typeface="Arial"/>
                          <a:ea typeface="Arial"/>
                          <a:cs typeface="Arial"/>
                        </a:rPr>
                        <a:t>Utilisation</a:t>
                      </a:r>
                    </a:p>
                  </a:txBody>
                  <a:tcPr marL="91440" marR="91440" marT="45720" marB="45720">
                    <a:solidFill>
                      <a:srgbClr val="F5F3EA"/>
                    </a:solidFill>
                  </a:tcPr>
                </a:tc>
                <a:tc>
                  <a:txBody>
                    <a:bodyPr/>
                    <a:lstStyle/>
                    <a:p>
                      <a:r>
                        <a:rPr sz="1875" b="0">
                          <a:solidFill>
                            <a:srgbClr val="18312D"/>
                          </a:solidFill>
                          <a:latin typeface="Arial"/>
                          <a:ea typeface="Arial"/>
                          <a:cs typeface="Arial"/>
                        </a:rPr>
                        <a:t>Commandes nommées, parcours au clavier.</a:t>
                      </a:r>
                    </a:p>
                  </a:txBody>
                  <a:tcPr marL="91440" marR="91440" marT="45720" marB="45720">
                    <a:solidFill>
                      <a:srgbClr val="F5F3EA"/>
                    </a:solidFill>
                  </a:tcPr>
                </a:tc>
              </a:tr>
            </a:tbl>
          </a:graphicData>
        </a:graphic>
      </p:graphicFrame>
      <p:sp>
        <p:nvSpPr>
          <p:cNvPr id="4" name="">
            <a:extLst xmlns:a="http://schemas.openxmlformats.org/drawingml/2006/main">
              <a:ext uri="{FF2B5EF4-FFF2-40B4-BE49-F238E27FC236}">
                <a16:creationId xmlns:a16="http://schemas.microsoft.com/office/drawing/2014/main" id="{ADB53086-AB08-4AD9-8AF3-DB42A1DBD317}"/>
              </a:ext>
            </a:extLst>
          </p:cNvPr>
          <p:cNvSpPr>
            <a:spLocks xmlns:a="http://schemas.openxmlformats.org/drawingml/2006/main" noGrp="1"/>
          </p:cNvSpPr>
          <p:nvPr/>
        </p:nvSpPr>
        <p:spPr>
          <a:xfrm xmlns:a="http://schemas.openxmlformats.org/drawingml/2006/main">
            <a:off x="685800" y="545782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Décision : accepté, accepté avec réserve ou refusé.</a:t>
            </a:r>
          </a:p>
        </p:txBody>
      </p:sp>
      <p:sp>
        <p:nvSpPr>
          <p:cNvPr id="5" name="">
            <a:extLst xmlns:a="http://schemas.openxmlformats.org/drawingml/2006/main">
              <a:ext uri="{FF2B5EF4-FFF2-40B4-BE49-F238E27FC236}">
                <a16:creationId xmlns:a16="http://schemas.microsoft.com/office/drawing/2014/main" id="{5192E238-B067-4838-A597-DB274C10E121}"/>
              </a:ext>
            </a:extLst>
          </p:cNvPr>
          <p:cNvSpPr>
            <a:spLocks xmlns:a="http://schemas.openxmlformats.org/drawingml/2006/main" noGrp="1"/>
          </p:cNvSpPr>
          <p:nvPr/>
        </p:nvSpPr>
        <p:spPr>
          <a:xfrm xmlns:a="http://schemas.openxmlformats.org/drawingml/2006/main">
            <a:off x="685800" y="59626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Réserve : action, responsable, échéance. Transmission au Bloc 4.</a:t>
            </a:r>
          </a:p>
        </p:txBody>
      </p:sp>
    </p:spTree>
    <p:extLst>
      <p:ext uri="{BB962C8B-B14F-4D97-AF65-F5344CB8AC3E}">
        <p14:creationId xmlns:p14="http://schemas.microsoft.com/office/powerpoint/2010/main" val="146290766"/>
      </p:ext>
    </p:extLst>
  </p:cSld>
</p:sld>
</file>

<file path=ppt/slides/slide2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AFE609-4D83-4FE0-9B24-0297CAD61C73}"/>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Annexe : responsabilités du lot</a:t>
            </a:r>
          </a:p>
        </p:txBody>
      </p:sp>
      <p:sp>
        <p:nvSpPr>
          <p:cNvPr id="2" name="">
            <a:extLst xmlns:a="http://schemas.openxmlformats.org/drawingml/2006/main">
              <a:ext uri="{FF2B5EF4-FFF2-40B4-BE49-F238E27FC236}">
                <a16:creationId xmlns:a16="http://schemas.microsoft.com/office/drawing/2014/main" id="{DFF88DAC-0EE2-4A04-B0CC-440A6DA1699B}"/>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organisation fictive    Questions du jury    23</a:t>
            </a:r>
          </a:p>
        </p:txBody>
      </p:sp>
      <p:graphicFrame>
        <p:nvGraphicFramePr>
          <p:cNvPr id="7" name=""/>
          <p:cNvGraphicFramePr/>
          <p:nvPr/>
        </p:nvGraphicFramePr>
        <p:xfrm>
          <a:off xmlns:a="http://schemas.openxmlformats.org/drawingml/2006/main" x="609600" y="1714500"/>
          <a:ext xmlns:a="http://schemas.openxmlformats.org/drawingml/2006/main" cx="10972800" cy="4019550"/>
        </p:xfrm>
        <a:graphic xmlns:a="http://schemas.openxmlformats.org/drawingml/2006/main">
          <a:graphicData uri="http://schemas.openxmlformats.org/drawingml/2006/table">
            <a:tbl>
              <a:tblPr/>
              <a:tblGrid>
                <a:gridCol w="6019800"/>
                <a:gridCol w="1238250"/>
                <a:gridCol w="1238250"/>
                <a:gridCol w="1238250"/>
                <a:gridCol w="1238250"/>
              </a:tblGrid>
              <a:tr h="502444">
                <a:tc>
                  <a:txBody>
                    <a:bodyPr/>
                    <a:lstStyle/>
                    <a:p>
                      <a:r>
                        <a:rPr sz="1800" b="1">
                          <a:solidFill>
                            <a:srgbClr val="FFFFFF"/>
                          </a:solidFill>
                          <a:latin typeface="Arial"/>
                          <a:ea typeface="Arial"/>
                          <a:cs typeface="Arial"/>
                        </a:rPr>
                        <a:t>Activité</a:t>
                      </a:r>
                    </a:p>
                  </a:txBody>
                  <a:tcPr marL="91440" marR="91440" marT="45720" marB="45720">
                    <a:solidFill>
                      <a:srgbClr val="28725F"/>
                    </a:solidFill>
                  </a:tcPr>
                </a:tc>
                <a:tc>
                  <a:txBody>
                    <a:bodyPr/>
                    <a:lstStyle/>
                    <a:p>
                      <a:r>
                        <a:rPr sz="1800" b="1">
                          <a:solidFill>
                            <a:srgbClr val="FFFFFF"/>
                          </a:solidFill>
                          <a:latin typeface="Arial"/>
                          <a:ea typeface="Arial"/>
                          <a:cs typeface="Arial"/>
                        </a:rPr>
                        <a:t>CP</a:t>
                      </a:r>
                    </a:p>
                  </a:txBody>
                  <a:tcPr marL="91440" marR="91440" marT="45720" marB="45720">
                    <a:solidFill>
                      <a:srgbClr val="28725F"/>
                    </a:solidFill>
                  </a:tcPr>
                </a:tc>
                <a:tc>
                  <a:txBody>
                    <a:bodyPr/>
                    <a:lstStyle/>
                    <a:p>
                      <a:r>
                        <a:rPr sz="1800" b="1">
                          <a:solidFill>
                            <a:srgbClr val="FFFFFF"/>
                          </a:solidFill>
                          <a:latin typeface="Arial"/>
                          <a:ea typeface="Arial"/>
                          <a:cs typeface="Arial"/>
                        </a:rPr>
                        <a:t>DEV</a:t>
                      </a:r>
                    </a:p>
                  </a:txBody>
                  <a:tcPr marL="91440" marR="91440" marT="45720" marB="45720">
                    <a:solidFill>
                      <a:srgbClr val="28725F"/>
                    </a:solidFill>
                  </a:tcPr>
                </a:tc>
                <a:tc>
                  <a:txBody>
                    <a:bodyPr/>
                    <a:lstStyle/>
                    <a:p>
                      <a:r>
                        <a:rPr sz="1800" b="1">
                          <a:solidFill>
                            <a:srgbClr val="FFFFFF"/>
                          </a:solidFill>
                          <a:latin typeface="Arial"/>
                          <a:ea typeface="Arial"/>
                          <a:cs typeface="Arial"/>
                        </a:rPr>
                        <a:t>QA</a:t>
                      </a:r>
                    </a:p>
                  </a:txBody>
                  <a:tcPr marL="91440" marR="91440" marT="45720" marB="45720">
                    <a:solidFill>
                      <a:srgbClr val="28725F"/>
                    </a:solidFill>
                  </a:tcPr>
                </a:tc>
                <a:tc>
                  <a:txBody>
                    <a:bodyPr/>
                    <a:lstStyle/>
                    <a:p>
                      <a:r>
                        <a:rPr sz="1800" b="1">
                          <a:solidFill>
                            <a:srgbClr val="FFFFFF"/>
                          </a:solidFill>
                          <a:latin typeface="Arial"/>
                          <a:ea typeface="Arial"/>
                          <a:cs typeface="Arial"/>
                        </a:rPr>
                        <a:t>Client</a:t>
                      </a:r>
                    </a:p>
                  </a:txBody>
                  <a:tcPr marL="91440" marR="91440" marT="45720" marB="45720">
                    <a:solidFill>
                      <a:srgbClr val="28725F"/>
                    </a:solidFill>
                  </a:tcPr>
                </a:tc>
              </a:tr>
              <a:tr h="502444">
                <a:tc>
                  <a:txBody>
                    <a:bodyPr/>
                    <a:lstStyle/>
                    <a:p>
                      <a:r>
                        <a:rPr sz="1800" b="0">
                          <a:solidFill>
                            <a:srgbClr val="18312D"/>
                          </a:solidFill>
                          <a:latin typeface="Arial"/>
                          <a:ea typeface="Arial"/>
                          <a:cs typeface="Arial"/>
                        </a:rPr>
                        <a:t>Périmètre et critères</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r>
              <a:tr h="502444">
                <a:tc>
                  <a:txBody>
                    <a:bodyPr/>
                    <a:lstStyle/>
                    <a:p>
                      <a:r>
                        <a:rPr sz="1800" b="0">
                          <a:solidFill>
                            <a:srgbClr val="18312D"/>
                          </a:solidFill>
                          <a:latin typeface="Arial"/>
                          <a:ea typeface="Arial"/>
                          <a:cs typeface="Arial"/>
                        </a:rPr>
                        <a:t>Planification et affectation</a:t>
                      </a:r>
                    </a:p>
                  </a:txBody>
                  <a:tcPr marL="91440" marR="91440" marT="45720" marB="45720">
                    <a:solidFill>
                      <a:srgbClr val="F5F3EA"/>
                    </a:solidFill>
                  </a:tcPr>
                </a:tc>
                <a:tc>
                  <a:txBody>
                    <a:bodyPr/>
                    <a:lstStyle/>
                    <a:p>
                      <a:r>
                        <a:rPr sz="1800" b="0">
                          <a:solidFill>
                            <a:srgbClr val="18312D"/>
                          </a:solidFill>
                          <a:latin typeface="Arial"/>
                          <a:ea typeface="Arial"/>
                          <a:cs typeface="Arial"/>
                        </a:rPr>
                        <a:t>A/R</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I</a:t>
                      </a:r>
                    </a:p>
                  </a:txBody>
                  <a:tcPr marL="91440" marR="91440" marT="45720" marB="45720">
                    <a:solidFill>
                      <a:srgbClr val="F5F3EA"/>
                    </a:solidFill>
                  </a:tcPr>
                </a:tc>
              </a:tr>
              <a:tr h="502444">
                <a:tc>
                  <a:txBody>
                    <a:bodyPr/>
                    <a:lstStyle/>
                    <a:p>
                      <a:r>
                        <a:rPr sz="1800" b="0">
                          <a:solidFill>
                            <a:srgbClr val="18312D"/>
                          </a:solidFill>
                          <a:latin typeface="Arial"/>
                          <a:ea typeface="Arial"/>
                          <a:cs typeface="Arial"/>
                        </a:rPr>
                        <a:t>Réalisation</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I</a:t>
                      </a:r>
                    </a:p>
                  </a:txBody>
                  <a:tcPr marL="91440" marR="91440" marT="45720" marB="45720">
                    <a:solidFill>
                      <a:srgbClr val="E9EEE4"/>
                    </a:solidFill>
                  </a:tcPr>
                </a:tc>
              </a:tr>
              <a:tr h="502444">
                <a:tc>
                  <a:txBody>
                    <a:bodyPr/>
                    <a:lstStyle/>
                    <a:p>
                      <a:r>
                        <a:rPr sz="1800" b="0">
                          <a:solidFill>
                            <a:srgbClr val="18312D"/>
                          </a:solidFill>
                          <a:latin typeface="Arial"/>
                          <a:ea typeface="Arial"/>
                          <a:cs typeface="Arial"/>
                        </a:rPr>
                        <a:t>Recette des parcours</a:t>
                      </a:r>
                    </a:p>
                  </a:txBody>
                  <a:tcPr marL="91440" marR="91440" marT="45720" marB="45720">
                    <a:solidFill>
                      <a:srgbClr val="F5F3EA"/>
                    </a:solidFill>
                  </a:tcPr>
                </a:tc>
                <a:tc>
                  <a:txBody>
                    <a:bodyPr/>
                    <a:lstStyle/>
                    <a:p>
                      <a:r>
                        <a:rPr sz="1800" b="0">
                          <a:solidFill>
                            <a:srgbClr val="18312D"/>
                          </a:solidFill>
                          <a:latin typeface="Arial"/>
                          <a:ea typeface="Arial"/>
                          <a:cs typeface="Arial"/>
                        </a:rPr>
                        <a:t>A</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R</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r>
              <a:tr h="502444">
                <a:tc>
                  <a:txBody>
                    <a:bodyPr/>
                    <a:lstStyle/>
                    <a:p>
                      <a:r>
                        <a:rPr sz="1800" b="0">
                          <a:solidFill>
                            <a:srgbClr val="18312D"/>
                          </a:solidFill>
                          <a:latin typeface="Arial"/>
                          <a:ea typeface="Arial"/>
                          <a:cs typeface="Arial"/>
                        </a:rPr>
                        <a:t>Corrections</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I</a:t>
                      </a:r>
                    </a:p>
                  </a:txBody>
                  <a:tcPr marL="91440" marR="91440" marT="45720" marB="45720">
                    <a:solidFill>
                      <a:srgbClr val="E9EEE4"/>
                    </a:solidFill>
                  </a:tcPr>
                </a:tc>
              </a:tr>
              <a:tr h="502444">
                <a:tc>
                  <a:txBody>
                    <a:bodyPr/>
                    <a:lstStyle/>
                    <a:p>
                      <a:r>
                        <a:rPr sz="1800" b="0">
                          <a:solidFill>
                            <a:srgbClr val="18312D"/>
                          </a:solidFill>
                          <a:latin typeface="Arial"/>
                          <a:ea typeface="Arial"/>
                          <a:cs typeface="Arial"/>
                        </a:rPr>
                        <a:t>Arbitrage délai, coût, périmètre</a:t>
                      </a:r>
                    </a:p>
                  </a:txBody>
                  <a:tcPr marL="91440" marR="91440" marT="45720" marB="45720">
                    <a:solidFill>
                      <a:srgbClr val="F5F3EA"/>
                    </a:solidFill>
                  </a:tcPr>
                </a:tc>
                <a:tc>
                  <a:txBody>
                    <a:bodyPr/>
                    <a:lstStyle/>
                    <a:p>
                      <a:r>
                        <a:rPr sz="1800" b="0">
                          <a:solidFill>
                            <a:srgbClr val="18312D"/>
                          </a:solidFill>
                          <a:latin typeface="Arial"/>
                          <a:ea typeface="Arial"/>
                          <a:cs typeface="Arial"/>
                        </a:rPr>
                        <a:t>R</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A</a:t>
                      </a:r>
                    </a:p>
                  </a:txBody>
                  <a:tcPr marL="91440" marR="91440" marT="45720" marB="45720">
                    <a:solidFill>
                      <a:srgbClr val="F5F3EA"/>
                    </a:solidFill>
                  </a:tcPr>
                </a:tc>
              </a:tr>
              <a:tr h="502444">
                <a:tc>
                  <a:txBody>
                    <a:bodyPr/>
                    <a:lstStyle/>
                    <a:p>
                      <a:r>
                        <a:rPr sz="1800" b="0">
                          <a:solidFill>
                            <a:srgbClr val="18312D"/>
                          </a:solidFill>
                          <a:latin typeface="Arial"/>
                          <a:ea typeface="Arial"/>
                          <a:cs typeface="Arial"/>
                        </a:rPr>
                        <a:t>Acceptation de la démonstration</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r>
            </a:tbl>
          </a:graphicData>
        </a:graphic>
      </p:graphicFrame>
      <p:sp>
        <p:nvSpPr>
          <p:cNvPr id="4" name="">
            <a:extLst xmlns:a="http://schemas.openxmlformats.org/drawingml/2006/main">
              <a:ext uri="{FF2B5EF4-FFF2-40B4-BE49-F238E27FC236}">
                <a16:creationId xmlns:a16="http://schemas.microsoft.com/office/drawing/2014/main" id="{283ECD3D-8CF9-4519-8454-17FE7BC2E0A3}"/>
              </a:ext>
            </a:extLst>
          </p:cNvPr>
          <p:cNvSpPr>
            <a:spLocks xmlns:a="http://schemas.openxmlformats.org/drawingml/2006/main" noGrp="1"/>
          </p:cNvSpPr>
          <p:nvPr/>
        </p:nvSpPr>
        <p:spPr>
          <a:xfrm xmlns:a="http://schemas.openxmlformats.org/drawingml/2006/main">
            <a:off x="685800" y="59626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725F"/>
                </a:solidFill>
                <a:latin typeface="Arial"/>
                <a:ea typeface="Arial"/>
                <a:cs typeface="Arial"/>
              </a:defRPr>
            </a:pPr>
            <a:r>
              <a:rPr sz="1725" b="1">
                <a:solidFill>
                  <a:srgbClr val="28725F"/>
                </a:solidFill>
                <a:latin typeface="Arial"/>
                <a:ea typeface="Arial"/>
                <a:cs typeface="Arial"/>
              </a:rPr>
              <a:t>R : réalise. A : décide. C : consulté. I : informé. QA : Camille.</a:t>
            </a:r>
          </a:p>
        </p:txBody>
      </p:sp>
    </p:spTree>
    <p:extLst>
      <p:ext uri="{BB962C8B-B14F-4D97-AF65-F5344CB8AC3E}">
        <p14:creationId xmlns:p14="http://schemas.microsoft.com/office/powerpoint/2010/main" val="1668700115"/>
      </p:ext>
    </p:extLst>
  </p:cSld>
</p:sld>
</file>

<file path=ppt/slides/slide2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69B9107-A793-41CF-B9E3-EFF4F004A4BF}"/>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sensibilité du budget et de la capacité</a:t>
            </a:r>
          </a:p>
        </p:txBody>
      </p:sp>
      <p:sp>
        <p:nvSpPr>
          <p:cNvPr id="2" name="">
            <a:extLst xmlns:a="http://schemas.openxmlformats.org/drawingml/2006/main">
              <a:ext uri="{FF2B5EF4-FFF2-40B4-BE49-F238E27FC236}">
                <a16:creationId xmlns:a16="http://schemas.microsoft.com/office/drawing/2014/main" id="{D00BCAE8-1F2F-48E6-9959-942B7A5E44B8}"/>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scénarios pédagogiques    Questions du jury    24</a:t>
            </a:r>
          </a:p>
        </p:txBody>
      </p:sp>
      <p:graphicFrame>
        <p:nvGraphicFramePr>
          <p:cNvPr id="6" name=""/>
          <p:cNvGraphicFramePr/>
          <p:nvPr/>
        </p:nvGraphicFramePr>
        <p:xfrm>
          <a:off xmlns:a="http://schemas.openxmlformats.org/drawingml/2006/main" x="609600" y="1762125"/>
          <a:ext xmlns:a="http://schemas.openxmlformats.org/drawingml/2006/main" cx="10972800" cy="4095750"/>
        </p:xfrm>
        <a:graphic xmlns:a="http://schemas.openxmlformats.org/drawingml/2006/main">
          <a:graphicData uri="http://schemas.openxmlformats.org/drawingml/2006/table">
            <a:tbl>
              <a:tblPr/>
              <a:tblGrid>
                <a:gridCol w="2952750"/>
                <a:gridCol w="2286000"/>
                <a:gridCol w="2143125"/>
                <a:gridCol w="3590925"/>
              </a:tblGrid>
              <a:tr h="682625">
                <a:tc>
                  <a:txBody>
                    <a:bodyPr/>
                    <a:lstStyle/>
                    <a:p>
                      <a:r>
                        <a:rPr sz="1800" b="1">
                          <a:solidFill>
                            <a:srgbClr val="FFFFFF"/>
                          </a:solidFill>
                          <a:latin typeface="Arial"/>
                          <a:ea typeface="Arial"/>
                          <a:cs typeface="Arial"/>
                        </a:rPr>
                        <a:t>Hypothèse</a:t>
                      </a:r>
                    </a:p>
                  </a:txBody>
                  <a:tcPr marL="91440" marR="91440" marT="45720" marB="45720">
                    <a:solidFill>
                      <a:srgbClr val="28725F"/>
                    </a:solidFill>
                  </a:tcPr>
                </a:tc>
                <a:tc>
                  <a:txBody>
                    <a:bodyPr/>
                    <a:lstStyle/>
                    <a:p>
                      <a:r>
                        <a:rPr sz="1800" b="1">
                          <a:solidFill>
                            <a:srgbClr val="FFFFFF"/>
                          </a:solidFill>
                          <a:latin typeface="Arial"/>
                          <a:ea typeface="Arial"/>
                          <a:cs typeface="Arial"/>
                        </a:rPr>
                        <a:t>Prévision</a:t>
                      </a:r>
                    </a:p>
                  </a:txBody>
                  <a:tcPr marL="91440" marR="91440" marT="45720" marB="45720">
                    <a:solidFill>
                      <a:srgbClr val="28725F"/>
                    </a:solidFill>
                  </a:tcPr>
                </a:tc>
                <a:tc>
                  <a:txBody>
                    <a:bodyPr/>
                    <a:lstStyle/>
                    <a:p>
                      <a:r>
                        <a:rPr sz="1800" b="1">
                          <a:solidFill>
                            <a:srgbClr val="FFFFFF"/>
                          </a:solidFill>
                          <a:latin typeface="Arial"/>
                          <a:ea typeface="Arial"/>
                          <a:cs typeface="Arial"/>
                        </a:rPr>
                        <a:t>Marge</a:t>
                      </a:r>
                    </a:p>
                  </a:txBody>
                  <a:tcPr marL="91440" marR="91440" marT="45720" marB="45720">
                    <a:solidFill>
                      <a:srgbClr val="28725F"/>
                    </a:solidFill>
                  </a:tcPr>
                </a:tc>
                <a:tc>
                  <a:txBody>
                    <a:bodyPr/>
                    <a:lstStyle/>
                    <a:p>
                      <a:r>
                        <a:rPr sz="1800" b="1">
                          <a:solidFill>
                            <a:srgbClr val="FFFFFF"/>
                          </a:solidFill>
                          <a:latin typeface="Arial"/>
                          <a:ea typeface="Arial"/>
                          <a:cs typeface="Arial"/>
                        </a:rPr>
                        <a:t>Capacité</a:t>
                      </a:r>
                    </a:p>
                  </a:txBody>
                  <a:tcPr marL="91440" marR="91440" marT="45720" marB="45720">
                    <a:solidFill>
                      <a:srgbClr val="28725F"/>
                    </a:solidFill>
                  </a:tcPr>
                </a:tc>
              </a:tr>
              <a:tr h="682625">
                <a:tc>
                  <a:txBody>
                    <a:bodyPr/>
                    <a:lstStyle/>
                    <a:p>
                      <a:r>
                        <a:rPr sz="1800" b="0">
                          <a:solidFill>
                            <a:srgbClr val="18312D"/>
                          </a:solidFill>
                          <a:latin typeface="Arial"/>
                          <a:ea typeface="Arial"/>
                          <a:cs typeface="Arial"/>
                        </a:rPr>
                        <a:t>J10</a:t>
                      </a:r>
                    </a:p>
                  </a:txBody>
                  <a:tcPr marL="91440" marR="91440" marT="45720" marB="45720">
                    <a:solidFill>
                      <a:srgbClr val="E9EEE4"/>
                    </a:solidFill>
                  </a:tcPr>
                </a:tc>
                <a:tc>
                  <a:txBody>
                    <a:bodyPr/>
                    <a:lstStyle/>
                    <a:p>
                      <a:r>
                        <a:rPr sz="1800" b="0">
                          <a:solidFill>
                            <a:srgbClr val="18312D"/>
                          </a:solidFill>
                          <a:latin typeface="Arial"/>
                          <a:ea typeface="Arial"/>
                          <a:cs typeface="Arial"/>
                        </a:rPr>
                        <a:t>4 465 €</a:t>
                      </a:r>
                    </a:p>
                  </a:txBody>
                  <a:tcPr marL="91440" marR="91440" marT="45720" marB="45720">
                    <a:solidFill>
                      <a:srgbClr val="E9EEE4"/>
                    </a:solidFill>
                  </a:tcPr>
                </a:tc>
                <a:tc>
                  <a:txBody>
                    <a:bodyPr/>
                    <a:lstStyle/>
                    <a:p>
                      <a:r>
                        <a:rPr sz="1800" b="0">
                          <a:solidFill>
                            <a:srgbClr val="18312D"/>
                          </a:solidFill>
                          <a:latin typeface="Arial"/>
                          <a:ea typeface="Arial"/>
                          <a:cs typeface="Arial"/>
                        </a:rPr>
                        <a:t>232 €</a:t>
                      </a:r>
                    </a:p>
                  </a:txBody>
                  <a:tcPr marL="91440" marR="91440" marT="45720" marB="45720">
                    <a:solidFill>
                      <a:srgbClr val="E9EEE4"/>
                    </a:solidFill>
                  </a:tcPr>
                </a:tc>
                <a:tc>
                  <a:txBody>
                    <a:bodyPr/>
                    <a:lstStyle/>
                    <a:p>
                      <a:r>
                        <a:rPr sz="1800" b="0">
                          <a:solidFill>
                            <a:srgbClr val="18312D"/>
                          </a:solidFill>
                          <a:latin typeface="Arial"/>
                          <a:ea typeface="Arial"/>
                          <a:cs typeface="Arial"/>
                        </a:rPr>
                        <a:t>Respectée</a:t>
                      </a:r>
                    </a:p>
                  </a:txBody>
                  <a:tcPr marL="91440" marR="91440" marT="45720" marB="45720">
                    <a:solidFill>
                      <a:srgbClr val="E9EEE4"/>
                    </a:solidFill>
                  </a:tcPr>
                </a:tc>
              </a:tr>
              <a:tr h="682625">
                <a:tc>
                  <a:txBody>
                    <a:bodyPr/>
                    <a:lstStyle/>
                    <a:p>
                      <a:r>
                        <a:rPr sz="1800" b="0">
                          <a:solidFill>
                            <a:srgbClr val="18312D"/>
                          </a:solidFill>
                          <a:latin typeface="Arial"/>
                          <a:ea typeface="Arial"/>
                          <a:cs typeface="Arial"/>
                        </a:rPr>
                        <a:t>QA +6 h</a:t>
                      </a:r>
                    </a:p>
                  </a:txBody>
                  <a:tcPr marL="91440" marR="91440" marT="45720" marB="45720">
                    <a:solidFill>
                      <a:srgbClr val="F5F3EA"/>
                    </a:solidFill>
                  </a:tcPr>
                </a:tc>
                <a:tc>
                  <a:txBody>
                    <a:bodyPr/>
                    <a:lstStyle/>
                    <a:p>
                      <a:r>
                        <a:rPr sz="1800" b="0">
                          <a:solidFill>
                            <a:srgbClr val="18312D"/>
                          </a:solidFill>
                          <a:latin typeface="Arial"/>
                          <a:ea typeface="Arial"/>
                          <a:cs typeface="Arial"/>
                        </a:rPr>
                        <a:t>4 645 €</a:t>
                      </a:r>
                    </a:p>
                  </a:txBody>
                  <a:tcPr marL="91440" marR="91440" marT="45720" marB="45720">
                    <a:solidFill>
                      <a:srgbClr val="F5F3EA"/>
                    </a:solidFill>
                  </a:tcPr>
                </a:tc>
                <a:tc>
                  <a:txBody>
                    <a:bodyPr/>
                    <a:lstStyle/>
                    <a:p>
                      <a:r>
                        <a:rPr sz="1800" b="0">
                          <a:solidFill>
                            <a:srgbClr val="18312D"/>
                          </a:solidFill>
                          <a:latin typeface="Arial"/>
                          <a:ea typeface="Arial"/>
                          <a:cs typeface="Arial"/>
                        </a:rPr>
                        <a:t>52 €</a:t>
                      </a:r>
                    </a:p>
                  </a:txBody>
                  <a:tcPr marL="91440" marR="91440" marT="45720" marB="45720">
                    <a:solidFill>
                      <a:srgbClr val="F5F3EA"/>
                    </a:solidFill>
                  </a:tcPr>
                </a:tc>
                <a:tc>
                  <a:txBody>
                    <a:bodyPr/>
                    <a:lstStyle/>
                    <a:p>
                      <a:r>
                        <a:rPr sz="1800" b="0">
                          <a:solidFill>
                            <a:srgbClr val="18312D"/>
                          </a:solidFill>
                          <a:latin typeface="Arial"/>
                          <a:ea typeface="Arial"/>
                          <a:cs typeface="Arial"/>
                        </a:rPr>
                        <a:t>Respectée</a:t>
                      </a:r>
                    </a:p>
                  </a:txBody>
                  <a:tcPr marL="91440" marR="91440" marT="45720" marB="45720">
                    <a:solidFill>
                      <a:srgbClr val="F5F3EA"/>
                    </a:solidFill>
                  </a:tcPr>
                </a:tc>
              </a:tr>
              <a:tr h="682625">
                <a:tc>
                  <a:txBody>
                    <a:bodyPr/>
                    <a:lstStyle/>
                    <a:p>
                      <a:r>
                        <a:rPr sz="1800" b="0">
                          <a:solidFill>
                            <a:srgbClr val="18312D"/>
                          </a:solidFill>
                          <a:latin typeface="Arial"/>
                          <a:ea typeface="Arial"/>
                          <a:cs typeface="Arial"/>
                        </a:rPr>
                        <a:t>DEV +8 h</a:t>
                      </a:r>
                    </a:p>
                  </a:txBody>
                  <a:tcPr marL="91440" marR="91440" marT="45720" marB="45720">
                    <a:solidFill>
                      <a:srgbClr val="E9EEE4"/>
                    </a:solidFill>
                  </a:tcPr>
                </a:tc>
                <a:tc>
                  <a:txBody>
                    <a:bodyPr/>
                    <a:lstStyle/>
                    <a:p>
                      <a:r>
                        <a:rPr sz="1800" b="0">
                          <a:solidFill>
                            <a:srgbClr val="18312D"/>
                          </a:solidFill>
                          <a:latin typeface="Arial"/>
                          <a:ea typeface="Arial"/>
                          <a:cs typeface="Arial"/>
                        </a:rPr>
                        <a:t>4 745 €</a:t>
                      </a:r>
                    </a:p>
                  </a:txBody>
                  <a:tcPr marL="91440" marR="91440" marT="45720" marB="45720">
                    <a:solidFill>
                      <a:srgbClr val="E9EEE4"/>
                    </a:solidFill>
                  </a:tcPr>
                </a:tc>
                <a:tc>
                  <a:txBody>
                    <a:bodyPr/>
                    <a:lstStyle/>
                    <a:p>
                      <a:r>
                        <a:rPr sz="1800" b="0">
                          <a:solidFill>
                            <a:srgbClr val="18312D"/>
                          </a:solidFill>
                          <a:latin typeface="Arial"/>
                          <a:ea typeface="Arial"/>
                          <a:cs typeface="Arial"/>
                        </a:rPr>
                        <a:t>−48 €</a:t>
                      </a:r>
                    </a:p>
                  </a:txBody>
                  <a:tcPr marL="91440" marR="91440" marT="45720" marB="45720">
                    <a:solidFill>
                      <a:srgbClr val="E9EEE4"/>
                    </a:solidFill>
                  </a:tcPr>
                </a:tc>
                <a:tc>
                  <a:txBody>
                    <a:bodyPr/>
                    <a:lstStyle/>
                    <a:p>
                      <a:r>
                        <a:rPr sz="1800" b="0">
                          <a:solidFill>
                            <a:srgbClr val="18312D"/>
                          </a:solidFill>
                          <a:latin typeface="Arial"/>
                          <a:ea typeface="Arial"/>
                          <a:cs typeface="Arial"/>
                        </a:rPr>
                        <a:t>Respectée</a:t>
                      </a:r>
                    </a:p>
                  </a:txBody>
                  <a:tcPr marL="91440" marR="91440" marT="45720" marB="45720">
                    <a:solidFill>
                      <a:srgbClr val="E9EEE4"/>
                    </a:solidFill>
                  </a:tcPr>
                </a:tc>
              </a:tr>
              <a:tr h="682625">
                <a:tc>
                  <a:txBody>
                    <a:bodyPr/>
                    <a:lstStyle/>
                    <a:p>
                      <a:r>
                        <a:rPr sz="1800" b="0">
                          <a:solidFill>
                            <a:srgbClr val="18312D"/>
                          </a:solidFill>
                          <a:latin typeface="Arial"/>
                          <a:ea typeface="Arial"/>
                          <a:cs typeface="Arial"/>
                        </a:rPr>
                        <a:t>CP +2 h</a:t>
                      </a:r>
                    </a:p>
                  </a:txBody>
                  <a:tcPr marL="91440" marR="91440" marT="45720" marB="45720">
                    <a:solidFill>
                      <a:srgbClr val="F5F3EA"/>
                    </a:solidFill>
                  </a:tcPr>
                </a:tc>
                <a:tc>
                  <a:txBody>
                    <a:bodyPr/>
                    <a:lstStyle/>
                    <a:p>
                      <a:r>
                        <a:rPr sz="1800" b="0">
                          <a:solidFill>
                            <a:srgbClr val="18312D"/>
                          </a:solidFill>
                          <a:latin typeface="Arial"/>
                          <a:ea typeface="Arial"/>
                          <a:cs typeface="Arial"/>
                        </a:rPr>
                        <a:t>4 555 €</a:t>
                      </a:r>
                    </a:p>
                  </a:txBody>
                  <a:tcPr marL="91440" marR="91440" marT="45720" marB="45720">
                    <a:solidFill>
                      <a:srgbClr val="F5F3EA"/>
                    </a:solidFill>
                  </a:tcPr>
                </a:tc>
                <a:tc>
                  <a:txBody>
                    <a:bodyPr/>
                    <a:lstStyle/>
                    <a:p>
                      <a:r>
                        <a:rPr sz="1800" b="0">
                          <a:solidFill>
                            <a:srgbClr val="18312D"/>
                          </a:solidFill>
                          <a:latin typeface="Arial"/>
                          <a:ea typeface="Arial"/>
                          <a:cs typeface="Arial"/>
                        </a:rPr>
                        <a:t>142 €</a:t>
                      </a:r>
                    </a:p>
                  </a:txBody>
                  <a:tcPr marL="91440" marR="91440" marT="45720" marB="45720">
                    <a:solidFill>
                      <a:srgbClr val="F5F3EA"/>
                    </a:solidFill>
                  </a:tcPr>
                </a:tc>
                <a:tc>
                  <a:txBody>
                    <a:bodyPr/>
                    <a:lstStyle/>
                    <a:p>
                      <a:r>
                        <a:rPr sz="1800" b="0">
                          <a:solidFill>
                            <a:srgbClr val="18312D"/>
                          </a:solidFill>
                          <a:latin typeface="Arial"/>
                          <a:ea typeface="Arial"/>
                          <a:cs typeface="Arial"/>
                        </a:rPr>
                        <a:t>CP : 31 / 30 h</a:t>
                      </a:r>
                    </a:p>
                  </a:txBody>
                  <a:tcPr marL="91440" marR="91440" marT="45720" marB="45720">
                    <a:solidFill>
                      <a:srgbClr val="F5F3EA"/>
                    </a:solidFill>
                  </a:tcPr>
                </a:tc>
              </a:tr>
              <a:tr h="682625">
                <a:tc>
                  <a:txBody>
                    <a:bodyPr/>
                    <a:lstStyle/>
                    <a:p>
                      <a:r>
                        <a:rPr sz="1800" b="0">
                          <a:solidFill>
                            <a:srgbClr val="18312D"/>
                          </a:solidFill>
                          <a:latin typeface="Arial"/>
                          <a:ea typeface="Arial"/>
                          <a:cs typeface="Arial"/>
                        </a:rPr>
                        <a:t>Topos +16 h</a:t>
                      </a:r>
                    </a:p>
                  </a:txBody>
                  <a:tcPr marL="91440" marR="91440" marT="45720" marB="45720">
                    <a:solidFill>
                      <a:srgbClr val="E9EEE4"/>
                    </a:solidFill>
                  </a:tcPr>
                </a:tc>
                <a:tc>
                  <a:txBody>
                    <a:bodyPr/>
                    <a:lstStyle/>
                    <a:p>
                      <a:r>
                        <a:rPr sz="1800" b="0">
                          <a:solidFill>
                            <a:srgbClr val="18312D"/>
                          </a:solidFill>
                          <a:latin typeface="Arial"/>
                          <a:ea typeface="Arial"/>
                          <a:cs typeface="Arial"/>
                        </a:rPr>
                        <a:t>5 005 €</a:t>
                      </a:r>
                    </a:p>
                  </a:txBody>
                  <a:tcPr marL="91440" marR="91440" marT="45720" marB="45720">
                    <a:solidFill>
                      <a:srgbClr val="E9EEE4"/>
                    </a:solidFill>
                  </a:tcPr>
                </a:tc>
                <a:tc>
                  <a:txBody>
                    <a:bodyPr/>
                    <a:lstStyle/>
                    <a:p>
                      <a:r>
                        <a:rPr sz="1800" b="0">
                          <a:solidFill>
                            <a:srgbClr val="18312D"/>
                          </a:solidFill>
                          <a:latin typeface="Arial"/>
                          <a:ea typeface="Arial"/>
                          <a:cs typeface="Arial"/>
                        </a:rPr>
                        <a:t>−308 €</a:t>
                      </a:r>
                    </a:p>
                  </a:txBody>
                  <a:tcPr marL="91440" marR="91440" marT="45720" marB="45720">
                    <a:solidFill>
                      <a:srgbClr val="E9EEE4"/>
                    </a:solidFill>
                  </a:tcPr>
                </a:tc>
                <a:tc>
                  <a:txBody>
                    <a:bodyPr/>
                    <a:lstStyle/>
                    <a:p>
                      <a:r>
                        <a:rPr sz="1800" b="0">
                          <a:solidFill>
                            <a:srgbClr val="18312D"/>
                          </a:solidFill>
                          <a:latin typeface="Arial"/>
                          <a:ea typeface="Arial"/>
                          <a:cs typeface="Arial"/>
                        </a:rPr>
                        <a:t>DEV : 76 / 72 h</a:t>
                      </a:r>
                    </a:p>
                  </a:txBody>
                  <a:tcPr marL="91440" marR="91440" marT="45720" marB="45720">
                    <a:solidFill>
                      <a:srgbClr val="E9EEE4"/>
                    </a:solidFill>
                  </a:tcPr>
                </a:tc>
              </a:tr>
            </a:tbl>
          </a:graphicData>
        </a:graphic>
      </p:graphicFrame>
    </p:spTree>
    <p:extLst>
      <p:ext uri="{BB962C8B-B14F-4D97-AF65-F5344CB8AC3E}">
        <p14:creationId xmlns:p14="http://schemas.microsoft.com/office/powerpoint/2010/main" val="859469233"/>
      </p:ext>
    </p:extLst>
  </p:cSld>
</p:sld>
</file>

<file path=ppt/slides/slide2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890C33-9E7A-45B3-BD88-703180DD12A9}"/>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Annexe : demande de renfort aux RH</a:t>
            </a:r>
          </a:p>
        </p:txBody>
      </p:sp>
      <p:sp>
        <p:nvSpPr>
          <p:cNvPr id="2" name="">
            <a:extLst xmlns:a="http://schemas.openxmlformats.org/drawingml/2006/main">
              <a:ext uri="{FF2B5EF4-FFF2-40B4-BE49-F238E27FC236}">
                <a16:creationId xmlns:a16="http://schemas.microsoft.com/office/drawing/2014/main" id="{5DD534C1-C494-4033-8E61-628115FEBECE}"/>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demande et devis pédagogiques    Questions du jury    25</a:t>
            </a:r>
          </a:p>
        </p:txBody>
      </p:sp>
      <p:graphicFrame>
        <p:nvGraphicFramePr>
          <p:cNvPr id="7" name=""/>
          <p:cNvGraphicFramePr/>
          <p:nvPr/>
        </p:nvGraphicFramePr>
        <p:xfrm>
          <a:off xmlns:a="http://schemas.openxmlformats.org/drawingml/2006/main" x="609600" y="1733550"/>
          <a:ext xmlns:a="http://schemas.openxmlformats.org/drawingml/2006/main" cx="10972800" cy="4057650"/>
        </p:xfrm>
        <a:graphic xmlns:a="http://schemas.openxmlformats.org/drawingml/2006/main">
          <a:graphicData uri="http://schemas.openxmlformats.org/drawingml/2006/table">
            <a:tbl>
              <a:tblPr/>
              <a:tblGrid>
                <a:gridCol w="3333750"/>
                <a:gridCol w="7639050"/>
              </a:tblGrid>
              <a:tr h="676275">
                <a:tc>
                  <a:txBody>
                    <a:bodyPr/>
                    <a:lstStyle/>
                    <a:p>
                      <a:r>
                        <a:rPr sz="1800" b="1">
                          <a:solidFill>
                            <a:srgbClr val="FFFFFF"/>
                          </a:solidFill>
                          <a:latin typeface="Arial"/>
                          <a:ea typeface="Arial"/>
                          <a:cs typeface="Arial"/>
                        </a:rPr>
                        <a:t>Demande conditionnelle</a:t>
                      </a:r>
                    </a:p>
                  </a:txBody>
                  <a:tcPr marL="91440" marR="91440" marT="45720" marB="45720">
                    <a:solidFill>
                      <a:srgbClr val="28725F"/>
                    </a:solidFill>
                  </a:tcPr>
                </a:tc>
                <a:tc>
                  <a:txBody>
                    <a:bodyPr/>
                    <a:lstStyle/>
                    <a:p>
                      <a:r>
                        <a:rPr sz="1800" b="1">
                          <a:solidFill>
                            <a:srgbClr val="FFFFFF"/>
                          </a:solidFill>
                          <a:latin typeface="Arial"/>
                          <a:ea typeface="Arial"/>
                          <a:cs typeface="Arial"/>
                        </a:rPr>
                        <a:t>Fiche préparée par CP, non envoyée</a:t>
                      </a:r>
                    </a:p>
                  </a:txBody>
                  <a:tcPr marL="91440" marR="91440" marT="45720" marB="45720">
                    <a:solidFill>
                      <a:srgbClr val="28725F"/>
                    </a:solidFill>
                  </a:tcPr>
                </a:tc>
              </a:tr>
              <a:tr h="676275">
                <a:tc>
                  <a:txBody>
                    <a:bodyPr/>
                    <a:lstStyle/>
                    <a:p>
                      <a:r>
                        <a:rPr sz="1800" b="0">
                          <a:solidFill>
                            <a:srgbClr val="18312D"/>
                          </a:solidFill>
                          <a:latin typeface="Arial"/>
                          <a:ea typeface="Arial"/>
                          <a:cs typeface="Arial"/>
                        </a:rPr>
                        <a:t>Déclencheur à J12</a:t>
                      </a:r>
                    </a:p>
                  </a:txBody>
                  <a:tcPr marL="91440" marR="91440" marT="45720" marB="45720">
                    <a:solidFill>
                      <a:srgbClr val="E9EEE4"/>
                    </a:solidFill>
                  </a:tcPr>
                </a:tc>
                <a:tc>
                  <a:txBody>
                    <a:bodyPr/>
                    <a:lstStyle/>
                    <a:p>
                      <a:r>
                        <a:rPr sz="1800" b="0">
                          <a:solidFill>
                            <a:srgbClr val="18312D"/>
                          </a:solidFill>
                          <a:latin typeface="Arial"/>
                          <a:ea typeface="Arial"/>
                          <a:cs typeface="Arial"/>
                        </a:rPr>
                        <a:t>Compétence critique encore indisponible après formation.</a:t>
                      </a:r>
                    </a:p>
                  </a:txBody>
                  <a:tcPr marL="91440" marR="91440" marT="45720" marB="45720">
                    <a:solidFill>
                      <a:srgbClr val="E9EEE4"/>
                    </a:solidFill>
                  </a:tcPr>
                </a:tc>
              </a:tr>
              <a:tr h="676275">
                <a:tc>
                  <a:txBody>
                    <a:bodyPr/>
                    <a:lstStyle/>
                    <a:p>
                      <a:r>
                        <a:rPr sz="1800" b="0">
                          <a:solidFill>
                            <a:srgbClr val="18312D"/>
                          </a:solidFill>
                          <a:latin typeface="Arial"/>
                          <a:ea typeface="Arial"/>
                          <a:cs typeface="Arial"/>
                        </a:rPr>
                        <a:t>Mission et délai</a:t>
                      </a:r>
                    </a:p>
                  </a:txBody>
                  <a:tcPr marL="91440" marR="91440" marT="45720" marB="45720">
                    <a:solidFill>
                      <a:srgbClr val="F5F3EA"/>
                    </a:solidFill>
                  </a:tcPr>
                </a:tc>
                <a:tc>
                  <a:txBody>
                    <a:bodyPr/>
                    <a:lstStyle/>
                    <a:p>
                      <a:r>
                        <a:rPr sz="1800" b="0">
                          <a:solidFill>
                            <a:srgbClr val="18312D"/>
                          </a:solidFill>
                          <a:latin typeface="Arial"/>
                          <a:ea typeface="Arial"/>
                          <a:cs typeface="Arial"/>
                        </a:rPr>
                        <a:t>Renfort QA de 4 h à J12-J13, recette transmissible à Camille.</a:t>
                      </a:r>
                    </a:p>
                  </a:txBody>
                  <a:tcPr marL="91440" marR="91440" marT="45720" marB="45720">
                    <a:solidFill>
                      <a:srgbClr val="F5F3EA"/>
                    </a:solidFill>
                  </a:tcPr>
                </a:tc>
              </a:tr>
              <a:tr h="676275">
                <a:tc>
                  <a:txBody>
                    <a:bodyPr/>
                    <a:lstStyle/>
                    <a:p>
                      <a:r>
                        <a:rPr sz="1800" b="0">
                          <a:solidFill>
                            <a:srgbClr val="18312D"/>
                          </a:solidFill>
                          <a:latin typeface="Arial"/>
                          <a:ea typeface="Arial"/>
                          <a:cs typeface="Arial"/>
                        </a:rPr>
                        <a:t>Sélection et accueil</a:t>
                      </a:r>
                    </a:p>
                  </a:txBody>
                  <a:tcPr marL="91440" marR="91440" marT="45720" marB="45720">
                    <a:solidFill>
                      <a:srgbClr val="E9EEE4"/>
                    </a:solidFill>
                  </a:tcPr>
                </a:tc>
                <a:tc>
                  <a:txBody>
                    <a:bodyPr/>
                    <a:lstStyle/>
                    <a:p>
                      <a:r>
                        <a:rPr sz="1800" b="0">
                          <a:solidFill>
                            <a:srgbClr val="18312D"/>
                          </a:solidFill>
                          <a:latin typeface="Arial"/>
                          <a:ea typeface="Arial"/>
                          <a:cs typeface="Arial"/>
                        </a:rPr>
                        <a:t>Exercice accessible. Disponibilité à confirmer. Accueil CP : 0,5 h.</a:t>
                      </a:r>
                    </a:p>
                  </a:txBody>
                  <a:tcPr marL="91440" marR="91440" marT="45720" marB="45720">
                    <a:solidFill>
                      <a:srgbClr val="E9EEE4"/>
                    </a:solidFill>
                  </a:tcPr>
                </a:tc>
              </a:tr>
              <a:tr h="676275">
                <a:tc>
                  <a:txBody>
                    <a:bodyPr/>
                    <a:lstStyle/>
                    <a:p>
                      <a:r>
                        <a:rPr sz="1800" b="0">
                          <a:solidFill>
                            <a:srgbClr val="18312D"/>
                          </a:solidFill>
                          <a:latin typeface="Arial"/>
                          <a:ea typeface="Arial"/>
                          <a:cs typeface="Arial"/>
                        </a:rPr>
                        <a:t>Chiffrage de la variante</a:t>
                      </a:r>
                    </a:p>
                  </a:txBody>
                  <a:tcPr marL="91440" marR="91440" marT="45720" marB="45720">
                    <a:solidFill>
                      <a:srgbClr val="F5F3EA"/>
                    </a:solidFill>
                  </a:tcPr>
                </a:tc>
                <a:tc>
                  <a:txBody>
                    <a:bodyPr/>
                    <a:lstStyle/>
                    <a:p>
                      <a:r>
                        <a:rPr sz="1800" b="0">
                          <a:solidFill>
                            <a:srgbClr val="18312D"/>
                          </a:solidFill>
                          <a:latin typeface="Arial"/>
                          <a:ea typeface="Arial"/>
                          <a:cs typeface="Arial"/>
                        </a:rPr>
                        <a:t>180 € de renfort + 22,50 € CP = 202,50 € supplémentaires.</a:t>
                      </a:r>
                    </a:p>
                  </a:txBody>
                  <a:tcPr marL="91440" marR="91440" marT="45720" marB="45720">
                    <a:solidFill>
                      <a:srgbClr val="F5F3EA"/>
                    </a:solidFill>
                  </a:tcPr>
                </a:tc>
              </a:tr>
              <a:tr h="676275">
                <a:tc>
                  <a:txBody>
                    <a:bodyPr/>
                    <a:lstStyle/>
                    <a:p>
                      <a:r>
                        <a:rPr sz="1800" b="0">
                          <a:solidFill>
                            <a:srgbClr val="18312D"/>
                          </a:solidFill>
                          <a:latin typeface="Arial"/>
                          <a:ea typeface="Arial"/>
                          <a:cs typeface="Arial"/>
                        </a:rPr>
                        <a:t>Arbitrage avant engagement</a:t>
                      </a:r>
                    </a:p>
                  </a:txBody>
                  <a:tcPr marL="91440" marR="91440" marT="45720" marB="45720">
                    <a:solidFill>
                      <a:srgbClr val="E9EEE4"/>
                    </a:solidFill>
                  </a:tcPr>
                </a:tc>
                <a:tc>
                  <a:txBody>
                    <a:bodyPr/>
                    <a:lstStyle/>
                    <a:p>
                      <a:r>
                        <a:rPr sz="1800" b="0">
                          <a:solidFill>
                            <a:srgbClr val="18312D"/>
                          </a:solidFill>
                          <a:latin typeface="Arial"/>
                          <a:ea typeface="Arial"/>
                          <a:cs typeface="Arial"/>
                        </a:rPr>
                        <a:t>Prévision : 4 667,50 €. Marge : 29,50 €. CP : 29,5/30 h.</a:t>
                      </a:r>
                    </a:p>
                  </a:txBody>
                  <a:tcPr marL="91440" marR="91440" marT="45720" marB="45720">
                    <a:solidFill>
                      <a:srgbClr val="E9EEE4"/>
                    </a:solidFill>
                  </a:tcPr>
                </a:tc>
              </a:tr>
            </a:tbl>
          </a:graphicData>
        </a:graphic>
      </p:graphicFrame>
      <p:sp>
        <p:nvSpPr>
          <p:cNvPr id="4" name="">
            <a:extLst xmlns:a="http://schemas.openxmlformats.org/drawingml/2006/main">
              <a:ext uri="{FF2B5EF4-FFF2-40B4-BE49-F238E27FC236}">
                <a16:creationId xmlns:a16="http://schemas.microsoft.com/office/drawing/2014/main" id="{8068BE36-6638-48FE-A71E-30C06CEC4526}"/>
              </a:ext>
            </a:extLst>
          </p:cNvPr>
          <p:cNvSpPr>
            <a:spLocks xmlns:a="http://schemas.openxmlformats.org/drawingml/2006/main" noGrp="1"/>
          </p:cNvSpPr>
          <p:nvPr/>
        </p:nvSpPr>
        <p:spPr>
          <a:xfrm xmlns:a="http://schemas.openxmlformats.org/drawingml/2006/main">
            <a:off x="685800" y="59912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8725F"/>
                </a:solidFill>
                <a:latin typeface="Arial"/>
                <a:ea typeface="Arial"/>
                <a:cs typeface="Arial"/>
              </a:defRPr>
            </a:pPr>
            <a:r>
              <a:rPr sz="1800" b="1">
                <a:solidFill>
                  <a:srgbClr val="28725F"/>
                </a:solidFill>
                <a:latin typeface="Arial"/>
                <a:ea typeface="Arial"/>
                <a:cs typeface="Arial"/>
              </a:rPr>
              <a:t>Variante indépendante, non activée dans le classeur de base.</a:t>
            </a:r>
          </a:p>
        </p:txBody>
      </p:sp>
    </p:spTree>
    <p:extLst>
      <p:ext uri="{BB962C8B-B14F-4D97-AF65-F5344CB8AC3E}">
        <p14:creationId xmlns:p14="http://schemas.microsoft.com/office/powerpoint/2010/main" val="19750147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2026-09-15T09:28:19.2110000Z</dcterms:created>
  <dcterms:modified xsi:type="dcterms:W3CDTF">2026-09-15T09:28:19.2110000Z</dcterms:modified>
</coreProperties>
</file>