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Sheet1!$A$2:$A$10</c:f>
              <c:strCache>
                <c:ptCount val="9"/>
                <c:pt idx="0">
                  <c:v>Cadrage / UX · 8 j-h</c:v>
                </c:pt>
                <c:pt idx="1">
                  <c:v>Setup technique · 6 j-h</c:v>
                </c:pt>
                <c:pt idx="2">
                  <c:v>Auth / sécurité · 10 j-h</c:v>
                </c:pt>
                <c:pt idx="3">
                  <c:v>Profils · 9 j-h</c:v>
                </c:pt>
                <c:pt idx="4">
                  <c:v>Feed social · 12 j-h</c:v>
                </c:pt>
                <c:pt idx="5">
                  <c:v>Répertoire · 10 j-h</c:v>
                </c:pt>
                <c:pt idx="6">
                  <c:v>Topos · 9 j-h</c:v>
                </c:pt>
                <c:pt idx="7">
                  <c:v>Événements · 8 j-h</c:v>
                </c:pt>
                <c:pt idx="8">
                  <c:v>Tests / access. / doc. · 10 j-h</c:v>
                </c:pt>
              </c:strCache>
            </c:strRef>
          </c:cat>
          <c:val>
            <c:numRef>
              <c:f>Sheet1!$B$2:$B$10</c:f>
              <c:numCache>
                <c:formatCode>General</c:formatCode>
                <c:ptCount val="9"/>
                <c:pt idx="0">
                  <c:v>0.0</c:v>
                </c:pt>
                <c:pt idx="1">
                  <c:v>1.6</c:v>
                </c:pt>
                <c:pt idx="2">
                  <c:v>2.8</c:v>
                </c:pt>
                <c:pt idx="3">
                  <c:v>4.8</c:v>
                </c:pt>
                <c:pt idx="4">
                  <c:v>6.6</c:v>
                </c:pt>
                <c:pt idx="5">
                  <c:v>9.0</c:v>
                </c:pt>
                <c:pt idx="6">
                  <c:v>11.0</c:v>
                </c:pt>
                <c:pt idx="7">
                  <c:v>12.8</c:v>
                </c:pt>
                <c:pt idx="8">
                  <c:v>14.4</c:v>
                </c:pt>
              </c:numCache>
            </c:numRef>
          </c:val>
        </c:ser>
        <c:ser>
          <c:idx val="1"/>
          <c:order val="1"/>
          <c:tx>
            <c:strRef>
              <c:f>Sheet1!$C$1</c:f>
              <c:strCache>
                <c:ptCount val="1"/>
                <c:pt idx="0">
                  <c:v>Durée</c:v>
                </c:pt>
              </c:strCache>
            </c:strRef>
          </c:tx>
          <c:spPr>
            <a:solidFill>
              <a:srgbClr val="286957"/>
            </a:solidFill>
            <a:ln>
              <a:noFill/>
            </a:ln>
          </c:spPr>
          <c:cat>
            <c:strRef>
              <c:f>Sheet1!$A$2:$A$10</c:f>
              <c:strCache>
                <c:ptCount val="9"/>
                <c:pt idx="0">
                  <c:v>Cadrage / UX · 8 j-h</c:v>
                </c:pt>
                <c:pt idx="1">
                  <c:v>Setup technique · 6 j-h</c:v>
                </c:pt>
                <c:pt idx="2">
                  <c:v>Auth / sécurité · 10 j-h</c:v>
                </c:pt>
                <c:pt idx="3">
                  <c:v>Profils · 9 j-h</c:v>
                </c:pt>
                <c:pt idx="4">
                  <c:v>Feed social · 12 j-h</c:v>
                </c:pt>
                <c:pt idx="5">
                  <c:v>Répertoire · 10 j-h</c:v>
                </c:pt>
                <c:pt idx="6">
                  <c:v>Topos · 9 j-h</c:v>
                </c:pt>
                <c:pt idx="7">
                  <c:v>Événements · 8 j-h</c:v>
                </c:pt>
                <c:pt idx="8">
                  <c:v>Tests / access. / doc. · 10 j-h</c:v>
                </c:pt>
              </c:strCache>
            </c:strRef>
          </c:cat>
          <c:val>
            <c:numRef>
              <c:f>Sheet1!$C$2:$C$10</c:f>
              <c:numCache>
                <c:formatCode>General</c:formatCode>
                <c:ptCount val="9"/>
                <c:pt idx="0">
                  <c:v>1.6</c:v>
                </c:pt>
                <c:pt idx="1">
                  <c:v>1.2</c:v>
                </c:pt>
                <c:pt idx="2">
                  <c:v>2.0</c:v>
                </c:pt>
                <c:pt idx="3">
                  <c:v>1.8</c:v>
                </c:pt>
                <c:pt idx="4">
                  <c:v>2.4</c:v>
                </c:pt>
                <c:pt idx="5">
                  <c:v>2.0</c:v>
                </c:pt>
                <c:pt idx="6">
                  <c:v>1.8</c:v>
                </c:pt>
                <c:pt idx="7">
                  <c:v>1.6</c:v>
                </c:pt>
                <c:pt idx="8">
                  <c:v>2.0</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8.0"/>
          <c:min val="0.0"/>
        </c:scaling>
        <c:delete val="0"/>
        <c:axPos val="b"/>
        <c:majorGridlines>
          <c:spPr>
            <a:ln w="7620">
              <a:solidFill>
                <a:srgbClr val="DDE3D9"/>
              </a:solidFill>
            </a:ln>
          </c:spPr>
        </c:majorGridlines>
        <c:numFmt formatCode="0&quot; s&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Tickets</c:v>
                </c:pt>
              </c:strCache>
            </c:strRef>
          </c:tx>
          <c:spPr>
            <a:solidFill>
              <a:srgbClr val="286957"/>
            </a:solidFill>
            <a:ln>
              <a:noFill/>
            </a:ln>
          </c:spPr>
          <c:cat>
            <c:strRef>
              <c:f>Sheet1!$A$2:$A$5</c:f>
              <c:strCache>
                <c:ptCount val="4"/>
                <c:pt idx="0">
                  <c:v>Terminé</c:v>
                </c:pt>
                <c:pt idx="1">
                  <c:v>En cours</c:v>
                </c:pt>
                <c:pt idx="2">
                  <c:v>À faire</c:v>
                </c:pt>
                <c:pt idx="3">
                  <c:v>Backlog</c:v>
                </c:pt>
              </c:strCache>
            </c:strRef>
          </c:cat>
          <c:val>
            <c:numRef>
              <c:f>Sheet1!$B$2:$B$5</c:f>
              <c:numCache>
                <c:formatCode>General</c:formatCode>
                <c:ptCount val="4"/>
                <c:pt idx="0">
                  <c:v>12</c:v>
                </c:pt>
                <c:pt idx="1">
                  <c:v>1</c:v>
                </c:pt>
                <c:pt idx="2">
                  <c:v>4</c:v>
                </c:pt>
                <c:pt idx="3">
                  <c:v>7</c:v>
                </c:pt>
              </c:numCache>
            </c:numRef>
          </c:val>
        </c:ser>
        <c:dLbls>
          <c:numFmt formatCode="0"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4.0"/>
          <c:min val="0.0"/>
        </c:scaling>
        <c:delete val="0"/>
        <c:axPos val="b"/>
        <c:majorGridlines>
          <c:spPr>
            <a:ln w="7620">
              <a:solidFill>
                <a:srgbClr val="DDE3D9"/>
              </a:solidFill>
            </a:ln>
          </c:spPr>
        </c:majorGridlines>
        <c:numFmt formatCode="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Début</c:v>
                </c:pt>
              </c:strCache>
            </c:strRef>
          </c:tx>
          <c:spPr>
            <a:noFill/>
            <a:ln>
              <a:noFill/>
            </a:ln>
          </c:spPr>
          <c:cat>
            <c:strRef>
              <c:f>Sheet1!$A$2:$A$7</c:f>
              <c:strCache>
                <c:ptCount val="6"/>
                <c:pt idx="0">
                  <c:v>Étude</c:v>
                </c:pt>
                <c:pt idx="1">
                  <c:v>Mesure</c:v>
                </c:pt>
                <c:pt idx="2">
                  <c:v>Conception</c:v>
                </c:pt>
                <c:pt idx="3">
                  <c:v>Réalisation</c:v>
                </c:pt>
                <c:pt idx="4">
                  <c:v>Recette</c:v>
                </c:pt>
                <c:pt idx="5">
                  <c:v>Restitution</c:v>
                </c:pt>
              </c:strCache>
            </c:strRef>
          </c:cat>
          <c:val>
            <c:numRef>
              <c:f>Sheet1!$B$2:$B$7</c:f>
              <c:numCache>
                <c:formatCode>General</c:formatCode>
                <c:ptCount val="6"/>
                <c:pt idx="0">
                  <c:v>1</c:v>
                </c:pt>
                <c:pt idx="1">
                  <c:v>1</c:v>
                </c:pt>
                <c:pt idx="2">
                  <c:v>2</c:v>
                </c:pt>
                <c:pt idx="3">
                  <c:v>3</c:v>
                </c:pt>
                <c:pt idx="4">
                  <c:v>10</c:v>
                </c:pt>
                <c:pt idx="5">
                  <c:v>14</c:v>
                </c:pt>
              </c:numCache>
            </c:numRef>
          </c:val>
        </c:ser>
        <c:ser>
          <c:idx val="1"/>
          <c:order val="1"/>
          <c:tx>
            <c:strRef>
              <c:f>Sheet1!$C$1</c:f>
              <c:strCache>
                <c:ptCount val="1"/>
                <c:pt idx="0">
                  <c:v>Durée</c:v>
                </c:pt>
              </c:strCache>
            </c:strRef>
          </c:tx>
          <c:spPr>
            <a:solidFill>
              <a:srgbClr val="286957"/>
            </a:solidFill>
            <a:ln>
              <a:noFill/>
            </a:ln>
          </c:spPr>
          <c:cat>
            <c:strRef>
              <c:f>Sheet1!$A$2:$A$7</c:f>
              <c:strCache>
                <c:ptCount val="6"/>
                <c:pt idx="0">
                  <c:v>Étude</c:v>
                </c:pt>
                <c:pt idx="1">
                  <c:v>Mesure</c:v>
                </c:pt>
                <c:pt idx="2">
                  <c:v>Conception</c:v>
                </c:pt>
                <c:pt idx="3">
                  <c:v>Réalisation</c:v>
                </c:pt>
                <c:pt idx="4">
                  <c:v>Recette</c:v>
                </c:pt>
                <c:pt idx="5">
                  <c:v>Restitution</c:v>
                </c:pt>
              </c:strCache>
            </c:strRef>
          </c:cat>
          <c:val>
            <c:numRef>
              <c:f>Sheet1!$C$2:$C$7</c:f>
              <c:numCache>
                <c:formatCode>General</c:formatCode>
                <c:ptCount val="6"/>
                <c:pt idx="0">
                  <c:v>1</c:v>
                </c:pt>
                <c:pt idx="1">
                  <c:v>2</c:v>
                </c:pt>
                <c:pt idx="2">
                  <c:v>2</c:v>
                </c:pt>
                <c:pt idx="3">
                  <c:v>9</c:v>
                </c:pt>
                <c:pt idx="4">
                  <c:v>4</c:v>
                </c:pt>
                <c:pt idx="5">
                  <c:v>1</c:v>
                </c:pt>
              </c:numCache>
            </c:numRef>
          </c:val>
        </c:ser>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15.0"/>
          <c:min val="1.0"/>
        </c:scaling>
        <c:delete val="0"/>
        <c:axPos val="b"/>
        <c:majorGridlines>
          <c:spPr>
            <a:ln w="7620">
              <a:solidFill>
                <a:srgbClr val="DDE3D9"/>
              </a:solidFill>
            </a:ln>
          </c:spPr>
        </c:majorGridlines>
        <c:numFmt formatCode="&quot;J&quot;0"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Écart de charge</c:v>
                </c:pt>
              </c:strCache>
            </c:strRef>
          </c:tx>
          <c:spPr>
            <a:solidFill>
              <a:srgbClr val="286957"/>
            </a:solidFill>
            <a:ln>
              <a:noFill/>
            </a:ln>
          </c:spPr>
          <c:dPt>
            <c:idx val="0"/>
            <c:spPr>
              <a:solidFill>
                <a:srgbClr val="B64E2E"/>
              </a:solidFill>
              <a:ln>
                <a:noFill/>
              </a:ln>
            </c:spPr>
          </c:dPt>
          <c:dPt>
            <c:idx val="1"/>
            <c:spPr>
              <a:solidFill>
                <a:srgbClr val="B64E2E"/>
              </a:solidFill>
              <a:ln>
                <a:noFill/>
              </a:ln>
            </c:spPr>
          </c:dPt>
          <c:dPt>
            <c:idx val="2"/>
            <c:spPr>
              <a:solidFill>
                <a:srgbClr val="B64E2E"/>
              </a:solidFill>
              <a:ln>
                <a:noFill/>
              </a:ln>
            </c:spPr>
          </c:dPt>
          <c:dPt>
            <c:idx val="3"/>
            <c:spPr>
              <a:solidFill>
                <a:srgbClr val="B64E2E"/>
              </a:solidFill>
              <a:ln>
                <a:noFill/>
              </a:ln>
            </c:spPr>
          </c:dPt>
          <c:dPt>
            <c:idx val="4"/>
            <c:spPr>
              <a:solidFill>
                <a:srgbClr val="286957"/>
              </a:solidFill>
              <a:ln>
                <a:noFill/>
              </a:ln>
            </c:spPr>
          </c:dPt>
          <c:cat>
            <c:strRef>
              <c:f>Sheet1!$A$2:$A$6</c:f>
              <c:strCache>
                <c:ptCount val="5"/>
                <c:pt idx="0">
                  <c:v>Planning</c:v>
                </c:pt>
                <c:pt idx="1">
                  <c:v>Accès</c:v>
                </c:pt>
                <c:pt idx="2">
                  <c:v>Événements</c:v>
                </c:pt>
                <c:pt idx="3">
                  <c:v>Recette</c:v>
                </c:pt>
                <c:pt idx="4">
                  <c:v>Corrections</c:v>
                </c:pt>
              </c:strCache>
            </c:strRef>
          </c:cat>
          <c:val>
            <c:numRef>
              <c:f>Sheet1!$B$2:$B$6</c:f>
              <c:numCache>
                <c:formatCode>General</c:formatCode>
                <c:ptCount val="5"/>
                <c:pt idx="0">
                  <c:v>1</c:v>
                </c:pt>
                <c:pt idx="1">
                  <c:v>2</c:v>
                </c:pt>
                <c:pt idx="2">
                  <c:v>2</c:v>
                </c:pt>
                <c:pt idx="3">
                  <c:v>2</c:v>
                </c:pt>
                <c:pt idx="4">
                  <c:v>-2</c:v>
                </c:pt>
              </c:numCache>
            </c:numRef>
          </c:val>
        </c:ser>
        <c:dLbls>
          <c:numFmt formatCode="+0&quot; h&quot;;-0&quot; h&quot;"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3.0"/>
          <c:min val="-3.0"/>
        </c:scaling>
        <c:delete val="0"/>
        <c:axPos val="b"/>
        <c:majorGridlines>
          <c:spPr>
            <a:ln w="7620">
              <a:solidFill>
                <a:srgbClr val="DDE3D9"/>
              </a:solidFill>
            </a:ln>
          </c:spPr>
        </c:majorGridlines>
        <c:numFmt formatCode="+0&quot; h&quot;;-0&quot; h&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Budget</c:v>
                </c:pt>
              </c:strCache>
            </c:strRef>
          </c:tx>
          <c:spPr>
            <a:solidFill>
              <a:srgbClr val="D8F28B"/>
            </a:solidFill>
            <a:ln>
              <a:noFill/>
            </a:ln>
          </c:spPr>
          <c:dPt>
            <c:idx val="0"/>
            <c:spPr>
              <a:solidFill>
                <a:srgbClr val="87A38D"/>
              </a:solidFill>
              <a:ln>
                <a:noFill/>
              </a:ln>
            </c:spPr>
          </c:dPt>
          <c:dPt>
            <c:idx val="1"/>
            <c:spPr>
              <a:solidFill>
                <a:srgbClr val="D8F28B"/>
              </a:solidFill>
              <a:ln>
                <a:noFill/>
              </a:ln>
            </c:spPr>
          </c:dPt>
          <c:dPt>
            <c:idx val="2"/>
            <c:spPr>
              <a:solidFill>
                <a:srgbClr val="C7D6CB"/>
              </a:solidFill>
              <a:ln>
                <a:noFill/>
              </a:ln>
            </c:spPr>
          </c:dPt>
          <c:cat>
            <c:strRef>
              <c:f>Sheet1!$A$2:$A$4</c:f>
              <c:strCache>
                <c:ptCount val="3"/>
                <c:pt idx="0">
                  <c:v>Initial</c:v>
                </c:pt>
                <c:pt idx="1">
                  <c:v>Prévision</c:v>
                </c:pt>
                <c:pt idx="2">
                  <c:v>Plafond</c:v>
                </c:pt>
              </c:strCache>
            </c:strRef>
          </c:cat>
          <c:val>
            <c:numRef>
              <c:f>Sheet1!$B$2:$B$4</c:f>
              <c:numCache>
                <c:formatCode>General</c:formatCode>
                <c:ptCount val="3"/>
                <c:pt idx="0">
                  <c:v>4270</c:v>
                </c:pt>
                <c:pt idx="1">
                  <c:v>4465</c:v>
                </c:pt>
                <c:pt idx="2">
                  <c:v>4697</c:v>
                </c:pt>
              </c:numCache>
            </c:numRef>
          </c:val>
        </c:ser>
        <c:dLbls>
          <c:numFmt formatCode="0&quot; €&quot;" sourceLinked="0"/>
          <c:txPr>
            <a:bodyPr/>
            <a:lstStyle/>
            <a:p>
              <a:pPr>
                <a:defRPr sz="1700" b="1">
                  <a:solidFill>
                    <a:srgbClr val="FFFFFF"/>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C7D6CB"/>
                </a:solidFill>
                <a:latin typeface="Arial"/>
              </a:defRPr>
            </a:pPr>
          </a:p>
        </c:txPr>
        <c:crossAx val="-2113994440"/>
        <c:crosses val="autoZero"/>
        <c:auto val="1"/>
        <c:lblAlgn val="ctr"/>
        <c:lblOffset val="100"/>
        <c:noMultiLvlLbl val="0"/>
      </c:catAx>
      <c:valAx>
        <c:axId val="-2113994440"/>
        <c:scaling>
          <c:max val="5500.0"/>
          <c:min val="0.0"/>
        </c:scaling>
        <c:delete val="0"/>
        <c:axPos val="b"/>
        <c:majorGridlines>
          <c:spPr>
            <a:ln w="7620">
              <a:solidFill>
                <a:srgbClr val="1C453B"/>
              </a:solidFill>
            </a:ln>
          </c:spPr>
        </c:majorGridlines>
        <c:numFmt formatCode="0&quot; €&quot;" sourceLinked="0"/>
        <c:majorTickMark val="out"/>
        <c:minorTickMark val="none"/>
        <c:tickLblPos val="nextTo"/>
        <c:spPr>
          <a:ln>
            <a:noFill/>
          </a:ln>
        </c:spPr>
        <c:txPr>
          <a:bodyPr/>
          <a:lstStyle/>
          <a:p>
            <a:pPr>
              <a:defRPr sz="1200">
                <a:solidFill>
                  <a:srgbClr val="C7D6CB"/>
                </a:solidFill>
                <a:latin typeface="Arial"/>
              </a:defRPr>
            </a:pPr>
          </a:p>
        </c:txPr>
        <c:crossAx val="-2068027336"/>
        <c:crosses val="autoZero"/>
      </c:valAx>
      <c:spPr>
        <a:noFill/>
        <a:ln>
          <a:noFill/>
        </a:ln>
      </c:spPr>
    </c:plotArea>
    <c:dispBlanksAs val="gap"/>
  </c:chart>
  <c:txPr>
    <a:bodyPr/>
    <a:lstStyle/>
    <a:p>
      <a:pPr>
        <a:defRPr sz="1600">
          <a:solidFill>
            <a:srgbClr val="FFFFFF"/>
          </a:solidFill>
          <a:latin typeface="Arial"/>
        </a:defRPr>
      </a:pPr>
      <a:endParaRPr lang="en-US"/>
    </a:p>
  </c:txPr>
  <c:externalData r:id="rId1">
    <c:autoUpdate val="0"/>
  </c:externalData>
  <c:spPr>
    <a:noFill/>
    <a:ln>
      <a:noFill/>
    </a:ln>
  </c:spPr>
</c:chartSpace>
</file>

<file path=ppt/charts/chart6.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stacked"/>
        <c:ser>
          <c:idx val="0"/>
          <c:order val="0"/>
          <c:tx>
            <c:strRef>
              <c:f>Sheet1!$B$1</c:f>
              <c:strCache>
                <c:ptCount val="1"/>
                <c:pt idx="0">
                  <c:v>Charge</c:v>
                </c:pt>
              </c:strCache>
            </c:strRef>
          </c:tx>
          <c:spPr>
            <a:solidFill>
              <a:srgbClr val="85A689"/>
            </a:solidFill>
            <a:ln>
              <a:noFill/>
            </a:ln>
          </c:spPr>
          <c:cat>
            <c:strRef>
              <c:f>Sheet1!$A$2:$A$4</c:f>
              <c:strCache>
                <c:ptCount val="3"/>
                <c:pt idx="0">
                  <c:v>CP</c:v>
                </c:pt>
                <c:pt idx="1">
                  <c:v>DEV</c:v>
                </c:pt>
                <c:pt idx="2">
                  <c:v>QA</c:v>
                </c:pt>
              </c:strCache>
            </c:strRef>
          </c:cat>
          <c:val>
            <c:numRef>
              <c:f>Sheet1!$B$2:$B$4</c:f>
              <c:numCache>
                <c:formatCode>General</c:formatCode>
                <c:ptCount val="3"/>
                <c:pt idx="0">
                  <c:v>29</c:v>
                </c:pt>
                <c:pt idx="1">
                  <c:v>64</c:v>
                </c:pt>
                <c:pt idx="2">
                  <c:v>24</c:v>
                </c:pt>
              </c:numCache>
            </c:numRef>
          </c:val>
        </c:ser>
        <c:ser>
          <c:idx val="1"/>
          <c:order val="1"/>
          <c:tx>
            <c:strRef>
              <c:f>Sheet1!$C$1</c:f>
              <c:strCache>
                <c:ptCount val="1"/>
                <c:pt idx="0">
                  <c:v>Marge</c:v>
                </c:pt>
              </c:strCache>
            </c:strRef>
          </c:tx>
          <c:spPr>
            <a:solidFill>
              <a:srgbClr val="DAE5D1"/>
            </a:solidFill>
            <a:ln>
              <a:noFill/>
            </a:ln>
          </c:spPr>
          <c:cat>
            <c:strRef>
              <c:f>Sheet1!$A$2:$A$4</c:f>
              <c:strCache>
                <c:ptCount val="3"/>
                <c:pt idx="0">
                  <c:v>CP</c:v>
                </c:pt>
                <c:pt idx="1">
                  <c:v>DEV</c:v>
                </c:pt>
                <c:pt idx="2">
                  <c:v>QA</c:v>
                </c:pt>
              </c:strCache>
            </c:strRef>
          </c:cat>
          <c:val>
            <c:numRef>
              <c:f>Sheet1!$C$2:$C$4</c:f>
              <c:numCache>
                <c:formatCode>General</c:formatCode>
                <c:ptCount val="3"/>
                <c:pt idx="0">
                  <c:v>1</c:v>
                </c:pt>
                <c:pt idx="1">
                  <c:v>8</c:v>
                </c:pt>
                <c:pt idx="2">
                  <c:v>6</c:v>
                </c:pt>
              </c:numCache>
            </c:numRef>
          </c:val>
        </c:ser>
        <c:dLbls>
          <c:numFmt formatCode="0&quot; h&quot;" sourceLinked="0"/>
          <c:txPr>
            <a:bodyPr/>
            <a:lstStyle/>
            <a:p>
              <a:pPr>
                <a:defRPr sz="1700" b="1">
                  <a:solidFill>
                    <a:srgbClr val="12332D"/>
                  </a:solidFill>
                  <a:latin typeface="Arial"/>
                </a:defRPr>
              </a:pPr>
            </a:p>
          </c:txPr>
          <c:dLblPos val="ctr"/>
          <c:showLegendKey val="0"/>
          <c:showVal val="1"/>
          <c:showCatName val="0"/>
          <c:showSerName val="0"/>
          <c:showPercent val="0"/>
          <c:showBubbleSize val="0"/>
          <c:showLeaderLines val="1"/>
        </c:dLbls>
        <c:gapWidth val="65"/>
        <c:overlap val="100"/>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80.0"/>
          <c:min val="0.0"/>
        </c:scaling>
        <c:delete val="0"/>
        <c:axPos val="b"/>
        <c:majorGridlines>
          <c:spPr>
            <a:ln w="7620">
              <a:solidFill>
                <a:srgbClr val="DDE3D9"/>
              </a:solidFill>
            </a:ln>
          </c:spPr>
        </c:majorGridlines>
        <c:numFmt formatCode="0&quot; h&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legend>
      <c:legendPos val="b"/>
      <c:overlay val="0"/>
      <c:txPr>
        <a:bodyPr/>
        <a:lstStyle/>
        <a:p>
          <a:pPr>
            <a:defRPr sz="1300">
              <a:latin typeface="Arial"/>
            </a:defRPr>
          </a:pPr>
        </a:p>
      </c:txPr>
    </c:legend>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charts/chart7.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Coût</c:v>
                </c:pt>
              </c:strCache>
            </c:strRef>
          </c:tx>
          <c:spPr>
            <a:solidFill>
              <a:srgbClr val="286957"/>
            </a:solidFill>
            <a:ln>
              <a:noFill/>
            </a:ln>
          </c:spPr>
          <c:dPt>
            <c:idx val="0"/>
            <c:spPr>
              <a:solidFill>
                <a:srgbClr val="286957"/>
              </a:solidFill>
              <a:ln>
                <a:noFill/>
              </a:ln>
            </c:spPr>
          </c:dPt>
          <c:dPt>
            <c:idx val="1"/>
            <c:spPr>
              <a:solidFill>
                <a:srgbClr val="B64E2E"/>
              </a:solidFill>
              <a:ln>
                <a:noFill/>
              </a:ln>
            </c:spPr>
          </c:dPt>
          <c:dPt>
            <c:idx val="2"/>
            <c:spPr>
              <a:solidFill>
                <a:srgbClr val="A7BA9C"/>
              </a:solidFill>
              <a:ln>
                <a:noFill/>
              </a:ln>
            </c:spPr>
          </c:dPt>
          <c:cat>
            <c:strRef>
              <c:f>Sheet1!$A$2:$A$4</c:f>
              <c:strCache>
                <c:ptCount val="3"/>
                <c:pt idx="0">
                  <c:v>Lot engagé</c:v>
                </c:pt>
                <c:pt idx="1">
                  <c:v>Avec demande</c:v>
                </c:pt>
                <c:pt idx="2">
                  <c:v>Plafond</c:v>
                </c:pt>
              </c:strCache>
            </c:strRef>
          </c:cat>
          <c:val>
            <c:numRef>
              <c:f>Sheet1!$B$2:$B$4</c:f>
              <c:numCache>
                <c:formatCode>General</c:formatCode>
                <c:ptCount val="3"/>
                <c:pt idx="0">
                  <c:v>4465</c:v>
                </c:pt>
                <c:pt idx="1">
                  <c:v>5005</c:v>
                </c:pt>
                <c:pt idx="2">
                  <c:v>4697</c:v>
                </c:pt>
              </c:numCache>
            </c:numRef>
          </c:val>
        </c:ser>
        <c:dLbls>
          <c:numFmt formatCode="0&quot; €&quot;" sourceLinked="0"/>
          <c:txPr>
            <a:bodyPr/>
            <a:lstStyle/>
            <a:p>
              <a:pPr>
                <a:defRPr sz="1700" b="1">
                  <a:solidFill>
                    <a:srgbClr val="12332D"/>
                  </a:solidFill>
                  <a:latin typeface="Arial"/>
                </a:defRPr>
              </a:pPr>
            </a:p>
          </c:txPr>
          <c:dLblPos val="outEnd"/>
          <c:showLegendKey val="0"/>
          <c:showVal val="1"/>
          <c:showCatName val="0"/>
          <c:showSerName val="0"/>
          <c:showPercent val="0"/>
          <c:showBubbleSize val="0"/>
          <c:showLeaderLines val="1"/>
        </c:dLbls>
        <c:gapWidth val="65"/>
        <c:axId val="-2068027336"/>
        <c:axId val="-2113994440"/>
      </c:barChart>
      <c:catAx>
        <c:axId val="-2068027336"/>
        <c:scaling>
          <c:orientation val="maxMin"/>
        </c:scaling>
        <c:delete val="0"/>
        <c:axPos val="l"/>
        <c:majorTickMark val="out"/>
        <c:minorTickMark val="none"/>
        <c:tickLblPos val="low"/>
        <c:spPr>
          <a:ln>
            <a:noFill/>
          </a:ln>
        </c:spPr>
        <c:txPr>
          <a:bodyPr/>
          <a:lstStyle/>
          <a:p>
            <a:pPr>
              <a:defRPr sz="1600">
                <a:solidFill>
                  <a:srgbClr val="5C6C65"/>
                </a:solidFill>
                <a:latin typeface="Arial"/>
              </a:defRPr>
            </a:pPr>
          </a:p>
        </c:txPr>
        <c:crossAx val="-2113994440"/>
        <c:crosses val="autoZero"/>
        <c:auto val="1"/>
        <c:lblAlgn val="ctr"/>
        <c:lblOffset val="100"/>
        <c:noMultiLvlLbl val="0"/>
      </c:catAx>
      <c:valAx>
        <c:axId val="-2113994440"/>
        <c:scaling>
          <c:max val="6000.0"/>
          <c:min val="0.0"/>
        </c:scaling>
        <c:delete val="0"/>
        <c:axPos val="b"/>
        <c:majorGridlines>
          <c:spPr>
            <a:ln w="7620">
              <a:solidFill>
                <a:srgbClr val="DDE3D9"/>
              </a:solidFill>
            </a:ln>
          </c:spPr>
        </c:majorGridlines>
        <c:numFmt formatCode="0&quot; €&quot;" sourceLinked="0"/>
        <c:majorTickMark val="out"/>
        <c:minorTickMark val="none"/>
        <c:tickLblPos val="nextTo"/>
        <c:spPr>
          <a:ln>
            <a:noFill/>
          </a:ln>
        </c:spPr>
        <c:txPr>
          <a:bodyPr/>
          <a:lstStyle/>
          <a:p>
            <a:pPr>
              <a:defRPr sz="1200">
                <a:solidFill>
                  <a:srgbClr val="5C6C65"/>
                </a:solidFill>
                <a:latin typeface="Arial"/>
              </a:defRPr>
            </a:pPr>
          </a:p>
        </c:txPr>
        <c:crossAx val="-2068027336"/>
        <c:crosses val="autoZero"/>
      </c:valAx>
      <c:spPr>
        <a:noFill/>
        <a:ln>
          <a:noFill/>
        </a:ln>
      </c:spPr>
    </c:plotArea>
    <c:dispBlanksAs val="gap"/>
  </c:chart>
  <c:txPr>
    <a:bodyPr/>
    <a:lstStyle/>
    <a:p>
      <a:pPr>
        <a:defRPr sz="1600">
          <a:solidFill>
            <a:srgbClr val="12332D"/>
          </a:solidFill>
          <a:latin typeface="Arial"/>
        </a:defRPr>
      </a:pPr>
      <a:endParaRPr lang="en-US"/>
    </a:p>
  </c:txPr>
  <c:externalData r:id="rId1">
    <c:autoUpdate val="0"/>
  </c:externalData>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00:00 à 00:30. Durée prévue : 00:30.</a:t>
            </a:r>
          </a:p>
          <a:p/>
          <a:p>
            <a:r>
              <a:t>TEXTE ORAL</a:t>
            </a:r>
          </a:p>
          <a:p>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a:p>
            <a:r>
              <a:t>TRANSITION</a:t>
            </a:r>
          </a:p>
          <a:p>
            <a:r>
              <a:t>Je commence par le besoin auquel répond le produit.</a:t>
            </a:r>
          </a:p>
          <a:p/>
          <a:p>
            <a:r>
              <a:t>SOURCE ET NATURE</a:t>
            </a:r>
          </a:p>
          <a:p>
            <a:r>
              <a:t>RNCP39583, Bloc 3. Référentiel RNCP39583, p. 11 à 14. Photo de marque du dépôt, illustration sans lien avec une équipe réelle.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00:30 à 01:00. Durée prévue : 00:30.</a:t>
            </a:r>
          </a:p>
          <a:p/>
          <a:p>
            <a:r>
              <a:t>TEXTE ORAL</a:t>
            </a:r>
          </a:p>
          <a:p>
            <a:r>
              <a:t>Je commence par le besoin et le projet Spity. Je présente ensuite l'organisation du travail, puis le suivi et les décisions prises dans le scénario. J'explique comment accompagner l'équipe et échanger avec le client. À vingt-trois minutes, je passe à l'application pour montrer le parcours, puis faire le bilan des critères vérifiés.</a:t>
            </a:r>
          </a:p>
          <a:p/>
          <a:p>
            <a:r>
              <a:t>GESTE OU MANIPULATION</a:t>
            </a:r>
          </a:p>
          <a:p>
            <a:r>
              <a:t>Annoncer les cinq parties sans détailler encore les chiffres.</a:t>
            </a:r>
          </a:p>
          <a:p/>
          <a:p>
            <a:r>
              <a:t>TRANSITION</a:t>
            </a:r>
          </a:p>
          <a:p>
            <a:r>
              <a:t>Je commence par le besoin utilisateur.</a:t>
            </a:r>
          </a:p>
          <a:p/>
          <a:p>
            <a:r>
              <a:t>SOURCE ET NATURE</a:t>
            </a:r>
          </a:p>
          <a:p>
            <a:r>
              <a:t>Le déroulé de la présentation. Ordre du support et repères de répétition. Trente minutes, dont six minutes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01:00 à 02:00. Durée prévue : 01:00.</a:t>
            </a:r>
          </a:p>
          <a:p/>
          <a:p>
            <a:r>
              <a:t>TEXTE ORAL</a:t>
            </a:r>
          </a:p>
          <a:p>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a:p>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a:p>
            <a:r>
              <a:t>TRANSITION</a:t>
            </a:r>
          </a:p>
          <a:p>
            <a:r>
              <a:t>Je reprends ensuite le planning global défini dans le Bloc 1.</a:t>
            </a:r>
          </a:p>
          <a:p/>
          <a:p>
            <a:r>
              <a:t>SOURCE ET NATURE</a:t>
            </a:r>
          </a:p>
          <a:p>
            <a:r>
              <a:t>B1, commanditaire fictif et produit réel. B1 : C1.1.1, p. 2 ; C1.4.1, p. 4-5. B2 : 16_DOSSIER_FINAL_BC02, F01-F10. Capture locale du 15 septembre 2026, données de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02:00 à 03:00. Durée prévue : 01:00.</a:t>
            </a:r>
          </a:p>
          <a:p/>
          <a:p>
            <a:r>
              <a:t>TEXTE ORAL</a:t>
            </a:r>
          </a:p>
          <a:p>
            <a:r>
              <a:t>Le diaporama du Bloc 1 prévoit quatre-vingt-deux jours-homme pour le MVP. Je reprends ses neuf lots et leurs charges : cadrage, socle technique, authentification, profils, fil social, répertoire, topos, événements et qualité. Leur total correspond à la référence de lancement.</a:t>
            </a:r>
          </a:p>
          <a:p/>
          <a:p>
            <a:r>
              <a:t>Je représente ici une séquence pédagogique à cinq jours-homme par semaine. Elle demande seize virgule quatre semaines de capacité. Les barres ne reconstituent pas les dates réellement travaillées. Chaque lot doit produire un résultat vérifiable avant sa clôture.</a:t>
            </a:r>
          </a:p>
          <a:p/>
          <a:p>
            <a:r>
              <a:t>Le suivi détaillé présenté ensuite porte sur un lot de préparation de démonstration, avec les parcours déjà développés au Bloc 2. Ses jours J1 à J15 désignent des jours relatifs de ce cas. Le budget global reste celui du Bloc 1.</a:t>
            </a:r>
          </a:p>
          <a:p/>
          <a:p>
            <a:r>
              <a:t>GESTE OU MANIPULATION</a:t>
            </a:r>
          </a:p>
          <a:p>
            <a:r>
              <a:t>Lire les neuf lots du Bloc 1, puis distinguer le planning global du suivi détaillé.</a:t>
            </a:r>
          </a:p>
          <a:p/>
          <a:p>
            <a:r>
              <a:t>TRANSITION</a:t>
            </a:r>
          </a:p>
          <a:p>
            <a:r>
              <a:t>Je choisis une méthode adaptée au suivi de ce travail.</a:t>
            </a:r>
          </a:p>
          <a:p/>
          <a:p>
            <a:r>
              <a:t>SOURCE ET NATURE</a:t>
            </a:r>
          </a:p>
          <a:p>
            <a:r>
              <a:t>C.3.1, neuf lots du diaporama Bloc 1. Diaporama B1, p. 21 : 8+6+10+9+12+10+9+8+10=82 j-h. A01 et reference-bloc-01.json. Séquence pédagogique à 5 j-h/semaine, soit 16,4 semaines.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03:00 à 04:30. Durée prévue : 01:30.</a:t>
            </a:r>
          </a:p>
          <a:p/>
          <a:p>
            <a:r>
              <a:t>TEXTE ORAL</a:t>
            </a:r>
          </a:p>
          <a:p>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a:p>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a:p>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a:p>
            <a:r>
              <a:t>GESTE OU MANIPULATION</a:t>
            </a:r>
          </a:p>
          <a:p>
            <a:r>
              <a:t>Associer chaque rituel à son objectif et à sa trace. Distinguer le flux Linear observé des réunions du scénario.</a:t>
            </a:r>
          </a:p>
          <a:p/>
          <a:p>
            <a:r>
              <a:t>TRANSITION</a:t>
            </a:r>
          </a:p>
          <a:p>
            <a:r>
              <a:t>Le planning montre les phases et les rendez-vous du lot.</a:t>
            </a:r>
          </a:p>
          <a:p/>
          <a:p>
            <a:r>
              <a:t>SOURCE ET NATURE</a:t>
            </a:r>
          </a:p>
          <a:p>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04:30 à 06:00. Durée prévue : 01:30.</a:t>
            </a:r>
          </a:p>
          <a:p/>
          <a:p>
            <a:r>
              <a:t>TEXTE ORAL</a:t>
            </a:r>
          </a:p>
          <a:p>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a:p>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a:p>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a:p>
            <a:r>
              <a:t>GESTE OU MANIPULATION</a:t>
            </a:r>
          </a:p>
          <a:p>
            <a:r>
              <a:t>Lire la phase Mesure, les chevauchements puis les dates initiales et revues.</a:t>
            </a:r>
          </a:p>
          <a:p/>
          <a:p>
            <a:r>
              <a:t>TRANSITION</a:t>
            </a:r>
          </a:p>
          <a:p>
            <a:r>
              <a:t>La répartition des missions permet de tenir ces engagements.</a:t>
            </a:r>
          </a:p>
          <a:p/>
          <a:p>
            <a:r>
              <a:t>SOURCE ET NATURE</a:t>
            </a:r>
          </a:p>
          <a:p>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06:00 à 07:00. Durée prévue : 01:00.</a:t>
            </a:r>
          </a:p>
          <a:p/>
          <a:p>
            <a:r>
              <a:t>TEXTE ORAL</a:t>
            </a:r>
          </a:p>
          <a:p>
            <a:r>
              <a:t>Dans le scénario, le chef de projet organise, le développeur réalise et Camille prépare les tests. QA signifie assurance qualité ; son rôle consiste ici à vérifier les parcours et leurs critères. Camille est une testeuse malentendante fictive. Elle intervient sur T02 et T07, selon ses compétences, avec vingt-quatre heures prévues pour trente disponibles.</a:t>
            </a:r>
          </a:p>
          <a:p/>
          <a:p>
            <a:r>
              <a:t>Les consignes sont écrites, les réunions sous-titrées et les décisions accessibles après chaque échange. Une heure de préparation est déjà comprise dans le pilotage. Le tableau des responsabilités précise qui réalise et qui décide.</a:t>
            </a:r>
          </a:p>
          <a:p/>
          <a:p>
            <a:r>
              <a:t>Nous utilisons un ordinateur, un navigateur et une base locale pour développer et tester. Linear suit les tâches, Git conserve les versions et les documents partagés gardent les décisions. Le budget présenté ensuite valorise les moyens du cas.</a:t>
            </a:r>
          </a:p>
          <a:p/>
          <a:p>
            <a:r>
              <a:t>GESTE OU MANIPULATION</a:t>
            </a:r>
          </a:p>
          <a:p>
            <a:r>
              <a:t>Présenter les trois rôles et identifier les missions T02/T07 de Camille. Distinguer sa capacité de sa charge prévue.</a:t>
            </a:r>
          </a:p>
          <a:p/>
          <a:p>
            <a:r>
              <a:t>TRANSITION</a:t>
            </a:r>
          </a:p>
          <a:p>
            <a:r>
              <a:t>Je vérifie ensuite les écarts de charge avant d'engager le reste du lot.</a:t>
            </a:r>
          </a:p>
          <a:p/>
          <a:p>
            <a:r>
              <a:t>SOURCE ET NATURE</a:t>
            </a:r>
          </a:p>
          <a:p>
            <a:r>
              <a:t>C.3.1, équipe et situation fictives. A02 ; donnees/inclusion.json. Camille est un personnage fictif. C.3.1 : référentiel RNCP39583, p. 11-12. Capacités et charges du cas conservées. A02 : moyens matériels, logiciels et collaboration. Rôles CP/DEV/QA/CL du scénario.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07:00 à 08:30. Durée prévue : 01:30.</a:t>
            </a:r>
          </a:p>
          <a:p/>
          <a:p>
            <a:r>
              <a:t>TEXTE ORAL</a:t>
            </a:r>
          </a:p>
          <a:p>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a:p>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a:p>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a:p>
            <a:r>
              <a:t>GESTE OU MANIPULATION</a:t>
            </a:r>
          </a:p>
          <a:p>
            <a:r>
              <a:t>Lire chaque cause de variation puis montrer le total net de cinq heures.</a:t>
            </a:r>
          </a:p>
          <a:p/>
          <a:p>
            <a:r>
              <a:t>TRANSITION</a:t>
            </a:r>
          </a:p>
          <a:p>
            <a:r>
              <a:t>Ces heures ont un effet différent sur le budget selon le rôle concerné.</a:t>
            </a:r>
          </a:p>
          <a:p/>
          <a:p>
            <a:r>
              <a:t>SOURCE ET NATURE</a:t>
            </a:r>
          </a:p>
          <a:p>
            <a:r>
              <a:t>C3.2.1, simulation pédagogique. A09, section 4 et 5 ; donnees/pilotage.json, 30 estimateDetails ; classeur Estimations et Planning. Simulation pédagogique, sans relevés horaires réels.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08:30 à 10:00. Durée prévue : 01:30.</a:t>
            </a:r>
          </a:p>
          <a:p/>
          <a:p>
            <a:r>
              <a:t>TEXTE ORAL</a:t>
            </a:r>
          </a:p>
          <a:p>
            <a:r>
              <a:t>Je conserve le budget présenté dans le diaporama du Bloc 1 : quarante-quatre mille deux cent cinquante euros. Il comprend quatre-vingt-deux jours-homme à quatre cent cinquante euros, soit trente-six mille neuf cents euros de développement, puis les postes de lancement détaillés en annexe.</a:t>
            </a:r>
          </a:p>
          <a:p/>
          <a:p>
            <a:r>
              <a:t>Le graphique suit un périmètre plus limité : notre cas de préparation de démonstration, valorisé en heures par rôle. La référence de ce lot est de quatre mille deux cent soixante-dix euros. À J10, sa prévision atteint quatre mille quatre cent soixante-cinq euros. L'écart de cent quatre-vingt-quinze euros représente environ quatre virgule six pour cent.</a:t>
            </a:r>
          </a:p>
          <a:p/>
          <a:p>
            <a:r>
              <a:t>La réserve de quatre cent vingt-sept euros porte le plafond du lot à quatre mille six cent quatre-vingt-dix-sept euros. Il reste deux cent trente-deux euros de marge. Toute demande est examinée avec cette marge et la capacité des rôles.</a:t>
            </a:r>
          </a:p>
          <a:p/>
          <a:p>
            <a:r>
              <a:t>Le classeur détaille ces calculs. Les charges du cas sont simulées : elles ne prouvent pas une consommation du budget global. Je conserve les unités et les périmètres pour éviter d'additionner des montants qui recouvrent des travaux communs.</a:t>
            </a:r>
          </a:p>
          <a:p/>
          <a:p>
            <a:r>
              <a:t>GESTE OU MANIPULATION</a:t>
            </a:r>
          </a:p>
          <a:p>
            <a:r>
              <a:t>Comparer les barres du budget initial, de la prévision et du plafond. Expliquer les 232 euros de marge.</a:t>
            </a:r>
          </a:p>
          <a:p/>
          <a:p>
            <a:r>
              <a:t>TRANSITION</a:t>
            </a:r>
          </a:p>
          <a:p>
            <a:r>
              <a:t>La marge financière doit être lue avec la disponibilité de chaque rôle.</a:t>
            </a:r>
          </a:p>
          <a:p/>
          <a:p>
            <a:r>
              <a:t>SOURCE ET NATURE</a:t>
            </a:r>
          </a:p>
          <a:p>
            <a:r>
              <a:t>C3.2.1, montants fictifs en euros. Diaporama B1, p. 21-22 : 82 j-h, 450 EUR/j, total 44 250 EUR. A03, A09 et classeur : cas B3 distinct. reference-bloc-01.json et COHERENCE_INTER_BLOCS.md.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10:00 à 11:00. Durée prévue : 01:00.</a:t>
            </a:r>
          </a:p>
          <a:p/>
          <a:p>
            <a:r>
              <a:t>TEXTE ORAL</a:t>
            </a:r>
          </a:p>
          <a:p>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a:p>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a:p>
            <a:r>
              <a:t>TRANSITION</a:t>
            </a:r>
          </a:p>
          <a:p>
            <a:r>
              <a:t>Je relie ensuite ces points de vigilance à un registre des risques.</a:t>
            </a:r>
          </a:p>
          <a:p/>
          <a:p>
            <a:r>
              <a:t>SOURCE ET NATURE</a:t>
            </a:r>
          </a:p>
          <a:p>
            <a:r>
              <a:t>C3.2.1, simulation pédagogique. A03. Classeur Pilotage, charges à terminaison.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11:00 à 12:00. Durée prévue : 01:00.</a:t>
            </a:r>
          </a:p>
          <a:p/>
          <a:p>
            <a:r>
              <a:t>TEXTE ORAL</a:t>
            </a:r>
          </a:p>
          <a:p>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a:p>
            <a:r>
              <a:t>Le deuxième concerne la surcharge du chef de projet. Le seuil de quatre-vingt-dix pour cent déclenche une revue de la charge. Le troisième concerne une demande nouvelle qui dépasse la capacité ou le budget. Elle impose un arbitrage avant engagement.</a:t>
            </a:r>
          </a:p>
          <a:p/>
          <a:p>
            <a:r>
              <a:t>Chaque risque possède un responsable, un déclencheur et une réponse. Le score de probabilité et d'impact aide à prioriser, mais la décision doit aussi examiner la conséquence concrète pour le projet. Une couleur seule ne dit pas ce que l'équipe doit faire.</a:t>
            </a:r>
          </a:p>
          <a:p/>
          <a:p>
            <a:r>
              <a:t>TRANSITION</a:t>
            </a:r>
          </a:p>
          <a:p>
            <a:r>
              <a:t>Je vais illustrer cette logique de décision avec un changement réel du projet.</a:t>
            </a:r>
          </a:p>
          <a:p/>
          <a:p>
            <a:r>
              <a:t>SOURCE ET NATURE</a:t>
            </a:r>
          </a:p>
          <a:p>
            <a:r>
              <a:t>C3.2.1, extrait du registre fictif. A03, registre des cinq risques.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12:00 à 13:30. Durée prévue : 01:30.</a:t>
            </a:r>
          </a:p>
          <a:p/>
          <a:p>
            <a:r>
              <a:t>TEXTE ORAL</a:t>
            </a:r>
          </a:p>
          <a:p>
            <a:r>
              <a:t>Cet exemple part d'un problème technique documenté dans le Bloc 2. Les compilations du serveur de développement perturbaient la recette navigateur. Il fallait rendre les tests plus proches du logiciel livré.</a:t>
            </a:r>
          </a:p>
          <a:p/>
          <a:p>
            <a:r>
              <a:t>Je compare trois options. Augmenter les délais ou ajouter des tentatives est rapide, mais peut masquer la cause. Préchauffer les routes réduit les compilations pendant les tests, à condition d'avoir préparé toutes les routes utiles. Tester le serveur standalone issu du build demande une construction préalable, mais rapproche la recette du livrable.</a:t>
            </a:r>
          </a:p>
          <a:p/>
          <a:p>
            <a:r>
              <a:t>Le commit visible dans Git retient cette troisième option et ajuste aussi localhost pour les sessions. Le dossier historique rapporte une exécution réussie après consolidation. La comparaison des options est mon analyse rétrospective ; elle n'est pas un compte rendu rédigé le jour de la décision. Les résultats gardent leur version et leur date.</a:t>
            </a:r>
          </a:p>
          <a:p/>
          <a:p>
            <a:r>
              <a:t>Ce cas montre comment je justifie un choix : je pars du problème, j'examine les conséquences des options et je relie la solution au résultat attendu.</a:t>
            </a:r>
          </a:p>
          <a:p/>
          <a:p>
            <a:r>
              <a:t>GESTE OU MANIPULATION</a:t>
            </a:r>
          </a:p>
          <a:p>
            <a:r>
              <a:t>Comparer oralement les trois options. Mettre en avant le standalone et le commit qui atteste le choix.</a:t>
            </a:r>
          </a:p>
          <a:p/>
          <a:p>
            <a:r>
              <a:t>TRANSITION</a:t>
            </a:r>
          </a:p>
          <a:p>
            <a:r>
              <a:t>Un arbitrage peut aussi porter sur le périmètre plutôt que sur un choix technique.</a:t>
            </a:r>
          </a:p>
          <a:p/>
          <a:p>
            <a:r>
              <a:t>SOURCE ET NATURE</a:t>
            </a:r>
          </a:p>
          <a:p>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13:30 à 15:00. Durée prévue : 01:30.</a:t>
            </a:r>
          </a:p>
          <a:p/>
          <a:p>
            <a:r>
              <a:t>TEXTE ORAL</a:t>
            </a:r>
          </a:p>
          <a:p>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a:p>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a:p>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a:p>
            <a:r>
              <a:t>GESTE OU MANIPULATION</a:t>
            </a:r>
          </a:p>
          <a:p>
            <a:r>
              <a:t>Montrer le rattachement de la demande au contexte SPI-22, puis comparer les coûts et la capacité DEV.</a:t>
            </a:r>
          </a:p>
          <a:p/>
          <a:p>
            <a:r>
              <a:t>TRANSITION</a:t>
            </a:r>
          </a:p>
          <a:p>
            <a:r>
              <a:t>Pour appliquer cette décision, je dois aussi la faire comprendre à l’équipe.</a:t>
            </a:r>
          </a:p>
          <a:p/>
          <a:p>
            <a:r>
              <a:t>SOURCE ET NATURE</a:t>
            </a:r>
          </a:p>
          <a:p>
            <a:r>
              <a:t>C3.2.2, demande fictive à J10. A04 et CR02 dans A07. Simulation explicitement distincte du code actuel. B1 : diaporama p. 20-21, topos Should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15:00 à 16:30. Durée prévue : 01:30.</a:t>
            </a:r>
          </a:p>
          <a:p/>
          <a:p>
            <a:r>
              <a:t>TEXTE ORAL</a:t>
            </a:r>
          </a:p>
          <a:p>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a:p>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a:p>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a:p>
            <a:r>
              <a:t>GESTE OU MANIPULATION</a:t>
            </a:r>
          </a:p>
          <a:p>
            <a:r>
              <a:t>Associer chaque style à une action, puis expliquer la limite d’une réponse seulement directive.</a:t>
            </a:r>
          </a:p>
          <a:p/>
          <a:p>
            <a:r>
              <a:t>TRANSITION</a:t>
            </a:r>
          </a:p>
          <a:p>
            <a:r>
              <a:t>Ces échanges doivent être accessibles à toute l’équipe.</a:t>
            </a:r>
          </a:p>
          <a:p/>
          <a:p>
            <a:r>
              <a:t>SOURCE ET NATURE</a:t>
            </a:r>
          </a:p>
          <a:p>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16:30 à 18:00. Durée prévue : 01:30.</a:t>
            </a:r>
          </a:p>
          <a:p/>
          <a:p>
            <a:r>
              <a:t>TEXTE ORAL</a:t>
            </a:r>
          </a:p>
          <a:p>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a:p>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a:p>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a:p>
            <a:r>
              <a:t>GESTE OU MANIPULATION</a:t>
            </a:r>
          </a:p>
          <a:p>
            <a:r>
              <a:t>Présenter les adaptations de Camille puis le cas Paris/Montréal et le contrôle commun.</a:t>
            </a:r>
          </a:p>
          <a:p/>
          <a:p>
            <a:r>
              <a:t>TRANSITION</a:t>
            </a:r>
          </a:p>
          <a:p>
            <a:r>
              <a:t>Je compare ensuite les compétences disponibles aux besoins du projet.</a:t>
            </a:r>
          </a:p>
          <a:p/>
          <a:p>
            <a:r>
              <a:t>SOURCE ET NATURE</a:t>
            </a:r>
          </a:p>
          <a:p>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18:00 à 19:00. Durée prévue : 01:00.</a:t>
            </a:r>
          </a:p>
          <a:p/>
          <a:p>
            <a:r>
              <a:t>TEXTE ORAL</a:t>
            </a:r>
          </a:p>
          <a:p>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a:p>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a:p>
            <a:r>
              <a:t>Je commente l'écart avec un exemple observable : expliquer pourquoi une seule demande obtient la dernière place. Une note globale par personne masquerait ce besoin. L'objectif reste la compétence utile au projet, indépendamment de la situation de handicap.</a:t>
            </a:r>
          </a:p>
          <a:p/>
          <a:p>
            <a:r>
              <a:t>GESTE OU MANIPULATION</a:t>
            </a:r>
          </a:p>
          <a:p>
            <a:r>
              <a:t>Commenter une ligne complète : rôle, compétence, niveau actuel et cible.</a:t>
            </a:r>
          </a:p>
          <a:p/>
          <a:p>
            <a:r>
              <a:t>TRANSITION</a:t>
            </a:r>
          </a:p>
          <a:p>
            <a:r>
              <a:t>Chaque écart conduit à une action de formation ciblée.</a:t>
            </a:r>
          </a:p>
          <a:p/>
          <a:p>
            <a:r>
              <a:t>SOURCE ET NATURE</a:t>
            </a:r>
          </a:p>
          <a:p>
            <a:r>
              <a:t>C3.3.2, niveaux hypothétiques du cas. A06 : six compétences et échelle 0-3. Besoins et niveaux simulés.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19:00 à 20:30. Durée prévue : 01:30.</a:t>
            </a:r>
          </a:p>
          <a:p/>
          <a:p>
            <a:r>
              <a:t>TEXTE ORAL</a:t>
            </a:r>
          </a:p>
          <a:p>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a:p>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a:p>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a:p>
            <a:r>
              <a:t>GESTE OU MANIPULATION</a:t>
            </a:r>
          </a:p>
          <a:p>
            <a:r>
              <a:t>Lire les trois actions et leurs critères de réussite, puis indiquer le déclencheur RH.</a:t>
            </a:r>
          </a:p>
          <a:p/>
          <a:p>
            <a:r>
              <a:t>TRANSITION</a:t>
            </a:r>
          </a:p>
          <a:p>
            <a:r>
              <a:t>Le client reçoit ensuite un compte rendu qui permet de décider.</a:t>
            </a:r>
          </a:p>
          <a:p/>
          <a:p>
            <a:r>
              <a:t>SOURCE ET NATURE</a:t>
            </a:r>
          </a:p>
          <a:p>
            <a:r>
              <a:t>C3.3.2, formations et besoin RH simulés. A06 et consolidation.json. Formation CP 1 h/T03, DEV 2 h/T06, QA 3 h/T07. Variante RH séparée, annexe 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20:30 à 22:00. Durée prévue : 01:30.</a:t>
            </a:r>
          </a:p>
          <a:p/>
          <a:p>
            <a:r>
              <a:t>TEXTE ORAL</a:t>
            </a:r>
          </a:p>
          <a:p>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a:p>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a:p>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a:p>
            <a:r>
              <a:t>GESTE OU MANIPULATION</a:t>
            </a:r>
          </a:p>
          <a:p>
            <a:r>
              <a:t>Montrer le résultat présenté, la décision issue du retour client et les actions datées.</a:t>
            </a:r>
          </a:p>
          <a:p/>
          <a:p>
            <a:r>
              <a:t>TRANSITION</a:t>
            </a:r>
          </a:p>
          <a:p>
            <a:r>
              <a:t>Les retours du client sont aussi suivis par un protocole de satisfaction.</a:t>
            </a:r>
          </a:p>
          <a:p/>
          <a:p>
            <a:r>
              <a:t>SOURCE ET NATURE</a:t>
            </a:r>
          </a:p>
          <a:p>
            <a:r>
              <a:t>C3.4.1, comptes rendus simulés. A05, protocole des reviews ; A07, CR02 ; rituels.json. Compte rendu et accord client fictifs.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22:00 à 23:00. Durée prévue : 01:00.</a:t>
            </a:r>
          </a:p>
          <a:p/>
          <a:p>
            <a:r>
              <a:t>TEXTE ORAL</a:t>
            </a:r>
          </a:p>
          <a:p>
            <a:r>
              <a:t>À J15, je prévois une session pilote fictive avec deux grimpeurs et un représentant de club. Aucun participant n'a réellement été recruté pour cette mesure. Les résultats restent non mesurés.</a:t>
            </a:r>
          </a:p>
          <a:p/>
          <a:p>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a:p>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a:p>
            <a:r>
              <a:t>GESTE OU MANIPULATION</a:t>
            </a:r>
          </a:p>
          <a:p>
            <a:r>
              <a:t>Lire un indicateur avec son calcul et son seuil, puis expliquer l’action déclenchée.</a:t>
            </a:r>
          </a:p>
          <a:p/>
          <a:p>
            <a:r>
              <a:t>TRANSITION</a:t>
            </a:r>
          </a:p>
          <a:p>
            <a:r>
              <a:t>Je montre maintenant le parcours qui sera évalué.</a:t>
            </a:r>
          </a:p>
          <a:p/>
          <a:p>
            <a:r>
              <a:t>SOURCE ET NATURE</a:t>
            </a:r>
          </a:p>
          <a:p>
            <a:r>
              <a:t>C3.4.1, aucun résultat client réel disponible. A07 : définitions, seuils et questionnaire ; consolidation.json : effectif prévu uniquement, résultats null.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23:00 à 23:30. Durée prévue : 00:30.</a:t>
            </a:r>
          </a:p>
          <a:p/>
          <a:p>
            <a:r>
              <a:t>TEXTE ORAL</a:t>
            </a:r>
          </a:p>
          <a:p>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a:p>
            <a:r>
              <a:t>GESTE OU MANIPULATION</a:t>
            </a:r>
          </a:p>
          <a:p>
            <a:r>
              <a:t>Ouvrir les deux sessions déjà connectées. Lancer le chronomètre de démonstration.</a:t>
            </a:r>
          </a:p>
          <a:p/>
          <a:p>
            <a:r>
              <a:t>TRANSITION</a:t>
            </a:r>
          </a:p>
          <a:p>
            <a:r>
              <a:t>Je commence avec le compte grimpeur.</a:t>
            </a:r>
          </a:p>
          <a:p/>
          <a:p>
            <a:r>
              <a:t>SOURCE ET NATURE</a:t>
            </a:r>
          </a:p>
          <a:p>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23:30 à 26:30. Durée prévue : 03:00.</a:t>
            </a:r>
          </a:p>
          <a:p/>
          <a:p>
            <a:r>
              <a:t>TEXTE ORAL</a:t>
            </a:r>
          </a:p>
          <a:p>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a:p>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a:p>
            <a:r>
              <a:t>Je décris le résultat du point de vue de l'utilisateur : il sait quelle sortie il rejoint et peut retrouver son inscription. Je vais vérifier ce même résultat depuis le rôle club.</a:t>
            </a:r>
          </a:p>
          <a:p/>
          <a:p>
            <a:r>
              <a:t>GESTE OU MANIPULATION</a:t>
            </a:r>
          </a:p>
          <a:p>
            <a:r>
              <a:t>0:00–0:40 : profil. 0:40–1:35 : filtre et demande. 1:35–2:40 : événement et inscription. 2:40–3:00 : confirmation. Laisser le navigateur affiché pendant les manipulations. La capture sert de secours.</a:t>
            </a:r>
          </a:p>
          <a:p/>
          <a:p>
            <a:r>
              <a:t>TRANSITION</a:t>
            </a:r>
          </a:p>
          <a:p>
            <a:r>
              <a:t>Je bascule sur la session du club organisateur.</a:t>
            </a:r>
          </a:p>
          <a:p/>
          <a:p>
            <a:r>
              <a:t>SOURCE ET NATURE</a:t>
            </a:r>
          </a:p>
          <a:p>
            <a:r>
              <a:t>C3.4.2, application locale et données de test. Capture réelle du 15 septembre 2026. A08, recette navigateur datée.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26:30 à 29:00. Durée prévue : 02:30.</a:t>
            </a:r>
          </a:p>
          <a:p/>
          <a:p>
            <a:r>
              <a:t>TEXTE ORAL</a:t>
            </a:r>
          </a:p>
          <a:p>
            <a:r>
              <a:t>Je suis maintenant connecté avec le rôle club. Je retrouve l'événement et je consulte les participants. L'inscription effectuée côté grimpeur doit apparaître de façon cohérente. Les commandes de gestion correspondent au rôle de l'organisateur.</a:t>
            </a:r>
          </a:p>
          <a:p/>
          <a:p>
            <a:r>
              <a:t>Je montre aussi un passage au clavier sur les commandes utiles. Les règles de capacité et les refus d'accès disposent de scénarios de recette identifiés. Si je ne reproduis pas un contrôle en direct, je précise la preuve de test utilisée et sa date.</a:t>
            </a:r>
          </a:p>
          <a:p/>
          <a:p>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a:p>
            <a:r>
              <a:t>GESTE OU MANIPULATION</a:t>
            </a:r>
          </a:p>
          <a:p>
            <a:r>
              <a:t>0:00–1:15 : événement, commandes et participants. 1:15–2:00 : clavier et portée des preuves de capacité. 2:00–2:30 : critères et réserves. En cas d’incident, annoncer le contrôle non revalidé et utiliser la capture datée.</a:t>
            </a:r>
          </a:p>
          <a:p/>
          <a:p>
            <a:r>
              <a:t>TRANSITION</a:t>
            </a:r>
          </a:p>
          <a:p>
            <a:r>
              <a:t>Je reviens au bilan du pilotage.</a:t>
            </a:r>
          </a:p>
          <a:p/>
          <a:p>
            <a:r>
              <a:t>SOURCE ET NATURE</a:t>
            </a:r>
          </a:p>
          <a:p>
            <a:r>
              <a:t>C3.4.2, application locale et données de test. Capture réelle du 15 septembre 2026. A08 et preuves/verification.json.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29:00 à 30:00. Durée prévue : 01:00.</a:t>
            </a:r>
          </a:p>
          <a:p/>
          <a:p>
            <a:r>
              <a:t>TEXTE ORAL</a:t>
            </a:r>
          </a:p>
          <a:p>
            <a:r>
              <a:t>Je termine par les critères annoncés : trouver un partenaire adapté, comprendre l'état de la demande, confirmer une inscription et retrouver le participant côté club. Je rappelle les contrôles montrés au clavier ainsi que la portée des preuves de capacité.</a:t>
            </a:r>
          </a:p>
          <a:p/>
          <a:p>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a:p>
            <a:r>
              <a:t>Je demande alors si ce périmètre répond aux critères convenus. Les réserves alimentent le suivi de maintenance du Bloc 4 avec la version identifiée. Aucun accord réel n'est prérempli au nom du client.</a:t>
            </a:r>
          </a:p>
          <a:p/>
          <a:p>
            <a:r>
              <a:t>GESTE OU MANIPULATION</a:t>
            </a:r>
          </a:p>
          <a:p>
            <a:r>
              <a:t>Demander la décision sur les critères. Terminer à 30:00.</a:t>
            </a:r>
          </a:p>
          <a:p/>
          <a:p>
            <a:r>
              <a:t>TRANSITION</a:t>
            </a:r>
          </a:p>
          <a:p>
            <a:r>
              <a:t>Je suis prêt à répondre aux questions et à retrouver les preuves.</a:t>
            </a:r>
          </a:p>
          <a:p/>
          <a:p>
            <a:r>
              <a:t>SOURCE ET NATURE</a:t>
            </a:r>
          </a:p>
          <a:p>
            <a:r>
              <a:t>C3.4.2, décision attendue après démonstration. A07 grille de validation ; A08 ; Bloc 4 suivi des réserves et anomalies.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La matrice RACI distingue réalisation, décision, consultation et information. Une seule autorité A est retenue par activité. Camille est le rôle QA fictif. Les aménagements modifient les échanges, sans retirer sa responsabilité de recette.</a:t>
            </a:r>
          </a:p>
          <a:p/>
          <a:p>
            <a:r>
              <a:t>SOURCE ET NATURE</a:t>
            </a:r>
          </a:p>
          <a:p>
            <a:r>
              <a:t>Annexe, organisation fictive. A02, matrice RACI du scénario.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a:p>
            <a:r>
              <a:t>GESTE OU MANIPULATION</a:t>
            </a:r>
          </a:p>
          <a:p>
            <a:r>
              <a:t>Choisir un scénario dans le tableau et expliquer séparément la contrainte budgétaire et la capacité.</a:t>
            </a:r>
          </a:p>
          <a:p/>
          <a:p>
            <a:r>
              <a:t>SOURCE ET NATURE</a:t>
            </a:r>
          </a:p>
          <a:p>
            <a:r>
              <a:t>Annexe, scénarios pédagogiques. A09 section 6 ; classeur Pilotage, sensibilité ; donnees/pilotage.json. Taux et capacités fictifs du lot.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REPÈRE : 30:00 à 30:00. Durée prévue : 00:00.</a:t>
            </a:r>
          </a:p>
          <a:p/>
          <a:p>
            <a:r>
              <a:t>TEXTE ORAL</a:t>
            </a:r>
          </a:p>
          <a:p>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a:p>
            <a:r>
              <a:t>SOURCE ET NATURE</a:t>
            </a:r>
          </a:p>
          <a:p>
            <a:r>
              <a:t>Annexe, demande et devis pédagogiques. A06 et consolidation.json, variante RH non activée.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SOUTENANCE · SEPTEMBRE 2026</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01</a:t>
            </a:r>
          </a:p>
        </p:txBody>
      </p:sp>
      <p:pic>
        <p:nvPicPr>
          <p:cNvPr id="7" name="Picture 6" descr="escalade-falaise-coucher-soleil"/>
          <p:cNvPicPr>
            <a:picLocks noChangeAspect="1"/>
          </p:cNvPicPr>
          <p:nvPr/>
        </p:nvPicPr>
        <p:blipFill>
          <a:blip r:embed="rId3"/>
          <a:srcRect t="7143" b="7143"/>
          <a:stretch>
            <a:fillRect/>
          </a:stretch>
        </p:blipFill>
        <p:spPr>
          <a:xfrm>
            <a:off x="7909560" y="0"/>
            <a:ext cx="6720840" cy="7680960"/>
          </a:xfrm>
          <a:prstGeom prst="rect">
            <a:avLst/>
          </a:prstGeom>
        </p:spPr>
      </p:pic>
      <p:sp>
        <p:nvSpPr>
          <p:cNvPr id="8" name="Rounded Rectangle 7"/>
          <p:cNvSpPr/>
          <p:nvPr/>
        </p:nvSpPr>
        <p:spPr>
          <a:xfrm>
            <a:off x="640080" y="1417320"/>
            <a:ext cx="274320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476756"/>
            <a:ext cx="250545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COORDONNER &amp; PILOTER</a:t>
            </a:r>
          </a:p>
        </p:txBody>
      </p:sp>
      <p:sp>
        <p:nvSpPr>
          <p:cNvPr id="10" name="TextBox 9"/>
          <p:cNvSpPr txBox="1"/>
          <p:nvPr/>
        </p:nvSpPr>
        <p:spPr>
          <a:xfrm>
            <a:off x="594360" y="2084831"/>
            <a:ext cx="7315200" cy="3200400"/>
          </a:xfrm>
          <a:prstGeom prst="rect">
            <a:avLst/>
          </a:prstGeom>
          <a:noFill/>
        </p:spPr>
        <p:txBody>
          <a:bodyPr wrap="square" lIns="0" rIns="0" tIns="0" bIns="0">
            <a:spAutoFit/>
          </a:bodyPr>
          <a:lstStyle/>
          <a:p>
            <a:pPr algn="l">
              <a:spcAft>
                <a:spcPts val="400"/>
              </a:spcAft>
              <a:defRPr sz="6400" b="1">
                <a:solidFill>
                  <a:srgbClr val="FFFFFF"/>
                </a:solidFill>
                <a:latin typeface="Arial"/>
              </a:defRPr>
            </a:pPr>
            <a:r>
              <a:t>Un projet.</a:t>
            </a:r>
          </a:p>
          <a:p>
            <a:pPr algn="l">
              <a:spcAft>
                <a:spcPts val="400"/>
              </a:spcAft>
              <a:defRPr sz="6400" b="1">
                <a:solidFill>
                  <a:srgbClr val="FFFFFF"/>
                </a:solidFill>
                <a:latin typeface="Arial"/>
              </a:defRPr>
            </a:pPr>
            <a:r>
              <a:t>Une équipe.</a:t>
            </a:r>
          </a:p>
          <a:p>
            <a:pPr algn="l">
              <a:spcAft>
                <a:spcPts val="400"/>
              </a:spcAft>
              <a:defRPr sz="6400" b="1">
                <a:solidFill>
                  <a:srgbClr val="FFFFFF"/>
                </a:solidFill>
                <a:latin typeface="Arial"/>
              </a:defRPr>
            </a:pPr>
            <a:r>
              <a:t>Un cap.</a:t>
            </a:r>
          </a:p>
        </p:txBody>
      </p:sp>
      <p:sp>
        <p:nvSpPr>
          <p:cNvPr id="11" name="TextBox 10"/>
          <p:cNvSpPr txBox="1"/>
          <p:nvPr/>
        </p:nvSpPr>
        <p:spPr>
          <a:xfrm>
            <a:off x="640080" y="5696712"/>
            <a:ext cx="6766560" cy="731520"/>
          </a:xfrm>
          <a:prstGeom prst="rect">
            <a:avLst/>
          </a:prstGeom>
          <a:noFill/>
        </p:spPr>
        <p:txBody>
          <a:bodyPr wrap="square" lIns="0" rIns="0" tIns="0" bIns="0">
            <a:spAutoFit/>
          </a:bodyPr>
          <a:lstStyle/>
          <a:p>
            <a:pPr algn="l">
              <a:spcAft>
                <a:spcPts val="400"/>
              </a:spcAft>
              <a:defRPr sz="2400" b="0">
                <a:solidFill>
                  <a:srgbClr val="C7D6CB"/>
                </a:solidFill>
                <a:latin typeface="Arial"/>
              </a:defRPr>
            </a:pPr>
            <a:r>
              <a:t>Spity, le lien entre grimpeurs et clubs.</a:t>
            </a:r>
          </a:p>
        </p:txBody>
      </p:sp>
      <p:sp>
        <p:nvSpPr>
          <p:cNvPr id="12" name="TextBox 11"/>
          <p:cNvSpPr txBox="1"/>
          <p:nvPr/>
        </p:nvSpPr>
        <p:spPr>
          <a:xfrm>
            <a:off x="640080" y="6720840"/>
            <a:ext cx="3657600" cy="365760"/>
          </a:xfrm>
          <a:prstGeom prst="rect">
            <a:avLst/>
          </a:prstGeom>
          <a:noFill/>
        </p:spPr>
        <p:txBody>
          <a:bodyPr wrap="square" lIns="0" rIns="0" tIns="0" bIns="0">
            <a:spAutoFit/>
          </a:bodyPr>
          <a:lstStyle/>
          <a:p>
            <a:pPr algn="l">
              <a:spcAft>
                <a:spcPts val="400"/>
              </a:spcAft>
              <a:defRPr sz="2000" b="1">
                <a:solidFill>
                  <a:srgbClr val="D8F28B"/>
                </a:solidFill>
                <a:latin typeface="Arial"/>
              </a:defRPr>
            </a:pPr>
            <a:r>
              <a:t>Dorian Joly</a:t>
            </a:r>
          </a:p>
        </p:txBody>
      </p:sp>
      <p:sp>
        <p:nvSpPr>
          <p:cNvPr id="13" name="TextBox 12"/>
          <p:cNvSpPr txBox="1"/>
          <p:nvPr/>
        </p:nvSpPr>
        <p:spPr>
          <a:xfrm>
            <a:off x="9144000" y="7086600"/>
            <a:ext cx="4846320" cy="365760"/>
          </a:xfrm>
          <a:prstGeom prst="rect">
            <a:avLst/>
          </a:prstGeom>
          <a:noFill/>
        </p:spPr>
        <p:txBody>
          <a:bodyPr wrap="square" lIns="0" rIns="0" tIns="0" bIns="0">
            <a:spAutoFit/>
          </a:bodyPr>
          <a:lstStyle/>
          <a:p>
            <a:pPr algn="r">
              <a:spcAft>
                <a:spcPts val="400"/>
              </a:spcAft>
              <a:defRPr sz="1700" b="1">
                <a:solidFill>
                  <a:srgbClr val="FFFFFF"/>
                </a:solidFill>
                <a:latin typeface="Arial"/>
              </a:defRPr>
            </a:pPr>
            <a:r>
              <a:t>30 min · démonstration incluse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LE PARCOURS DE LA PRÉSENTATION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Sommaire</a:t>
            </a:r>
          </a:p>
        </p:txBody>
      </p:sp>
      <p:cxnSp>
        <p:nvCxnSpPr>
          <p:cNvPr id="5" name="Connector 4"/>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7" name="TextBox 6"/>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02</a:t>
            </a:r>
          </a:p>
        </p:txBody>
      </p:sp>
      <p:sp>
        <p:nvSpPr>
          <p:cNvPr id="8" name="TextBox 7"/>
          <p:cNvSpPr txBox="1"/>
          <p:nvPr/>
        </p:nvSpPr>
        <p:spPr>
          <a:xfrm>
            <a:off x="685800" y="2651760"/>
            <a:ext cx="3657600" cy="868680"/>
          </a:xfrm>
          <a:prstGeom prst="rect">
            <a:avLst/>
          </a:prstGeom>
          <a:noFill/>
        </p:spPr>
        <p:txBody>
          <a:bodyPr wrap="square" lIns="0" rIns="0" tIns="0" bIns="0">
            <a:spAutoFit/>
          </a:bodyPr>
          <a:lstStyle/>
          <a:p>
            <a:pPr algn="l">
              <a:spcAft>
                <a:spcPts val="400"/>
              </a:spcAft>
              <a:defRPr sz="5600" b="1">
                <a:solidFill>
                  <a:srgbClr val="D8F28B"/>
                </a:solidFill>
                <a:latin typeface="Arial"/>
              </a:defRPr>
            </a:pPr>
            <a:r>
              <a:t>30</a:t>
            </a:r>
          </a:p>
        </p:txBody>
      </p:sp>
      <p:sp>
        <p:nvSpPr>
          <p:cNvPr id="9" name="TextBox 8"/>
          <p:cNvSpPr txBox="1"/>
          <p:nvPr/>
        </p:nvSpPr>
        <p:spPr>
          <a:xfrm>
            <a:off x="685800" y="3584448"/>
            <a:ext cx="3657600" cy="548640"/>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minutes pour présenter</a:t>
            </a:r>
          </a:p>
        </p:txBody>
      </p:sp>
      <p:sp>
        <p:nvSpPr>
          <p:cNvPr id="10" name="TextBox 9"/>
          <p:cNvSpPr txBox="1"/>
          <p:nvPr/>
        </p:nvSpPr>
        <p:spPr>
          <a:xfrm>
            <a:off x="685800" y="4315968"/>
            <a:ext cx="3657600" cy="100584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24 min d’explications</a:t>
            </a:r>
          </a:p>
          <a:p>
            <a:pPr algn="l">
              <a:spcAft>
                <a:spcPts val="400"/>
              </a:spcAft>
              <a:defRPr sz="1600" b="0">
                <a:solidFill>
                  <a:srgbClr val="C7D6CB"/>
                </a:solidFill>
                <a:latin typeface="Arial"/>
              </a:defRPr>
            </a:pPr>
            <a:r>
              <a:t>6 min de démonstration</a:t>
            </a:r>
          </a:p>
        </p:txBody>
      </p:sp>
      <p:sp>
        <p:nvSpPr>
          <p:cNvPr id="11" name="TextBox 10"/>
          <p:cNvSpPr txBox="1"/>
          <p:nvPr/>
        </p:nvSpPr>
        <p:spPr>
          <a:xfrm>
            <a:off x="5120640" y="2423160"/>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01</a:t>
            </a:r>
          </a:p>
        </p:txBody>
      </p:sp>
      <p:sp>
        <p:nvSpPr>
          <p:cNvPr id="12" name="TextBox 11"/>
          <p:cNvSpPr txBox="1"/>
          <p:nvPr/>
        </p:nvSpPr>
        <p:spPr>
          <a:xfrm>
            <a:off x="5943600" y="2423160"/>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Le projet Spity</a:t>
            </a:r>
          </a:p>
        </p:txBody>
      </p:sp>
      <p:sp>
        <p:nvSpPr>
          <p:cNvPr id="13" name="TextBox 12"/>
          <p:cNvSpPr txBox="1"/>
          <p:nvPr/>
        </p:nvSpPr>
        <p:spPr>
          <a:xfrm>
            <a:off x="11430000" y="2514600"/>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01:00 à 03:00</a:t>
            </a:r>
          </a:p>
        </p:txBody>
      </p:sp>
      <p:cxnSp>
        <p:nvCxnSpPr>
          <p:cNvPr id="14" name="Connector 13"/>
          <p:cNvCxnSpPr/>
          <p:nvPr/>
        </p:nvCxnSpPr>
        <p:spPr>
          <a:xfrm>
            <a:off x="5943600" y="3017520"/>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20640" y="3255264"/>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02</a:t>
            </a:r>
          </a:p>
        </p:txBody>
      </p:sp>
      <p:sp>
        <p:nvSpPr>
          <p:cNvPr id="16" name="TextBox 15"/>
          <p:cNvSpPr txBox="1"/>
          <p:nvPr/>
        </p:nvSpPr>
        <p:spPr>
          <a:xfrm>
            <a:off x="5943600" y="3255264"/>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Organiser le travail</a:t>
            </a:r>
          </a:p>
        </p:txBody>
      </p:sp>
      <p:sp>
        <p:nvSpPr>
          <p:cNvPr id="17" name="TextBox 16"/>
          <p:cNvSpPr txBox="1"/>
          <p:nvPr/>
        </p:nvSpPr>
        <p:spPr>
          <a:xfrm>
            <a:off x="11430000" y="3346704"/>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03:00 à 07:00</a:t>
            </a:r>
          </a:p>
        </p:txBody>
      </p:sp>
      <p:cxnSp>
        <p:nvCxnSpPr>
          <p:cNvPr id="18" name="Connector 17"/>
          <p:cNvCxnSpPr/>
          <p:nvPr/>
        </p:nvCxnSpPr>
        <p:spPr>
          <a:xfrm>
            <a:off x="5943600" y="3849624"/>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120640" y="4087368"/>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03</a:t>
            </a:r>
          </a:p>
        </p:txBody>
      </p:sp>
      <p:sp>
        <p:nvSpPr>
          <p:cNvPr id="20" name="TextBox 19"/>
          <p:cNvSpPr txBox="1"/>
          <p:nvPr/>
        </p:nvSpPr>
        <p:spPr>
          <a:xfrm>
            <a:off x="5943600" y="4087368"/>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Suivre et décider</a:t>
            </a:r>
          </a:p>
        </p:txBody>
      </p:sp>
      <p:sp>
        <p:nvSpPr>
          <p:cNvPr id="21" name="TextBox 20"/>
          <p:cNvSpPr txBox="1"/>
          <p:nvPr/>
        </p:nvSpPr>
        <p:spPr>
          <a:xfrm>
            <a:off x="11430000" y="4178807"/>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07:00 à 15:00</a:t>
            </a:r>
          </a:p>
        </p:txBody>
      </p:sp>
      <p:cxnSp>
        <p:nvCxnSpPr>
          <p:cNvPr id="22" name="Connector 21"/>
          <p:cNvCxnSpPr/>
          <p:nvPr/>
        </p:nvCxnSpPr>
        <p:spPr>
          <a:xfrm>
            <a:off x="5943600" y="4681728"/>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120640" y="4919472"/>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04</a:t>
            </a:r>
          </a:p>
        </p:txBody>
      </p:sp>
      <p:sp>
        <p:nvSpPr>
          <p:cNvPr id="24" name="TextBox 23"/>
          <p:cNvSpPr txBox="1"/>
          <p:nvPr/>
        </p:nvSpPr>
        <p:spPr>
          <a:xfrm>
            <a:off x="5943600" y="4919472"/>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L'équipe et le client</a:t>
            </a:r>
          </a:p>
        </p:txBody>
      </p:sp>
      <p:sp>
        <p:nvSpPr>
          <p:cNvPr id="25" name="TextBox 24"/>
          <p:cNvSpPr txBox="1"/>
          <p:nvPr/>
        </p:nvSpPr>
        <p:spPr>
          <a:xfrm>
            <a:off x="11430000" y="5010912"/>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15:00 à 23:00</a:t>
            </a:r>
          </a:p>
        </p:txBody>
      </p:sp>
      <p:cxnSp>
        <p:nvCxnSpPr>
          <p:cNvPr id="26" name="Connector 25"/>
          <p:cNvCxnSpPr/>
          <p:nvPr/>
        </p:nvCxnSpPr>
        <p:spPr>
          <a:xfrm>
            <a:off x="5943600" y="5513832"/>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120640" y="5751576"/>
            <a:ext cx="640080" cy="457200"/>
          </a:xfrm>
          <a:prstGeom prst="rect">
            <a:avLst/>
          </a:prstGeom>
          <a:noFill/>
        </p:spPr>
        <p:txBody>
          <a:bodyPr wrap="square" lIns="0" rIns="0" tIns="0" bIns="0">
            <a:spAutoFit/>
          </a:bodyPr>
          <a:lstStyle/>
          <a:p>
            <a:pPr algn="l">
              <a:spcAft>
                <a:spcPts val="400"/>
              </a:spcAft>
              <a:defRPr sz="2500" b="1">
                <a:solidFill>
                  <a:srgbClr val="D8F28B"/>
                </a:solidFill>
                <a:latin typeface="Arial"/>
              </a:defRPr>
            </a:pPr>
            <a:r>
              <a:t>05</a:t>
            </a:r>
          </a:p>
        </p:txBody>
      </p:sp>
      <p:sp>
        <p:nvSpPr>
          <p:cNvPr id="28" name="TextBox 27"/>
          <p:cNvSpPr txBox="1"/>
          <p:nvPr/>
        </p:nvSpPr>
        <p:spPr>
          <a:xfrm>
            <a:off x="5943600" y="5751576"/>
            <a:ext cx="5212080" cy="438912"/>
          </a:xfrm>
          <a:prstGeom prst="rect">
            <a:avLst/>
          </a:prstGeom>
          <a:noFill/>
        </p:spPr>
        <p:txBody>
          <a:bodyPr wrap="square" lIns="0" rIns="0" tIns="0" bIns="0">
            <a:spAutoFit/>
          </a:bodyPr>
          <a:lstStyle/>
          <a:p>
            <a:pPr algn="l">
              <a:spcAft>
                <a:spcPts val="400"/>
              </a:spcAft>
              <a:defRPr sz="2400" b="1">
                <a:solidFill>
                  <a:srgbClr val="FFFFFF"/>
                </a:solidFill>
                <a:latin typeface="Arial"/>
              </a:defRPr>
            </a:pPr>
            <a:r>
              <a:t>Démontrer et valider</a:t>
            </a:r>
          </a:p>
        </p:txBody>
      </p:sp>
      <p:sp>
        <p:nvSpPr>
          <p:cNvPr id="29" name="TextBox 28"/>
          <p:cNvSpPr txBox="1"/>
          <p:nvPr/>
        </p:nvSpPr>
        <p:spPr>
          <a:xfrm>
            <a:off x="11430000" y="5843016"/>
            <a:ext cx="2423160" cy="320040"/>
          </a:xfrm>
          <a:prstGeom prst="rect">
            <a:avLst/>
          </a:prstGeom>
          <a:noFill/>
        </p:spPr>
        <p:txBody>
          <a:bodyPr wrap="square" lIns="0" rIns="0" tIns="0" bIns="0">
            <a:spAutoFit/>
          </a:bodyPr>
          <a:lstStyle/>
          <a:p>
            <a:pPr algn="r">
              <a:spcAft>
                <a:spcPts val="400"/>
              </a:spcAft>
              <a:defRPr sz="1400" b="0">
                <a:solidFill>
                  <a:srgbClr val="C7D6CB"/>
                </a:solidFill>
                <a:latin typeface="Arial"/>
              </a:defRPr>
            </a:pPr>
            <a:r>
              <a:t>23:00 à 30:00</a:t>
            </a:r>
          </a:p>
        </p:txBody>
      </p:sp>
      <p:cxnSp>
        <p:nvCxnSpPr>
          <p:cNvPr id="30" name="Connector 29"/>
          <p:cNvCxnSpPr/>
          <p:nvPr/>
        </p:nvCxnSpPr>
        <p:spPr>
          <a:xfrm>
            <a:off x="5943600" y="6345936"/>
            <a:ext cx="790956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Du besoin utilisateur à la décision de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01 / LE PROJET SPITY</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Relier les grimpeurs. Simplifier les sorties.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Le besoin du commanditaire fictif : Collectif Altitude Grimpe.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03</a:t>
            </a:r>
          </a:p>
        </p:txBody>
      </p:sp>
      <p:sp>
        <p:nvSpPr>
          <p:cNvPr id="9" name="Rounded Rectangle 8"/>
          <p:cNvSpPr/>
          <p:nvPr/>
        </p:nvSpPr>
        <p:spPr>
          <a:xfrm>
            <a:off x="640080" y="260604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6547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GRIMPEUR</a:t>
            </a:r>
          </a:p>
        </p:txBody>
      </p:sp>
      <p:sp>
        <p:nvSpPr>
          <p:cNvPr id="11" name="TextBox 10"/>
          <p:cNvSpPr txBox="1"/>
          <p:nvPr/>
        </p:nvSpPr>
        <p:spPr>
          <a:xfrm>
            <a:off x="640080" y="3127248"/>
            <a:ext cx="5212080" cy="548640"/>
          </a:xfrm>
          <a:prstGeom prst="rect">
            <a:avLst/>
          </a:prstGeom>
          <a:noFill/>
        </p:spPr>
        <p:txBody>
          <a:bodyPr wrap="square" lIns="0" rIns="0" tIns="0" bIns="0">
            <a:spAutoFit/>
          </a:bodyPr>
          <a:lstStyle/>
          <a:p>
            <a:pPr algn="l">
              <a:spcAft>
                <a:spcPts val="400"/>
              </a:spcAft>
              <a:defRPr sz="2700" b="1">
                <a:solidFill>
                  <a:srgbClr val="12332D"/>
                </a:solidFill>
                <a:latin typeface="Arial"/>
              </a:defRPr>
            </a:pPr>
            <a:r>
              <a:t>Trouver un partenaire</a:t>
            </a:r>
          </a:p>
        </p:txBody>
      </p:sp>
      <p:sp>
        <p:nvSpPr>
          <p:cNvPr id="12" name="TextBox 11"/>
          <p:cNvSpPr txBox="1"/>
          <p:nvPr/>
        </p:nvSpPr>
        <p:spPr>
          <a:xfrm>
            <a:off x="640080" y="3675887"/>
            <a:ext cx="5212080"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Un niveau adapté, une discipline</a:t>
            </a:r>
          </a:p>
          <a:p>
            <a:pPr algn="l">
              <a:spcAft>
                <a:spcPts val="400"/>
              </a:spcAft>
              <a:defRPr sz="1800" b="0">
                <a:solidFill>
                  <a:srgbClr val="5C6C65"/>
                </a:solidFill>
                <a:latin typeface="Arial"/>
              </a:defRPr>
            </a:pPr>
            <a:r>
              <a:t>commune, une sortie à rejoindre.</a:t>
            </a:r>
          </a:p>
        </p:txBody>
      </p:sp>
      <p:sp>
        <p:nvSpPr>
          <p:cNvPr id="13" name="Rounded Rectangle 12"/>
          <p:cNvSpPr/>
          <p:nvPr/>
        </p:nvSpPr>
        <p:spPr>
          <a:xfrm>
            <a:off x="640080" y="4480560"/>
            <a:ext cx="164592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539996"/>
            <a:ext cx="140817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CLUB</a:t>
            </a:r>
          </a:p>
        </p:txBody>
      </p:sp>
      <p:sp>
        <p:nvSpPr>
          <p:cNvPr id="15" name="TextBox 14"/>
          <p:cNvSpPr txBox="1"/>
          <p:nvPr/>
        </p:nvSpPr>
        <p:spPr>
          <a:xfrm>
            <a:off x="640080" y="5001768"/>
            <a:ext cx="5212080" cy="548640"/>
          </a:xfrm>
          <a:prstGeom prst="rect">
            <a:avLst/>
          </a:prstGeom>
          <a:noFill/>
        </p:spPr>
        <p:txBody>
          <a:bodyPr wrap="square" lIns="0" rIns="0" tIns="0" bIns="0">
            <a:spAutoFit/>
          </a:bodyPr>
          <a:lstStyle/>
          <a:p>
            <a:pPr algn="l">
              <a:spcAft>
                <a:spcPts val="400"/>
              </a:spcAft>
              <a:defRPr sz="2700" b="1">
                <a:solidFill>
                  <a:srgbClr val="12332D"/>
                </a:solidFill>
                <a:latin typeface="Arial"/>
              </a:defRPr>
            </a:pPr>
            <a:r>
              <a:t>Organiser une sortie</a:t>
            </a:r>
          </a:p>
        </p:txBody>
      </p:sp>
      <p:sp>
        <p:nvSpPr>
          <p:cNvPr id="16" name="TextBox 15"/>
          <p:cNvSpPr txBox="1"/>
          <p:nvPr/>
        </p:nvSpPr>
        <p:spPr>
          <a:xfrm>
            <a:off x="640080" y="5550408"/>
            <a:ext cx="5212080"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Publier un événement, gérer les</a:t>
            </a:r>
          </a:p>
          <a:p>
            <a:pPr algn="l">
              <a:spcAft>
                <a:spcPts val="400"/>
              </a:spcAft>
              <a:defRPr sz="1800" b="0">
                <a:solidFill>
                  <a:srgbClr val="5C6C65"/>
                </a:solidFill>
                <a:latin typeface="Arial"/>
              </a:defRPr>
            </a:pPr>
            <a:r>
              <a:t>places et retrouver les participants.</a:t>
            </a:r>
          </a:p>
        </p:txBody>
      </p:sp>
      <p:sp>
        <p:nvSpPr>
          <p:cNvPr id="17" name="Rounded Rectangle 16"/>
          <p:cNvSpPr/>
          <p:nvPr/>
        </p:nvSpPr>
        <p:spPr>
          <a:xfrm>
            <a:off x="6263640" y="2450592"/>
            <a:ext cx="7772400" cy="4407408"/>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eux-2026-09-15"/>
          <p:cNvPicPr>
            <a:picLocks noChangeAspect="1"/>
          </p:cNvPicPr>
          <p:nvPr/>
        </p:nvPicPr>
        <p:blipFill>
          <a:blip r:embed="rId3"/>
          <a:stretch>
            <a:fillRect/>
          </a:stretch>
        </p:blipFill>
        <p:spPr>
          <a:xfrm>
            <a:off x="7213518" y="2587752"/>
            <a:ext cx="5872642" cy="4078224"/>
          </a:xfrm>
          <a:prstGeom prst="rect">
            <a:avLst/>
          </a:prstGeom>
        </p:spPr>
      </p:pic>
      <p:sp>
        <p:nvSpPr>
          <p:cNvPr id="19" name="Rectangle 18"/>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Un parcours démontré : partenaire → événement → inscription.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01 / LE PROJET SPITY</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Situer le lot dans le projet complet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Neuf lots repris du diaporama du Bloc 1 ; séquence pédagogique du MVP cible.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04</a:t>
            </a:r>
          </a:p>
        </p:txBody>
      </p:sp>
      <p:graphicFrame>
        <p:nvGraphicFramePr>
          <p:cNvPr id="9" name="Chart 8"/>
          <p:cNvGraphicFramePr>
            <a:graphicFrameLocks noGrp="1"/>
          </p:cNvGraphicFramePr>
          <p:nvPr/>
        </p:nvGraphicFramePr>
        <p:xfrm>
          <a:off x="548640" y="2377440"/>
          <a:ext cx="9601200" cy="4343400"/>
        </p:xfrm>
        <a:graphic>
          <a:graphicData uri="http://schemas.openxmlformats.org/drawingml/2006/chart">
            <c:chart xmlns:c="http://schemas.openxmlformats.org/drawingml/2006/chart" r:id="rId3"/>
          </a:graphicData>
        </a:graphic>
      </p:graphicFrame>
      <p:sp>
        <p:nvSpPr>
          <p:cNvPr id="10" name="Rounded Rectangle 9"/>
          <p:cNvSpPr/>
          <p:nvPr/>
        </p:nvSpPr>
        <p:spPr>
          <a:xfrm>
            <a:off x="10561320" y="2468880"/>
            <a:ext cx="3474720" cy="4251960"/>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35640" y="2816352"/>
            <a:ext cx="288036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82 j-h</a:t>
            </a:r>
          </a:p>
        </p:txBody>
      </p:sp>
      <p:sp>
        <p:nvSpPr>
          <p:cNvPr id="12" name="TextBox 11"/>
          <p:cNvSpPr txBox="1"/>
          <p:nvPr/>
        </p:nvSpPr>
        <p:spPr>
          <a:xfrm>
            <a:off x="10835640" y="3749039"/>
            <a:ext cx="288036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charge du MVP</a:t>
            </a:r>
          </a:p>
        </p:txBody>
      </p:sp>
      <p:sp>
        <p:nvSpPr>
          <p:cNvPr id="13" name="TextBox 12"/>
          <p:cNvSpPr txBox="1"/>
          <p:nvPr/>
        </p:nvSpPr>
        <p:spPr>
          <a:xfrm>
            <a:off x="10835640" y="4818888"/>
            <a:ext cx="28346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16,4 semaines</a:t>
            </a:r>
          </a:p>
        </p:txBody>
      </p:sp>
      <p:sp>
        <p:nvSpPr>
          <p:cNvPr id="14" name="TextBox 13"/>
          <p:cNvSpPr txBox="1"/>
          <p:nvPr/>
        </p:nvSpPr>
        <p:spPr>
          <a:xfrm>
            <a:off x="10835640" y="5449824"/>
            <a:ext cx="2834640" cy="77724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à 5 j-h / semaine</a:t>
            </a:r>
          </a:p>
          <a:p>
            <a:pPr algn="l">
              <a:spcAft>
                <a:spcPts val="400"/>
              </a:spcAft>
              <a:defRPr sz="1700" b="0">
                <a:solidFill>
                  <a:srgbClr val="5C6C65"/>
                </a:solidFill>
                <a:latin typeface="Arial"/>
              </a:defRPr>
            </a:pPr>
            <a:r>
              <a:t>Hypothèse séquentielle</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Le lot B3 est un zoom de pilotage, pas le planning de tout le développement.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Un flux visible, des rendez-vous utiles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Kanban dans Linear, complété par des rituels inspirés de Scrum.</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05</a:t>
            </a:r>
          </a:p>
        </p:txBody>
      </p:sp>
      <p:graphicFrame>
        <p:nvGraphicFramePr>
          <p:cNvPr id="9" name="Chart 8"/>
          <p:cNvGraphicFramePr>
            <a:graphicFrameLocks noGrp="1"/>
          </p:cNvGraphicFramePr>
          <p:nvPr/>
        </p:nvGraphicFramePr>
        <p:xfrm>
          <a:off x="548640" y="2514600"/>
          <a:ext cx="6400800" cy="3383280"/>
        </p:xfrm>
        <a:graphic>
          <a:graphicData uri="http://schemas.openxmlformats.org/drawingml/2006/chart">
            <c:chart xmlns:c="http://schemas.openxmlformats.org/drawingml/2006/chart" r:id="rId3"/>
          </a:graphicData>
        </a:graphic>
      </p:graphicFrame>
      <p:sp>
        <p:nvSpPr>
          <p:cNvPr id="10" name="Rounded Rectangle 9"/>
          <p:cNvSpPr/>
          <p:nvPr/>
        </p:nvSpPr>
        <p:spPr>
          <a:xfrm>
            <a:off x="1005840" y="6217920"/>
            <a:ext cx="23774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4712" y="6277356"/>
            <a:ext cx="21396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12 / 24 TERMINÉS</a:t>
            </a:r>
          </a:p>
        </p:txBody>
      </p:sp>
      <p:sp>
        <p:nvSpPr>
          <p:cNvPr id="12" name="TextBox 11"/>
          <p:cNvSpPr txBox="1"/>
          <p:nvPr/>
        </p:nvSpPr>
        <p:spPr>
          <a:xfrm>
            <a:off x="1005840" y="6629400"/>
            <a:ext cx="5669280" cy="320040"/>
          </a:xfrm>
          <a:prstGeom prst="rect">
            <a:avLst/>
          </a:prstGeom>
          <a:noFill/>
        </p:spPr>
        <p:txBody>
          <a:bodyPr wrap="square" lIns="0" rIns="0" tIns="0" bIns="0">
            <a:spAutoFit/>
          </a:bodyPr>
          <a:lstStyle/>
          <a:p>
            <a:pPr algn="l">
              <a:spcAft>
                <a:spcPts val="400"/>
              </a:spcAft>
              <a:defRPr sz="1500" b="0">
                <a:solidFill>
                  <a:srgbClr val="5C6C65"/>
                </a:solidFill>
                <a:latin typeface="Arial"/>
              </a:defRPr>
            </a:pPr>
            <a:r>
              <a:t>Relevé du 14/09 · sans pondération</a:t>
            </a:r>
          </a:p>
        </p:txBody>
      </p:sp>
      <p:sp>
        <p:nvSpPr>
          <p:cNvPr id="13" name="Rounded Rectangle 12"/>
          <p:cNvSpPr/>
          <p:nvPr/>
        </p:nvSpPr>
        <p:spPr>
          <a:xfrm>
            <a:off x="7360920" y="2468880"/>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71231" y="2615184"/>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Planning</a:t>
            </a:r>
          </a:p>
        </p:txBody>
      </p:sp>
      <p:sp>
        <p:nvSpPr>
          <p:cNvPr id="15" name="TextBox 14"/>
          <p:cNvSpPr txBox="1"/>
          <p:nvPr/>
        </p:nvSpPr>
        <p:spPr>
          <a:xfrm>
            <a:off x="10972800" y="2633472"/>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J3</a:t>
            </a:r>
          </a:p>
        </p:txBody>
      </p:sp>
      <p:sp>
        <p:nvSpPr>
          <p:cNvPr id="16" name="TextBox 15"/>
          <p:cNvSpPr txBox="1"/>
          <p:nvPr/>
        </p:nvSpPr>
        <p:spPr>
          <a:xfrm>
            <a:off x="7571231" y="2990088"/>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Objectif, tâches et capacité</a:t>
            </a:r>
          </a:p>
        </p:txBody>
      </p:sp>
      <p:sp>
        <p:nvSpPr>
          <p:cNvPr id="17" name="Rounded Rectangle 16"/>
          <p:cNvSpPr/>
          <p:nvPr/>
        </p:nvSpPr>
        <p:spPr>
          <a:xfrm>
            <a:off x="7360920" y="3456432"/>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3602736"/>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Daily</a:t>
            </a:r>
          </a:p>
        </p:txBody>
      </p:sp>
      <p:sp>
        <p:nvSpPr>
          <p:cNvPr id="19" name="TextBox 18"/>
          <p:cNvSpPr txBox="1"/>
          <p:nvPr/>
        </p:nvSpPr>
        <p:spPr>
          <a:xfrm>
            <a:off x="10972800" y="3621024"/>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10 min / jour</a:t>
            </a:r>
          </a:p>
        </p:txBody>
      </p:sp>
      <p:sp>
        <p:nvSpPr>
          <p:cNvPr id="20" name="TextBox 19"/>
          <p:cNvSpPr txBox="1"/>
          <p:nvPr/>
        </p:nvSpPr>
        <p:spPr>
          <a:xfrm>
            <a:off x="7571231" y="3977640"/>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Avancement, obstacle, action</a:t>
            </a:r>
          </a:p>
        </p:txBody>
      </p:sp>
      <p:sp>
        <p:nvSpPr>
          <p:cNvPr id="21" name="Rounded Rectangle 20"/>
          <p:cNvSpPr/>
          <p:nvPr/>
        </p:nvSpPr>
        <p:spPr>
          <a:xfrm>
            <a:off x="7360920" y="4443984"/>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71231" y="4590288"/>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Review</a:t>
            </a:r>
          </a:p>
        </p:txBody>
      </p:sp>
      <p:sp>
        <p:nvSpPr>
          <p:cNvPr id="23" name="TextBox 22"/>
          <p:cNvSpPr txBox="1"/>
          <p:nvPr/>
        </p:nvSpPr>
        <p:spPr>
          <a:xfrm>
            <a:off x="10972800" y="4608576"/>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J10 et J15</a:t>
            </a:r>
          </a:p>
        </p:txBody>
      </p:sp>
      <p:sp>
        <p:nvSpPr>
          <p:cNvPr id="24" name="TextBox 23"/>
          <p:cNvSpPr txBox="1"/>
          <p:nvPr/>
        </p:nvSpPr>
        <p:spPr>
          <a:xfrm>
            <a:off x="7571231" y="4965192"/>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Parcours et retour client</a:t>
            </a:r>
          </a:p>
        </p:txBody>
      </p:sp>
      <p:sp>
        <p:nvSpPr>
          <p:cNvPr id="25" name="Rounded Rectangle 24"/>
          <p:cNvSpPr/>
          <p:nvPr/>
        </p:nvSpPr>
        <p:spPr>
          <a:xfrm>
            <a:off x="7360920" y="5431536"/>
            <a:ext cx="6675120" cy="8503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5577840"/>
            <a:ext cx="2651760" cy="34747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Rétrospective</a:t>
            </a:r>
          </a:p>
        </p:txBody>
      </p:sp>
      <p:sp>
        <p:nvSpPr>
          <p:cNvPr id="27" name="TextBox 26"/>
          <p:cNvSpPr txBox="1"/>
          <p:nvPr/>
        </p:nvSpPr>
        <p:spPr>
          <a:xfrm>
            <a:off x="10972800" y="5596128"/>
            <a:ext cx="2743200" cy="274320"/>
          </a:xfrm>
          <a:prstGeom prst="rect">
            <a:avLst/>
          </a:prstGeom>
          <a:noFill/>
        </p:spPr>
        <p:txBody>
          <a:bodyPr wrap="square" lIns="0" rIns="0" tIns="0" bIns="0">
            <a:spAutoFit/>
          </a:bodyPr>
          <a:lstStyle/>
          <a:p>
            <a:pPr algn="r">
              <a:spcAft>
                <a:spcPts val="400"/>
              </a:spcAft>
              <a:defRPr sz="1400" b="1">
                <a:solidFill>
                  <a:srgbClr val="286957"/>
                </a:solidFill>
                <a:latin typeface="Arial"/>
              </a:defRPr>
            </a:pPr>
            <a:r>
              <a:t>J15</a:t>
            </a:r>
          </a:p>
        </p:txBody>
      </p:sp>
      <p:sp>
        <p:nvSpPr>
          <p:cNvPr id="28" name="TextBox 27"/>
          <p:cNvSpPr txBox="1"/>
          <p:nvPr/>
        </p:nvSpPr>
        <p:spPr>
          <a:xfrm>
            <a:off x="7571231" y="5952744"/>
            <a:ext cx="6035040" cy="237744"/>
          </a:xfrm>
          <a:prstGeom prst="rect">
            <a:avLst/>
          </a:prstGeom>
          <a:noFill/>
        </p:spPr>
        <p:txBody>
          <a:bodyPr wrap="square" lIns="0" rIns="0" tIns="0" bIns="0">
            <a:spAutoFit/>
          </a:bodyPr>
          <a:lstStyle/>
          <a:p>
            <a:pPr algn="l">
              <a:spcAft>
                <a:spcPts val="400"/>
              </a:spcAft>
              <a:defRPr sz="1400" b="0">
                <a:solidFill>
                  <a:srgbClr val="5C6C65"/>
                </a:solidFill>
                <a:latin typeface="Arial"/>
              </a:defRPr>
            </a:pPr>
            <a:r>
              <a:t>Une amélioration à suivre</a:t>
            </a:r>
          </a:p>
        </p:txBody>
      </p:sp>
      <p:sp>
        <p:nvSpPr>
          <p:cNvPr id="29" name="Rectangle 28"/>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2 tâches en réalisation au maximum. Une réunion produit une action retrouvable.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Quinze jours pour préparer la démonstration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Étude, Mesure, conception, réalisation, recette et restitution : un résultat par phase.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06</a:t>
            </a:r>
          </a:p>
        </p:txBody>
      </p:sp>
      <p:graphicFrame>
        <p:nvGraphicFramePr>
          <p:cNvPr id="9" name="Chart 8"/>
          <p:cNvGraphicFramePr>
            <a:graphicFrameLocks noGrp="1"/>
          </p:cNvGraphicFramePr>
          <p:nvPr/>
        </p:nvGraphicFramePr>
        <p:xfrm>
          <a:off x="594360" y="2423160"/>
          <a:ext cx="9784080" cy="4114800"/>
        </p:xfrm>
        <a:graphic>
          <a:graphicData uri="http://schemas.openxmlformats.org/drawingml/2006/chart">
            <c:chart xmlns:c="http://schemas.openxmlformats.org/drawingml/2006/chart" r:id="rId3"/>
          </a:graphicData>
        </a:graphic>
      </p:graphicFrame>
      <p:sp>
        <p:nvSpPr>
          <p:cNvPr id="10" name="Rounded Rectangle 9"/>
          <p:cNvSpPr/>
          <p:nvPr/>
        </p:nvSpPr>
        <p:spPr>
          <a:xfrm>
            <a:off x="10835640" y="26334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54512" y="26929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12" name="TextBox 11"/>
          <p:cNvSpPr txBox="1"/>
          <p:nvPr/>
        </p:nvSpPr>
        <p:spPr>
          <a:xfrm>
            <a:off x="10835640" y="3035808"/>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Périmètre et critères</a:t>
            </a:r>
          </a:p>
        </p:txBody>
      </p:sp>
      <p:sp>
        <p:nvSpPr>
          <p:cNvPr id="13" name="Rounded Rectangle 12"/>
          <p:cNvSpPr/>
          <p:nvPr/>
        </p:nvSpPr>
        <p:spPr>
          <a:xfrm>
            <a:off x="10835640" y="360273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54512" y="366217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15" name="TextBox 14"/>
          <p:cNvSpPr txBox="1"/>
          <p:nvPr/>
        </p:nvSpPr>
        <p:spPr>
          <a:xfrm>
            <a:off x="10835640" y="4005072"/>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Écarts et arbitrages</a:t>
            </a:r>
          </a:p>
        </p:txBody>
      </p:sp>
      <p:sp>
        <p:nvSpPr>
          <p:cNvPr id="16" name="Rounded Rectangle 15"/>
          <p:cNvSpPr/>
          <p:nvPr/>
        </p:nvSpPr>
        <p:spPr>
          <a:xfrm>
            <a:off x="10835640" y="45720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54512" y="46314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J14</a:t>
            </a:r>
          </a:p>
        </p:txBody>
      </p:sp>
      <p:sp>
        <p:nvSpPr>
          <p:cNvPr id="18" name="TextBox 17"/>
          <p:cNvSpPr txBox="1"/>
          <p:nvPr/>
        </p:nvSpPr>
        <p:spPr>
          <a:xfrm>
            <a:off x="10835640" y="4974336"/>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Recette terminée</a:t>
            </a:r>
          </a:p>
        </p:txBody>
      </p:sp>
      <p:sp>
        <p:nvSpPr>
          <p:cNvPr id="19" name="Rounded Rectangle 18"/>
          <p:cNvSpPr/>
          <p:nvPr/>
        </p:nvSpPr>
        <p:spPr>
          <a:xfrm>
            <a:off x="10835640" y="554126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54512" y="560070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J15</a:t>
            </a:r>
          </a:p>
        </p:txBody>
      </p:sp>
      <p:sp>
        <p:nvSpPr>
          <p:cNvPr id="21" name="TextBox 20"/>
          <p:cNvSpPr txBox="1"/>
          <p:nvPr/>
        </p:nvSpPr>
        <p:spPr>
          <a:xfrm>
            <a:off x="10835640" y="5943600"/>
            <a:ext cx="3108960" cy="384048"/>
          </a:xfrm>
          <a:prstGeom prst="rect">
            <a:avLst/>
          </a:prstGeom>
          <a:noFill/>
        </p:spPr>
        <p:txBody>
          <a:bodyPr wrap="square" lIns="0" rIns="0" tIns="0" bIns="0">
            <a:spAutoFit/>
          </a:bodyPr>
          <a:lstStyle/>
          <a:p>
            <a:pPr algn="l">
              <a:spcAft>
                <a:spcPts val="400"/>
              </a:spcAft>
              <a:defRPr sz="1800" b="1">
                <a:solidFill>
                  <a:srgbClr val="12332D"/>
                </a:solidFill>
                <a:latin typeface="Arial"/>
              </a:defRPr>
            </a:pPr>
            <a:r>
              <a:t>Démonstration</a:t>
            </a:r>
          </a:p>
        </p:txBody>
      </p:sp>
      <p:sp>
        <p:nvSpPr>
          <p:cNvPr id="22" name="Rectangle 21"/>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Les phases se chevauchent ; la recette dépend de la stabilisation des événements.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02 / ORGANISER LE TRAVAIL</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Des missions claires, des moyens adaptés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Équipe et capacités du scénario. QA signifie assurance qualité.</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07</a:t>
            </a:r>
          </a:p>
        </p:txBody>
      </p:sp>
      <p:sp>
        <p:nvSpPr>
          <p:cNvPr id="9" name="Rounded Rectangle 8"/>
          <p:cNvSpPr/>
          <p:nvPr/>
        </p:nvSpPr>
        <p:spPr>
          <a:xfrm>
            <a:off x="594360"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CP</a:t>
            </a:r>
          </a:p>
        </p:txBody>
      </p:sp>
      <p:sp>
        <p:nvSpPr>
          <p:cNvPr id="12" name="TextBox 11"/>
          <p:cNvSpPr txBox="1"/>
          <p:nvPr/>
        </p:nvSpPr>
        <p:spPr>
          <a:xfrm>
            <a:off x="841248"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30 h</a:t>
            </a:r>
          </a:p>
        </p:txBody>
      </p:sp>
      <p:sp>
        <p:nvSpPr>
          <p:cNvPr id="13" name="TextBox 12"/>
          <p:cNvSpPr txBox="1"/>
          <p:nvPr/>
        </p:nvSpPr>
        <p:spPr>
          <a:xfrm>
            <a:off x="841248"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Chef de projet</a:t>
            </a:r>
          </a:p>
        </p:txBody>
      </p:sp>
      <p:sp>
        <p:nvSpPr>
          <p:cNvPr id="14" name="TextBox 13"/>
          <p:cNvSpPr txBox="1"/>
          <p:nvPr/>
        </p:nvSpPr>
        <p:spPr>
          <a:xfrm>
            <a:off x="841248"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Organiser le travail</a:t>
            </a:r>
          </a:p>
          <a:p>
            <a:pPr algn="l">
              <a:spcAft>
                <a:spcPts val="400"/>
              </a:spcAft>
              <a:defRPr sz="1700" b="0">
                <a:solidFill>
                  <a:srgbClr val="5C6C65"/>
                </a:solidFill>
                <a:latin typeface="Arial"/>
              </a:defRPr>
            </a:pPr>
            <a:r>
              <a:t>Arbitrer les demandes</a:t>
            </a:r>
          </a:p>
          <a:p>
            <a:pPr algn="l">
              <a:spcAft>
                <a:spcPts val="400"/>
              </a:spcAft>
              <a:defRPr sz="1700" b="0">
                <a:solidFill>
                  <a:srgbClr val="5C6C65"/>
                </a:solidFill>
                <a:latin typeface="Arial"/>
              </a:defRPr>
            </a:pPr>
            <a:r>
              <a:t>Préparer la validation</a:t>
            </a:r>
          </a:p>
        </p:txBody>
      </p:sp>
      <p:sp>
        <p:nvSpPr>
          <p:cNvPr id="15" name="Rounded Rectangle 14"/>
          <p:cNvSpPr/>
          <p:nvPr/>
        </p:nvSpPr>
        <p:spPr>
          <a:xfrm>
            <a:off x="5184648"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31536"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7"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DEV</a:t>
            </a:r>
          </a:p>
        </p:txBody>
      </p:sp>
      <p:sp>
        <p:nvSpPr>
          <p:cNvPr id="18" name="TextBox 17"/>
          <p:cNvSpPr txBox="1"/>
          <p:nvPr/>
        </p:nvSpPr>
        <p:spPr>
          <a:xfrm>
            <a:off x="5431536"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72 h</a:t>
            </a:r>
          </a:p>
        </p:txBody>
      </p:sp>
      <p:sp>
        <p:nvSpPr>
          <p:cNvPr id="19" name="TextBox 18"/>
          <p:cNvSpPr txBox="1"/>
          <p:nvPr/>
        </p:nvSpPr>
        <p:spPr>
          <a:xfrm>
            <a:off x="5431536"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Développeur</a:t>
            </a:r>
          </a:p>
        </p:txBody>
      </p:sp>
      <p:sp>
        <p:nvSpPr>
          <p:cNvPr id="20" name="TextBox 19"/>
          <p:cNvSpPr txBox="1"/>
          <p:nvPr/>
        </p:nvSpPr>
        <p:spPr>
          <a:xfrm>
            <a:off x="5431536"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Réaliser les parcours</a:t>
            </a:r>
          </a:p>
          <a:p>
            <a:pPr algn="l">
              <a:spcAft>
                <a:spcPts val="400"/>
              </a:spcAft>
              <a:defRPr sz="1700" b="0">
                <a:solidFill>
                  <a:srgbClr val="5C6C65"/>
                </a:solidFill>
                <a:latin typeface="Arial"/>
              </a:defRPr>
            </a:pPr>
            <a:r>
              <a:t>Sécuriser les inscriptions</a:t>
            </a:r>
          </a:p>
          <a:p>
            <a:pPr algn="l">
              <a:spcAft>
                <a:spcPts val="400"/>
              </a:spcAft>
              <a:defRPr sz="1700" b="0">
                <a:solidFill>
                  <a:srgbClr val="5C6C65"/>
                </a:solidFill>
                <a:latin typeface="Arial"/>
              </a:defRPr>
            </a:pPr>
            <a:r>
              <a:t>Corriger les anomalies</a:t>
            </a:r>
          </a:p>
        </p:txBody>
      </p:sp>
      <p:sp>
        <p:nvSpPr>
          <p:cNvPr id="21" name="Rounded Rectangle 20"/>
          <p:cNvSpPr/>
          <p:nvPr/>
        </p:nvSpPr>
        <p:spPr>
          <a:xfrm>
            <a:off x="9774936" y="2514600"/>
            <a:ext cx="4251960" cy="34747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021824" y="27432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0696" y="28026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QA</a:t>
            </a:r>
          </a:p>
        </p:txBody>
      </p:sp>
      <p:sp>
        <p:nvSpPr>
          <p:cNvPr id="24" name="TextBox 23"/>
          <p:cNvSpPr txBox="1"/>
          <p:nvPr/>
        </p:nvSpPr>
        <p:spPr>
          <a:xfrm>
            <a:off x="10021824" y="3246120"/>
            <a:ext cx="3657600" cy="749808"/>
          </a:xfrm>
          <a:prstGeom prst="rect">
            <a:avLst/>
          </a:prstGeom>
          <a:noFill/>
        </p:spPr>
        <p:txBody>
          <a:bodyPr wrap="square" lIns="0" rIns="0" tIns="0" bIns="0">
            <a:spAutoFit/>
          </a:bodyPr>
          <a:lstStyle/>
          <a:p>
            <a:pPr algn="l">
              <a:spcAft>
                <a:spcPts val="400"/>
              </a:spcAft>
              <a:defRPr sz="4700" b="1">
                <a:solidFill>
                  <a:srgbClr val="286957"/>
                </a:solidFill>
                <a:latin typeface="Arial"/>
              </a:defRPr>
            </a:pPr>
            <a:r>
              <a:t>30 h</a:t>
            </a:r>
          </a:p>
        </p:txBody>
      </p:sp>
      <p:sp>
        <p:nvSpPr>
          <p:cNvPr id="25" name="TextBox 24"/>
          <p:cNvSpPr txBox="1"/>
          <p:nvPr/>
        </p:nvSpPr>
        <p:spPr>
          <a:xfrm>
            <a:off x="10021824" y="4114800"/>
            <a:ext cx="3657600" cy="457200"/>
          </a:xfrm>
          <a:prstGeom prst="rect">
            <a:avLst/>
          </a:prstGeom>
          <a:noFill/>
        </p:spPr>
        <p:txBody>
          <a:bodyPr wrap="square" lIns="0" rIns="0" tIns="0" bIns="0">
            <a:spAutoFit/>
          </a:bodyPr>
          <a:lstStyle/>
          <a:p>
            <a:pPr algn="l">
              <a:spcAft>
                <a:spcPts val="400"/>
              </a:spcAft>
              <a:defRPr sz="2400" b="1">
                <a:solidFill>
                  <a:srgbClr val="12332D"/>
                </a:solidFill>
                <a:latin typeface="Arial"/>
              </a:defRPr>
            </a:pPr>
            <a:r>
              <a:t>Camille</a:t>
            </a:r>
          </a:p>
        </p:txBody>
      </p:sp>
      <p:sp>
        <p:nvSpPr>
          <p:cNvPr id="26" name="TextBox 25"/>
          <p:cNvSpPr txBox="1"/>
          <p:nvPr/>
        </p:nvSpPr>
        <p:spPr>
          <a:xfrm>
            <a:off x="10021824" y="4736592"/>
            <a:ext cx="3776472" cy="109728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Préparer les critères T02</a:t>
            </a:r>
          </a:p>
          <a:p>
            <a:pPr algn="l">
              <a:spcAft>
                <a:spcPts val="400"/>
              </a:spcAft>
              <a:defRPr sz="1700" b="0">
                <a:solidFill>
                  <a:srgbClr val="5C6C65"/>
                </a:solidFill>
                <a:latin typeface="Arial"/>
              </a:defRPr>
            </a:pPr>
            <a:r>
              <a:t>Recetter les parcours T07</a:t>
            </a:r>
          </a:p>
          <a:p>
            <a:pPr algn="l">
              <a:spcAft>
                <a:spcPts val="400"/>
              </a:spcAft>
              <a:defRPr sz="1700" b="0">
                <a:solidFill>
                  <a:srgbClr val="5C6C65"/>
                </a:solidFill>
                <a:latin typeface="Arial"/>
              </a:defRPr>
            </a:pPr>
            <a:r>
              <a:t>Consignes écrites et sous-titres</a:t>
            </a:r>
          </a:p>
        </p:txBody>
      </p:sp>
      <p:sp>
        <p:nvSpPr>
          <p:cNvPr id="27" name="TextBox 26"/>
          <p:cNvSpPr txBox="1"/>
          <p:nvPr/>
        </p:nvSpPr>
        <p:spPr>
          <a:xfrm>
            <a:off x="640080" y="6272784"/>
            <a:ext cx="13258800" cy="457200"/>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Camille : QA malentendante fictive · charge prévue de 24 h pour 30 h disponibles.</a:t>
            </a:r>
          </a:p>
        </p:txBody>
      </p:sp>
      <p:sp>
        <p:nvSpPr>
          <p:cNvPr id="28" name="Rectangle 27"/>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Ordinateur, navigateur, base locale. Linear : tâches. Git : versions. RACI : annexe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Anticiper 5 heures de travail supplémentaires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À J10 : 77 h consommées + 40 h restantes = 117 h prévues à terminaison.</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08</a:t>
            </a:r>
          </a:p>
        </p:txBody>
      </p:sp>
      <p:graphicFrame>
        <p:nvGraphicFramePr>
          <p:cNvPr id="9" name="Chart 8"/>
          <p:cNvGraphicFramePr>
            <a:graphicFrameLocks noGrp="1"/>
          </p:cNvGraphicFramePr>
          <p:nvPr/>
        </p:nvGraphicFramePr>
        <p:xfrm>
          <a:off x="640080" y="2468880"/>
          <a:ext cx="8869680" cy="4160520"/>
        </p:xfrm>
        <a:graphic>
          <a:graphicData uri="http://schemas.openxmlformats.org/drawingml/2006/chart">
            <c:chart xmlns:c="http://schemas.openxmlformats.org/drawingml/2006/chart" r:id="rId3"/>
          </a:graphicData>
        </a:graphic>
      </p:graphicFrame>
      <p:sp>
        <p:nvSpPr>
          <p:cNvPr id="10" name="TextBox 9"/>
          <p:cNvSpPr txBox="1"/>
          <p:nvPr/>
        </p:nvSpPr>
        <p:spPr>
          <a:xfrm>
            <a:off x="10149840" y="2697480"/>
            <a:ext cx="36576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+5 h</a:t>
            </a:r>
          </a:p>
        </p:txBody>
      </p:sp>
      <p:sp>
        <p:nvSpPr>
          <p:cNvPr id="11" name="TextBox 10"/>
          <p:cNvSpPr txBox="1"/>
          <p:nvPr/>
        </p:nvSpPr>
        <p:spPr>
          <a:xfrm>
            <a:off x="10149840" y="3630168"/>
            <a:ext cx="36576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112 h → 117 h</a:t>
            </a:r>
          </a:p>
        </p:txBody>
      </p:sp>
      <p:cxnSp>
        <p:nvCxnSpPr>
          <p:cNvPr id="12" name="Connector 11"/>
          <p:cNvCxnSpPr/>
          <p:nvPr/>
        </p:nvCxnSpPr>
        <p:spPr>
          <a:xfrm>
            <a:off x="10149840" y="4544568"/>
            <a:ext cx="38404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49840" y="4800600"/>
            <a:ext cx="3657600" cy="45720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Deux dates décalées</a:t>
            </a:r>
          </a:p>
        </p:txBody>
      </p:sp>
      <p:sp>
        <p:nvSpPr>
          <p:cNvPr id="14" name="TextBox 13"/>
          <p:cNvSpPr txBox="1"/>
          <p:nvPr/>
        </p:nvSpPr>
        <p:spPr>
          <a:xfrm>
            <a:off x="10149840" y="5431536"/>
            <a:ext cx="3749039" cy="1051560"/>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Événements : J11 → J12</a:t>
            </a:r>
          </a:p>
          <a:p>
            <a:pPr algn="l">
              <a:spcAft>
                <a:spcPts val="400"/>
              </a:spcAft>
              <a:defRPr sz="1900" b="0">
                <a:solidFill>
                  <a:srgbClr val="5C6C65"/>
                </a:solidFill>
                <a:latin typeface="Arial"/>
              </a:defRPr>
            </a:pPr>
            <a:r>
              <a:t>Recette : J13 → J14</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Chaque glissement vaut un jour. Un écart de charge ne se confond pas avec un retard.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Une dérive visible. Une marge encore disponible.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Budget du lot pédagogique ; distinct du budget global B1 de 44 250 €.</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09</a:t>
            </a:r>
          </a:p>
        </p:txBody>
      </p:sp>
      <p:graphicFrame>
        <p:nvGraphicFramePr>
          <p:cNvPr id="9" name="Chart 8"/>
          <p:cNvGraphicFramePr>
            <a:graphicFrameLocks noGrp="1"/>
          </p:cNvGraphicFramePr>
          <p:nvPr/>
        </p:nvGraphicFramePr>
        <p:xfrm>
          <a:off x="594360" y="2606040"/>
          <a:ext cx="8961120" cy="3337560"/>
        </p:xfrm>
        <a:graphic>
          <a:graphicData uri="http://schemas.openxmlformats.org/drawingml/2006/chart">
            <c:chart xmlns:c="http://schemas.openxmlformats.org/drawingml/2006/chart" r:id="rId3"/>
          </a:graphicData>
        </a:graphic>
      </p:graphicFrame>
      <p:sp>
        <p:nvSpPr>
          <p:cNvPr id="10" name="TextBox 9"/>
          <p:cNvSpPr txBox="1"/>
          <p:nvPr/>
        </p:nvSpPr>
        <p:spPr>
          <a:xfrm>
            <a:off x="10058400" y="2743200"/>
            <a:ext cx="3977639" cy="868680"/>
          </a:xfrm>
          <a:prstGeom prst="rect">
            <a:avLst/>
          </a:prstGeom>
          <a:noFill/>
        </p:spPr>
        <p:txBody>
          <a:bodyPr wrap="square" lIns="0" rIns="0" tIns="0" bIns="0">
            <a:spAutoFit/>
          </a:bodyPr>
          <a:lstStyle/>
          <a:p>
            <a:pPr algn="l">
              <a:spcAft>
                <a:spcPts val="400"/>
              </a:spcAft>
              <a:defRPr sz="5600" b="1">
                <a:solidFill>
                  <a:srgbClr val="D8F28B"/>
                </a:solidFill>
                <a:latin typeface="Arial"/>
              </a:defRPr>
            </a:pPr>
            <a:r>
              <a:t>232 €</a:t>
            </a:r>
          </a:p>
        </p:txBody>
      </p:sp>
      <p:sp>
        <p:nvSpPr>
          <p:cNvPr id="11" name="TextBox 10"/>
          <p:cNvSpPr txBox="1"/>
          <p:nvPr/>
        </p:nvSpPr>
        <p:spPr>
          <a:xfrm>
            <a:off x="10058400" y="3675887"/>
            <a:ext cx="3977639" cy="548640"/>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de marge sous le plafond</a:t>
            </a:r>
          </a:p>
        </p:txBody>
      </p:sp>
      <p:sp>
        <p:nvSpPr>
          <p:cNvPr id="12" name="TextBox 11"/>
          <p:cNvSpPr txBox="1"/>
          <p:nvPr/>
        </p:nvSpPr>
        <p:spPr>
          <a:xfrm>
            <a:off x="10058400" y="4407408"/>
            <a:ext cx="3977639" cy="100584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+195 € par rapport</a:t>
            </a:r>
          </a:p>
          <a:p>
            <a:pPr algn="l">
              <a:spcAft>
                <a:spcPts val="400"/>
              </a:spcAft>
              <a:defRPr sz="1600" b="0">
                <a:solidFill>
                  <a:srgbClr val="C7D6CB"/>
                </a:solidFill>
                <a:latin typeface="Arial"/>
              </a:defRPr>
            </a:pPr>
            <a:r>
              <a:t>à la référence de 4 270 €</a:t>
            </a:r>
          </a:p>
        </p:txBody>
      </p:sp>
      <p:sp>
        <p:nvSpPr>
          <p:cNvPr id="13" name="Rectangle 12"/>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La réserve absorbe l’écart ; elle ne le fait pas disparaître.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Le point de tension : la capacité du chef de projet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La charge se compare à la capacité de chaque rôle, pas seulement au total de l’équipe.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10</a:t>
            </a:r>
          </a:p>
        </p:txBody>
      </p:sp>
      <p:graphicFrame>
        <p:nvGraphicFramePr>
          <p:cNvPr id="9" name="Chart 8"/>
          <p:cNvGraphicFramePr>
            <a:graphicFrameLocks noGrp="1"/>
          </p:cNvGraphicFramePr>
          <p:nvPr/>
        </p:nvGraphicFramePr>
        <p:xfrm>
          <a:off x="594360" y="2697480"/>
          <a:ext cx="9235440" cy="3566160"/>
        </p:xfrm>
        <a:graphic>
          <a:graphicData uri="http://schemas.openxmlformats.org/drawingml/2006/chart">
            <c:chart xmlns:c="http://schemas.openxmlformats.org/drawingml/2006/chart" r:id="rId3"/>
          </a:graphicData>
        </a:graphic>
      </p:graphicFrame>
      <p:sp>
        <p:nvSpPr>
          <p:cNvPr id="10" name="TextBox 9"/>
          <p:cNvSpPr txBox="1"/>
          <p:nvPr/>
        </p:nvSpPr>
        <p:spPr>
          <a:xfrm>
            <a:off x="10241280" y="2706624"/>
            <a:ext cx="3657600" cy="868680"/>
          </a:xfrm>
          <a:prstGeom prst="rect">
            <a:avLst/>
          </a:prstGeom>
          <a:noFill/>
        </p:spPr>
        <p:txBody>
          <a:bodyPr wrap="square" lIns="0" rIns="0" tIns="0" bIns="0">
            <a:spAutoFit/>
          </a:bodyPr>
          <a:lstStyle/>
          <a:p>
            <a:pPr algn="l">
              <a:spcAft>
                <a:spcPts val="400"/>
              </a:spcAft>
              <a:defRPr sz="5600" b="1">
                <a:solidFill>
                  <a:srgbClr val="286957"/>
                </a:solidFill>
                <a:latin typeface="Arial"/>
              </a:defRPr>
            </a:pPr>
            <a:r>
              <a:t>96,7 %</a:t>
            </a:r>
          </a:p>
        </p:txBody>
      </p:sp>
      <p:sp>
        <p:nvSpPr>
          <p:cNvPr id="11" name="TextBox 10"/>
          <p:cNvSpPr txBox="1"/>
          <p:nvPr/>
        </p:nvSpPr>
        <p:spPr>
          <a:xfrm>
            <a:off x="10241280" y="3639312"/>
            <a:ext cx="3657600" cy="54864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de la capacité CP</a:t>
            </a:r>
          </a:p>
        </p:txBody>
      </p:sp>
      <p:sp>
        <p:nvSpPr>
          <p:cNvPr id="12" name="TextBox 11"/>
          <p:cNvSpPr txBox="1"/>
          <p:nvPr/>
        </p:nvSpPr>
        <p:spPr>
          <a:xfrm>
            <a:off x="10241280" y="4599432"/>
            <a:ext cx="3657600" cy="502920"/>
          </a:xfrm>
          <a:prstGeom prst="rect">
            <a:avLst/>
          </a:prstGeom>
          <a:noFill/>
        </p:spPr>
        <p:txBody>
          <a:bodyPr wrap="square" lIns="0" rIns="0" tIns="0" bIns="0">
            <a:spAutoFit/>
          </a:bodyPr>
          <a:lstStyle/>
          <a:p>
            <a:pPr algn="l">
              <a:spcAft>
                <a:spcPts val="400"/>
              </a:spcAft>
              <a:defRPr sz="2700" b="1">
                <a:solidFill>
                  <a:srgbClr val="B64E2E"/>
                </a:solidFill>
                <a:latin typeface="Arial"/>
              </a:defRPr>
            </a:pPr>
            <a:r>
              <a:t>1 h de marge</a:t>
            </a:r>
          </a:p>
        </p:txBody>
      </p:sp>
      <p:sp>
        <p:nvSpPr>
          <p:cNvPr id="13" name="TextBox 12"/>
          <p:cNvSpPr txBox="1"/>
          <p:nvPr/>
        </p:nvSpPr>
        <p:spPr>
          <a:xfrm>
            <a:off x="10241280" y="5248656"/>
            <a:ext cx="3657600" cy="128016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Alerte au-delà de 90 %.</a:t>
            </a:r>
          </a:p>
          <a:p>
            <a:pPr algn="l">
              <a:spcAft>
                <a:spcPts val="400"/>
              </a:spcAft>
              <a:defRPr sz="1800" b="0">
                <a:solidFill>
                  <a:srgbClr val="5C6C65"/>
                </a:solidFill>
                <a:latin typeface="Arial"/>
              </a:defRPr>
            </a:pPr>
            <a:r>
              <a:t>Limiter les demandes.</a:t>
            </a:r>
          </a:p>
          <a:p>
            <a:pPr algn="l">
              <a:spcAft>
                <a:spcPts val="400"/>
              </a:spcAft>
              <a:defRPr sz="1800" b="0">
                <a:solidFill>
                  <a:srgbClr val="5C6C65"/>
                </a:solidFill>
                <a:latin typeface="Arial"/>
              </a:defRPr>
            </a:pPr>
            <a:r>
              <a:t>Protéger les arbitrages.</a:t>
            </a:r>
          </a:p>
        </p:txBody>
      </p:sp>
      <p:sp>
        <p:nvSpPr>
          <p:cNvPr id="14" name="Rectangle 13"/>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CP : 29/30 h · DEV : 64/72 h · QA : 24/30 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SUIVRE ET DÉCIDER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Repérer le risque. Déclencher une action.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Chaque risque possède un responsable, un déclencheur et une réponse dans A03.</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11</a:t>
            </a:r>
          </a:p>
        </p:txBody>
      </p:sp>
      <p:sp>
        <p:nvSpPr>
          <p:cNvPr id="9" name="TextBox 8"/>
          <p:cNvSpPr txBox="1"/>
          <p:nvPr/>
        </p:nvSpPr>
        <p:spPr>
          <a:xfrm>
            <a:off x="731520" y="2377440"/>
            <a:ext cx="2743200" cy="320040"/>
          </a:xfrm>
          <a:prstGeom prst="rect">
            <a:avLst/>
          </a:prstGeom>
          <a:noFill/>
        </p:spPr>
        <p:txBody>
          <a:bodyPr wrap="square" lIns="0" rIns="0" tIns="0" bIns="0">
            <a:spAutoFit/>
          </a:bodyPr>
          <a:lstStyle/>
          <a:p>
            <a:pPr algn="l">
              <a:spcAft>
                <a:spcPts val="400"/>
              </a:spcAft>
              <a:defRPr sz="1200" b="1">
                <a:solidFill>
                  <a:srgbClr val="5C6C65"/>
                </a:solidFill>
                <a:latin typeface="Arial"/>
              </a:defRPr>
            </a:pPr>
            <a:r>
              <a:t>PROBABILITÉ</a:t>
            </a:r>
          </a:p>
        </p:txBody>
      </p:sp>
      <p:sp>
        <p:nvSpPr>
          <p:cNvPr id="10" name="Rounded Rectangle 9"/>
          <p:cNvSpPr/>
          <p:nvPr/>
        </p:nvSpPr>
        <p:spPr>
          <a:xfrm>
            <a:off x="1188720" y="2788920"/>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60320" y="2788920"/>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931920" y="2788920"/>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81528"/>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3</a:t>
            </a:r>
          </a:p>
        </p:txBody>
      </p:sp>
      <p:sp>
        <p:nvSpPr>
          <p:cNvPr id="14" name="Rounded Rectangle 13"/>
          <p:cNvSpPr/>
          <p:nvPr/>
        </p:nvSpPr>
        <p:spPr>
          <a:xfrm>
            <a:off x="1188720" y="3822191"/>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560320" y="3822191"/>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931920" y="3822191"/>
            <a:ext cx="1280160" cy="941832"/>
          </a:xfrm>
          <a:prstGeom prst="roundRect">
            <a:avLst>
              <a:gd name="adj" fmla="val 4000"/>
            </a:avLst>
          </a:prstGeom>
          <a:solidFill>
            <a:srgbClr val="E9B1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14800"/>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2</a:t>
            </a:r>
          </a:p>
        </p:txBody>
      </p:sp>
      <p:sp>
        <p:nvSpPr>
          <p:cNvPr id="18" name="Rounded Rectangle 17"/>
          <p:cNvSpPr/>
          <p:nvPr/>
        </p:nvSpPr>
        <p:spPr>
          <a:xfrm>
            <a:off x="1188720" y="4855464"/>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560320" y="4855464"/>
            <a:ext cx="1280160" cy="941832"/>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931920" y="4855464"/>
            <a:ext cx="1280160" cy="941832"/>
          </a:xfrm>
          <a:prstGeom prst="roundRect">
            <a:avLst>
              <a:gd name="adj" fmla="val 4000"/>
            </a:avLst>
          </a:prstGeom>
          <a:solidFill>
            <a:srgbClr val="D7E8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48072"/>
            <a:ext cx="365760" cy="32004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1</a:t>
            </a:r>
          </a:p>
        </p:txBody>
      </p:sp>
      <p:sp>
        <p:nvSpPr>
          <p:cNvPr id="22" name="TextBox 21"/>
          <p:cNvSpPr txBox="1"/>
          <p:nvPr/>
        </p:nvSpPr>
        <p:spPr>
          <a:xfrm>
            <a:off x="16733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1</a:t>
            </a:r>
          </a:p>
        </p:txBody>
      </p:sp>
      <p:sp>
        <p:nvSpPr>
          <p:cNvPr id="23" name="TextBox 22"/>
          <p:cNvSpPr txBox="1"/>
          <p:nvPr/>
        </p:nvSpPr>
        <p:spPr>
          <a:xfrm>
            <a:off x="30449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2</a:t>
            </a:r>
          </a:p>
        </p:txBody>
      </p:sp>
      <p:sp>
        <p:nvSpPr>
          <p:cNvPr id="24" name="TextBox 23"/>
          <p:cNvSpPr txBox="1"/>
          <p:nvPr/>
        </p:nvSpPr>
        <p:spPr>
          <a:xfrm>
            <a:off x="4416552" y="6016752"/>
            <a:ext cx="365760" cy="365760"/>
          </a:xfrm>
          <a:prstGeom prst="rect">
            <a:avLst/>
          </a:prstGeom>
          <a:noFill/>
        </p:spPr>
        <p:txBody>
          <a:bodyPr wrap="square" lIns="0" rIns="0" tIns="0" bIns="0">
            <a:spAutoFit/>
          </a:bodyPr>
          <a:lstStyle/>
          <a:p>
            <a:pPr algn="l">
              <a:spcAft>
                <a:spcPts val="400"/>
              </a:spcAft>
              <a:defRPr sz="1700" b="1">
                <a:solidFill>
                  <a:srgbClr val="12332D"/>
                </a:solidFill>
                <a:latin typeface="Arial"/>
              </a:defRPr>
            </a:pPr>
            <a:r>
              <a:t>3</a:t>
            </a:r>
          </a:p>
        </p:txBody>
      </p:sp>
      <p:sp>
        <p:nvSpPr>
          <p:cNvPr id="25" name="TextBox 24"/>
          <p:cNvSpPr txBox="1"/>
          <p:nvPr/>
        </p:nvSpPr>
        <p:spPr>
          <a:xfrm>
            <a:off x="4242816" y="3063240"/>
            <a:ext cx="914400" cy="365760"/>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R01</a:t>
            </a:r>
          </a:p>
        </p:txBody>
      </p:sp>
      <p:sp>
        <p:nvSpPr>
          <p:cNvPr id="26" name="TextBox 25"/>
          <p:cNvSpPr txBox="1"/>
          <p:nvPr/>
        </p:nvSpPr>
        <p:spPr>
          <a:xfrm>
            <a:off x="4005072" y="3950208"/>
            <a:ext cx="1216152" cy="658368"/>
          </a:xfrm>
          <a:prstGeom prst="rect">
            <a:avLst/>
          </a:prstGeom>
          <a:noFill/>
        </p:spPr>
        <p:txBody>
          <a:bodyPr wrap="square" lIns="0" rIns="0" tIns="0" bIns="0">
            <a:spAutoFit/>
          </a:bodyPr>
          <a:lstStyle/>
          <a:p>
            <a:pPr algn="l">
              <a:spcAft>
                <a:spcPts val="400"/>
              </a:spcAft>
              <a:defRPr sz="1400" b="1">
                <a:solidFill>
                  <a:srgbClr val="12332D"/>
                </a:solidFill>
                <a:latin typeface="Arial"/>
              </a:defRPr>
            </a:pPr>
            <a:r>
              <a:t>R02 · R03</a:t>
            </a:r>
          </a:p>
          <a:p>
            <a:pPr algn="l">
              <a:spcAft>
                <a:spcPts val="400"/>
              </a:spcAft>
              <a:defRPr sz="1400" b="1">
                <a:solidFill>
                  <a:srgbClr val="12332D"/>
                </a:solidFill>
                <a:latin typeface="Arial"/>
              </a:defRPr>
            </a:pPr>
            <a:r>
              <a:t>R04 · R05</a:t>
            </a:r>
          </a:p>
        </p:txBody>
      </p:sp>
      <p:sp>
        <p:nvSpPr>
          <p:cNvPr id="27" name="TextBox 26"/>
          <p:cNvSpPr txBox="1"/>
          <p:nvPr/>
        </p:nvSpPr>
        <p:spPr>
          <a:xfrm>
            <a:off x="4389120" y="6400800"/>
            <a:ext cx="1371600" cy="274320"/>
          </a:xfrm>
          <a:prstGeom prst="rect">
            <a:avLst/>
          </a:prstGeom>
          <a:noFill/>
        </p:spPr>
        <p:txBody>
          <a:bodyPr wrap="square" lIns="0" rIns="0" tIns="0" bIns="0">
            <a:spAutoFit/>
          </a:bodyPr>
          <a:lstStyle/>
          <a:p>
            <a:pPr algn="l">
              <a:spcAft>
                <a:spcPts val="400"/>
              </a:spcAft>
              <a:defRPr sz="1200" b="1">
                <a:solidFill>
                  <a:srgbClr val="5C6C65"/>
                </a:solidFill>
                <a:latin typeface="Arial"/>
              </a:defRPr>
            </a:pPr>
            <a:r>
              <a:t>IMPACT</a:t>
            </a:r>
          </a:p>
        </p:txBody>
      </p:sp>
      <p:sp>
        <p:nvSpPr>
          <p:cNvPr id="28" name="Rounded Rectangle 27"/>
          <p:cNvSpPr/>
          <p:nvPr/>
        </p:nvSpPr>
        <p:spPr>
          <a:xfrm>
            <a:off x="6080760" y="251460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99632" y="257403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R01</a:t>
            </a:r>
          </a:p>
        </p:txBody>
      </p:sp>
      <p:sp>
        <p:nvSpPr>
          <p:cNvPr id="30" name="TextBox 29"/>
          <p:cNvSpPr txBox="1"/>
          <p:nvPr/>
        </p:nvSpPr>
        <p:spPr>
          <a:xfrm>
            <a:off x="7178040" y="2496312"/>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Démonstration</a:t>
            </a:r>
          </a:p>
        </p:txBody>
      </p:sp>
      <p:sp>
        <p:nvSpPr>
          <p:cNvPr id="31" name="TextBox 30"/>
          <p:cNvSpPr txBox="1"/>
          <p:nvPr/>
        </p:nvSpPr>
        <p:spPr>
          <a:xfrm>
            <a:off x="7178040" y="2880360"/>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Sonde en échec → vérifier l’environnement.</a:t>
            </a:r>
          </a:p>
        </p:txBody>
      </p:sp>
      <p:sp>
        <p:nvSpPr>
          <p:cNvPr id="32" name="Rounded Rectangle 31"/>
          <p:cNvSpPr/>
          <p:nvPr/>
        </p:nvSpPr>
        <p:spPr>
          <a:xfrm>
            <a:off x="6080760" y="331012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99632" y="336956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R02</a:t>
            </a:r>
          </a:p>
        </p:txBody>
      </p:sp>
      <p:sp>
        <p:nvSpPr>
          <p:cNvPr id="34" name="TextBox 33"/>
          <p:cNvSpPr txBox="1"/>
          <p:nvPr/>
        </p:nvSpPr>
        <p:spPr>
          <a:xfrm>
            <a:off x="7178040" y="3291840"/>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Charge CP</a:t>
            </a:r>
          </a:p>
        </p:txBody>
      </p:sp>
      <p:sp>
        <p:nvSpPr>
          <p:cNvPr id="35" name="TextBox 34"/>
          <p:cNvSpPr txBox="1"/>
          <p:nvPr/>
        </p:nvSpPr>
        <p:spPr>
          <a:xfrm>
            <a:off x="7178040" y="3675888"/>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Plus de 90 % → limiter les demandes.</a:t>
            </a:r>
          </a:p>
        </p:txBody>
      </p:sp>
      <p:sp>
        <p:nvSpPr>
          <p:cNvPr id="36" name="Rounded Rectangle 35"/>
          <p:cNvSpPr/>
          <p:nvPr/>
        </p:nvSpPr>
        <p:spPr>
          <a:xfrm>
            <a:off x="6080760" y="410565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416509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R03</a:t>
            </a:r>
          </a:p>
        </p:txBody>
      </p:sp>
      <p:sp>
        <p:nvSpPr>
          <p:cNvPr id="38" name="TextBox 37"/>
          <p:cNvSpPr txBox="1"/>
          <p:nvPr/>
        </p:nvSpPr>
        <p:spPr>
          <a:xfrm>
            <a:off x="7178040" y="4087368"/>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Périmètre</a:t>
            </a:r>
          </a:p>
        </p:txBody>
      </p:sp>
      <p:sp>
        <p:nvSpPr>
          <p:cNvPr id="39" name="TextBox 38"/>
          <p:cNvSpPr txBox="1"/>
          <p:nvPr/>
        </p:nvSpPr>
        <p:spPr>
          <a:xfrm>
            <a:off x="7178040" y="4471416"/>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Plafond dépassé → arbitrer avant engagement.</a:t>
            </a:r>
          </a:p>
        </p:txBody>
      </p:sp>
      <p:sp>
        <p:nvSpPr>
          <p:cNvPr id="40" name="Rounded Rectangle 39"/>
          <p:cNvSpPr/>
          <p:nvPr/>
        </p:nvSpPr>
        <p:spPr>
          <a:xfrm>
            <a:off x="6080760" y="4901183"/>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99632" y="496062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R04</a:t>
            </a:r>
          </a:p>
        </p:txBody>
      </p:sp>
      <p:sp>
        <p:nvSpPr>
          <p:cNvPr id="42" name="TextBox 41"/>
          <p:cNvSpPr txBox="1"/>
          <p:nvPr/>
        </p:nvSpPr>
        <p:spPr>
          <a:xfrm>
            <a:off x="7178040" y="4882896"/>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Inscriptions</a:t>
            </a:r>
          </a:p>
        </p:txBody>
      </p:sp>
      <p:sp>
        <p:nvSpPr>
          <p:cNvPr id="43" name="TextBox 42"/>
          <p:cNvSpPr txBox="1"/>
          <p:nvPr/>
        </p:nvSpPr>
        <p:spPr>
          <a:xfrm>
            <a:off x="7178040" y="5266944"/>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Capacité incohérente → bloquer la validation.</a:t>
            </a:r>
          </a:p>
        </p:txBody>
      </p:sp>
      <p:sp>
        <p:nvSpPr>
          <p:cNvPr id="44" name="Rounded Rectangle 43"/>
          <p:cNvSpPr/>
          <p:nvPr/>
        </p:nvSpPr>
        <p:spPr>
          <a:xfrm>
            <a:off x="6080760" y="569671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99632" y="575614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R05</a:t>
            </a:r>
          </a:p>
        </p:txBody>
      </p:sp>
      <p:sp>
        <p:nvSpPr>
          <p:cNvPr id="46" name="TextBox 45"/>
          <p:cNvSpPr txBox="1"/>
          <p:nvPr/>
        </p:nvSpPr>
        <p:spPr>
          <a:xfrm>
            <a:off x="7178040" y="5678424"/>
            <a:ext cx="6400800" cy="365760"/>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Dépôt</a:t>
            </a:r>
          </a:p>
        </p:txBody>
      </p:sp>
      <p:sp>
        <p:nvSpPr>
          <p:cNvPr id="47" name="TextBox 46"/>
          <p:cNvSpPr txBox="1"/>
          <p:nvPr/>
        </p:nvSpPr>
        <p:spPr>
          <a:xfrm>
            <a:off x="7178040" y="6062472"/>
            <a:ext cx="6858000" cy="36576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Pièce manquante → contrôler la checklist.</a:t>
            </a:r>
          </a:p>
        </p:txBody>
      </p:sp>
      <p:sp>
        <p:nvSpPr>
          <p:cNvPr id="48" name="Rectangle 47"/>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Priorité : préserver une démonstration utilisable et un périmètre maîtrisé.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03 / ARBITRER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Choisir un test proche du logiciel livré</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Problème documenté : les compilations du serveur de développement perturbent la recette.</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12</a:t>
            </a:r>
          </a:p>
        </p:txBody>
      </p:sp>
      <p:sp>
        <p:nvSpPr>
          <p:cNvPr id="9" name="Rounded Rectangle 8"/>
          <p:cNvSpPr/>
          <p:nvPr/>
        </p:nvSpPr>
        <p:spPr>
          <a:xfrm>
            <a:off x="594360" y="2633472"/>
            <a:ext cx="4251960" cy="361188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89504"/>
            <a:ext cx="2743200" cy="502920"/>
          </a:xfrm>
          <a:prstGeom prst="rect">
            <a:avLst/>
          </a:prstGeom>
          <a:noFill/>
        </p:spPr>
        <p:txBody>
          <a:bodyPr wrap="square" lIns="0" rIns="0" tIns="0" bIns="0">
            <a:spAutoFit/>
          </a:bodyPr>
          <a:lstStyle/>
          <a:p>
            <a:pPr algn="l">
              <a:spcAft>
                <a:spcPts val="400"/>
              </a:spcAft>
              <a:defRPr sz="3100" b="1">
                <a:solidFill>
                  <a:srgbClr val="D8F28B"/>
                </a:solidFill>
                <a:latin typeface="Arial"/>
              </a:defRPr>
            </a:pPr>
            <a:r>
              <a:t>01</a:t>
            </a:r>
          </a:p>
        </p:txBody>
      </p:sp>
      <p:sp>
        <p:nvSpPr>
          <p:cNvPr id="11" name="TextBox 10"/>
          <p:cNvSpPr txBox="1"/>
          <p:nvPr/>
        </p:nvSpPr>
        <p:spPr>
          <a:xfrm>
            <a:off x="868680" y="3721608"/>
            <a:ext cx="3703320" cy="57607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Retries</a:t>
            </a:r>
          </a:p>
        </p:txBody>
      </p:sp>
      <p:sp>
        <p:nvSpPr>
          <p:cNvPr id="12" name="TextBox 11"/>
          <p:cNvSpPr txBox="1"/>
          <p:nvPr/>
        </p:nvSpPr>
        <p:spPr>
          <a:xfrm>
            <a:off x="868680" y="4590288"/>
            <a:ext cx="3703320" cy="694944"/>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Ajouter des tentatives</a:t>
            </a:r>
          </a:p>
        </p:txBody>
      </p:sp>
      <p:sp>
        <p:nvSpPr>
          <p:cNvPr id="13" name="TextBox 12"/>
          <p:cNvSpPr txBox="1"/>
          <p:nvPr/>
        </p:nvSpPr>
        <p:spPr>
          <a:xfrm>
            <a:off x="868680" y="5541264"/>
            <a:ext cx="3703320" cy="45720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Risque de masquer la cause</a:t>
            </a:r>
          </a:p>
        </p:txBody>
      </p:sp>
      <p:sp>
        <p:nvSpPr>
          <p:cNvPr id="14" name="Rounded Rectangle 13"/>
          <p:cNvSpPr/>
          <p:nvPr/>
        </p:nvSpPr>
        <p:spPr>
          <a:xfrm>
            <a:off x="5184648" y="2633472"/>
            <a:ext cx="4251960" cy="3611880"/>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58968" y="2889504"/>
            <a:ext cx="2743200" cy="502920"/>
          </a:xfrm>
          <a:prstGeom prst="rect">
            <a:avLst/>
          </a:prstGeom>
          <a:noFill/>
        </p:spPr>
        <p:txBody>
          <a:bodyPr wrap="square" lIns="0" rIns="0" tIns="0" bIns="0">
            <a:spAutoFit/>
          </a:bodyPr>
          <a:lstStyle/>
          <a:p>
            <a:pPr algn="l">
              <a:spcAft>
                <a:spcPts val="400"/>
              </a:spcAft>
              <a:defRPr sz="3100" b="1">
                <a:solidFill>
                  <a:srgbClr val="D8F28B"/>
                </a:solidFill>
                <a:latin typeface="Arial"/>
              </a:defRPr>
            </a:pPr>
            <a:r>
              <a:t>02</a:t>
            </a:r>
          </a:p>
        </p:txBody>
      </p:sp>
      <p:sp>
        <p:nvSpPr>
          <p:cNvPr id="16" name="TextBox 15"/>
          <p:cNvSpPr txBox="1"/>
          <p:nvPr/>
        </p:nvSpPr>
        <p:spPr>
          <a:xfrm>
            <a:off x="5458968" y="3721608"/>
            <a:ext cx="3703320" cy="57607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Préchauffage</a:t>
            </a:r>
          </a:p>
        </p:txBody>
      </p:sp>
      <p:sp>
        <p:nvSpPr>
          <p:cNvPr id="17" name="TextBox 16"/>
          <p:cNvSpPr txBox="1"/>
          <p:nvPr/>
        </p:nvSpPr>
        <p:spPr>
          <a:xfrm>
            <a:off x="5458968" y="4590288"/>
            <a:ext cx="3703320" cy="694944"/>
          </a:xfrm>
          <a:prstGeom prst="rect">
            <a:avLst/>
          </a:prstGeom>
          <a:noFill/>
        </p:spPr>
        <p:txBody>
          <a:bodyPr wrap="square" lIns="0" rIns="0" tIns="0" bIns="0">
            <a:spAutoFit/>
          </a:bodyPr>
          <a:lstStyle/>
          <a:p>
            <a:pPr algn="l">
              <a:spcAft>
                <a:spcPts val="400"/>
              </a:spcAft>
              <a:defRPr sz="2000" b="1">
                <a:solidFill>
                  <a:srgbClr val="FFFFFF"/>
                </a:solidFill>
                <a:latin typeface="Arial"/>
              </a:defRPr>
            </a:pPr>
            <a:r>
              <a:t>Réduire les compilations</a:t>
            </a:r>
          </a:p>
        </p:txBody>
      </p:sp>
      <p:sp>
        <p:nvSpPr>
          <p:cNvPr id="18" name="TextBox 17"/>
          <p:cNvSpPr txBox="1"/>
          <p:nvPr/>
        </p:nvSpPr>
        <p:spPr>
          <a:xfrm>
            <a:off x="5458968" y="5541264"/>
            <a:ext cx="3703320" cy="457200"/>
          </a:xfrm>
          <a:prstGeom prst="rect">
            <a:avLst/>
          </a:prstGeom>
          <a:noFill/>
        </p:spPr>
        <p:txBody>
          <a:bodyPr wrap="square" lIns="0" rIns="0" tIns="0" bIns="0">
            <a:spAutoFit/>
          </a:bodyPr>
          <a:lstStyle/>
          <a:p>
            <a:pPr algn="l">
              <a:spcAft>
                <a:spcPts val="400"/>
              </a:spcAft>
              <a:defRPr sz="1600" b="0">
                <a:solidFill>
                  <a:srgbClr val="C7D6CB"/>
                </a:solidFill>
                <a:latin typeface="Arial"/>
              </a:defRPr>
            </a:pPr>
            <a:r>
              <a:t>Routes à préparer</a:t>
            </a:r>
          </a:p>
        </p:txBody>
      </p:sp>
      <p:sp>
        <p:nvSpPr>
          <p:cNvPr id="19" name="Rounded Rectangle 18"/>
          <p:cNvSpPr/>
          <p:nvPr/>
        </p:nvSpPr>
        <p:spPr>
          <a:xfrm>
            <a:off x="9774936" y="2633472"/>
            <a:ext cx="4251960" cy="3611880"/>
          </a:xfrm>
          <a:prstGeom prst="roundRect">
            <a:avLst>
              <a:gd name="adj" fmla="val 4000"/>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49256" y="2889504"/>
            <a:ext cx="2743200" cy="502920"/>
          </a:xfrm>
          <a:prstGeom prst="rect">
            <a:avLst/>
          </a:prstGeom>
          <a:noFill/>
        </p:spPr>
        <p:txBody>
          <a:bodyPr wrap="square" lIns="0" rIns="0" tIns="0" bIns="0">
            <a:spAutoFit/>
          </a:bodyPr>
          <a:lstStyle/>
          <a:p>
            <a:pPr algn="l">
              <a:spcAft>
                <a:spcPts val="400"/>
              </a:spcAft>
              <a:defRPr sz="3100" b="1">
                <a:solidFill>
                  <a:srgbClr val="12332D"/>
                </a:solidFill>
                <a:latin typeface="Arial"/>
              </a:defRPr>
            </a:pPr>
            <a:r>
              <a:t>03</a:t>
            </a:r>
          </a:p>
        </p:txBody>
      </p:sp>
      <p:sp>
        <p:nvSpPr>
          <p:cNvPr id="21" name="TextBox 20"/>
          <p:cNvSpPr txBox="1"/>
          <p:nvPr/>
        </p:nvSpPr>
        <p:spPr>
          <a:xfrm>
            <a:off x="10049256" y="3721608"/>
            <a:ext cx="3703320" cy="576072"/>
          </a:xfrm>
          <a:prstGeom prst="rect">
            <a:avLst/>
          </a:prstGeom>
          <a:noFill/>
        </p:spPr>
        <p:txBody>
          <a:bodyPr wrap="square" lIns="0" rIns="0" tIns="0" bIns="0">
            <a:spAutoFit/>
          </a:bodyPr>
          <a:lstStyle/>
          <a:p>
            <a:pPr algn="l">
              <a:spcAft>
                <a:spcPts val="400"/>
              </a:spcAft>
              <a:defRPr sz="2900" b="1">
                <a:solidFill>
                  <a:srgbClr val="12332D"/>
                </a:solidFill>
                <a:latin typeface="Arial"/>
              </a:defRPr>
            </a:pPr>
            <a:r>
              <a:t>Standalone</a:t>
            </a:r>
          </a:p>
        </p:txBody>
      </p:sp>
      <p:sp>
        <p:nvSpPr>
          <p:cNvPr id="22" name="TextBox 21"/>
          <p:cNvSpPr txBox="1"/>
          <p:nvPr/>
        </p:nvSpPr>
        <p:spPr>
          <a:xfrm>
            <a:off x="10049256" y="4590288"/>
            <a:ext cx="3703320" cy="694944"/>
          </a:xfrm>
          <a:prstGeom prst="rect">
            <a:avLst/>
          </a:prstGeom>
          <a:noFill/>
        </p:spPr>
        <p:txBody>
          <a:bodyPr wrap="square" lIns="0" rIns="0" tIns="0" bIns="0">
            <a:spAutoFit/>
          </a:bodyPr>
          <a:lstStyle/>
          <a:p>
            <a:pPr algn="l">
              <a:spcAft>
                <a:spcPts val="400"/>
              </a:spcAft>
              <a:defRPr sz="2000" b="1">
                <a:solidFill>
                  <a:srgbClr val="12332D"/>
                </a:solidFill>
                <a:latin typeface="Arial"/>
              </a:defRPr>
            </a:pPr>
            <a:r>
              <a:t>Tester le build livré</a:t>
            </a:r>
          </a:p>
        </p:txBody>
      </p:sp>
      <p:sp>
        <p:nvSpPr>
          <p:cNvPr id="23" name="TextBox 22"/>
          <p:cNvSpPr txBox="1"/>
          <p:nvPr/>
        </p:nvSpPr>
        <p:spPr>
          <a:xfrm>
            <a:off x="10049256" y="5541264"/>
            <a:ext cx="3703320" cy="457200"/>
          </a:xfrm>
          <a:prstGeom prst="rect">
            <a:avLst/>
          </a:prstGeom>
          <a:noFill/>
        </p:spPr>
        <p:txBody>
          <a:bodyPr wrap="square" lIns="0" rIns="0" tIns="0" bIns="0">
            <a:spAutoFit/>
          </a:bodyPr>
          <a:lstStyle/>
          <a:p>
            <a:pPr algn="l">
              <a:spcAft>
                <a:spcPts val="400"/>
              </a:spcAft>
              <a:defRPr sz="1600" b="0">
                <a:solidFill>
                  <a:srgbClr val="12332D"/>
                </a:solidFill>
                <a:latin typeface="Arial"/>
              </a:defRPr>
            </a:pPr>
            <a:r>
              <a:t>Construction préalable</a:t>
            </a:r>
          </a:p>
        </p:txBody>
      </p:sp>
      <p:sp>
        <p:nvSpPr>
          <p:cNvPr id="24" name="Rectangle 23"/>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Choix visible dans Git : 689e59d · 20 juillet 2026. Comparaison rétrospective.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03 / ARBITRER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Reporter les topos pour préserver le lot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Demande fictive à J10 : +12 h DEV et +4 h QA, soit +540 €.</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13</a:t>
            </a:r>
          </a:p>
        </p:txBody>
      </p:sp>
      <p:graphicFrame>
        <p:nvGraphicFramePr>
          <p:cNvPr id="9" name="Chart 8"/>
          <p:cNvGraphicFramePr>
            <a:graphicFrameLocks noGrp="1"/>
          </p:cNvGraphicFramePr>
          <p:nvPr/>
        </p:nvGraphicFramePr>
        <p:xfrm>
          <a:off x="594360" y="2624328"/>
          <a:ext cx="9235440" cy="3611880"/>
        </p:xfrm>
        <a:graphic>
          <a:graphicData uri="http://schemas.openxmlformats.org/drawingml/2006/chart">
            <c:chart xmlns:c="http://schemas.openxmlformats.org/drawingml/2006/chart" r:id="rId3"/>
          </a:graphicData>
        </a:graphic>
      </p:graphicFrame>
      <p:sp>
        <p:nvSpPr>
          <p:cNvPr id="10" name="Rounded Rectangle 9"/>
          <p:cNvSpPr/>
          <p:nvPr/>
        </p:nvSpPr>
        <p:spPr>
          <a:xfrm>
            <a:off x="10287000" y="2715768"/>
            <a:ext cx="28346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405872" y="2775204"/>
            <a:ext cx="25968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DÉCISION DU CAS</a:t>
            </a:r>
          </a:p>
        </p:txBody>
      </p:sp>
      <p:sp>
        <p:nvSpPr>
          <p:cNvPr id="12" name="TextBox 11"/>
          <p:cNvSpPr txBox="1"/>
          <p:nvPr/>
        </p:nvSpPr>
        <p:spPr>
          <a:xfrm>
            <a:off x="10241280" y="3429000"/>
            <a:ext cx="3657600" cy="868680"/>
          </a:xfrm>
          <a:prstGeom prst="rect">
            <a:avLst/>
          </a:prstGeom>
          <a:noFill/>
        </p:spPr>
        <p:txBody>
          <a:bodyPr wrap="square" lIns="0" rIns="0" tIns="0" bIns="0">
            <a:spAutoFit/>
          </a:bodyPr>
          <a:lstStyle/>
          <a:p>
            <a:pPr algn="l">
              <a:spcAft>
                <a:spcPts val="400"/>
              </a:spcAft>
              <a:defRPr sz="5200" b="1">
                <a:solidFill>
                  <a:srgbClr val="286957"/>
                </a:solidFill>
                <a:latin typeface="Arial"/>
              </a:defRPr>
            </a:pPr>
            <a:r>
              <a:t>Report</a:t>
            </a:r>
          </a:p>
        </p:txBody>
      </p:sp>
      <p:sp>
        <p:nvSpPr>
          <p:cNvPr id="13" name="TextBox 12"/>
          <p:cNvSpPr txBox="1"/>
          <p:nvPr/>
        </p:nvSpPr>
        <p:spPr>
          <a:xfrm>
            <a:off x="10241280" y="4572000"/>
            <a:ext cx="3749039" cy="1051560"/>
          </a:xfrm>
          <a:prstGeom prst="rect">
            <a:avLst/>
          </a:prstGeom>
          <a:noFill/>
        </p:spPr>
        <p:txBody>
          <a:bodyPr wrap="square" lIns="0" rIns="0" tIns="0" bIns="0">
            <a:spAutoFit/>
          </a:bodyPr>
          <a:lstStyle/>
          <a:p>
            <a:pPr algn="l">
              <a:spcAft>
                <a:spcPts val="400"/>
              </a:spcAft>
              <a:defRPr sz="2200" b="1">
                <a:solidFill>
                  <a:srgbClr val="B64E2E"/>
                </a:solidFill>
                <a:latin typeface="Arial"/>
              </a:defRPr>
            </a:pPr>
            <a:r>
              <a:t>−308 € de marge</a:t>
            </a:r>
          </a:p>
          <a:p>
            <a:pPr algn="l">
              <a:spcAft>
                <a:spcPts val="400"/>
              </a:spcAft>
              <a:defRPr sz="2200" b="1">
                <a:solidFill>
                  <a:srgbClr val="B64E2E"/>
                </a:solidFill>
                <a:latin typeface="Arial"/>
              </a:defRPr>
            </a:pPr>
            <a:r>
              <a:t>DEV : 76 h / 72 h</a:t>
            </a:r>
          </a:p>
        </p:txBody>
      </p:sp>
      <p:sp>
        <p:nvSpPr>
          <p:cNvPr id="14" name="TextBox 13"/>
          <p:cNvSpPr txBox="1"/>
          <p:nvPr/>
        </p:nvSpPr>
        <p:spPr>
          <a:xfrm>
            <a:off x="10241280" y="5824728"/>
            <a:ext cx="3749039" cy="73152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Les critères de recette</a:t>
            </a:r>
          </a:p>
          <a:p>
            <a:pPr algn="l">
              <a:spcAft>
                <a:spcPts val="400"/>
              </a:spcAft>
              <a:defRPr sz="1800" b="0">
                <a:solidFill>
                  <a:srgbClr val="5C6C65"/>
                </a:solidFill>
                <a:latin typeface="Arial"/>
              </a:defRPr>
            </a:pPr>
            <a:r>
              <a:t>restent inchangés.</a:t>
            </a:r>
          </a:p>
        </p:txBody>
      </p:sp>
      <p:sp>
        <p:nvSpPr>
          <p:cNvPr id="15" name="Rectangle 1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Ajouter, réduire la recette ou reporter : la décision protège la qualité et la capacité.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04 / L’ÉQUIPE ET LE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Adapter la posture à la situation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Cas fictif : DEV veut ajouter une fonction ; QA attend un parcours stable.</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14</a:t>
            </a:r>
          </a:p>
        </p:txBody>
      </p:sp>
      <p:sp>
        <p:nvSpPr>
          <p:cNvPr id="9" name="Rounded Rectangle 8"/>
          <p:cNvSpPr/>
          <p:nvPr/>
        </p:nvSpPr>
        <p:spPr>
          <a:xfrm>
            <a:off x="594360" y="248716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7004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PARTICIPATIF</a:t>
            </a:r>
          </a:p>
        </p:txBody>
      </p:sp>
      <p:sp>
        <p:nvSpPr>
          <p:cNvPr id="11" name="TextBox 10"/>
          <p:cNvSpPr txBox="1"/>
          <p:nvPr/>
        </p:nvSpPr>
        <p:spPr>
          <a:xfrm>
            <a:off x="822960" y="309067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Écouter</a:t>
            </a:r>
          </a:p>
        </p:txBody>
      </p:sp>
      <p:sp>
        <p:nvSpPr>
          <p:cNvPr id="12" name="TextBox 11"/>
          <p:cNvSpPr txBox="1"/>
          <p:nvPr/>
        </p:nvSpPr>
        <p:spPr>
          <a:xfrm>
            <a:off x="3337560" y="309981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Comparer les options et leurs impacts.</a:t>
            </a:r>
          </a:p>
        </p:txBody>
      </p:sp>
      <p:sp>
        <p:nvSpPr>
          <p:cNvPr id="13" name="Rounded Rectangle 12"/>
          <p:cNvSpPr/>
          <p:nvPr/>
        </p:nvSpPr>
        <p:spPr>
          <a:xfrm>
            <a:off x="7470648" y="248716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9248" y="267004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PERSUASIF</a:t>
            </a:r>
          </a:p>
        </p:txBody>
      </p:sp>
      <p:sp>
        <p:nvSpPr>
          <p:cNvPr id="15" name="TextBox 14"/>
          <p:cNvSpPr txBox="1"/>
          <p:nvPr/>
        </p:nvSpPr>
        <p:spPr>
          <a:xfrm>
            <a:off x="7699248" y="309067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Expliquer</a:t>
            </a:r>
          </a:p>
        </p:txBody>
      </p:sp>
      <p:sp>
        <p:nvSpPr>
          <p:cNvPr id="16" name="TextBox 15"/>
          <p:cNvSpPr txBox="1"/>
          <p:nvPr/>
        </p:nvSpPr>
        <p:spPr>
          <a:xfrm>
            <a:off x="10213848" y="309981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Justifier le report auprès du client.</a:t>
            </a:r>
          </a:p>
        </p:txBody>
      </p:sp>
      <p:sp>
        <p:nvSpPr>
          <p:cNvPr id="17" name="Rounded Rectangle 16"/>
          <p:cNvSpPr/>
          <p:nvPr/>
        </p:nvSpPr>
        <p:spPr>
          <a:xfrm>
            <a:off x="594360" y="427024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5312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DIRECTIF</a:t>
            </a:r>
          </a:p>
        </p:txBody>
      </p:sp>
      <p:sp>
        <p:nvSpPr>
          <p:cNvPr id="19" name="TextBox 18"/>
          <p:cNvSpPr txBox="1"/>
          <p:nvPr/>
        </p:nvSpPr>
        <p:spPr>
          <a:xfrm>
            <a:off x="822960" y="487375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Fixer</a:t>
            </a:r>
          </a:p>
        </p:txBody>
      </p:sp>
      <p:sp>
        <p:nvSpPr>
          <p:cNvPr id="20" name="TextBox 19"/>
          <p:cNvSpPr txBox="1"/>
          <p:nvPr/>
        </p:nvSpPr>
        <p:spPr>
          <a:xfrm>
            <a:off x="3337560" y="488289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Maintenir les critères de livraison.</a:t>
            </a:r>
          </a:p>
        </p:txBody>
      </p:sp>
      <p:sp>
        <p:nvSpPr>
          <p:cNvPr id="21" name="Rounded Rectangle 20"/>
          <p:cNvSpPr/>
          <p:nvPr/>
        </p:nvSpPr>
        <p:spPr>
          <a:xfrm>
            <a:off x="7470648" y="4270248"/>
            <a:ext cx="6565392" cy="1572768"/>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99248" y="4453128"/>
            <a:ext cx="6035040" cy="274320"/>
          </a:xfrm>
          <a:prstGeom prst="rect">
            <a:avLst/>
          </a:prstGeom>
          <a:noFill/>
        </p:spPr>
        <p:txBody>
          <a:bodyPr wrap="square" lIns="0" rIns="0" tIns="0" bIns="0">
            <a:spAutoFit/>
          </a:bodyPr>
          <a:lstStyle/>
          <a:p>
            <a:pPr algn="l">
              <a:spcAft>
                <a:spcPts val="400"/>
              </a:spcAft>
              <a:defRPr sz="1200" b="1">
                <a:solidFill>
                  <a:srgbClr val="D8F28B"/>
                </a:solidFill>
                <a:latin typeface="Arial"/>
              </a:defRPr>
            </a:pPr>
            <a:r>
              <a:t>DÉLÉGATIF</a:t>
            </a:r>
          </a:p>
        </p:txBody>
      </p:sp>
      <p:sp>
        <p:nvSpPr>
          <p:cNvPr id="23" name="TextBox 22"/>
          <p:cNvSpPr txBox="1"/>
          <p:nvPr/>
        </p:nvSpPr>
        <p:spPr>
          <a:xfrm>
            <a:off x="7699248" y="4873752"/>
            <a:ext cx="2377440" cy="548640"/>
          </a:xfrm>
          <a:prstGeom prst="rect">
            <a:avLst/>
          </a:prstGeom>
          <a:noFill/>
        </p:spPr>
        <p:txBody>
          <a:bodyPr wrap="square" lIns="0" rIns="0" tIns="0" bIns="0">
            <a:spAutoFit/>
          </a:bodyPr>
          <a:lstStyle/>
          <a:p>
            <a:pPr algn="l">
              <a:spcAft>
                <a:spcPts val="400"/>
              </a:spcAft>
              <a:defRPr sz="3000" b="1">
                <a:solidFill>
                  <a:srgbClr val="FFFFFF"/>
                </a:solidFill>
                <a:latin typeface="Arial"/>
              </a:defRPr>
            </a:pPr>
            <a:r>
              <a:t>Confier</a:t>
            </a:r>
          </a:p>
        </p:txBody>
      </p:sp>
      <p:sp>
        <p:nvSpPr>
          <p:cNvPr id="24" name="TextBox 23"/>
          <p:cNvSpPr txBox="1"/>
          <p:nvPr/>
        </p:nvSpPr>
        <p:spPr>
          <a:xfrm>
            <a:off x="10213848" y="4882896"/>
            <a:ext cx="3520440" cy="731520"/>
          </a:xfrm>
          <a:prstGeom prst="rect">
            <a:avLst/>
          </a:prstGeom>
          <a:noFill/>
        </p:spPr>
        <p:txBody>
          <a:bodyPr wrap="square" lIns="0" rIns="0" tIns="0" bIns="0">
            <a:spAutoFit/>
          </a:bodyPr>
          <a:lstStyle/>
          <a:p>
            <a:pPr algn="l">
              <a:spcAft>
                <a:spcPts val="400"/>
              </a:spcAft>
              <a:defRPr sz="1900" b="0">
                <a:solidFill>
                  <a:srgbClr val="DCE6DA"/>
                </a:solidFill>
                <a:latin typeface="Arial"/>
              </a:defRPr>
            </a:pPr>
            <a:r>
              <a:t>Donner un résultat et un contrôle.</a:t>
            </a:r>
          </a:p>
        </p:txBody>
      </p:sp>
      <p:sp>
        <p:nvSpPr>
          <p:cNvPr id="25" name="Rectangle 24"/>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Rétro J15 : sortir les diagnostics techniques du daily ; CP suit la prochaine action.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L’ÉQUIPE ET LE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Une équipe à distance, des décisions accessibles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Camille, QA malentendante fictive · scénario Paris / Montréal.</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15</a:t>
            </a:r>
          </a:p>
        </p:txBody>
      </p:sp>
      <p:graphicFrame>
        <p:nvGraphicFramePr>
          <p:cNvPr id="9" name="Table 8"/>
          <p:cNvGraphicFramePr>
            <a:graphicFrameLocks noGrp="1"/>
          </p:cNvGraphicFramePr>
          <p:nvPr/>
        </p:nvGraphicFramePr>
        <p:xfrm>
          <a:off x="594360" y="2395728"/>
          <a:ext cx="13441680" cy="2697480"/>
        </p:xfrm>
        <a:graphic>
          <a:graphicData uri="http://schemas.openxmlformats.org/drawingml/2006/table">
            <a:tbl>
              <a:tblPr firstRow="1" bandRow="1">
                <a:tableStyleId>{5C22544A-7EE6-4342-B048-85BDC9FD1C3A}</a:tableStyleId>
              </a:tblPr>
              <a:tblGrid>
                <a:gridCol w="2834640"/>
                <a:gridCol w="10607040"/>
              </a:tblGrid>
              <a:tr h="674370">
                <a:tc>
                  <a:txBody>
                    <a:bodyPr/>
                    <a:lstStyle/>
                    <a:p>
                      <a:pPr>
                        <a:defRPr sz="2100" b="1">
                          <a:solidFill>
                            <a:srgbClr val="FFFFFF"/>
                          </a:solidFill>
                          <a:latin typeface="Arial"/>
                        </a:defRPr>
                      </a:pPr>
                      <a:r>
                        <a:t>Situation</a:t>
                      </a:r>
                    </a:p>
                  </a:txBody>
                  <a:tcPr marL="137160" marR="109728" marT="64008" marB="54864" anchor="ctr">
                    <a:solidFill>
                      <a:srgbClr val="12332D"/>
                    </a:solidFill>
                    <a:lnL>
                      <a:noFill/>
                    </a:lnL>
                    <a:lnR>
                      <a:noFill/>
                    </a:lnR>
                    <a:lnT>
                      <a:noFill/>
                    </a:lnT>
                    <a:lnB>
                      <a:noFill/>
                    </a:lnB>
                  </a:tcPr>
                </a:tc>
                <a:tc>
                  <a:txBody>
                    <a:bodyPr/>
                    <a:lstStyle/>
                    <a:p>
                      <a:pPr>
                        <a:defRPr sz="2100" b="1">
                          <a:solidFill>
                            <a:srgbClr val="FFFFFF"/>
                          </a:solidFill>
                          <a:latin typeface="Arial"/>
                        </a:defRPr>
                      </a:pPr>
                      <a:r>
                        <a:t>Aménagement retenu</a:t>
                      </a:r>
                    </a:p>
                  </a:txBody>
                  <a:tcPr marL="137160" marR="109728" marT="64008" marB="54864" anchor="ctr">
                    <a:solidFill>
                      <a:srgbClr val="12332D"/>
                    </a:solidFill>
                    <a:lnL>
                      <a:noFill/>
                    </a:lnL>
                    <a:lnR>
                      <a:noFill/>
                    </a:lnR>
                    <a:lnT>
                      <a:noFill/>
                    </a:lnT>
                    <a:lnB>
                      <a:noFill/>
                    </a:lnB>
                  </a:tcPr>
                </a:tc>
              </a:tr>
              <a:tr h="674370">
                <a:tc>
                  <a:txBody>
                    <a:bodyPr/>
                    <a:lstStyle/>
                    <a:p>
                      <a:pPr>
                        <a:defRPr sz="2100" b="1">
                          <a:solidFill>
                            <a:srgbClr val="12332D"/>
                          </a:solidFill>
                          <a:latin typeface="Arial"/>
                        </a:defRPr>
                      </a:pPr>
                      <a:r>
                        <a:t>Réunions</a:t>
                      </a:r>
                    </a:p>
                  </a:txBody>
                  <a:tcPr marL="137160" marR="109728" marT="64008" marB="54864" anchor="ctr">
                    <a:solidFill>
                      <a:srgbClr val="FFFFFF"/>
                    </a:solidFill>
                    <a:lnL>
                      <a:noFill/>
                    </a:lnL>
                    <a:lnR>
                      <a:noFill/>
                    </a:lnR>
                    <a:lnT>
                      <a:noFill/>
                    </a:lnT>
                    <a:lnB>
                      <a:noFill/>
                    </a:lnB>
                  </a:tcPr>
                </a:tc>
                <a:tc>
                  <a:txBody>
                    <a:bodyPr/>
                    <a:lstStyle/>
                    <a:p>
                      <a:pPr>
                        <a:defRPr sz="2100" b="0">
                          <a:solidFill>
                            <a:srgbClr val="12332D"/>
                          </a:solidFill>
                          <a:latin typeface="Arial"/>
                        </a:defRPr>
                      </a:pPr>
                      <a:r>
                        <a:t>Sous-titres testés ; une personne parle à la fois.</a:t>
                      </a:r>
                    </a:p>
                  </a:txBody>
                  <a:tcPr marL="137160" marR="109728" marT="64008" marB="54864" anchor="ctr">
                    <a:solidFill>
                      <a:srgbClr val="FFFFFF"/>
                    </a:solidFill>
                    <a:lnL>
                      <a:noFill/>
                    </a:lnL>
                    <a:lnR>
                      <a:noFill/>
                    </a:lnR>
                    <a:lnT>
                      <a:noFill/>
                    </a:lnT>
                    <a:lnB>
                      <a:noFill/>
                    </a:lnB>
                  </a:tcPr>
                </a:tc>
              </a:tr>
              <a:tr h="674370">
                <a:tc>
                  <a:txBody>
                    <a:bodyPr/>
                    <a:lstStyle/>
                    <a:p>
                      <a:pPr>
                        <a:defRPr sz="2100" b="1">
                          <a:solidFill>
                            <a:srgbClr val="12332D"/>
                          </a:solidFill>
                          <a:latin typeface="Arial"/>
                        </a:defRPr>
                      </a:pPr>
                      <a:r>
                        <a:t>Décisions</a:t>
                      </a:r>
                    </a:p>
                  </a:txBody>
                  <a:tcPr marL="137160" marR="109728" marT="64008" marB="54864" anchor="ctr">
                    <a:solidFill>
                      <a:srgbClr val="EBEFE6"/>
                    </a:solidFill>
                    <a:lnL>
                      <a:noFill/>
                    </a:lnL>
                    <a:lnR>
                      <a:noFill/>
                    </a:lnR>
                    <a:lnT>
                      <a:noFill/>
                    </a:lnT>
                    <a:lnB>
                      <a:noFill/>
                    </a:lnB>
                  </a:tcPr>
                </a:tc>
                <a:tc>
                  <a:txBody>
                    <a:bodyPr/>
                    <a:lstStyle/>
                    <a:p>
                      <a:pPr>
                        <a:defRPr sz="2100" b="0">
                          <a:solidFill>
                            <a:srgbClr val="12332D"/>
                          </a:solidFill>
                          <a:latin typeface="Arial"/>
                        </a:defRPr>
                      </a:pPr>
                      <a:r>
                        <a:t>Synthèse écrite, responsable et échéance.</a:t>
                      </a:r>
                    </a:p>
                  </a:txBody>
                  <a:tcPr marL="137160" marR="109728" marT="64008" marB="54864" anchor="ctr">
                    <a:solidFill>
                      <a:srgbClr val="EBEFE6"/>
                    </a:solidFill>
                    <a:lnL>
                      <a:noFill/>
                    </a:lnL>
                    <a:lnR>
                      <a:noFill/>
                    </a:lnR>
                    <a:lnT>
                      <a:noFill/>
                    </a:lnT>
                    <a:lnB>
                      <a:noFill/>
                    </a:lnB>
                  </a:tcPr>
                </a:tc>
              </a:tr>
              <a:tr h="674370">
                <a:tc>
                  <a:txBody>
                    <a:bodyPr/>
                    <a:lstStyle/>
                    <a:p>
                      <a:pPr>
                        <a:defRPr sz="2100" b="1">
                          <a:solidFill>
                            <a:srgbClr val="12332D"/>
                          </a:solidFill>
                          <a:latin typeface="Arial"/>
                        </a:defRPr>
                      </a:pPr>
                      <a:r>
                        <a:t>Formation</a:t>
                      </a:r>
                    </a:p>
                  </a:txBody>
                  <a:tcPr marL="137160" marR="109728" marT="64008" marB="54864" anchor="ctr">
                    <a:solidFill>
                      <a:srgbClr val="FFFFFF"/>
                    </a:solidFill>
                    <a:lnL>
                      <a:noFill/>
                    </a:lnL>
                    <a:lnR>
                      <a:noFill/>
                    </a:lnR>
                    <a:lnT>
                      <a:noFill/>
                    </a:lnT>
                    <a:lnB>
                      <a:noFill/>
                    </a:lnB>
                  </a:tcPr>
                </a:tc>
                <a:tc>
                  <a:txBody>
                    <a:bodyPr/>
                    <a:lstStyle/>
                    <a:p>
                      <a:pPr>
                        <a:defRPr sz="2100" b="0">
                          <a:solidFill>
                            <a:srgbClr val="12332D"/>
                          </a:solidFill>
                          <a:latin typeface="Arial"/>
                        </a:defRPr>
                      </a:pPr>
                      <a:r>
                        <a:t>Consignes écrites et démonstration sous-titrée.</a:t>
                      </a:r>
                    </a:p>
                  </a:txBody>
                  <a:tcPr marL="137160" marR="109728" marT="64008" marB="54864" anchor="ctr">
                    <a:solidFill>
                      <a:srgbClr val="FFFFFF"/>
                    </a:solidFill>
                    <a:lnL>
                      <a:noFill/>
                    </a:lnL>
                    <a:lnR>
                      <a:noFill/>
                    </a:lnR>
                    <a:lnT>
                      <a:noFill/>
                    </a:lnT>
                    <a:lnB>
                      <a:noFill/>
                    </a:lnB>
                  </a:tcPr>
                </a:tc>
              </a:tr>
            </a:tbl>
          </a:graphicData>
        </a:graphic>
      </p:graphicFrame>
      <p:sp>
        <p:nvSpPr>
          <p:cNvPr id="10" name="Rounded Rectangle 9"/>
          <p:cNvSpPr/>
          <p:nvPr/>
        </p:nvSpPr>
        <p:spPr>
          <a:xfrm>
            <a:off x="749808"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12" name="TextBox 11"/>
          <p:cNvSpPr txBox="1"/>
          <p:nvPr/>
        </p:nvSpPr>
        <p:spPr>
          <a:xfrm>
            <a:off x="1911095"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Comprendre</a:t>
            </a:r>
          </a:p>
        </p:txBody>
      </p:sp>
      <p:sp>
        <p:nvSpPr>
          <p:cNvPr id="13" name="Rounded Rectangle 12"/>
          <p:cNvSpPr/>
          <p:nvPr/>
        </p:nvSpPr>
        <p:spPr>
          <a:xfrm>
            <a:off x="5340096"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58968"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15" name="TextBox 14"/>
          <p:cNvSpPr txBox="1"/>
          <p:nvPr/>
        </p:nvSpPr>
        <p:spPr>
          <a:xfrm>
            <a:off x="6501383"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Retrouver</a:t>
            </a:r>
          </a:p>
        </p:txBody>
      </p:sp>
      <p:sp>
        <p:nvSpPr>
          <p:cNvPr id="16" name="Rounded Rectangle 15"/>
          <p:cNvSpPr/>
          <p:nvPr/>
        </p:nvSpPr>
        <p:spPr>
          <a:xfrm>
            <a:off x="9930384" y="5532120"/>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49256" y="5591556"/>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J14</a:t>
            </a:r>
          </a:p>
        </p:txBody>
      </p:sp>
      <p:sp>
        <p:nvSpPr>
          <p:cNvPr id="18" name="TextBox 17"/>
          <p:cNvSpPr txBox="1"/>
          <p:nvPr/>
        </p:nvSpPr>
        <p:spPr>
          <a:xfrm>
            <a:off x="11091672" y="5522976"/>
            <a:ext cx="3291840" cy="457200"/>
          </a:xfrm>
          <a:prstGeom prst="rect">
            <a:avLst/>
          </a:prstGeom>
          <a:noFill/>
        </p:spPr>
        <p:txBody>
          <a:bodyPr wrap="square" lIns="0" rIns="0" tIns="0" bIns="0">
            <a:spAutoFit/>
          </a:bodyPr>
          <a:lstStyle/>
          <a:p>
            <a:pPr algn="l">
              <a:spcAft>
                <a:spcPts val="400"/>
              </a:spcAft>
              <a:defRPr sz="2200" b="1">
                <a:solidFill>
                  <a:srgbClr val="12332D"/>
                </a:solidFill>
                <a:latin typeface="Arial"/>
              </a:defRPr>
            </a:pPr>
            <a:r>
              <a:t>Réaliser sans aide</a:t>
            </a:r>
          </a:p>
        </p:txBody>
      </p:sp>
      <p:sp>
        <p:nvSpPr>
          <p:cNvPr id="19" name="TextBox 18"/>
          <p:cNvSpPr txBox="1"/>
          <p:nvPr/>
        </p:nvSpPr>
        <p:spPr>
          <a:xfrm>
            <a:off x="749808" y="6400800"/>
            <a:ext cx="13167360" cy="548640"/>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Paris / Montréal : créneau commun avec fuseaux, avis écrits, glossaire FR/EN et reformulation.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DÉVELOPPER LES COMPÉTENCES</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Cibler les écarts qui menacent le lot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Grille du scénario : niveau actuel, cible et justification commentée dans les notes.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16</a:t>
            </a:r>
          </a:p>
        </p:txBody>
      </p:sp>
      <p:graphicFrame>
        <p:nvGraphicFramePr>
          <p:cNvPr id="9" name="Table 8"/>
          <p:cNvGraphicFramePr>
            <a:graphicFrameLocks noGrp="1"/>
          </p:cNvGraphicFramePr>
          <p:nvPr/>
        </p:nvGraphicFramePr>
        <p:xfrm>
          <a:off x="594360" y="2423160"/>
          <a:ext cx="13441680" cy="4005071"/>
        </p:xfrm>
        <a:graphic>
          <a:graphicData uri="http://schemas.openxmlformats.org/drawingml/2006/table">
            <a:tbl>
              <a:tblPr firstRow="1" bandRow="1">
                <a:tableStyleId>{5C22544A-7EE6-4342-B048-85BDC9FD1C3A}</a:tableStyleId>
              </a:tblPr>
              <a:tblGrid>
                <a:gridCol w="2103120"/>
                <a:gridCol w="7772400"/>
                <a:gridCol w="1783080"/>
                <a:gridCol w="1783080"/>
              </a:tblGrid>
              <a:tr h="572153">
                <a:tc>
                  <a:txBody>
                    <a:bodyPr/>
                    <a:lstStyle/>
                    <a:p>
                      <a:pPr>
                        <a:defRPr sz="2000" b="1">
                          <a:solidFill>
                            <a:srgbClr val="FFFFFF"/>
                          </a:solidFill>
                          <a:latin typeface="Arial"/>
                        </a:defRPr>
                      </a:pPr>
                      <a:r>
                        <a:t>Rôle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Compétence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Actuel</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Cible</a:t>
                      </a:r>
                    </a:p>
                  </a:txBody>
                  <a:tcPr marL="137160" marR="109728" marT="64008" marB="54864" anchor="ctr">
                    <a:solidFill>
                      <a:srgbClr val="12332D"/>
                    </a:solidFill>
                    <a:lnL>
                      <a:noFill/>
                    </a:lnL>
                    <a:lnR>
                      <a:noFill/>
                    </a:lnR>
                    <a:lnT>
                      <a:noFill/>
                    </a:lnT>
                    <a:lnB>
                      <a:noFill/>
                    </a:lnB>
                  </a:tcPr>
                </a:tc>
              </a:tr>
              <a:tr h="572153">
                <a:tc>
                  <a:txBody>
                    <a:bodyPr/>
                    <a:lstStyle/>
                    <a:p>
                      <a:pPr>
                        <a:defRPr sz="2000" b="1">
                          <a:solidFill>
                            <a:srgbClr val="12332D"/>
                          </a:solidFill>
                          <a:latin typeface="Arial"/>
                        </a:defRPr>
                      </a:pPr>
                      <a:r>
                        <a:t>CP</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Planning et suivi des écarts</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CP</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Animation et arbitrage</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r h="572153">
                <a:tc>
                  <a:txBody>
                    <a:bodyPr/>
                    <a:lstStyle/>
                    <a:p>
                      <a:pPr>
                        <a:defRPr sz="2000" b="1">
                          <a:solidFill>
                            <a:srgbClr val="12332D"/>
                          </a:solidFill>
                          <a:latin typeface="Arial"/>
                        </a:defRPr>
                      </a:pPr>
                      <a:r>
                        <a:t>DEV</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Développement typé et validation</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DEV</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Transactions et concurrence</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r h="572153">
                <a:tc>
                  <a:txBody>
                    <a:bodyPr/>
                    <a:lstStyle/>
                    <a:p>
                      <a:pPr>
                        <a:defRPr sz="2000" b="1">
                          <a:solidFill>
                            <a:srgbClr val="12332D"/>
                          </a:solidFill>
                          <a:latin typeface="Arial"/>
                        </a:defRPr>
                      </a:pPr>
                      <a:r>
                        <a:t>Camille, QA</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Recette navigateur reproductible</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FFFFFF"/>
                    </a:solidFill>
                    <a:lnL>
                      <a:noFill/>
                    </a:lnL>
                    <a:lnR>
                      <a:noFill/>
                    </a:lnR>
                    <a:lnT>
                      <a:noFill/>
                    </a:lnT>
                    <a:lnB>
                      <a:noFill/>
                    </a:lnB>
                  </a:tcPr>
                </a:tc>
              </a:tr>
              <a:tr h="572153">
                <a:tc>
                  <a:txBody>
                    <a:bodyPr/>
                    <a:lstStyle/>
                    <a:p>
                      <a:pPr>
                        <a:defRPr sz="2000" b="1">
                          <a:solidFill>
                            <a:srgbClr val="12332D"/>
                          </a:solidFill>
                          <a:latin typeface="Arial"/>
                        </a:defRPr>
                      </a:pPr>
                      <a:r>
                        <a:t>Camille, QA</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Clavier et formulaires</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2</a:t>
                      </a:r>
                    </a:p>
                  </a:txBody>
                  <a:tcPr marL="137160" marR="109728" marT="64008" marB="54864" anchor="ctr">
                    <a:solidFill>
                      <a:srgbClr val="EBEFE6"/>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0 : non abordé · 1 : accompagné · 2 : autonome · 3 : cas complexes.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DÉVELOPPER LES COMPÉTENCES</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Six heures pour renforcer l’autonomie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6 h incluses dans les tâches · 60 € de ressources complémentaires dans le scénario.</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17</a:t>
            </a:r>
          </a:p>
        </p:txBody>
      </p:sp>
      <p:sp>
        <p:nvSpPr>
          <p:cNvPr id="9" name="Rounded Rectangle 8"/>
          <p:cNvSpPr/>
          <p:nvPr/>
        </p:nvSpPr>
        <p:spPr>
          <a:xfrm>
            <a:off x="594360"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CP</a:t>
            </a:r>
          </a:p>
        </p:txBody>
      </p:sp>
      <p:sp>
        <p:nvSpPr>
          <p:cNvPr id="12" name="TextBox 11"/>
          <p:cNvSpPr txBox="1"/>
          <p:nvPr/>
        </p:nvSpPr>
        <p:spPr>
          <a:xfrm>
            <a:off x="841248"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J3</a:t>
            </a:r>
          </a:p>
        </p:txBody>
      </p:sp>
      <p:sp>
        <p:nvSpPr>
          <p:cNvPr id="13" name="TextBox 12"/>
          <p:cNvSpPr txBox="1"/>
          <p:nvPr/>
        </p:nvSpPr>
        <p:spPr>
          <a:xfrm>
            <a:off x="841248"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1 h</a:t>
            </a:r>
          </a:p>
        </p:txBody>
      </p:sp>
      <p:sp>
        <p:nvSpPr>
          <p:cNvPr id="14" name="TextBox 13"/>
          <p:cNvSpPr txBox="1"/>
          <p:nvPr/>
        </p:nvSpPr>
        <p:spPr>
          <a:xfrm>
            <a:off x="841248"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Tableau de bord</a:t>
            </a:r>
          </a:p>
        </p:txBody>
      </p:sp>
      <p:sp>
        <p:nvSpPr>
          <p:cNvPr id="15" name="TextBox 14"/>
          <p:cNvSpPr txBox="1"/>
          <p:nvPr/>
        </p:nvSpPr>
        <p:spPr>
          <a:xfrm>
            <a:off x="841248"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Expliquer un écart recalculé.</a:t>
            </a:r>
          </a:p>
        </p:txBody>
      </p:sp>
      <p:sp>
        <p:nvSpPr>
          <p:cNvPr id="16" name="Rounded Rectangle 15"/>
          <p:cNvSpPr/>
          <p:nvPr/>
        </p:nvSpPr>
        <p:spPr>
          <a:xfrm>
            <a:off x="5184648"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13248"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32120"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DEV</a:t>
            </a:r>
          </a:p>
        </p:txBody>
      </p:sp>
      <p:sp>
        <p:nvSpPr>
          <p:cNvPr id="19" name="TextBox 18"/>
          <p:cNvSpPr txBox="1"/>
          <p:nvPr/>
        </p:nvSpPr>
        <p:spPr>
          <a:xfrm>
            <a:off x="5431536"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J9–J12</a:t>
            </a:r>
          </a:p>
        </p:txBody>
      </p:sp>
      <p:sp>
        <p:nvSpPr>
          <p:cNvPr id="20" name="TextBox 19"/>
          <p:cNvSpPr txBox="1"/>
          <p:nvPr/>
        </p:nvSpPr>
        <p:spPr>
          <a:xfrm>
            <a:off x="5431536"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2 h</a:t>
            </a:r>
          </a:p>
        </p:txBody>
      </p:sp>
      <p:sp>
        <p:nvSpPr>
          <p:cNvPr id="21" name="TextBox 20"/>
          <p:cNvSpPr txBox="1"/>
          <p:nvPr/>
        </p:nvSpPr>
        <p:spPr>
          <a:xfrm>
            <a:off x="5431536"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Concurrence</a:t>
            </a:r>
          </a:p>
        </p:txBody>
      </p:sp>
      <p:sp>
        <p:nvSpPr>
          <p:cNvPr id="22" name="TextBox 21"/>
          <p:cNvSpPr txBox="1"/>
          <p:nvPr/>
        </p:nvSpPr>
        <p:spPr>
          <a:xfrm>
            <a:off x="5431536"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Une place, une seule inscription acceptée.</a:t>
            </a:r>
          </a:p>
        </p:txBody>
      </p:sp>
      <p:sp>
        <p:nvSpPr>
          <p:cNvPr id="23" name="Rounded Rectangle 22"/>
          <p:cNvSpPr/>
          <p:nvPr/>
        </p:nvSpPr>
        <p:spPr>
          <a:xfrm>
            <a:off x="9774936" y="2487168"/>
            <a:ext cx="4251960" cy="36301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003536" y="2743200"/>
            <a:ext cx="192024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22408" y="2802636"/>
            <a:ext cx="168249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Camille, QA</a:t>
            </a:r>
          </a:p>
        </p:txBody>
      </p:sp>
      <p:sp>
        <p:nvSpPr>
          <p:cNvPr id="26" name="TextBox 25"/>
          <p:cNvSpPr txBox="1"/>
          <p:nvPr/>
        </p:nvSpPr>
        <p:spPr>
          <a:xfrm>
            <a:off x="10021824" y="3264408"/>
            <a:ext cx="3566160" cy="320040"/>
          </a:xfrm>
          <a:prstGeom prst="rect">
            <a:avLst/>
          </a:prstGeom>
          <a:noFill/>
        </p:spPr>
        <p:txBody>
          <a:bodyPr wrap="square" lIns="0" rIns="0" tIns="0" bIns="0">
            <a:spAutoFit/>
          </a:bodyPr>
          <a:lstStyle/>
          <a:p>
            <a:pPr algn="l">
              <a:spcAft>
                <a:spcPts val="400"/>
              </a:spcAft>
              <a:defRPr sz="1600" b="1">
                <a:solidFill>
                  <a:srgbClr val="5C6C65"/>
                </a:solidFill>
                <a:latin typeface="Arial"/>
              </a:defRPr>
            </a:pPr>
            <a:r>
              <a:t>J10–J14</a:t>
            </a:r>
          </a:p>
        </p:txBody>
      </p:sp>
      <p:sp>
        <p:nvSpPr>
          <p:cNvPr id="27" name="TextBox 26"/>
          <p:cNvSpPr txBox="1"/>
          <p:nvPr/>
        </p:nvSpPr>
        <p:spPr>
          <a:xfrm>
            <a:off x="10021824" y="3767328"/>
            <a:ext cx="3566160" cy="777240"/>
          </a:xfrm>
          <a:prstGeom prst="rect">
            <a:avLst/>
          </a:prstGeom>
          <a:noFill/>
        </p:spPr>
        <p:txBody>
          <a:bodyPr wrap="square" lIns="0" rIns="0" tIns="0" bIns="0">
            <a:spAutoFit/>
          </a:bodyPr>
          <a:lstStyle/>
          <a:p>
            <a:pPr algn="l">
              <a:spcAft>
                <a:spcPts val="400"/>
              </a:spcAft>
              <a:defRPr sz="4800" b="1">
                <a:solidFill>
                  <a:srgbClr val="286957"/>
                </a:solidFill>
                <a:latin typeface="Arial"/>
              </a:defRPr>
            </a:pPr>
            <a:r>
              <a:t>3 h</a:t>
            </a:r>
          </a:p>
        </p:txBody>
      </p:sp>
      <p:sp>
        <p:nvSpPr>
          <p:cNvPr id="28" name="TextBox 27"/>
          <p:cNvSpPr txBox="1"/>
          <p:nvPr/>
        </p:nvSpPr>
        <p:spPr>
          <a:xfrm>
            <a:off x="10021824" y="4636008"/>
            <a:ext cx="3749039" cy="54864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Recette + clavier</a:t>
            </a:r>
          </a:p>
        </p:txBody>
      </p:sp>
      <p:sp>
        <p:nvSpPr>
          <p:cNvPr id="29" name="TextBox 28"/>
          <p:cNvSpPr txBox="1"/>
          <p:nvPr/>
        </p:nvSpPr>
        <p:spPr>
          <a:xfrm>
            <a:off x="10021824" y="5330952"/>
            <a:ext cx="3749039" cy="658368"/>
          </a:xfrm>
          <a:prstGeom prst="rect">
            <a:avLst/>
          </a:prstGeom>
          <a:noFill/>
        </p:spPr>
        <p:txBody>
          <a:bodyPr wrap="square" lIns="0" rIns="0" tIns="0" bIns="0">
            <a:spAutoFit/>
          </a:bodyPr>
          <a:lstStyle/>
          <a:p>
            <a:pPr algn="l">
              <a:spcAft>
                <a:spcPts val="400"/>
              </a:spcAft>
              <a:defRPr sz="1800" b="0">
                <a:solidFill>
                  <a:srgbClr val="5C6C65"/>
                </a:solidFill>
                <a:latin typeface="Arial"/>
              </a:defRPr>
            </a:pPr>
            <a:r>
              <a:t>Rejouer un cas sans aide.</a:t>
            </a:r>
          </a:p>
        </p:txBody>
      </p:sp>
      <p:sp>
        <p:nvSpPr>
          <p:cNvPr id="30" name="TextBox 29"/>
          <p:cNvSpPr txBox="1"/>
          <p:nvPr/>
        </p:nvSpPr>
        <p:spPr>
          <a:xfrm>
            <a:off x="685800" y="6419088"/>
            <a:ext cx="13258800" cy="457200"/>
          </a:xfrm>
          <a:prstGeom prst="rect">
            <a:avLst/>
          </a:prstGeom>
          <a:noFill/>
        </p:spPr>
        <p:txBody>
          <a:bodyPr wrap="square" lIns="0" rIns="0" tIns="0" bIns="0">
            <a:spAutoFit/>
          </a:bodyPr>
          <a:lstStyle/>
          <a:p>
            <a:pPr algn="l">
              <a:spcAft>
                <a:spcPts val="400"/>
              </a:spcAft>
              <a:defRPr sz="1700" b="1">
                <a:solidFill>
                  <a:srgbClr val="286957"/>
                </a:solidFill>
                <a:latin typeface="Arial"/>
              </a:defRPr>
            </a:pPr>
            <a:r>
              <a:t>Camille : 2 h de recette + 1 h de clavier ; consignes écrites et démonstration sous-titrée.</a:t>
            </a:r>
          </a:p>
        </p:txBody>
      </p:sp>
      <p:sp>
        <p:nvSpPr>
          <p:cNvPr id="31" name="Rectangle 30"/>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À J12 : si une compétence critique reste indisponible, arbitrer le besoin RH (annexe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LE SUIVI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Transformer la review en décision</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CR02 · J10 · compte rendu fictif avec Claire Martin, Collectif Altitude Grimpe.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18</a:t>
            </a:r>
          </a:p>
        </p:txBody>
      </p:sp>
      <p:sp>
        <p:nvSpPr>
          <p:cNvPr id="9" name="Rounded Rectangle 8"/>
          <p:cNvSpPr/>
          <p:nvPr/>
        </p:nvSpPr>
        <p:spPr>
          <a:xfrm>
            <a:off x="594360"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01 / CONSTAT</a:t>
            </a:r>
          </a:p>
        </p:txBody>
      </p:sp>
      <p:sp>
        <p:nvSpPr>
          <p:cNvPr id="11" name="TextBox 10"/>
          <p:cNvSpPr txBox="1"/>
          <p:nvPr/>
        </p:nvSpPr>
        <p:spPr>
          <a:xfrm>
            <a:off x="822960"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Un écart à traiter</a:t>
            </a:r>
          </a:p>
        </p:txBody>
      </p:sp>
      <p:sp>
        <p:nvSpPr>
          <p:cNvPr id="12" name="TextBox 11"/>
          <p:cNvSpPr txBox="1"/>
          <p:nvPr/>
        </p:nvSpPr>
        <p:spPr>
          <a:xfrm>
            <a:off x="822960"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Événements : J11 → J12</a:t>
            </a:r>
          </a:p>
          <a:p>
            <a:pPr algn="l">
              <a:spcAft>
                <a:spcPts val="400"/>
              </a:spcAft>
              <a:defRPr sz="1900" b="0">
                <a:solidFill>
                  <a:srgbClr val="5C6C65"/>
                </a:solidFill>
                <a:latin typeface="Arial"/>
              </a:defRPr>
            </a:pPr>
            <a:r>
              <a:t>Prévision : 4 465 €</a:t>
            </a:r>
          </a:p>
        </p:txBody>
      </p:sp>
      <p:sp>
        <p:nvSpPr>
          <p:cNvPr id="13" name="Rounded Rectangle 12"/>
          <p:cNvSpPr/>
          <p:nvPr/>
        </p:nvSpPr>
        <p:spPr>
          <a:xfrm>
            <a:off x="5184648"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13248"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02 / DÉCISION</a:t>
            </a:r>
          </a:p>
        </p:txBody>
      </p:sp>
      <p:sp>
        <p:nvSpPr>
          <p:cNvPr id="15" name="TextBox 14"/>
          <p:cNvSpPr txBox="1"/>
          <p:nvPr/>
        </p:nvSpPr>
        <p:spPr>
          <a:xfrm>
            <a:off x="5413248"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Reporter les topos</a:t>
            </a:r>
          </a:p>
        </p:txBody>
      </p:sp>
      <p:sp>
        <p:nvSpPr>
          <p:cNvPr id="16" name="TextBox 15"/>
          <p:cNvSpPr txBox="1"/>
          <p:nvPr/>
        </p:nvSpPr>
        <p:spPr>
          <a:xfrm>
            <a:off x="5413248"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Maintenir le périmètre</a:t>
            </a:r>
          </a:p>
          <a:p>
            <a:pPr algn="l">
              <a:spcAft>
                <a:spcPts val="400"/>
              </a:spcAft>
              <a:defRPr sz="1900" b="0">
                <a:solidFill>
                  <a:srgbClr val="5C6C65"/>
                </a:solidFill>
                <a:latin typeface="Arial"/>
              </a:defRPr>
            </a:pPr>
            <a:r>
              <a:t>et les critères de recette.</a:t>
            </a:r>
          </a:p>
        </p:txBody>
      </p:sp>
      <p:sp>
        <p:nvSpPr>
          <p:cNvPr id="17" name="Rounded Rectangle 16"/>
          <p:cNvSpPr/>
          <p:nvPr/>
        </p:nvSpPr>
        <p:spPr>
          <a:xfrm>
            <a:off x="9774936" y="2560320"/>
            <a:ext cx="4251960" cy="278892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03536" y="2834640"/>
            <a:ext cx="3749039" cy="274320"/>
          </a:xfrm>
          <a:prstGeom prst="rect">
            <a:avLst/>
          </a:prstGeom>
          <a:noFill/>
        </p:spPr>
        <p:txBody>
          <a:bodyPr wrap="square" lIns="0" rIns="0" tIns="0" bIns="0">
            <a:spAutoFit/>
          </a:bodyPr>
          <a:lstStyle/>
          <a:p>
            <a:pPr algn="l">
              <a:spcAft>
                <a:spcPts val="400"/>
              </a:spcAft>
              <a:defRPr sz="1200" b="1">
                <a:solidFill>
                  <a:srgbClr val="286957"/>
                </a:solidFill>
                <a:latin typeface="Arial"/>
              </a:defRPr>
            </a:pPr>
            <a:r>
              <a:t>03 / ACTIONS</a:t>
            </a:r>
          </a:p>
        </p:txBody>
      </p:sp>
      <p:sp>
        <p:nvSpPr>
          <p:cNvPr id="19" name="TextBox 18"/>
          <p:cNvSpPr txBox="1"/>
          <p:nvPr/>
        </p:nvSpPr>
        <p:spPr>
          <a:xfrm>
            <a:off x="10003536" y="3447288"/>
            <a:ext cx="3749039" cy="731520"/>
          </a:xfrm>
          <a:prstGeom prst="rect">
            <a:avLst/>
          </a:prstGeom>
          <a:noFill/>
        </p:spPr>
        <p:txBody>
          <a:bodyPr wrap="square" lIns="0" rIns="0" tIns="0" bIns="0">
            <a:spAutoFit/>
          </a:bodyPr>
          <a:lstStyle/>
          <a:p>
            <a:pPr algn="l">
              <a:spcAft>
                <a:spcPts val="400"/>
              </a:spcAft>
              <a:defRPr sz="2500" b="1">
                <a:solidFill>
                  <a:srgbClr val="12332D"/>
                </a:solidFill>
                <a:latin typeface="Arial"/>
              </a:defRPr>
            </a:pPr>
            <a:r>
              <a:t>Responsables et dates</a:t>
            </a:r>
          </a:p>
        </p:txBody>
      </p:sp>
      <p:sp>
        <p:nvSpPr>
          <p:cNvPr id="20" name="TextBox 19"/>
          <p:cNvSpPr txBox="1"/>
          <p:nvPr/>
        </p:nvSpPr>
        <p:spPr>
          <a:xfrm>
            <a:off x="10003536" y="4334256"/>
            <a:ext cx="3749039" cy="832104"/>
          </a:xfrm>
          <a:prstGeom prst="rect">
            <a:avLst/>
          </a:prstGeom>
          <a:noFill/>
        </p:spPr>
        <p:txBody>
          <a:bodyPr wrap="square" lIns="0" rIns="0" tIns="0" bIns="0">
            <a:spAutoFit/>
          </a:bodyPr>
          <a:lstStyle/>
          <a:p>
            <a:pPr algn="l">
              <a:spcAft>
                <a:spcPts val="400"/>
              </a:spcAft>
              <a:defRPr sz="1900" b="0">
                <a:solidFill>
                  <a:srgbClr val="5C6C65"/>
                </a:solidFill>
                <a:latin typeface="Arial"/>
              </a:defRPr>
            </a:pPr>
            <a:r>
              <a:t>DEV : T06 à J12</a:t>
            </a:r>
          </a:p>
          <a:p>
            <a:pPr algn="l">
              <a:spcAft>
                <a:spcPts val="400"/>
              </a:spcAft>
              <a:defRPr sz="1900" b="0">
                <a:solidFill>
                  <a:srgbClr val="5C6C65"/>
                </a:solidFill>
                <a:latin typeface="Arial"/>
              </a:defRPr>
            </a:pPr>
            <a:r>
              <a:t>QA : recette J14 · CP : J15</a:t>
            </a:r>
          </a:p>
        </p:txBody>
      </p:sp>
      <p:sp>
        <p:nvSpPr>
          <p:cNvPr id="21" name="Rounded Rectangle 20"/>
          <p:cNvSpPr/>
          <p:nvPr/>
        </p:nvSpPr>
        <p:spPr>
          <a:xfrm>
            <a:off x="822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J3</a:t>
            </a:r>
          </a:p>
        </p:txBody>
      </p:sp>
      <p:sp>
        <p:nvSpPr>
          <p:cNvPr id="23" name="TextBox 22"/>
          <p:cNvSpPr txBox="1"/>
          <p:nvPr/>
        </p:nvSpPr>
        <p:spPr>
          <a:xfrm>
            <a:off x="1965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Périmètre</a:t>
            </a:r>
          </a:p>
        </p:txBody>
      </p:sp>
      <p:sp>
        <p:nvSpPr>
          <p:cNvPr id="24" name="Rounded Rectangle 23"/>
          <p:cNvSpPr/>
          <p:nvPr/>
        </p:nvSpPr>
        <p:spPr>
          <a:xfrm>
            <a:off x="5394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13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J10</a:t>
            </a:r>
          </a:p>
        </p:txBody>
      </p:sp>
      <p:sp>
        <p:nvSpPr>
          <p:cNvPr id="26" name="TextBox 25"/>
          <p:cNvSpPr txBox="1"/>
          <p:nvPr/>
        </p:nvSpPr>
        <p:spPr>
          <a:xfrm>
            <a:off x="6537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Review / CR02</a:t>
            </a:r>
          </a:p>
        </p:txBody>
      </p:sp>
      <p:sp>
        <p:nvSpPr>
          <p:cNvPr id="27" name="Rounded Rectangle 26"/>
          <p:cNvSpPr/>
          <p:nvPr/>
        </p:nvSpPr>
        <p:spPr>
          <a:xfrm>
            <a:off x="9966960" y="5916168"/>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85832" y="5975604"/>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J15</a:t>
            </a:r>
          </a:p>
        </p:txBody>
      </p:sp>
      <p:sp>
        <p:nvSpPr>
          <p:cNvPr id="29" name="TextBox 28"/>
          <p:cNvSpPr txBox="1"/>
          <p:nvPr/>
        </p:nvSpPr>
        <p:spPr>
          <a:xfrm>
            <a:off x="11109960" y="5907024"/>
            <a:ext cx="3383280" cy="438912"/>
          </a:xfrm>
          <a:prstGeom prst="rect">
            <a:avLst/>
          </a:prstGeom>
          <a:noFill/>
        </p:spPr>
        <p:txBody>
          <a:bodyPr wrap="square" lIns="0" rIns="0" tIns="0" bIns="0">
            <a:spAutoFit/>
          </a:bodyPr>
          <a:lstStyle/>
          <a:p>
            <a:pPr algn="l">
              <a:spcAft>
                <a:spcPts val="400"/>
              </a:spcAft>
              <a:defRPr sz="2100" b="1">
                <a:solidFill>
                  <a:srgbClr val="12332D"/>
                </a:solidFill>
                <a:latin typeface="Arial"/>
              </a:defRPr>
            </a:pPr>
            <a:r>
              <a:t>Validation / CR03</a:t>
            </a:r>
          </a:p>
        </p:txBody>
      </p:sp>
      <p:sp>
        <p:nvSpPr>
          <p:cNvPr id="30" name="Rectangle 2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A07 centralise les comptes rendus et critères. La rétrospective suit la review J15.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04 / LE SUIVI CLIENT</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Mesurer la satisfaction pour agir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Protocole proposé à J15 : 2 grimpeurs et 1 club. Résultats réels non mesurés.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19</a:t>
            </a:r>
          </a:p>
        </p:txBody>
      </p:sp>
      <p:sp>
        <p:nvSpPr>
          <p:cNvPr id="9" name="Rounded Rectangle 8"/>
          <p:cNvSpPr/>
          <p:nvPr/>
        </p:nvSpPr>
        <p:spPr>
          <a:xfrm>
            <a:off x="594360"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100 %</a:t>
            </a:r>
          </a:p>
        </p:txBody>
      </p:sp>
      <p:sp>
        <p:nvSpPr>
          <p:cNvPr id="11" name="TextBox 10"/>
          <p:cNvSpPr txBox="1"/>
          <p:nvPr/>
        </p:nvSpPr>
        <p:spPr>
          <a:xfrm>
            <a:off x="795528"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Critères critiques</a:t>
            </a:r>
          </a:p>
        </p:txBody>
      </p:sp>
      <p:sp>
        <p:nvSpPr>
          <p:cNvPr id="12" name="TextBox 11"/>
          <p:cNvSpPr txBox="1"/>
          <p:nvPr/>
        </p:nvSpPr>
        <p:spPr>
          <a:xfrm>
            <a:off x="795528"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Acceptés / évalués</a:t>
            </a:r>
          </a:p>
        </p:txBody>
      </p:sp>
      <p:sp>
        <p:nvSpPr>
          <p:cNvPr id="13" name="Rounded Rectangle 12"/>
          <p:cNvSpPr/>
          <p:nvPr/>
        </p:nvSpPr>
        <p:spPr>
          <a:xfrm>
            <a:off x="4041648"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42816"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 80 %</a:t>
            </a:r>
          </a:p>
        </p:txBody>
      </p:sp>
      <p:sp>
        <p:nvSpPr>
          <p:cNvPr id="15" name="TextBox 14"/>
          <p:cNvSpPr txBox="1"/>
          <p:nvPr/>
        </p:nvSpPr>
        <p:spPr>
          <a:xfrm>
            <a:off x="4242816"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Parcours sans aide</a:t>
            </a:r>
          </a:p>
        </p:txBody>
      </p:sp>
      <p:sp>
        <p:nvSpPr>
          <p:cNvPr id="16" name="TextBox 15"/>
          <p:cNvSpPr txBox="1"/>
          <p:nvPr/>
        </p:nvSpPr>
        <p:spPr>
          <a:xfrm>
            <a:off x="4242816"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Réussis sans aide / tentés</a:t>
            </a:r>
          </a:p>
        </p:txBody>
      </p:sp>
      <p:sp>
        <p:nvSpPr>
          <p:cNvPr id="17" name="Rounded Rectangle 16"/>
          <p:cNvSpPr/>
          <p:nvPr/>
        </p:nvSpPr>
        <p:spPr>
          <a:xfrm>
            <a:off x="7488936"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90104"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 4/5</a:t>
            </a:r>
          </a:p>
        </p:txBody>
      </p:sp>
      <p:sp>
        <p:nvSpPr>
          <p:cNvPr id="19" name="TextBox 18"/>
          <p:cNvSpPr txBox="1"/>
          <p:nvPr/>
        </p:nvSpPr>
        <p:spPr>
          <a:xfrm>
            <a:off x="7690104"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Utilité perçue</a:t>
            </a:r>
          </a:p>
        </p:txBody>
      </p:sp>
      <p:sp>
        <p:nvSpPr>
          <p:cNvPr id="20" name="TextBox 19"/>
          <p:cNvSpPr txBox="1"/>
          <p:nvPr/>
        </p:nvSpPr>
        <p:spPr>
          <a:xfrm>
            <a:off x="7690104"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Moyenne des notes + effectif</a:t>
            </a:r>
          </a:p>
        </p:txBody>
      </p:sp>
      <p:sp>
        <p:nvSpPr>
          <p:cNvPr id="21" name="Rounded Rectangle 20"/>
          <p:cNvSpPr/>
          <p:nvPr/>
        </p:nvSpPr>
        <p:spPr>
          <a:xfrm>
            <a:off x="10936224" y="2651760"/>
            <a:ext cx="3127248" cy="349300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37392" y="3008376"/>
            <a:ext cx="2743200" cy="850392"/>
          </a:xfrm>
          <a:prstGeom prst="rect">
            <a:avLst/>
          </a:prstGeom>
          <a:noFill/>
        </p:spPr>
        <p:txBody>
          <a:bodyPr wrap="square" lIns="0" rIns="0" tIns="0" bIns="0">
            <a:spAutoFit/>
          </a:bodyPr>
          <a:lstStyle/>
          <a:p>
            <a:pPr algn="l">
              <a:spcAft>
                <a:spcPts val="400"/>
              </a:spcAft>
              <a:defRPr sz="4000" b="1">
                <a:solidFill>
                  <a:srgbClr val="286957"/>
                </a:solidFill>
                <a:latin typeface="Arial"/>
              </a:defRPr>
            </a:pPr>
            <a:r>
              <a:t>0</a:t>
            </a:r>
          </a:p>
        </p:txBody>
      </p:sp>
      <p:sp>
        <p:nvSpPr>
          <p:cNvPr id="23" name="TextBox 22"/>
          <p:cNvSpPr txBox="1"/>
          <p:nvPr/>
        </p:nvSpPr>
        <p:spPr>
          <a:xfrm>
            <a:off x="11137392" y="4133087"/>
            <a:ext cx="2743200" cy="914400"/>
          </a:xfrm>
          <a:prstGeom prst="rect">
            <a:avLst/>
          </a:prstGeom>
          <a:noFill/>
        </p:spPr>
        <p:txBody>
          <a:bodyPr wrap="square" lIns="0" rIns="0" tIns="0" bIns="0">
            <a:spAutoFit/>
          </a:bodyPr>
          <a:lstStyle/>
          <a:p>
            <a:pPr algn="l">
              <a:spcAft>
                <a:spcPts val="400"/>
              </a:spcAft>
              <a:defRPr sz="2300" b="1">
                <a:solidFill>
                  <a:srgbClr val="12332D"/>
                </a:solidFill>
                <a:latin typeface="Arial"/>
              </a:defRPr>
            </a:pPr>
            <a:r>
              <a:t>Blocage critique</a:t>
            </a:r>
          </a:p>
        </p:txBody>
      </p:sp>
      <p:sp>
        <p:nvSpPr>
          <p:cNvPr id="24" name="TextBox 23"/>
          <p:cNvSpPr txBox="1"/>
          <p:nvPr/>
        </p:nvSpPr>
        <p:spPr>
          <a:xfrm>
            <a:off x="11137392" y="5303520"/>
            <a:ext cx="2743200" cy="685800"/>
          </a:xfrm>
          <a:prstGeom prst="rect">
            <a:avLst/>
          </a:prstGeom>
          <a:noFill/>
        </p:spPr>
        <p:txBody>
          <a:bodyPr wrap="square" lIns="0" rIns="0" tIns="0" bIns="0">
            <a:spAutoFit/>
          </a:bodyPr>
          <a:lstStyle/>
          <a:p>
            <a:pPr algn="l">
              <a:spcAft>
                <a:spcPts val="400"/>
              </a:spcAft>
              <a:defRPr sz="1600" b="0">
                <a:solidFill>
                  <a:srgbClr val="5C6C65"/>
                </a:solidFill>
                <a:latin typeface="Arial"/>
              </a:defRPr>
            </a:pPr>
            <a:r>
              <a:t>Tâches empêchées encore ouvertes</a:t>
            </a:r>
          </a:p>
        </p:txBody>
      </p:sp>
      <p:sp>
        <p:nvSpPr>
          <p:cNvPr id="25" name="Rectangle 24"/>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Sous le seuil : qualifier le problème → affecter une correction → vérifier à nouveau.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05 / DÉMONTRER ET VALIDER</a:t>
            </a:r>
          </a:p>
        </p:txBody>
      </p:sp>
      <p:cxnSp>
        <p:nvCxnSpPr>
          <p:cNvPr id="4" name="Connector 3"/>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6" name="TextBox 5"/>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20</a:t>
            </a:r>
          </a:p>
        </p:txBody>
      </p:sp>
      <p:pic>
        <p:nvPicPr>
          <p:cNvPr id="7" name="Picture 6" descr="escalade-falaise-gros-plan"/>
          <p:cNvPicPr>
            <a:picLocks noChangeAspect="1"/>
          </p:cNvPicPr>
          <p:nvPr/>
        </p:nvPicPr>
        <p:blipFill>
          <a:blip r:embed="rId3"/>
          <a:srcRect l="21422" r="21422"/>
          <a:stretch>
            <a:fillRect/>
          </a:stretch>
        </p:blipFill>
        <p:spPr>
          <a:xfrm>
            <a:off x="8046720" y="0"/>
            <a:ext cx="6583680" cy="7680960"/>
          </a:xfrm>
          <a:prstGeom prst="rect">
            <a:avLst/>
          </a:prstGeom>
        </p:spPr>
      </p:pic>
      <p:sp>
        <p:nvSpPr>
          <p:cNvPr id="8" name="Rounded Rectangle 7"/>
          <p:cNvSpPr/>
          <p:nvPr/>
        </p:nvSpPr>
        <p:spPr>
          <a:xfrm>
            <a:off x="685800" y="1508760"/>
            <a:ext cx="3246120" cy="3291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568195"/>
            <a:ext cx="3008376" cy="219456"/>
          </a:xfrm>
          <a:prstGeom prst="rect">
            <a:avLst/>
          </a:prstGeom>
          <a:noFill/>
        </p:spPr>
        <p:txBody>
          <a:bodyPr wrap="square" lIns="0" rIns="0" tIns="0" bIns="0">
            <a:spAutoFit/>
          </a:bodyPr>
          <a:lstStyle/>
          <a:p>
            <a:pPr algn="l">
              <a:spcAft>
                <a:spcPts val="400"/>
              </a:spcAft>
              <a:defRPr sz="1000" b="1">
                <a:solidFill>
                  <a:srgbClr val="D8F28B"/>
                </a:solidFill>
                <a:latin typeface="Arial"/>
              </a:defRPr>
            </a:pPr>
            <a:r>
              <a:t>DÉMONSTRATION EN DIRECT</a:t>
            </a:r>
          </a:p>
        </p:txBody>
      </p:sp>
      <p:sp>
        <p:nvSpPr>
          <p:cNvPr id="10" name="TextBox 9"/>
          <p:cNvSpPr txBox="1"/>
          <p:nvPr/>
        </p:nvSpPr>
        <p:spPr>
          <a:xfrm>
            <a:off x="640080" y="2276856"/>
            <a:ext cx="7315200" cy="1965960"/>
          </a:xfrm>
          <a:prstGeom prst="rect">
            <a:avLst/>
          </a:prstGeom>
          <a:noFill/>
        </p:spPr>
        <p:txBody>
          <a:bodyPr wrap="square" lIns="0" rIns="0" tIns="0" bIns="0">
            <a:spAutoFit/>
          </a:bodyPr>
          <a:lstStyle/>
          <a:p>
            <a:pPr algn="l">
              <a:spcAft>
                <a:spcPts val="400"/>
              </a:spcAft>
              <a:defRPr sz="5400" b="1">
                <a:solidFill>
                  <a:srgbClr val="FFFFFF"/>
                </a:solidFill>
                <a:latin typeface="Arial"/>
              </a:defRPr>
            </a:pPr>
            <a:r>
              <a:t>Passer du suivi</a:t>
            </a:r>
          </a:p>
          <a:p>
            <a:pPr algn="l">
              <a:spcAft>
                <a:spcPts val="400"/>
              </a:spcAft>
              <a:defRPr sz="5400" b="1">
                <a:solidFill>
                  <a:srgbClr val="FFFFFF"/>
                </a:solidFill>
                <a:latin typeface="Arial"/>
              </a:defRPr>
            </a:pPr>
            <a:r>
              <a:t>à l’usage.</a:t>
            </a:r>
          </a:p>
        </p:txBody>
      </p:sp>
      <p:sp>
        <p:nvSpPr>
          <p:cNvPr id="11" name="TextBox 10"/>
          <p:cNvSpPr txBox="1"/>
          <p:nvPr/>
        </p:nvSpPr>
        <p:spPr>
          <a:xfrm>
            <a:off x="640080" y="4709160"/>
            <a:ext cx="5486400" cy="905256"/>
          </a:xfrm>
          <a:prstGeom prst="rect">
            <a:avLst/>
          </a:prstGeom>
          <a:noFill/>
        </p:spPr>
        <p:txBody>
          <a:bodyPr wrap="square" lIns="0" rIns="0" tIns="0" bIns="0">
            <a:spAutoFit/>
          </a:bodyPr>
          <a:lstStyle/>
          <a:p>
            <a:pPr algn="l">
              <a:spcAft>
                <a:spcPts val="400"/>
              </a:spcAft>
              <a:defRPr sz="6400" b="1">
                <a:solidFill>
                  <a:srgbClr val="D8F28B"/>
                </a:solidFill>
                <a:latin typeface="Arial"/>
              </a:defRPr>
            </a:pPr>
            <a:r>
              <a:t>6 min</a:t>
            </a:r>
          </a:p>
        </p:txBody>
      </p:sp>
      <p:sp>
        <p:nvSpPr>
          <p:cNvPr id="12" name="TextBox 11"/>
          <p:cNvSpPr txBox="1"/>
          <p:nvPr/>
        </p:nvSpPr>
        <p:spPr>
          <a:xfrm>
            <a:off x="685800" y="6172200"/>
            <a:ext cx="6675120" cy="950976"/>
          </a:xfrm>
          <a:prstGeom prst="rect">
            <a:avLst/>
          </a:prstGeom>
          <a:noFill/>
        </p:spPr>
        <p:txBody>
          <a:bodyPr wrap="square" lIns="0" rIns="0" tIns="0" bIns="0">
            <a:spAutoFit/>
          </a:bodyPr>
          <a:lstStyle/>
          <a:p>
            <a:pPr algn="l">
              <a:spcAft>
                <a:spcPts val="400"/>
              </a:spcAft>
              <a:defRPr sz="2500" b="0">
                <a:solidFill>
                  <a:srgbClr val="FFFFFF"/>
                </a:solidFill>
                <a:latin typeface="Arial"/>
              </a:defRPr>
            </a:pPr>
            <a:r>
              <a:t>Une session grimpeur.</a:t>
            </a:r>
          </a:p>
          <a:p>
            <a:pPr algn="l">
              <a:spcAft>
                <a:spcPts val="400"/>
              </a:spcAft>
              <a:defRPr sz="2500" b="0">
                <a:solidFill>
                  <a:srgbClr val="FFFFFF"/>
                </a:solidFill>
                <a:latin typeface="Arial"/>
              </a:defRPr>
            </a:pPr>
            <a:r>
              <a:t>Une session club.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05 / DÉMONSTRATION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Trouver un partenaire</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grimpeur</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21</a:t>
            </a:r>
          </a:p>
        </p:txBody>
      </p:sp>
      <p:sp>
        <p:nvSpPr>
          <p:cNvPr id="9" name="Rounded Rectangle 8"/>
          <p:cNvSpPr/>
          <p:nvPr/>
        </p:nvSpPr>
        <p:spPr>
          <a:xfrm>
            <a:off x="594360" y="2194560"/>
            <a:ext cx="8412480" cy="5340096"/>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atching-2026-09-15"/>
          <p:cNvPicPr>
            <a:picLocks noChangeAspect="1"/>
          </p:cNvPicPr>
          <p:nvPr/>
        </p:nvPicPr>
        <p:blipFill>
          <a:blip r:embed="rId3"/>
          <a:stretch>
            <a:fillRect/>
          </a:stretch>
        </p:blipFill>
        <p:spPr>
          <a:xfrm>
            <a:off x="1100571" y="2295144"/>
            <a:ext cx="7400056" cy="5138928"/>
          </a:xfrm>
          <a:prstGeom prst="rect">
            <a:avLst/>
          </a:prstGeom>
        </p:spPr>
      </p:pic>
      <p:sp>
        <p:nvSpPr>
          <p:cNvPr id="11" name="Rounded Rectangle 10"/>
          <p:cNvSpPr/>
          <p:nvPr/>
        </p:nvSpPr>
        <p:spPr>
          <a:xfrm>
            <a:off x="9784080" y="287121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065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0128"/>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Profil</a:t>
            </a:r>
          </a:p>
        </p:txBody>
      </p:sp>
      <p:sp>
        <p:nvSpPr>
          <p:cNvPr id="14" name="Rounded Rectangle 13"/>
          <p:cNvSpPr/>
          <p:nvPr/>
        </p:nvSpPr>
        <p:spPr>
          <a:xfrm>
            <a:off x="9784080" y="412394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8338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62856"/>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Filtres</a:t>
            </a:r>
          </a:p>
        </p:txBody>
      </p:sp>
      <p:sp>
        <p:nvSpPr>
          <p:cNvPr id="17" name="Rounded Rectangle 16"/>
          <p:cNvSpPr/>
          <p:nvPr/>
        </p:nvSpPr>
        <p:spPr>
          <a:xfrm>
            <a:off x="9784080" y="53766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4361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815584"/>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Demande</a:t>
            </a:r>
          </a:p>
        </p:txBody>
      </p:sp>
      <p:sp>
        <p:nvSpPr>
          <p:cNvPr id="20" name="TextBox 19"/>
          <p:cNvSpPr txBox="1"/>
          <p:nvPr/>
        </p:nvSpPr>
        <p:spPr>
          <a:xfrm>
            <a:off x="9784080" y="7178040"/>
            <a:ext cx="4114800" cy="22860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05 / DÉMONSTRATION</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Retrouver les participants</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Parcours club</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22</a:t>
            </a:r>
          </a:p>
        </p:txBody>
      </p:sp>
      <p:sp>
        <p:nvSpPr>
          <p:cNvPr id="9" name="Rounded Rectangle 8"/>
          <p:cNvSpPr/>
          <p:nvPr/>
        </p:nvSpPr>
        <p:spPr>
          <a:xfrm>
            <a:off x="594360" y="2194560"/>
            <a:ext cx="8412480" cy="5340096"/>
          </a:xfrm>
          <a:prstGeom prst="roundRect">
            <a:avLst>
              <a:gd name="adj" fmla="val 4000"/>
            </a:avLst>
          </a:prstGeom>
          <a:solidFill>
            <a:srgbClr val="1233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evenements-2026-09-15"/>
          <p:cNvPicPr>
            <a:picLocks noChangeAspect="1"/>
          </p:cNvPicPr>
          <p:nvPr/>
        </p:nvPicPr>
        <p:blipFill>
          <a:blip r:embed="rId3"/>
          <a:stretch>
            <a:fillRect/>
          </a:stretch>
        </p:blipFill>
        <p:spPr>
          <a:xfrm>
            <a:off x="1100571" y="2295144"/>
            <a:ext cx="7400056" cy="5138928"/>
          </a:xfrm>
          <a:prstGeom prst="rect">
            <a:avLst/>
          </a:prstGeom>
        </p:spPr>
      </p:pic>
      <p:sp>
        <p:nvSpPr>
          <p:cNvPr id="11" name="Rounded Rectangle 10"/>
          <p:cNvSpPr/>
          <p:nvPr/>
        </p:nvSpPr>
        <p:spPr>
          <a:xfrm>
            <a:off x="9784080" y="2871216"/>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02952" y="2930652"/>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01</a:t>
            </a:r>
          </a:p>
        </p:txBody>
      </p:sp>
      <p:sp>
        <p:nvSpPr>
          <p:cNvPr id="13" name="TextBox 12"/>
          <p:cNvSpPr txBox="1"/>
          <p:nvPr/>
        </p:nvSpPr>
        <p:spPr>
          <a:xfrm>
            <a:off x="9784080" y="3310128"/>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Événement</a:t>
            </a:r>
          </a:p>
        </p:txBody>
      </p:sp>
      <p:sp>
        <p:nvSpPr>
          <p:cNvPr id="14" name="Rounded Rectangle 13"/>
          <p:cNvSpPr/>
          <p:nvPr/>
        </p:nvSpPr>
        <p:spPr>
          <a:xfrm>
            <a:off x="9784080" y="4123944"/>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02952" y="4183380"/>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02</a:t>
            </a:r>
          </a:p>
        </p:txBody>
      </p:sp>
      <p:sp>
        <p:nvSpPr>
          <p:cNvPr id="16" name="TextBox 15"/>
          <p:cNvSpPr txBox="1"/>
          <p:nvPr/>
        </p:nvSpPr>
        <p:spPr>
          <a:xfrm>
            <a:off x="9784080" y="4562856"/>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Inscription</a:t>
            </a:r>
          </a:p>
        </p:txBody>
      </p:sp>
      <p:sp>
        <p:nvSpPr>
          <p:cNvPr id="17" name="Rounded Rectangle 16"/>
          <p:cNvSpPr/>
          <p:nvPr/>
        </p:nvSpPr>
        <p:spPr>
          <a:xfrm>
            <a:off x="9784080" y="5376672"/>
            <a:ext cx="914400" cy="329184"/>
          </a:xfrm>
          <a:prstGeom prst="roundRect">
            <a:avLst>
              <a:gd name="adj" fmla="val 4000"/>
            </a:avLst>
          </a:prstGeom>
          <a:solidFill>
            <a:srgbClr val="E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02952" y="5436108"/>
            <a:ext cx="676656" cy="219456"/>
          </a:xfrm>
          <a:prstGeom prst="rect">
            <a:avLst/>
          </a:prstGeom>
          <a:noFill/>
        </p:spPr>
        <p:txBody>
          <a:bodyPr wrap="square" lIns="0" rIns="0" tIns="0" bIns="0">
            <a:spAutoFit/>
          </a:bodyPr>
          <a:lstStyle/>
          <a:p>
            <a:pPr algn="l">
              <a:spcAft>
                <a:spcPts val="400"/>
              </a:spcAft>
              <a:defRPr sz="1000" b="1">
                <a:solidFill>
                  <a:srgbClr val="286957"/>
                </a:solidFill>
                <a:latin typeface="Arial"/>
              </a:defRPr>
            </a:pPr>
            <a:r>
              <a:t>03</a:t>
            </a:r>
          </a:p>
        </p:txBody>
      </p:sp>
      <p:sp>
        <p:nvSpPr>
          <p:cNvPr id="19" name="TextBox 18"/>
          <p:cNvSpPr txBox="1"/>
          <p:nvPr/>
        </p:nvSpPr>
        <p:spPr>
          <a:xfrm>
            <a:off x="9784080" y="5815584"/>
            <a:ext cx="4023360" cy="484632"/>
          </a:xfrm>
          <a:prstGeom prst="rect">
            <a:avLst/>
          </a:prstGeom>
          <a:noFill/>
        </p:spPr>
        <p:txBody>
          <a:bodyPr wrap="square" lIns="0" rIns="0" tIns="0" bIns="0">
            <a:spAutoFit/>
          </a:bodyPr>
          <a:lstStyle/>
          <a:p>
            <a:pPr algn="l">
              <a:spcAft>
                <a:spcPts val="400"/>
              </a:spcAft>
              <a:defRPr sz="2800" b="1">
                <a:solidFill>
                  <a:srgbClr val="12332D"/>
                </a:solidFill>
                <a:latin typeface="Arial"/>
              </a:defRPr>
            </a:pPr>
            <a:r>
              <a:t>Participants</a:t>
            </a:r>
          </a:p>
        </p:txBody>
      </p:sp>
      <p:sp>
        <p:nvSpPr>
          <p:cNvPr id="20" name="TextBox 19"/>
          <p:cNvSpPr txBox="1"/>
          <p:nvPr/>
        </p:nvSpPr>
        <p:spPr>
          <a:xfrm>
            <a:off x="9784080" y="7178040"/>
            <a:ext cx="4114800" cy="228600"/>
          </a:xfrm>
          <a:prstGeom prst="rect">
            <a:avLst/>
          </a:prstGeom>
          <a:noFill/>
        </p:spPr>
        <p:txBody>
          <a:bodyPr wrap="square" lIns="0" rIns="0" tIns="0" bIns="0">
            <a:spAutoFit/>
          </a:bodyPr>
          <a:lstStyle/>
          <a:p>
            <a:pPr algn="l">
              <a:spcAft>
                <a:spcPts val="400"/>
              </a:spcAft>
              <a:defRPr sz="1100" b="0">
                <a:solidFill>
                  <a:srgbClr val="5C6C65"/>
                </a:solidFill>
                <a:latin typeface="Arial"/>
              </a:defRPr>
            </a:pPr>
            <a:r>
              <a:t>Capture de secours · 15/09/2026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332D"/>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D8F28B"/>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B9CABE"/>
                </a:solidFill>
                <a:latin typeface="Arial"/>
              </a:defRPr>
            </a:pPr>
            <a:r>
              <a:t>05 / DÉMONTRER ET VALIDER</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FFFFFF"/>
                </a:solidFill>
                <a:latin typeface="Arial"/>
              </a:defRPr>
            </a:pPr>
            <a:r>
              <a:t>Valider ce qui a été réellement démontré</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C7D6CB"/>
                </a:solidFill>
                <a:latin typeface="Arial"/>
              </a:defRPr>
            </a:pPr>
            <a:r>
              <a:t>Quatre critères, puis une décision explicite sur le périmètre présenté.</a:t>
            </a:r>
          </a:p>
        </p:txBody>
      </p:sp>
      <p:cxnSp>
        <p:nvCxnSpPr>
          <p:cNvPr id="6" name="Connector 5"/>
          <p:cNvCxnSpPr/>
          <p:nvPr/>
        </p:nvCxnSpPr>
        <p:spPr>
          <a:xfrm>
            <a:off x="594360" y="7726679"/>
            <a:ext cx="13441680" cy="0"/>
          </a:xfrm>
          <a:prstGeom prst="line">
            <a:avLst/>
          </a:prstGeom>
          <a:ln w="12700">
            <a:solidFill>
              <a:srgbClr val="1C453B"/>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B9CABE"/>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D8F28B"/>
                </a:solidFill>
                <a:latin typeface="Arial"/>
              </a:defRPr>
            </a:pPr>
            <a:r>
              <a:t>23</a:t>
            </a:r>
          </a:p>
        </p:txBody>
      </p:sp>
      <p:sp>
        <p:nvSpPr>
          <p:cNvPr id="9" name="Rounded Rectangle 8"/>
          <p:cNvSpPr/>
          <p:nvPr/>
        </p:nvSpPr>
        <p:spPr>
          <a:xfrm>
            <a:off x="594360" y="246888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63347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Partenaire</a:t>
            </a:r>
          </a:p>
        </p:txBody>
      </p:sp>
      <p:sp>
        <p:nvSpPr>
          <p:cNvPr id="11" name="TextBox 10"/>
          <p:cNvSpPr txBox="1"/>
          <p:nvPr/>
        </p:nvSpPr>
        <p:spPr>
          <a:xfrm>
            <a:off x="804672" y="320040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Filtres cohérents et état de demande clair.</a:t>
            </a:r>
          </a:p>
        </p:txBody>
      </p:sp>
      <p:sp>
        <p:nvSpPr>
          <p:cNvPr id="12" name="Rounded Rectangle 11"/>
          <p:cNvSpPr/>
          <p:nvPr/>
        </p:nvSpPr>
        <p:spPr>
          <a:xfrm>
            <a:off x="7470648" y="246888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63347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Inscription</a:t>
            </a:r>
          </a:p>
        </p:txBody>
      </p:sp>
      <p:sp>
        <p:nvSpPr>
          <p:cNvPr id="14" name="TextBox 13"/>
          <p:cNvSpPr txBox="1"/>
          <p:nvPr/>
        </p:nvSpPr>
        <p:spPr>
          <a:xfrm>
            <a:off x="7680960" y="320040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Confirmation et capacité respectée.</a:t>
            </a:r>
          </a:p>
        </p:txBody>
      </p:sp>
      <p:sp>
        <p:nvSpPr>
          <p:cNvPr id="15" name="Rounded Rectangle 14"/>
          <p:cNvSpPr/>
          <p:nvPr/>
        </p:nvSpPr>
        <p:spPr>
          <a:xfrm>
            <a:off x="594360" y="393192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409651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Organisation club</a:t>
            </a:r>
          </a:p>
        </p:txBody>
      </p:sp>
      <p:sp>
        <p:nvSpPr>
          <p:cNvPr id="17" name="TextBox 16"/>
          <p:cNvSpPr txBox="1"/>
          <p:nvPr/>
        </p:nvSpPr>
        <p:spPr>
          <a:xfrm>
            <a:off x="804672" y="466344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Participant visible et commandes autorisées.</a:t>
            </a:r>
          </a:p>
        </p:txBody>
      </p:sp>
      <p:sp>
        <p:nvSpPr>
          <p:cNvPr id="18" name="Rounded Rectangle 17"/>
          <p:cNvSpPr/>
          <p:nvPr/>
        </p:nvSpPr>
        <p:spPr>
          <a:xfrm>
            <a:off x="7470648" y="3931920"/>
            <a:ext cx="6565392" cy="1243584"/>
          </a:xfrm>
          <a:prstGeom prst="roundRect">
            <a:avLst>
              <a:gd name="adj" fmla="val 4000"/>
            </a:avLst>
          </a:prstGeom>
          <a:solidFill>
            <a:srgbClr val="1C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4096512"/>
            <a:ext cx="6126480" cy="393192"/>
          </a:xfrm>
          <a:prstGeom prst="rect">
            <a:avLst/>
          </a:prstGeom>
          <a:noFill/>
        </p:spPr>
        <p:txBody>
          <a:bodyPr wrap="square" lIns="0" rIns="0" tIns="0" bIns="0">
            <a:spAutoFit/>
          </a:bodyPr>
          <a:lstStyle/>
          <a:p>
            <a:pPr algn="l">
              <a:spcAft>
                <a:spcPts val="400"/>
              </a:spcAft>
              <a:defRPr sz="2400" b="1">
                <a:solidFill>
                  <a:srgbClr val="D8F28B"/>
                </a:solidFill>
                <a:latin typeface="Arial"/>
              </a:defRPr>
            </a:pPr>
            <a:r>
              <a:t>Utilisation</a:t>
            </a:r>
          </a:p>
        </p:txBody>
      </p:sp>
      <p:sp>
        <p:nvSpPr>
          <p:cNvPr id="20" name="TextBox 19"/>
          <p:cNvSpPr txBox="1"/>
          <p:nvPr/>
        </p:nvSpPr>
        <p:spPr>
          <a:xfrm>
            <a:off x="7680960" y="4663440"/>
            <a:ext cx="6126480" cy="393192"/>
          </a:xfrm>
          <a:prstGeom prst="rect">
            <a:avLst/>
          </a:prstGeom>
          <a:noFill/>
        </p:spPr>
        <p:txBody>
          <a:bodyPr wrap="square" lIns="0" rIns="0" tIns="0" bIns="0">
            <a:spAutoFit/>
          </a:bodyPr>
          <a:lstStyle/>
          <a:p>
            <a:pPr algn="l">
              <a:spcAft>
                <a:spcPts val="400"/>
              </a:spcAft>
              <a:defRPr sz="1700" b="0">
                <a:solidFill>
                  <a:srgbClr val="FFFFFF"/>
                </a:solidFill>
                <a:latin typeface="Arial"/>
              </a:defRPr>
            </a:pPr>
            <a:r>
              <a:t>Commandes nommées et parcours au clavier.</a:t>
            </a:r>
          </a:p>
        </p:txBody>
      </p:sp>
      <p:sp>
        <p:nvSpPr>
          <p:cNvPr id="21" name="TextBox 20"/>
          <p:cNvSpPr txBox="1"/>
          <p:nvPr/>
        </p:nvSpPr>
        <p:spPr>
          <a:xfrm>
            <a:off x="731520" y="6035040"/>
            <a:ext cx="13167360" cy="530352"/>
          </a:xfrm>
          <a:prstGeom prst="rect">
            <a:avLst/>
          </a:prstGeom>
          <a:noFill/>
        </p:spPr>
        <p:txBody>
          <a:bodyPr wrap="square" lIns="0" rIns="0" tIns="0" bIns="0">
            <a:spAutoFit/>
          </a:bodyPr>
          <a:lstStyle/>
          <a:p>
            <a:pPr algn="l">
              <a:spcAft>
                <a:spcPts val="400"/>
              </a:spcAft>
              <a:defRPr sz="2900" b="1">
                <a:solidFill>
                  <a:srgbClr val="FFFFFF"/>
                </a:solidFill>
                <a:latin typeface="Arial"/>
              </a:defRPr>
            </a:pPr>
            <a:r>
              <a:t>Accepté  /  Accepté avec réserve  /  Refusé</a:t>
            </a:r>
          </a:p>
        </p:txBody>
      </p:sp>
      <p:sp>
        <p:nvSpPr>
          <p:cNvPr id="22" name="Rectangle 21"/>
          <p:cNvSpPr/>
          <p:nvPr/>
        </p:nvSpPr>
        <p:spPr>
          <a:xfrm>
            <a:off x="594360" y="6995160"/>
            <a:ext cx="50292" cy="384048"/>
          </a:xfrm>
          <a:prstGeom prst="rect">
            <a:avLst/>
          </a:prstGeom>
          <a:solidFill>
            <a:srgbClr val="D8F2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D8F28B"/>
                </a:solidFill>
                <a:latin typeface="Arial"/>
              </a:defRPr>
            </a:pPr>
            <a:r>
              <a:t>Chaque réserve : une action, un responsable, une échéance. Transmission au Bloc 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MATRICE RACI</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Qui réalise ? Qui décide ?</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CP : chef de projet · DEV : développeur · QA : Camille · client fictif.</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24</a:t>
            </a:r>
          </a:p>
        </p:txBody>
      </p:sp>
      <p:graphicFrame>
        <p:nvGraphicFramePr>
          <p:cNvPr id="9" name="Table 8"/>
          <p:cNvGraphicFramePr>
            <a:graphicFrameLocks noGrp="1"/>
          </p:cNvGraphicFramePr>
          <p:nvPr/>
        </p:nvGraphicFramePr>
        <p:xfrm>
          <a:off x="594360" y="2377440"/>
          <a:ext cx="13441680" cy="4206240"/>
        </p:xfrm>
        <a:graphic>
          <a:graphicData uri="http://schemas.openxmlformats.org/drawingml/2006/table">
            <a:tbl>
              <a:tblPr firstRow="1" bandRow="1">
                <a:tableStyleId>{5C22544A-7EE6-4342-B048-85BDC9FD1C3A}</a:tableStyleId>
              </a:tblPr>
              <a:tblGrid>
                <a:gridCol w="6492240"/>
                <a:gridCol w="1737360"/>
                <a:gridCol w="1737360"/>
                <a:gridCol w="1737360"/>
                <a:gridCol w="1737360"/>
              </a:tblGrid>
              <a:tr h="525780">
                <a:tc>
                  <a:txBody>
                    <a:bodyPr/>
                    <a:lstStyle/>
                    <a:p>
                      <a:pPr>
                        <a:defRPr sz="1900" b="1">
                          <a:solidFill>
                            <a:srgbClr val="FFFFFF"/>
                          </a:solidFill>
                          <a:latin typeface="Arial"/>
                        </a:defRPr>
                      </a:pPr>
                      <a:r>
                        <a:t>Activité</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CP</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DEV</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QA</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Client</a:t>
                      </a:r>
                    </a:p>
                  </a:txBody>
                  <a:tcPr marL="137160" marR="109728" marT="64008" marB="54864" anchor="ctr">
                    <a:solidFill>
                      <a:srgbClr val="12332D"/>
                    </a:solidFill>
                    <a:lnL>
                      <a:noFill/>
                    </a:lnL>
                    <a:lnR>
                      <a:noFill/>
                    </a:lnR>
                    <a:lnT>
                      <a:noFill/>
                    </a:lnT>
                    <a:lnB>
                      <a:noFill/>
                    </a:lnB>
                  </a:tcPr>
                </a:tc>
              </a:tr>
              <a:tr h="525780">
                <a:tc>
                  <a:txBody>
                    <a:bodyPr/>
                    <a:lstStyle/>
                    <a:p>
                      <a:pPr>
                        <a:defRPr sz="1900" b="1">
                          <a:solidFill>
                            <a:srgbClr val="12332D"/>
                          </a:solidFill>
                          <a:latin typeface="Arial"/>
                        </a:defRPr>
                      </a:pPr>
                      <a:r>
                        <a:t>Périmètre et critères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Planification et affectation</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Réalisation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Recette des parcours</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Corrections</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I</a:t>
                      </a:r>
                    </a:p>
                  </a:txBody>
                  <a:tcPr marL="137160" marR="109728" marT="64008" marB="54864" anchor="ctr">
                    <a:solidFill>
                      <a:srgbClr val="FFFFFF"/>
                    </a:solidFill>
                    <a:lnL>
                      <a:noFill/>
                    </a:lnL>
                    <a:lnR>
                      <a:noFill/>
                    </a:lnR>
                    <a:lnT>
                      <a:noFill/>
                    </a:lnT>
                    <a:lnB>
                      <a:noFill/>
                    </a:lnB>
                  </a:tcPr>
                </a:tc>
              </a:tr>
              <a:tr h="525780">
                <a:tc>
                  <a:txBody>
                    <a:bodyPr/>
                    <a:lstStyle/>
                    <a:p>
                      <a:pPr>
                        <a:defRPr sz="1900" b="1">
                          <a:solidFill>
                            <a:srgbClr val="12332D"/>
                          </a:solidFill>
                          <a:latin typeface="Arial"/>
                        </a:defRPr>
                      </a:pPr>
                      <a:r>
                        <a:t>Arbitrage délai, coût, périmètre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EBEFE6"/>
                    </a:solidFill>
                    <a:lnL>
                      <a:noFill/>
                    </a:lnL>
                    <a:lnR>
                      <a:noFill/>
                    </a:lnR>
                    <a:lnT>
                      <a:noFill/>
                    </a:lnT>
                    <a:lnB>
                      <a:noFill/>
                    </a:lnB>
                  </a:tcPr>
                </a:tc>
              </a:tr>
              <a:tr h="525780">
                <a:tc>
                  <a:txBody>
                    <a:bodyPr/>
                    <a:lstStyle/>
                    <a:p>
                      <a:pPr>
                        <a:defRPr sz="1900" b="1">
                          <a:solidFill>
                            <a:srgbClr val="12332D"/>
                          </a:solidFill>
                          <a:latin typeface="Arial"/>
                        </a:defRPr>
                      </a:pPr>
                      <a:r>
                        <a:t>Acceptation de la démonstration</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R</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A</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R : réalise · A : décide · C : consulté · I : informé.</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SENSIBILITÉ</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Quand le budget ou la capacité basculent</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Variantes indépendantes : leurs coûts ne se cumulent pas.</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25</a:t>
            </a:r>
          </a:p>
        </p:txBody>
      </p:sp>
      <p:graphicFrame>
        <p:nvGraphicFramePr>
          <p:cNvPr id="9" name="Table 8"/>
          <p:cNvGraphicFramePr>
            <a:graphicFrameLocks noGrp="1"/>
          </p:cNvGraphicFramePr>
          <p:nvPr/>
        </p:nvGraphicFramePr>
        <p:xfrm>
          <a:off x="594360" y="2468880"/>
          <a:ext cx="13441680" cy="4069080"/>
        </p:xfrm>
        <a:graphic>
          <a:graphicData uri="http://schemas.openxmlformats.org/drawingml/2006/table">
            <a:tbl>
              <a:tblPr firstRow="1" bandRow="1">
                <a:tableStyleId>{5C22544A-7EE6-4342-B048-85BDC9FD1C3A}</a:tableStyleId>
              </a:tblPr>
              <a:tblGrid>
                <a:gridCol w="3566160"/>
                <a:gridCol w="2834640"/>
                <a:gridCol w="2468880"/>
                <a:gridCol w="4572000"/>
              </a:tblGrid>
              <a:tr h="678180">
                <a:tc>
                  <a:txBody>
                    <a:bodyPr/>
                    <a:lstStyle/>
                    <a:p>
                      <a:pPr>
                        <a:defRPr sz="2000" b="1">
                          <a:solidFill>
                            <a:srgbClr val="FFFFFF"/>
                          </a:solidFill>
                          <a:latin typeface="Arial"/>
                        </a:defRPr>
                      </a:pPr>
                      <a:r>
                        <a:t>Hypothèse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Prévision</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Marge</a:t>
                      </a:r>
                    </a:p>
                  </a:txBody>
                  <a:tcPr marL="137160" marR="109728" marT="64008" marB="54864" anchor="ctr">
                    <a:solidFill>
                      <a:srgbClr val="12332D"/>
                    </a:solidFill>
                    <a:lnL>
                      <a:noFill/>
                    </a:lnL>
                    <a:lnR>
                      <a:noFill/>
                    </a:lnR>
                    <a:lnT>
                      <a:noFill/>
                    </a:lnT>
                    <a:lnB>
                      <a:noFill/>
                    </a:lnB>
                  </a:tcPr>
                </a:tc>
                <a:tc>
                  <a:txBody>
                    <a:bodyPr/>
                    <a:lstStyle/>
                    <a:p>
                      <a:pPr>
                        <a:defRPr sz="2000" b="1">
                          <a:solidFill>
                            <a:srgbClr val="FFFFFF"/>
                          </a:solidFill>
                          <a:latin typeface="Arial"/>
                        </a:defRPr>
                      </a:pPr>
                      <a:r>
                        <a:t>Capacité</a:t>
                      </a:r>
                    </a:p>
                  </a:txBody>
                  <a:tcPr marL="137160" marR="109728" marT="64008" marB="54864" anchor="ctr">
                    <a:solidFill>
                      <a:srgbClr val="12332D"/>
                    </a:solidFill>
                    <a:lnL>
                      <a:noFill/>
                    </a:lnL>
                    <a:lnR>
                      <a:noFill/>
                    </a:lnR>
                    <a:lnT>
                      <a:noFill/>
                    </a:lnT>
                    <a:lnB>
                      <a:noFill/>
                    </a:lnB>
                  </a:tcPr>
                </a:tc>
              </a:tr>
              <a:tr h="678180">
                <a:tc>
                  <a:txBody>
                    <a:bodyPr/>
                    <a:lstStyle/>
                    <a:p>
                      <a:pPr>
                        <a:defRPr sz="2000" b="1">
                          <a:solidFill>
                            <a:srgbClr val="12332D"/>
                          </a:solidFill>
                          <a:latin typeface="Arial"/>
                        </a:defRPr>
                      </a:pPr>
                      <a:r>
                        <a:t>J10</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4 465 €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232 €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FFFFFF"/>
                    </a:solidFill>
                    <a:lnL>
                      <a:noFill/>
                    </a:lnL>
                    <a:lnR>
                      <a:noFill/>
                    </a:lnR>
                    <a:lnT>
                      <a:noFill/>
                    </a:lnT>
                    <a:lnB>
                      <a:noFill/>
                    </a:lnB>
                  </a:tcPr>
                </a:tc>
              </a:tr>
              <a:tr h="678180">
                <a:tc>
                  <a:txBody>
                    <a:bodyPr/>
                    <a:lstStyle/>
                    <a:p>
                      <a:pPr>
                        <a:defRPr sz="2000" b="1">
                          <a:solidFill>
                            <a:srgbClr val="12332D"/>
                          </a:solidFill>
                          <a:latin typeface="Arial"/>
                        </a:defRPr>
                      </a:pPr>
                      <a:r>
                        <a:t>QA +6 h</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4 645 €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52 €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EBEFE6"/>
                    </a:solidFill>
                    <a:lnL>
                      <a:noFill/>
                    </a:lnL>
                    <a:lnR>
                      <a:noFill/>
                    </a:lnR>
                    <a:lnT>
                      <a:noFill/>
                    </a:lnT>
                    <a:lnB>
                      <a:noFill/>
                    </a:lnB>
                  </a:tcPr>
                </a:tc>
              </a:tr>
              <a:tr h="678180">
                <a:tc>
                  <a:txBody>
                    <a:bodyPr/>
                    <a:lstStyle/>
                    <a:p>
                      <a:pPr>
                        <a:defRPr sz="2000" b="1">
                          <a:solidFill>
                            <a:srgbClr val="12332D"/>
                          </a:solidFill>
                          <a:latin typeface="Arial"/>
                        </a:defRPr>
                      </a:pPr>
                      <a:r>
                        <a:t>DEV +8 h</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4 745 €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−48 €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Respectée</a:t>
                      </a:r>
                    </a:p>
                  </a:txBody>
                  <a:tcPr marL="137160" marR="109728" marT="64008" marB="54864" anchor="ctr">
                    <a:solidFill>
                      <a:srgbClr val="FFFFFF"/>
                    </a:solidFill>
                    <a:lnL>
                      <a:noFill/>
                    </a:lnL>
                    <a:lnR>
                      <a:noFill/>
                    </a:lnR>
                    <a:lnT>
                      <a:noFill/>
                    </a:lnT>
                    <a:lnB>
                      <a:noFill/>
                    </a:lnB>
                  </a:tcPr>
                </a:tc>
              </a:tr>
              <a:tr h="678180">
                <a:tc>
                  <a:txBody>
                    <a:bodyPr/>
                    <a:lstStyle/>
                    <a:p>
                      <a:pPr>
                        <a:defRPr sz="2000" b="1">
                          <a:solidFill>
                            <a:srgbClr val="12332D"/>
                          </a:solidFill>
                          <a:latin typeface="Arial"/>
                        </a:defRPr>
                      </a:pPr>
                      <a:r>
                        <a:t>CP +2 h</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4 555 €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142 €</a:t>
                      </a:r>
                    </a:p>
                  </a:txBody>
                  <a:tcPr marL="137160" marR="109728" marT="64008" marB="54864" anchor="ctr">
                    <a:solidFill>
                      <a:srgbClr val="EBEFE6"/>
                    </a:solidFill>
                    <a:lnL>
                      <a:noFill/>
                    </a:lnL>
                    <a:lnR>
                      <a:noFill/>
                    </a:lnR>
                    <a:lnT>
                      <a:noFill/>
                    </a:lnT>
                    <a:lnB>
                      <a:noFill/>
                    </a:lnB>
                  </a:tcPr>
                </a:tc>
                <a:tc>
                  <a:txBody>
                    <a:bodyPr/>
                    <a:lstStyle/>
                    <a:p>
                      <a:pPr>
                        <a:defRPr sz="2000" b="0">
                          <a:solidFill>
                            <a:srgbClr val="12332D"/>
                          </a:solidFill>
                          <a:latin typeface="Arial"/>
                        </a:defRPr>
                      </a:pPr>
                      <a:r>
                        <a:t>CP : 31 / 30 h</a:t>
                      </a:r>
                    </a:p>
                  </a:txBody>
                  <a:tcPr marL="137160" marR="109728" marT="64008" marB="54864" anchor="ctr">
                    <a:solidFill>
                      <a:srgbClr val="EBEFE6"/>
                    </a:solidFill>
                    <a:lnL>
                      <a:noFill/>
                    </a:lnL>
                    <a:lnR>
                      <a:noFill/>
                    </a:lnR>
                    <a:lnT>
                      <a:noFill/>
                    </a:lnT>
                    <a:lnB>
                      <a:noFill/>
                    </a:lnB>
                  </a:tcPr>
                </a:tc>
              </a:tr>
              <a:tr h="678180">
                <a:tc>
                  <a:txBody>
                    <a:bodyPr/>
                    <a:lstStyle/>
                    <a:p>
                      <a:pPr>
                        <a:defRPr sz="2000" b="1">
                          <a:solidFill>
                            <a:srgbClr val="12332D"/>
                          </a:solidFill>
                          <a:latin typeface="Arial"/>
                        </a:defRPr>
                      </a:pPr>
                      <a:r>
                        <a:t>Topos +16 h</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5 005 €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−308 €</a:t>
                      </a:r>
                    </a:p>
                  </a:txBody>
                  <a:tcPr marL="137160" marR="109728" marT="64008" marB="54864" anchor="ctr">
                    <a:solidFill>
                      <a:srgbClr val="FFFFFF"/>
                    </a:solidFill>
                    <a:lnL>
                      <a:noFill/>
                    </a:lnL>
                    <a:lnR>
                      <a:noFill/>
                    </a:lnR>
                    <a:lnT>
                      <a:noFill/>
                    </a:lnT>
                    <a:lnB>
                      <a:noFill/>
                    </a:lnB>
                  </a:tcPr>
                </a:tc>
                <a:tc>
                  <a:txBody>
                    <a:bodyPr/>
                    <a:lstStyle/>
                    <a:p>
                      <a:pPr>
                        <a:defRPr sz="2000" b="0">
                          <a:solidFill>
                            <a:srgbClr val="12332D"/>
                          </a:solidFill>
                          <a:latin typeface="Arial"/>
                        </a:defRPr>
                      </a:pPr>
                      <a:r>
                        <a:t>DEV : 76 / 72 h</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Une marge budgétaire positive ne garantit pas une capacité suffisante par métier.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5EF"/>
        </a:solidFill>
        <a:effectLst/>
      </p:bgPr>
    </p:bg>
    <p:spTree>
      <p:nvGrpSpPr>
        <p:cNvPr id="1" name=""/>
        <p:cNvGrpSpPr/>
        <p:nvPr/>
      </p:nvGrpSpPr>
      <p:grpSpPr/>
      <p:sp>
        <p:nvSpPr>
          <p:cNvPr id="2" name="TextBox 1"/>
          <p:cNvSpPr txBox="1"/>
          <p:nvPr/>
        </p:nvSpPr>
        <p:spPr>
          <a:xfrm>
            <a:off x="594360" y="320040"/>
            <a:ext cx="1188720" cy="256032"/>
          </a:xfrm>
          <a:prstGeom prst="rect">
            <a:avLst/>
          </a:prstGeom>
          <a:noFill/>
        </p:spPr>
        <p:txBody>
          <a:bodyPr wrap="square" lIns="0" rIns="0" tIns="0" bIns="0">
            <a:spAutoFit/>
          </a:bodyPr>
          <a:lstStyle/>
          <a:p>
            <a:pPr algn="l">
              <a:spcAft>
                <a:spcPts val="400"/>
              </a:spcAft>
              <a:defRPr sz="1300" b="1">
                <a:solidFill>
                  <a:srgbClr val="12332D"/>
                </a:solidFill>
                <a:latin typeface="Arial"/>
              </a:defRPr>
            </a:pPr>
            <a:r>
              <a:t>SPITY</a:t>
            </a:r>
          </a:p>
        </p:txBody>
      </p:sp>
      <p:sp>
        <p:nvSpPr>
          <p:cNvPr id="3" name="TextBox 2"/>
          <p:cNvSpPr txBox="1"/>
          <p:nvPr/>
        </p:nvSpPr>
        <p:spPr>
          <a:xfrm>
            <a:off x="1920240" y="347472"/>
            <a:ext cx="10058400" cy="228600"/>
          </a:xfrm>
          <a:prstGeom prst="rect">
            <a:avLst/>
          </a:prstGeom>
          <a:noFill/>
        </p:spPr>
        <p:txBody>
          <a:bodyPr wrap="square" lIns="0" rIns="0" tIns="0" bIns="0">
            <a:spAutoFit/>
          </a:bodyPr>
          <a:lstStyle/>
          <a:p>
            <a:pPr algn="l">
              <a:spcAft>
                <a:spcPts val="400"/>
              </a:spcAft>
              <a:defRPr sz="1000" b="1">
                <a:solidFill>
                  <a:srgbClr val="5C6C65"/>
                </a:solidFill>
                <a:latin typeface="Arial"/>
              </a:defRPr>
            </a:pPr>
            <a:r>
              <a:t>ANNEXE / DEMANDE AUX RH</a:t>
            </a:r>
          </a:p>
        </p:txBody>
      </p:sp>
      <p:sp>
        <p:nvSpPr>
          <p:cNvPr id="4" name="TextBox 3"/>
          <p:cNvSpPr txBox="1"/>
          <p:nvPr/>
        </p:nvSpPr>
        <p:spPr>
          <a:xfrm>
            <a:off x="594360" y="932688"/>
            <a:ext cx="13441680" cy="658368"/>
          </a:xfrm>
          <a:prstGeom prst="rect">
            <a:avLst/>
          </a:prstGeom>
          <a:noFill/>
        </p:spPr>
        <p:txBody>
          <a:bodyPr wrap="square" lIns="0" rIns="0" tIns="0" bIns="0">
            <a:spAutoFit/>
          </a:bodyPr>
          <a:lstStyle/>
          <a:p>
            <a:pPr algn="l">
              <a:spcAft>
                <a:spcPts val="400"/>
              </a:spcAft>
              <a:defRPr sz="3500" b="1">
                <a:solidFill>
                  <a:srgbClr val="12332D"/>
                </a:solidFill>
                <a:latin typeface="Arial"/>
              </a:defRPr>
            </a:pPr>
            <a:r>
              <a:t>Préparer un renfort, sans l’engager</a:t>
            </a:r>
          </a:p>
        </p:txBody>
      </p:sp>
      <p:sp>
        <p:nvSpPr>
          <p:cNvPr id="5" name="TextBox 4"/>
          <p:cNvSpPr txBox="1"/>
          <p:nvPr/>
        </p:nvSpPr>
        <p:spPr>
          <a:xfrm>
            <a:off x="621792" y="1709928"/>
            <a:ext cx="13258800" cy="594360"/>
          </a:xfrm>
          <a:prstGeom prst="rect">
            <a:avLst/>
          </a:prstGeom>
          <a:noFill/>
        </p:spPr>
        <p:txBody>
          <a:bodyPr wrap="square" lIns="0" rIns="0" tIns="0" bIns="0">
            <a:spAutoFit/>
          </a:bodyPr>
          <a:lstStyle/>
          <a:p>
            <a:pPr algn="l">
              <a:spcAft>
                <a:spcPts val="400"/>
              </a:spcAft>
              <a:defRPr sz="1700" b="0">
                <a:solidFill>
                  <a:srgbClr val="5C6C65"/>
                </a:solidFill>
                <a:latin typeface="Arial"/>
              </a:defRPr>
            </a:pPr>
            <a:r>
              <a:t>Fiche conditionnelle préparée par CP ; non envoyée, non activée.</a:t>
            </a:r>
          </a:p>
        </p:txBody>
      </p:sp>
      <p:cxnSp>
        <p:nvCxnSpPr>
          <p:cNvPr id="6" name="Connector 5"/>
          <p:cNvCxnSpPr/>
          <p:nvPr/>
        </p:nvCxnSpPr>
        <p:spPr>
          <a:xfrm>
            <a:off x="594360" y="7726679"/>
            <a:ext cx="13441680" cy="0"/>
          </a:xfrm>
          <a:prstGeom prst="line">
            <a:avLst/>
          </a:prstGeom>
          <a:ln w="12700">
            <a:solidFill>
              <a:srgbClr val="DDE3D9"/>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7872983"/>
            <a:ext cx="6400800" cy="182880"/>
          </a:xfrm>
          <a:prstGeom prst="rect">
            <a:avLst/>
          </a:prstGeom>
          <a:noFill/>
        </p:spPr>
        <p:txBody>
          <a:bodyPr wrap="square" lIns="0" rIns="0" tIns="0" bIns="0">
            <a:spAutoFit/>
          </a:bodyPr>
          <a:lstStyle/>
          <a:p>
            <a:pPr algn="l">
              <a:spcAft>
                <a:spcPts val="400"/>
              </a:spcAft>
              <a:defRPr sz="900" b="0">
                <a:solidFill>
                  <a:srgbClr val="5C6C65"/>
                </a:solidFill>
                <a:latin typeface="Arial"/>
              </a:defRPr>
            </a:pPr>
            <a:r>
              <a:t>DORIAN JOLY  /  RNCP39583 · BLOC 3</a:t>
            </a:r>
          </a:p>
        </p:txBody>
      </p:sp>
      <p:sp>
        <p:nvSpPr>
          <p:cNvPr id="8" name="TextBox 7"/>
          <p:cNvSpPr txBox="1"/>
          <p:nvPr/>
        </p:nvSpPr>
        <p:spPr>
          <a:xfrm>
            <a:off x="13350240" y="7808975"/>
            <a:ext cx="685800" cy="292608"/>
          </a:xfrm>
          <a:prstGeom prst="rect">
            <a:avLst/>
          </a:prstGeom>
          <a:noFill/>
        </p:spPr>
        <p:txBody>
          <a:bodyPr wrap="square" lIns="0" rIns="0" tIns="0" bIns="0">
            <a:spAutoFit/>
          </a:bodyPr>
          <a:lstStyle/>
          <a:p>
            <a:pPr algn="r">
              <a:spcAft>
                <a:spcPts val="400"/>
              </a:spcAft>
              <a:defRPr sz="1600" b="1">
                <a:solidFill>
                  <a:srgbClr val="286957"/>
                </a:solidFill>
                <a:latin typeface="Arial"/>
              </a:defRPr>
            </a:pPr>
            <a:r>
              <a:t>26</a:t>
            </a:r>
          </a:p>
        </p:txBody>
      </p:sp>
      <p:graphicFrame>
        <p:nvGraphicFramePr>
          <p:cNvPr id="9" name="Table 8"/>
          <p:cNvGraphicFramePr>
            <a:graphicFrameLocks noGrp="1"/>
          </p:cNvGraphicFramePr>
          <p:nvPr/>
        </p:nvGraphicFramePr>
        <p:xfrm>
          <a:off x="594360" y="2377440"/>
          <a:ext cx="13441680" cy="4187952"/>
        </p:xfrm>
        <a:graphic>
          <a:graphicData uri="http://schemas.openxmlformats.org/drawingml/2006/table">
            <a:tbl>
              <a:tblPr firstRow="1" bandRow="1">
                <a:tableStyleId>{5C22544A-7EE6-4342-B048-85BDC9FD1C3A}</a:tableStyleId>
              </a:tblPr>
              <a:tblGrid>
                <a:gridCol w="3474720"/>
                <a:gridCol w="9966960"/>
              </a:tblGrid>
              <a:tr h="697992">
                <a:tc>
                  <a:txBody>
                    <a:bodyPr/>
                    <a:lstStyle/>
                    <a:p>
                      <a:pPr>
                        <a:defRPr sz="1900" b="1">
                          <a:solidFill>
                            <a:srgbClr val="FFFFFF"/>
                          </a:solidFill>
                          <a:latin typeface="Arial"/>
                        </a:defRPr>
                      </a:pPr>
                      <a:r>
                        <a:t>Point à transmettre</a:t>
                      </a:r>
                    </a:p>
                  </a:txBody>
                  <a:tcPr marL="137160" marR="109728" marT="64008" marB="54864" anchor="ctr">
                    <a:solidFill>
                      <a:srgbClr val="12332D"/>
                    </a:solidFill>
                    <a:lnL>
                      <a:noFill/>
                    </a:lnL>
                    <a:lnR>
                      <a:noFill/>
                    </a:lnR>
                    <a:lnT>
                      <a:noFill/>
                    </a:lnT>
                    <a:lnB>
                      <a:noFill/>
                    </a:lnB>
                  </a:tcPr>
                </a:tc>
                <a:tc>
                  <a:txBody>
                    <a:bodyPr/>
                    <a:lstStyle/>
                    <a:p>
                      <a:pPr>
                        <a:defRPr sz="1900" b="1">
                          <a:solidFill>
                            <a:srgbClr val="FFFFFF"/>
                          </a:solidFill>
                          <a:latin typeface="Arial"/>
                        </a:defRPr>
                      </a:pPr>
                      <a:r>
                        <a:t>Besoin conditionnel</a:t>
                      </a:r>
                    </a:p>
                  </a:txBody>
                  <a:tcPr marL="137160" marR="109728" marT="64008" marB="54864" anchor="ctr">
                    <a:solidFill>
                      <a:srgbClr val="12332D"/>
                    </a:solidFill>
                    <a:lnL>
                      <a:noFill/>
                    </a:lnL>
                    <a:lnR>
                      <a:noFill/>
                    </a:lnR>
                    <a:lnT>
                      <a:noFill/>
                    </a:lnT>
                    <a:lnB>
                      <a:noFill/>
                    </a:lnB>
                  </a:tcPr>
                </a:tc>
              </a:tr>
              <a:tr h="697992">
                <a:tc>
                  <a:txBody>
                    <a:bodyPr/>
                    <a:lstStyle/>
                    <a:p>
                      <a:pPr>
                        <a:defRPr sz="1900" b="1">
                          <a:solidFill>
                            <a:srgbClr val="12332D"/>
                          </a:solidFill>
                          <a:latin typeface="Arial"/>
                        </a:defRPr>
                      </a:pPr>
                      <a:r>
                        <a:t>Déclencheur à J12</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Compétence critique indisponible après formation.</a:t>
                      </a:r>
                    </a:p>
                  </a:txBody>
                  <a:tcPr marL="137160" marR="109728" marT="64008" marB="54864" anchor="ctr">
                    <a:solidFill>
                      <a:srgbClr val="FFFFFF"/>
                    </a:solidFill>
                    <a:lnL>
                      <a:noFill/>
                    </a:lnL>
                    <a:lnR>
                      <a:noFill/>
                    </a:lnR>
                    <a:lnT>
                      <a:noFill/>
                    </a:lnT>
                    <a:lnB>
                      <a:noFill/>
                    </a:lnB>
                  </a:tcPr>
                </a:tc>
              </a:tr>
              <a:tr h="697992">
                <a:tc>
                  <a:txBody>
                    <a:bodyPr/>
                    <a:lstStyle/>
                    <a:p>
                      <a:pPr>
                        <a:defRPr sz="1900" b="1">
                          <a:solidFill>
                            <a:srgbClr val="12332D"/>
                          </a:solidFill>
                          <a:latin typeface="Arial"/>
                        </a:defRPr>
                      </a:pPr>
                      <a:r>
                        <a:t>Mission et disponibilité</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Renfort QA : 4 h à J12–J13 ; recette transmissible à Camille.</a:t>
                      </a:r>
                    </a:p>
                  </a:txBody>
                  <a:tcPr marL="137160" marR="109728" marT="64008" marB="54864" anchor="ctr">
                    <a:solidFill>
                      <a:srgbClr val="EBEFE6"/>
                    </a:solidFill>
                    <a:lnL>
                      <a:noFill/>
                    </a:lnL>
                    <a:lnR>
                      <a:noFill/>
                    </a:lnR>
                    <a:lnT>
                      <a:noFill/>
                    </a:lnT>
                    <a:lnB>
                      <a:noFill/>
                    </a:lnB>
                  </a:tcPr>
                </a:tc>
              </a:tr>
              <a:tr h="697992">
                <a:tc>
                  <a:txBody>
                    <a:bodyPr/>
                    <a:lstStyle/>
                    <a:p>
                      <a:pPr>
                        <a:defRPr sz="1900" b="1">
                          <a:solidFill>
                            <a:srgbClr val="12332D"/>
                          </a:solidFill>
                          <a:latin typeface="Arial"/>
                        </a:defRPr>
                      </a:pPr>
                      <a:r>
                        <a:t>Sélection et accueil</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Exercice accessible, disponibilité à confirmer ; accueil CP : 0,5 h.</a:t>
                      </a:r>
                    </a:p>
                  </a:txBody>
                  <a:tcPr marL="137160" marR="109728" marT="64008" marB="54864" anchor="ctr">
                    <a:solidFill>
                      <a:srgbClr val="FFFFFF"/>
                    </a:solidFill>
                    <a:lnL>
                      <a:noFill/>
                    </a:lnL>
                    <a:lnR>
                      <a:noFill/>
                    </a:lnR>
                    <a:lnT>
                      <a:noFill/>
                    </a:lnT>
                    <a:lnB>
                      <a:noFill/>
                    </a:lnB>
                  </a:tcPr>
                </a:tc>
              </a:tr>
              <a:tr h="697992">
                <a:tc>
                  <a:txBody>
                    <a:bodyPr/>
                    <a:lstStyle/>
                    <a:p>
                      <a:pPr>
                        <a:defRPr sz="1900" b="1">
                          <a:solidFill>
                            <a:srgbClr val="12332D"/>
                          </a:solidFill>
                          <a:latin typeface="Arial"/>
                        </a:defRPr>
                      </a:pPr>
                      <a:r>
                        <a:t>Coût supplémentaire</a:t>
                      </a:r>
                    </a:p>
                  </a:txBody>
                  <a:tcPr marL="137160" marR="109728" marT="64008" marB="54864" anchor="ctr">
                    <a:solidFill>
                      <a:srgbClr val="EBEFE6"/>
                    </a:solidFill>
                    <a:lnL>
                      <a:noFill/>
                    </a:lnL>
                    <a:lnR>
                      <a:noFill/>
                    </a:lnR>
                    <a:lnT>
                      <a:noFill/>
                    </a:lnT>
                    <a:lnB>
                      <a:noFill/>
                    </a:lnB>
                  </a:tcPr>
                </a:tc>
                <a:tc>
                  <a:txBody>
                    <a:bodyPr/>
                    <a:lstStyle/>
                    <a:p>
                      <a:pPr>
                        <a:defRPr sz="1900" b="0">
                          <a:solidFill>
                            <a:srgbClr val="12332D"/>
                          </a:solidFill>
                          <a:latin typeface="Arial"/>
                        </a:defRPr>
                      </a:pPr>
                      <a:r>
                        <a:t>180 € de renfort + 22,50 € CP = 202,50 €.</a:t>
                      </a:r>
                    </a:p>
                  </a:txBody>
                  <a:tcPr marL="137160" marR="109728" marT="64008" marB="54864" anchor="ctr">
                    <a:solidFill>
                      <a:srgbClr val="EBEFE6"/>
                    </a:solidFill>
                    <a:lnL>
                      <a:noFill/>
                    </a:lnL>
                    <a:lnR>
                      <a:noFill/>
                    </a:lnR>
                    <a:lnT>
                      <a:noFill/>
                    </a:lnT>
                    <a:lnB>
                      <a:noFill/>
                    </a:lnB>
                  </a:tcPr>
                </a:tc>
              </a:tr>
              <a:tr h="697992">
                <a:tc>
                  <a:txBody>
                    <a:bodyPr/>
                    <a:lstStyle/>
                    <a:p>
                      <a:pPr>
                        <a:defRPr sz="1900" b="1">
                          <a:solidFill>
                            <a:srgbClr val="12332D"/>
                          </a:solidFill>
                          <a:latin typeface="Arial"/>
                        </a:defRPr>
                      </a:pPr>
                      <a:r>
                        <a:t>Arbitrage avant engagement</a:t>
                      </a:r>
                    </a:p>
                  </a:txBody>
                  <a:tcPr marL="137160" marR="109728" marT="64008" marB="54864" anchor="ctr">
                    <a:solidFill>
                      <a:srgbClr val="FFFFFF"/>
                    </a:solidFill>
                    <a:lnL>
                      <a:noFill/>
                    </a:lnL>
                    <a:lnR>
                      <a:noFill/>
                    </a:lnR>
                    <a:lnT>
                      <a:noFill/>
                    </a:lnT>
                    <a:lnB>
                      <a:noFill/>
                    </a:lnB>
                  </a:tcPr>
                </a:tc>
                <a:tc>
                  <a:txBody>
                    <a:bodyPr/>
                    <a:lstStyle/>
                    <a:p>
                      <a:pPr>
                        <a:defRPr sz="1900" b="0">
                          <a:solidFill>
                            <a:srgbClr val="12332D"/>
                          </a:solidFill>
                          <a:latin typeface="Arial"/>
                        </a:defRPr>
                      </a:pPr>
                      <a:r>
                        <a:t>Prévision : 4 667,50 € · marge : 29,50 € · CP : 29,5/30 h.</a:t>
                      </a:r>
                    </a:p>
                  </a:txBody>
                  <a:tcPr marL="137160" marR="109728" marT="64008" marB="54864" anchor="ctr">
                    <a:solidFill>
                      <a:srgbClr val="FFFFFF"/>
                    </a:solidFill>
                    <a:lnL>
                      <a:noFill/>
                    </a:lnL>
                    <a:lnR>
                      <a:noFill/>
                    </a:lnR>
                    <a:lnT>
                      <a:noFill/>
                    </a:lnT>
                    <a:lnB>
                      <a:noFill/>
                    </a:lnB>
                  </a:tcPr>
                </a:tc>
              </a:tr>
            </a:tbl>
          </a:graphicData>
        </a:graphic>
      </p:graphicFrame>
      <p:sp>
        <p:nvSpPr>
          <p:cNvPr id="10" name="Rectangle 9"/>
          <p:cNvSpPr/>
          <p:nvPr/>
        </p:nvSpPr>
        <p:spPr>
          <a:xfrm>
            <a:off x="594360" y="6995160"/>
            <a:ext cx="50292" cy="384048"/>
          </a:xfrm>
          <a:prstGeom prst="rect">
            <a:avLst/>
          </a:prstGeom>
          <a:solidFill>
            <a:srgbClr val="286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7018020"/>
            <a:ext cx="12938760" cy="502920"/>
          </a:xfrm>
          <a:prstGeom prst="rect">
            <a:avLst/>
          </a:prstGeom>
          <a:noFill/>
        </p:spPr>
        <p:txBody>
          <a:bodyPr wrap="square" lIns="0" rIns="0" tIns="0" bIns="0">
            <a:spAutoFit/>
          </a:bodyPr>
          <a:lstStyle/>
          <a:p>
            <a:pPr algn="l">
              <a:spcAft>
                <a:spcPts val="400"/>
              </a:spcAft>
              <a:defRPr sz="1800" b="1">
                <a:solidFill>
                  <a:srgbClr val="286957"/>
                </a:solidFill>
                <a:latin typeface="Arial"/>
              </a:defRPr>
            </a:pPr>
            <a:r>
              <a:t>Décider sur le besoin, la disponibilité, le coût et l’accueil du renfort.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Spity — Piloter le projet | Bloc 3</dc:title>
  <dc:subject>Soutenance RNCP39583 — 30 minutes, démonstration incluse</dc:subject>
  <dc:creator>Dorian Joly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