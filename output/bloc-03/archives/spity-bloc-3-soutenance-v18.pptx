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stacked"/>
        <c:ser>
          <c:idx val="0"/>
          <c:order val="0"/>
          <c:tx>
            <c:strRef>
              <c:f>Sheet1!$B$1</c:f>
              <c:strCache>
                <c:ptCount val="1"/>
                <c:pt idx="0">
                  <c:v>Début</c:v>
                </c:pt>
              </c:strCache>
            </c:strRef>
          </c:tx>
          <c:spPr>
            <a:noFill/>
            <a:ln>
              <a:noFill/>
            </a:ln>
          </c:spPr>
          <c:cat>
            <c:strRef>
              <c:f>Sheet1!$A$2:$A$10</c:f>
              <c:strCache>
                <c:ptCount val="9"/>
                <c:pt idx="0">
                  <c:v>Cadrage / UX</c:v>
                </c:pt>
                <c:pt idx="1">
                  <c:v>Setup technique</c:v>
                </c:pt>
                <c:pt idx="2">
                  <c:v>Auth / sécurité</c:v>
                </c:pt>
                <c:pt idx="3">
                  <c:v>Profils</c:v>
                </c:pt>
                <c:pt idx="4">
                  <c:v>Feed social</c:v>
                </c:pt>
                <c:pt idx="5">
                  <c:v>Répertoire</c:v>
                </c:pt>
                <c:pt idx="6">
                  <c:v>Topos</c:v>
                </c:pt>
                <c:pt idx="7">
                  <c:v>Événements</c:v>
                </c:pt>
                <c:pt idx="8">
                  <c:v>Tests / access. / doc.</c:v>
                </c:pt>
              </c:strCache>
            </c:strRef>
          </c:cat>
          <c:val>
            <c:numRef>
              <c:f>Sheet1!$B$2:$B$10</c:f>
              <c:numCache>
                <c:formatCode>General</c:formatCode>
                <c:ptCount val="9"/>
                <c:pt idx="0">
                  <c:v>0</c:v>
                </c:pt>
                <c:pt idx="1">
                  <c:v>1</c:v>
                </c:pt>
                <c:pt idx="2">
                  <c:v>2</c:v>
                </c:pt>
                <c:pt idx="3">
                  <c:v>3</c:v>
                </c:pt>
                <c:pt idx="4">
                  <c:v>4</c:v>
                </c:pt>
                <c:pt idx="5">
                  <c:v>5</c:v>
                </c:pt>
                <c:pt idx="6">
                  <c:v>7</c:v>
                </c:pt>
                <c:pt idx="7">
                  <c:v>7</c:v>
                </c:pt>
                <c:pt idx="8">
                  <c:v>9</c:v>
                </c:pt>
              </c:numCache>
            </c:numRef>
          </c:val>
        </c:ser>
        <c:ser>
          <c:idx val="1"/>
          <c:order val="1"/>
          <c:tx>
            <c:strRef>
              <c:f>Sheet1!$C$1</c:f>
              <c:strCache>
                <c:ptCount val="1"/>
                <c:pt idx="0">
                  <c:v>Durée</c:v>
                </c:pt>
              </c:strCache>
            </c:strRef>
          </c:tx>
          <c:spPr>
            <a:solidFill>
              <a:srgbClr val="286957"/>
            </a:solidFill>
            <a:ln>
              <a:noFill/>
            </a:ln>
          </c:spPr>
          <c:cat>
            <c:strRef>
              <c:f>Sheet1!$A$2:$A$10</c:f>
              <c:strCache>
                <c:ptCount val="9"/>
                <c:pt idx="0">
                  <c:v>Cadrage / UX</c:v>
                </c:pt>
                <c:pt idx="1">
                  <c:v>Setup technique</c:v>
                </c:pt>
                <c:pt idx="2">
                  <c:v>Auth / sécurité</c:v>
                </c:pt>
                <c:pt idx="3">
                  <c:v>Profils</c:v>
                </c:pt>
                <c:pt idx="4">
                  <c:v>Feed social</c:v>
                </c:pt>
                <c:pt idx="5">
                  <c:v>Répertoire</c:v>
                </c:pt>
                <c:pt idx="6">
                  <c:v>Topos</c:v>
                </c:pt>
                <c:pt idx="7">
                  <c:v>Événements</c:v>
                </c:pt>
                <c:pt idx="8">
                  <c:v>Tests / access. / doc.</c:v>
                </c:pt>
              </c:strCache>
            </c:strRef>
          </c:cat>
          <c:val>
            <c:numRef>
              <c:f>Sheet1!$C$2:$C$10</c:f>
              <c:numCache>
                <c:formatCode>General</c:formatCode>
                <c:ptCount val="9"/>
                <c:pt idx="0">
                  <c:v>2</c:v>
                </c:pt>
                <c:pt idx="1">
                  <c:v>2</c:v>
                </c:pt>
                <c:pt idx="2">
                  <c:v>2</c:v>
                </c:pt>
                <c:pt idx="3">
                  <c:v>2</c:v>
                </c:pt>
                <c:pt idx="4">
                  <c:v>3</c:v>
                </c:pt>
                <c:pt idx="5">
                  <c:v>3</c:v>
                </c:pt>
                <c:pt idx="6">
                  <c:v>3</c:v>
                </c:pt>
                <c:pt idx="7">
                  <c:v>3</c:v>
                </c:pt>
                <c:pt idx="8">
                  <c:v>3</c:v>
                </c:pt>
              </c:numCache>
            </c:numRef>
          </c:val>
        </c:ser>
        <c:gapWidth val="65"/>
        <c:overlap val="100"/>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12.0"/>
          <c:min val="0.0"/>
        </c:scaling>
        <c:delete val="0"/>
        <c:axPos val="b"/>
        <c:majorGridlines>
          <c:spPr>
            <a:ln w="7620">
              <a:solidFill>
                <a:srgbClr val="DDE3D9"/>
              </a:solidFill>
            </a:ln>
          </c:spPr>
        </c:majorGridlines>
        <c:numFmt formatCode="0"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Tickets</c:v>
                </c:pt>
              </c:strCache>
            </c:strRef>
          </c:tx>
          <c:spPr>
            <a:solidFill>
              <a:srgbClr val="286957"/>
            </a:solidFill>
            <a:ln>
              <a:noFill/>
            </a:ln>
          </c:spPr>
          <c:cat>
            <c:strRef>
              <c:f>Sheet1!$A$2:$A$5</c:f>
              <c:strCache>
                <c:ptCount val="4"/>
                <c:pt idx="0">
                  <c:v>Terminé</c:v>
                </c:pt>
                <c:pt idx="1">
                  <c:v>En cours</c:v>
                </c:pt>
                <c:pt idx="2">
                  <c:v>À faire</c:v>
                </c:pt>
                <c:pt idx="3">
                  <c:v>Backlog</c:v>
                </c:pt>
              </c:strCache>
            </c:strRef>
          </c:cat>
          <c:val>
            <c:numRef>
              <c:f>Sheet1!$B$2:$B$5</c:f>
              <c:numCache>
                <c:formatCode>General</c:formatCode>
                <c:ptCount val="4"/>
                <c:pt idx="0">
                  <c:v>12</c:v>
                </c:pt>
                <c:pt idx="1">
                  <c:v>1</c:v>
                </c:pt>
                <c:pt idx="2">
                  <c:v>4</c:v>
                </c:pt>
                <c:pt idx="3">
                  <c:v>7</c:v>
                </c:pt>
              </c:numCache>
            </c:numRef>
          </c:val>
        </c:ser>
        <c:dLbls>
          <c:numFmt formatCode="0" sourceLinked="0"/>
          <c:txPr>
            <a:bodyPr/>
            <a:lstStyle/>
            <a:p>
              <a:pPr>
                <a:defRPr sz="1700" b="1">
                  <a:solidFill>
                    <a:srgbClr val="12332D"/>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14.0"/>
          <c:min val="0.0"/>
        </c:scaling>
        <c:delete val="0"/>
        <c:axPos val="b"/>
        <c:majorGridlines>
          <c:spPr>
            <a:ln w="7620">
              <a:solidFill>
                <a:srgbClr val="DDE3D9"/>
              </a:solidFill>
            </a:ln>
          </c:spPr>
        </c:majorGridlines>
        <c:numFmt formatCode="0"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Avant</c:v>
                </c:pt>
              </c:strCache>
            </c:strRef>
          </c:tx>
          <c:spPr>
            <a:solidFill>
              <a:srgbClr val="86A18C"/>
            </a:solidFill>
            <a:ln>
              <a:noFill/>
            </a:ln>
          </c:spPr>
          <c:cat>
            <c:strRef>
              <c:f>Sheet1!$A$2:$A$6</c:f>
              <c:strCache>
                <c:ptCount val="5"/>
                <c:pt idx="0">
                  <c:v>Partenaires</c:v>
                </c:pt>
                <c:pt idx="1">
                  <c:v>Événements</c:v>
                </c:pt>
                <c:pt idx="2">
                  <c:v>Demandes</c:v>
                </c:pt>
                <c:pt idx="3">
                  <c:v>Profil</c:v>
                </c:pt>
                <c:pt idx="4">
                  <c:v>Feed</c:v>
                </c:pt>
              </c:strCache>
            </c:strRef>
          </c:cat>
          <c:val>
            <c:numRef>
              <c:f>Sheet1!$B$2:$B$6</c:f>
              <c:numCache>
                <c:formatCode>General</c:formatCode>
                <c:ptCount val="5"/>
                <c:pt idx="0">
                  <c:v>11.041</c:v>
                </c:pt>
                <c:pt idx="1">
                  <c:v>9.917</c:v>
                </c:pt>
                <c:pt idx="2">
                  <c:v>10.22</c:v>
                </c:pt>
                <c:pt idx="3">
                  <c:v>10.363</c:v>
                </c:pt>
                <c:pt idx="4">
                  <c:v>8.66</c:v>
                </c:pt>
              </c:numCache>
            </c:numRef>
          </c:val>
        </c:ser>
        <c:ser>
          <c:idx val="1"/>
          <c:order val="1"/>
          <c:tx>
            <c:strRef>
              <c:f>Sheet1!$C$1</c:f>
              <c:strCache>
                <c:ptCount val="1"/>
                <c:pt idx="0">
                  <c:v>Après</c:v>
                </c:pt>
              </c:strCache>
            </c:strRef>
          </c:tx>
          <c:spPr>
            <a:solidFill>
              <a:srgbClr val="D8F28B"/>
            </a:solidFill>
            <a:ln>
              <a:noFill/>
            </a:ln>
          </c:spPr>
          <c:cat>
            <c:strRef>
              <c:f>Sheet1!$A$2:$A$6</c:f>
              <c:strCache>
                <c:ptCount val="5"/>
                <c:pt idx="0">
                  <c:v>Partenaires</c:v>
                </c:pt>
                <c:pt idx="1">
                  <c:v>Événements</c:v>
                </c:pt>
                <c:pt idx="2">
                  <c:v>Demandes</c:v>
                </c:pt>
                <c:pt idx="3">
                  <c:v>Profil</c:v>
                </c:pt>
                <c:pt idx="4">
                  <c:v>Feed</c:v>
                </c:pt>
              </c:strCache>
            </c:strRef>
          </c:cat>
          <c:val>
            <c:numRef>
              <c:f>Sheet1!$C$2:$C$6</c:f>
              <c:numCache>
                <c:formatCode>General</c:formatCode>
                <c:ptCount val="5"/>
                <c:pt idx="0">
                  <c:v>1.123</c:v>
                </c:pt>
                <c:pt idx="1">
                  <c:v>0.763</c:v>
                </c:pt>
                <c:pt idx="2">
                  <c:v>0.55</c:v>
                </c:pt>
                <c:pt idx="3">
                  <c:v>0.748</c:v>
                </c:pt>
                <c:pt idx="4">
                  <c:v>0.494</c:v>
                </c:pt>
              </c:numCache>
            </c:numRef>
          </c:val>
        </c:ser>
        <c:dLbls>
          <c:numFmt formatCode="0.00&quot; s&quot;" sourceLinked="0"/>
          <c:txPr>
            <a:bodyPr/>
            <a:lstStyle/>
            <a:p>
              <a:pPr>
                <a:defRPr sz="1700" b="1">
                  <a:solidFill>
                    <a:srgbClr val="FFFFFF"/>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C7D6CB"/>
                </a:solidFill>
                <a:latin typeface="Arial"/>
              </a:defRPr>
            </a:pPr>
          </a:p>
        </c:txPr>
        <c:crossAx val="-2113994440"/>
        <c:crosses val="autoZero"/>
        <c:auto val="1"/>
        <c:lblAlgn val="ctr"/>
        <c:lblOffset val="100"/>
        <c:noMultiLvlLbl val="0"/>
      </c:catAx>
      <c:valAx>
        <c:axId val="-2113994440"/>
        <c:scaling>
          <c:max val="13.0"/>
          <c:min val="0.0"/>
        </c:scaling>
        <c:delete val="0"/>
        <c:axPos val="b"/>
        <c:majorGridlines>
          <c:spPr>
            <a:ln w="7620">
              <a:solidFill>
                <a:srgbClr val="1C453B"/>
              </a:solidFill>
            </a:ln>
          </c:spPr>
        </c:majorGridlines>
        <c:numFmt formatCode="0.00&quot; s&quot;" sourceLinked="0"/>
        <c:majorTickMark val="out"/>
        <c:minorTickMark val="none"/>
        <c:tickLblPos val="nextTo"/>
        <c:spPr>
          <a:ln>
            <a:noFill/>
          </a:ln>
        </c:spPr>
        <c:txPr>
          <a:bodyPr/>
          <a:lstStyle/>
          <a:p>
            <a:pPr>
              <a:defRPr sz="1200">
                <a:solidFill>
                  <a:srgbClr val="C7D6CB"/>
                </a:solidFill>
                <a:latin typeface="Arial"/>
              </a:defRPr>
            </a:pPr>
          </a:p>
        </c:txPr>
        <c:crossAx val="-2068027336"/>
        <c:crosses val="autoZero"/>
      </c:valAx>
      <c:spPr>
        <a:noFill/>
        <a:ln>
          <a:noFill/>
        </a:ln>
      </c:spPr>
    </c:plotArea>
    <c:legend>
      <c:legendPos val="b"/>
      <c:overlay val="0"/>
      <c:txPr>
        <a:bodyPr/>
        <a:lstStyle/>
        <a:p>
          <a:pPr>
            <a:defRPr sz="1300">
              <a:latin typeface="Arial"/>
            </a:defRPr>
          </a:pPr>
        </a:p>
      </c:txPr>
    </c:legend>
    <c:dispBlanksAs val="gap"/>
  </c:chart>
  <c:txPr>
    <a:bodyPr/>
    <a:lstStyle/>
    <a:p>
      <a:pPr>
        <a:defRPr sz="1600">
          <a:solidFill>
            <a:srgbClr val="FFFFFF"/>
          </a:solidFill>
          <a:latin typeface="Arial"/>
        </a:defRPr>
      </a:pPr>
      <a:endParaRPr lang="en-US"/>
    </a:p>
  </c:txPr>
  <c:externalData r:id="rId1">
    <c:autoUpdate val="0"/>
  </c:externalData>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Spity, le projet que j’ai développé seul sur un an autour de l’escalade. Mon objectif est de faciliter la recherche de partenaires et l’organisation de sorties.</a:t>
            </a:r>
          </a:p>
          <a:p/>
          <a:p>
            <a:r>
              <a:t>Je vais vous montrer comment j’organise le travail, comment je suis l’avancement et comment je prends mes décisions. Je m’appuie sur le logiciel et sur les traces de son développement. Pour les situations de collaboration et de suivi client, j’utilise aussi des exemples simulés, que je distingue du projet réel.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 par vous présenter Spity et les besoins auxquels il répond. Ensuite, je vous explique ma méthode d’organisation, le suivi du projet et un arbitrage concret sur la navigation.</a:t>
            </a:r>
          </a:p>
          <a:p/>
          <a:p>
            <a:r>
              <a:t>Je poursuis avec la collaboration, le développement des compétences et le suivi client. Pour terminer, je vous montre le logiciel à travers un parcours de grimpeur et un parcours de club, puis nous revenons sur les critères de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Spity, je pars de deux besoins assez simples. Du côté du grimpeur, je veux permettre de trouver un partenaire qui pratique la même discipline, avec un niveau adapté. Du côté du club, je veux faciliter l’organisation d’une sortie et le suivi des participants.</a:t>
            </a:r>
          </a:p>
          <a:p/>
          <a:p>
            <a:r>
              <a:t>J’ai donc construit le produit autour des profils, de la recherche de partenaires, des événements et des lieux d’escalade. Ici, vous voyez le répertoire des lieux sur ma base de démonstration.</a:t>
            </a:r>
          </a:p>
          <a:p/>
          <a:p>
            <a:r>
              <a:t>Le parcours que je vais vous présenter suit cette logique : je trouve un partenaire, je consulte une sortie, puis je m’inscris. Cela me permet de relier chaque fonctionnalité à un besoin concret.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 je travaille seul, j’ai besoin d’une organisation qui reste simple à utiliser. Je m’appuie sur Linear pour retrouver mes tâches, leurs priorités et leur état. Le fonctionnement que je retiens est inspiré de Kanban : je rends le travail visible et je garde une vue sur ce qui reste à faire.</a:t>
            </a:r>
          </a:p>
          <a:p/>
          <a:p>
            <a:r>
              <a:t>Le tableau de tâches ne suffit pas pour visualiser toute l’année. Je le complète donc ici par un rétroplanning reconstruit pour la mise en situation. Il me permet de montrer les dépendances et les points de validation.</a:t>
            </a:r>
          </a:p>
          <a:p/>
          <a:p>
            <a:r>
              <a:t>Enfin, Git conserve les versions et la CI exécute les contrôles automatiques. Dans le fonctionnement proposé, je prévois une revue hebdomadaire pour actualiser le reste à faire et les risques.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repris les neuf lots de mon cadrage et leurs charges estimées, qui représentent au total 82 jours-personne. Un jour-personne correspond à une journée de travail pour une personne : c’est une charge, alors que l’année correspond à la durée du projet.</a:t>
            </a:r>
          </a:p>
          <a:p/>
          <a:p>
            <a:r>
              <a:t>Pour ce planning, j’ai réparti les lots sur douze mois relatifs. C’est une reconstruction pédagogique : les dates réellement enregistrées dans Git sont présentées séparément.</a:t>
            </a:r>
          </a:p>
          <a:p/>
          <a:p>
            <a:r>
              <a:t>Je commence par l’étude et la mesure du besoin, puis la conception. L’authentification et les profils servent de base aux autres parcours. Un événement doit être disponible avant que je puisse vérifier une inscription. Je garde aussi des contrôles pendant la réalisation, puis une phase de recette avant la restitution.</a:t>
            </a:r>
          </a:p>
          <a:p/>
          <a:p>
            <a:r>
              <a:t>Mes points de vigilance sont surtout les dépendances entre les fonctions, ma disponibilité et la stabilité de la version à présenter.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développé Spity seul : dans le projet réel, je prends en charge le cadrage, la réalisation et la livraison. Pour expliquer comment je répartirais les missions lors d’une recette avec un intervenant, j’ai préparé cette mise en situation.</a:t>
            </a:r>
          </a:p>
          <a:p/>
          <a:p>
            <a:r>
              <a:t>Je confierais l’exécution des scénarios à un testeur ponctuel, tout en restant responsable du livrable. Le représentant du club déciderait de l’acceptation dans cet exemple. La lettre R indique qui réalise, et la lettre A qui décide.</a:t>
            </a:r>
          </a:p>
          <a:p/>
          <a:p>
            <a:r>
              <a:t>J’ai choisi un persona de testeur malentendant. Je lui donnerais des consignes écrites, des sous-titres vérifiés et la possibilité de faire un retour par écrit. J’adapte les échanges à ses besoins, tout en affectant la mission selon ses compétences.</a:t>
            </a:r>
          </a:p>
          <a:p/>
          <a:p>
            <a:r>
              <a:t>Pour les moyens, je m’appuie sur mon environnement de développement, la base de données, Docker et le serveur. Les 44 250 euros restent l’estimation initiale du cadrage.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mon relevé Linear du 14 septembre. Il contient 25 tickets, dont un annulé. Sur les 24 autres, 12 sont terminés, un est en cours, quatre sont à faire et sept sont dans le backlog.</a:t>
            </a:r>
          </a:p>
          <a:p/>
          <a:p>
            <a:r>
              <a:t>J’obtiens donc 50 % de tickets terminés. Je fais attention à ce que ce chiffre signifie : les tickets n’ont pas tous la même taille et leur statut peut être en retard sur le logiciel.</a:t>
            </a:r>
          </a:p>
          <a:p/>
          <a:p>
            <a:r>
              <a:t>Par exemple, un sujet d’authentification apparaît encore à faire, alors que la connexion existe déjà. Avant de changer son statut, je dois vérifier le périmètre restant. J’utilise donc ce tableau comme un point de départ pour le suivi, en le rapprochant du code et de la recette.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montrer le suivi des coûts et des délais, je prends maintenant un exemple chiffré simulé au dixième mois du projet.</a:t>
            </a:r>
          </a:p>
          <a:p/>
          <a:p>
            <a:r>
              <a:t>Dans cet exemple, j’ai 58 jours-personne consommés et 28 jours estimés pour terminer. Ma prévision atteint donc 86 jours, contre 82 au départ. Avec la valorisation de 450 euros par jour et les autres postes du cadrage, j’arrive à 46 050 euros : l’écart est de 1 800 euros.</a:t>
            </a:r>
          </a:p>
          <a:p/>
          <a:p>
            <a:r>
              <a:t>Je regarde aussi le délai : la livraison prévue à la fin du mois 11 passe à la fin du mois 12. Enfin, je compare la charge à ma capacité. Si je prévois 12 jours de travail alors que je n’en ai que 10 de disponibles, je dois déplacer deux jours de charge ou revoir le périmètre.</a:t>
            </a:r>
          </a:p>
          <a:p/>
          <a:p>
            <a:r>
              <a:t>Ces chiffres sont les hypothèses du cas. Ils me servent à expliquer comment je détecte un écart et comment je prends une décision.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veux que mon suivi débouche sur une action. Pour chaque risque, je définis donc un signal et une réponse.</a:t>
            </a:r>
          </a:p>
          <a:p/>
          <a:p>
            <a:r>
              <a:t>Dans cette mise en situation, si ma charge dépasse ma capacité, je déplace une tâche et je revois le jalon. Si un critère critique échoue, je corrige avant de valider. Si le logiciel devient indisponible pendant une présentation, je décris l’incident et je m’appuie sur les captures datées pour expliquer le parcours.</a:t>
            </a:r>
          </a:p>
          <a:p/>
          <a:p>
            <a:r>
              <a:t>Pour la séance avec le testeur fictif, je prévois aussi un essai des consignes et des sous-titres. Je vérifie ainsi que les conditions de recette sont adaptées.</a:t>
            </a:r>
          </a:p>
          <a:p/>
          <a:p>
            <a:r>
              <a:t>À chaque revue proposée, je rapproche ces risques de l’avancement, des coûts et des délais. Je termine avec une action et un responsable identifiés.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prends maintenant un problème réel que j’ai rencontré sur Spity : lorsque je cliquais dans la barre de navigation, le passage à la page suivante semblait très lent.</a:t>
            </a:r>
          </a:p>
          <a:p/>
          <a:p>
            <a:r>
              <a:t>Le diagnostic local a montré que l’initialisation du fond animé occupait le navigateur. J’ai repris les options possibles dans ce tableau pour expliquer l’arbitrage. Garder l’animation conservait le problème observé. L’optimiser ou la différer pouvait être étudié, mais je n’ai pas de mesure permettant d’affirmer le gain de cette option.</a:t>
            </a:r>
          </a:p>
          <a:p/>
          <a:p>
            <a:r>
              <a:t>Le choix retenu a été de remplacer le fond par un SVG statique et d’ajouter un indicateur d’attente. Je conserve ainsi le motif graphique, en acceptant de perdre le mouvement décoratif.</a:t>
            </a:r>
          </a:p>
          <a:p/>
          <a:p>
            <a:r>
              <a:t>Le changement a été intégré et livré. Pour vérifier son effet, je m’appuie sur la comparaison avant et après que je vous montre ensuite.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je compare les mêmes cinq parcours avant et après la correction. Les mesures ont été réalisées localement sur une compilation de production, avec un processeur ralenti quatre fois et une latence réseau simulée de 100 millisecondes.</a:t>
            </a:r>
          </a:p>
          <a:p/>
          <a:p>
            <a:r>
              <a:t>La médiane passe de 10,22 secondes à 0,748 seconde. L’amélioration est nette dans ce protocole : le navigateur n’a plus à effectuer le calcul décoratif au changement de page.</a:t>
            </a:r>
          </a:p>
          <a:p/>
          <a:p>
            <a:r>
              <a:t>Je garde cependant la portée de la mesure : il y a un passage par parcours, dans un environnement local contrôlé. Je ne présente donc pas ces chiffres comme les temps de tous les utilisateurs en production. Ils me permettent de vérifier l’effet de la correction dans des conditions comparables.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partie management, je m’appuie sur une situation simulée de recette avec un testeur ponctuel. Dans cet exemple, je souhaite enrichir le décor, alors que le testeur me signale des blocages dans les parcours.</a:t>
            </a:r>
          </a:p>
          <a:p/>
          <a:p>
            <a:r>
              <a:t>Je commencerais par l’écouter et lui demander des faits précis : c’est la posture participative. Ensuite, j’expliquerais pourquoi je privilégie un parcours utilisable plutôt qu’un enrichissement graphique : c’est la posture persuasive.</a:t>
            </a:r>
          </a:p>
          <a:p/>
          <a:p>
            <a:r>
              <a:t>Je fixerais aussi une limite claire : je ne valide pas tant qu’un critère critique reste en échec. C’est la posture directive. Enfin, je lui confierais la recette avec un résultat attendu et un point de contrôle, dans une posture délégative.</a:t>
            </a:r>
          </a:p>
          <a:p/>
          <a:p>
            <a:r>
              <a:t>Avec du recul, décider trop vite de mon côté pourrait me faire perdre une alerte utile. Je retiens donc une séquence simple : écouter, comparer les impacts, décider et écrire la prochaine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la même simulation, je répartis la séance selon les missions de chacun. Je prévois quatre heures pour mon travail et quatre heures pour celui du testeur, avec cinq heures disponibles de chaque côté. Cela laisse une heure de marge à chacun.</a:t>
            </a:r>
          </a:p>
          <a:p/>
          <a:p>
            <a:r>
              <a:t>Pour le persona malentendant, je prépare les consignes par écrit, je vérifie les sous-titres et j’organise une prise de parole à la fois. Je lui demande de reformuler la consigne pour vérifier que nous nous sommes compris.</a:t>
            </a:r>
          </a:p>
          <a:p/>
          <a:p>
            <a:r>
              <a:t>Si nous travaillons à distance, je précise les fuseaux dans l’invitation et je prévois aussi un retour asynchrone. Un glossaire partagé en français et en anglais aide à éviter les ambiguïtés.</a:t>
            </a:r>
          </a:p>
          <a:p/>
          <a:p>
            <a:r>
              <a:t>Enfin, chaque outil a un objectif : Linear pour les actions, Git pour la version et le dossier partagé pour les critères et les preuves. Je termine l’échange avec une action, un responsable et un retour attendu.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choisir une formation, je commence par regarder l’écart entre le niveau actuel et le niveau nécessaire. Cette grille appartient à la mise en situation : les niveaux sont des hypothèses d’exercice.</a:t>
            </a:r>
          </a:p>
          <a:p/>
          <a:p>
            <a:r>
              <a:t>J’utilise une échelle de zéro à trois. Au niveau un, la personne réalise la tâche avec de l’aide. Au niveau deux, elle est autonome. Au niveau trois, elle sait aussi traiter les cas complexes.</a:t>
            </a:r>
          </a:p>
          <a:p/>
          <a:p>
            <a:r>
              <a:t>Dans l’exemple, je me place au niveau un sur le suivi, avec une cible au niveau deux : je dois pouvoir expliquer seul les écarts. Le développement est supposé autonome, donc je ne le retiens pas comme priorité de formation.</a:t>
            </a:r>
          </a:p>
          <a:p/>
          <a:p>
            <a:r>
              <a:t>Pour le testeur fictif, je vise une recette reproductible et une vérification au clavier réalisées sans aide. Ce sont ces besoins techniques qui orientent le plan, indépendamment du handicap.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partir de cette grille, je propose deux actions dans la mise en situation. Pour le suivi, je prévois un atelier d’une heure avant la revue du mois 10, afin de recalculer les écarts et de les expliquer sans aide.</a:t>
            </a:r>
          </a:p>
          <a:p/>
          <a:p>
            <a:r>
              <a:t>Pour le testeur fictif, je propose deux heures de pratique sur la recette et le clavier avant le mois 11. Je prépare des consignes écrites et un support sous-titré. J’adapte les pauses et le temps nécessaire à ses besoins.</a:t>
            </a:r>
          </a:p>
          <a:p/>
          <a:p>
            <a:r>
              <a:t>Ces formations sont prévues avant la séance de recette : je ne compte pas leurs heures dans la charge de cette séance. Pour vérifier leur efficacité, je regarde si la tâche peut être réalisée de façon autonome.</a:t>
            </a:r>
          </a:p>
          <a:p/>
          <a:p>
            <a:r>
              <a:t>Si un écart critique persiste, je prévois d’abord un accompagnement adapté, puis j’étudie un renfort ponctuel. J’ai détaillé ce besoin conditionnel dans la fiche en annexe.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suivi client, j’ai préparé un compte rendu simulé avec un représentant de club. Je l’organise en trois parties : le constat, la décision et les actions.</a:t>
            </a:r>
          </a:p>
          <a:p/>
          <a:p>
            <a:r>
              <a:t>Au mois 10, j’annonce l’écart du cas : 1 800 euros supplémentaires et un mois de décalage. Je le relie au besoin exprimé dans l’exemple : garder un parcours fluide et utilisable.</a:t>
            </a:r>
          </a:p>
          <a:p/>
          <a:p>
            <a:r>
              <a:t>La décision proposée est de conserver le fond statique et de maintenir les critères de recette. De mon côté, je révise le suivi. Le testeur prépare la recette et le représentant du club revoit les critères au prochain point.</a:t>
            </a:r>
          </a:p>
          <a:p/>
          <a:p>
            <a:r>
              <a:t>Cette structure donne à mon interlocuteur les informations utiles pour décider. Le compte rendu est simulé ; il illustre le suivi et ne constitue pas l’origine historique de la correction du site.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prévois plusieurs points de validation dans mon calendrier simulé pour vérifier le résultat au fur et à mesure.</a:t>
            </a:r>
          </a:p>
          <a:p/>
          <a:p>
            <a:r>
              <a:t>Au mois 3, je fais confirmer le besoin et les critères. Au mois 10, je présente les écarts et les options pour décider de la suite. Au mois 11, je rapproche les résultats de recette des critères attendus. Au mois 12, je présente la dernière version disponible.</a:t>
            </a:r>
          </a:p>
          <a:p/>
          <a:p>
            <a:r>
              <a:t>Si une réserve apparaît, je la transforme en action avec un responsable et une échéance à convenir. L’objectif est de garder un lien entre le besoin de départ, ce qui est développé et ce qui peut être accepté.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recueillir un retour utile, je propose quatre indicateurs. Je regarde si le parcours est réalisé sans aide, si le service est jugé utile, si les critères critiques sont acceptés et si des blocages restent ouverts.</a:t>
            </a:r>
          </a:p>
          <a:p/>
          <a:p>
            <a:r>
              <a:t>Les seuils affichés sont les objectifs proposés pour la mise en situation. Je n’ai pas de résultats réels de satisfaction à présenter. Lors d’une séance, je noterais aussi le nombre de participants pour donner un sens aux pourcentages et à la moyenne.</a:t>
            </a:r>
          </a:p>
          <a:p/>
          <a:p>
            <a:r>
              <a:t>Si la réussite sans aide est faible, je cherche l’étape qui pose problème. Si l’utilité est mal évaluée, je reviens au besoin. Et si un blocage critique reste ouvert, je corrige avant de demander l’acceptation.</a:t>
            </a:r>
          </a:p>
          <a:p/>
          <a:p>
            <a:r>
              <a:t>Je complète ainsi les tests techniques par un regard sur l’utilisation du produit.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vous montrer le logiciel, je précise ce que nous allons vérifier. Pour les partenaires, je regarde la cohérence des filtres et la lisibilité de l’état d’une demande.</a:t>
            </a:r>
          </a:p>
          <a:p/>
          <a:p>
            <a:r>
              <a:t>Pour les événements, je vérifie l’inscription et les places disponibles. Avec la session club, je retrouve les participants et les commandes liées à ce rôle. Je montre aussi l’utilisation des commandes au clavier.</a:t>
            </a:r>
          </a:p>
          <a:p/>
          <a:p>
            <a:r>
              <a:t>J’utilise une base de démonstration avec des comptes de test. Le résultat attendu reste concret : un grimpeur comprend ce qu’il peut faire, et un club retrouve les informations nécessaires pour organiser sa sortie.</a:t>
            </a:r>
          </a:p>
          <a:p/>
          <a:p>
            <a:r>
              <a:t>Ces critères me servent ensuite à faire le bilan de la démonstration et à identifier les éventuelles réserves.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maintenant au logiciel. Je commence avec une session grimpeur pour vous montrer la recherche de partenaires. Ensuite, je passe sur un événement, puis sur la session club pour retrouver les participants.</a:t>
            </a:r>
          </a:p>
          <a:p/>
          <a:p>
            <a:r>
              <a:t>Je garde les mêmes critères tout au long du parcours : des filtres cohérents, un état compréhensible et des actions adaptées au rôle de l’utilisateur.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 par le profil du grimpeur. Ici, je retrouve sa pratique et son niveau : ce sont les informations qui donnent du contexte à la recherche.</a:t>
            </a:r>
          </a:p>
          <a:p/>
          <a:p>
            <a:r>
              <a:t>Je vais maintenant dans les partenaires. Je sélectionne une discipline et je regarde comment la liste s’adapte. Je peux consulter un profil pour vérifier s’il correspond à la sortie que je veux préparer.</a:t>
            </a:r>
          </a:p>
          <a:p/>
          <a:p>
            <a:r>
              <a:t>Je passe ensuite à la demande de partenariat. Ce que je veux rendre clair pour l’utilisateur, c’est l’état de sa demande : il doit savoir où il en est avant de poursuivre. Si une demande existe déjà, je présente l’état affiché ; je n’ai pas besoin d’en créer une deuxième pour montrer ce fonctionnement.</a:t>
            </a:r>
          </a:p>
          <a:p/>
          <a:p>
            <a:r>
              <a:t>Le parcours peut ensuite se poursuivre vers les événements pour préparer une sortie.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maintenant aux événements. Sur la fiche, je retrouve les informations de la sortie et les places disponibles. Je peux vérifier l’action proposée pour l’inscription et l’état affiché pour ce compte.</a:t>
            </a:r>
          </a:p>
          <a:p/>
          <a:p>
            <a:r>
              <a:t>Si le compte est déjà inscrit, je peux le voir directement. Sinon, je peux effectuer l’inscription et vérifier la confirmation.</a:t>
            </a:r>
          </a:p>
          <a:p/>
          <a:p>
            <a:r>
              <a:t>Je passe ensuite à la session club. L’objectif est de retrouver les participants et les commandes de gestion adaptées à ce rôle. Le grimpeur et le club n’ont pas les mêmes actions à réaliser.</a:t>
            </a:r>
          </a:p>
          <a:p/>
          <a:p>
            <a:r>
              <a:t>Je termine avec les commandes au clavier pour montrer le déplacement du focus et leur activation. Je peux maintenant revenir à mes critères et distinguer les résultats observés des points qui resteraient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terminer, je reviens aux critères que nous avons suivis : les partenaires, l’inscription, les participants et l’utilisation au clavier.</a:t>
            </a:r>
          </a:p>
          <a:p/>
          <a:p>
            <a:r>
              <a:t>À partir du résultat observé, je peux demander une décision : accepté, accepté avec réserve ou refusé. Si un point reste à corriger, je le décris précisément et je lui associe une action, un responsable et une prochaine vérification.</a:t>
            </a:r>
          </a:p>
          <a:p/>
          <a:p>
            <a:r>
              <a:t>Ce que je retiens de Spity, c’est l’importance de relier l’organisation du travail à un résultat utilisable. Les tickets me donnent une vue sur le travail, les contrôles me permettent de vérifier les changements et la démonstration me ramène au besoin de l’utilisateur.</a:t>
            </a:r>
          </a:p>
          <a:p/>
          <a:p>
            <a:r>
              <a:t>Merci pour votre attention. Je suis prêt à répondre à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synthèse reprend les éléments sur lesquels je m’appuie pour piloter Spity : une organisation du travail, des indicateurs, des choix argumentés et des critères de validation.</a:t>
            </a:r>
          </a:p>
          <a:p/>
          <a:p>
            <a:r>
              <a:t>Le projet a été développé en solo. J’ai utilisé les traces réelles pour présenter l’avancement et l’arbitrage de navigation. Les mises en situation m’ont permis d’expliquer comment je préparerais une collaboration, une formation et un suivi client.</a:t>
            </a:r>
          </a:p>
          <a:p/>
          <a:p>
            <a:r>
              <a:t>Si vous souhaitez revenir sur un point, je peux reprendre le tableau, le calcul ou la décision correspondante.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étapes que je peux retrouver dans l’historique du dépôt. Les fondations techniques sont enregistrées en janvier. En mai apparaissent les premiers parcours, avec la connexion, les profils et les lieux.</a:t>
            </a:r>
          </a:p>
          <a:p/>
          <a:p>
            <a:r>
              <a:t>En juillet, je retrouve le matching, les événements et la recette automatisée. En août, les changements portent davantage sur la maintenance et la supervision. En septembre, le produit s’enrichit avec les médias, l’administration et les contributions aux falaises.</a:t>
            </a:r>
          </a:p>
          <a:p/>
          <a:p>
            <a:r>
              <a:t>Cette frise situe les versions enregistrées. Elle est distincte du planning annuel reconstruit : une date de commit me dit quand un changement a été enregistré, mais pas combien d’heures il a demandé.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une compétence de recette restait indisponible après la formation, je préparerais ce besoin de renfort dans le cadre de la mise en situation.</a:t>
            </a:r>
          </a:p>
          <a:p/>
          <a:p>
            <a:r>
              <a:t>Je commencerais par préciser le déclencheur et la mission : quatre heures de recette sur les parcours et le clavier, avec un résultat reproductible. Je demanderais un profil capable de décrire une anomalie et de communiquer clairement par écrit.</a:t>
            </a:r>
          </a:p>
          <a:p/>
          <a:p>
            <a:r>
              <a:t>Pour la sélection, je proposerais un exercice accessible sur une base de test. À l’accueil, je fournirais les critères, les accès nécessaires et un point de restitution.</a:t>
            </a:r>
          </a:p>
          <a:p/>
          <a:p>
            <a:r>
              <a:t>À 45 euros de l’heure, le coût indicatif serait de 180 euros, à arbitrer en plus du budget de base. C’est une fiche conditionnelle : je n’ai pas engagé de recrutement dans mon projet solo.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SPITY · BLOC 3</a:t>
            </a:r>
          </a:p>
        </p:txBody>
      </p:sp>
      <p:cxnSp>
        <p:nvCxnSpPr>
          <p:cNvPr id="4" name="Connector 3"/>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6" name="TextBox 5"/>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01</a:t>
            </a:r>
          </a:p>
        </p:txBody>
      </p:sp>
      <p:pic>
        <p:nvPicPr>
          <p:cNvPr id="7" name="Picture 6" descr="escalade-falaise-coucher-soleil"/>
          <p:cNvPicPr>
            <a:picLocks noChangeAspect="1"/>
          </p:cNvPicPr>
          <p:nvPr/>
        </p:nvPicPr>
        <p:blipFill>
          <a:blip r:embed="rId3"/>
          <a:srcRect t="5944" b="5944"/>
          <a:stretch>
            <a:fillRect/>
          </a:stretch>
        </p:blipFill>
        <p:spPr>
          <a:xfrm>
            <a:off x="8092440" y="0"/>
            <a:ext cx="6537960" cy="7680960"/>
          </a:xfrm>
          <a:prstGeom prst="rect">
            <a:avLst/>
          </a:prstGeom>
        </p:spPr>
      </p:pic>
      <p:sp>
        <p:nvSpPr>
          <p:cNvPr id="8" name="Rounded Rectangle 7"/>
          <p:cNvSpPr/>
          <p:nvPr/>
        </p:nvSpPr>
        <p:spPr>
          <a:xfrm>
            <a:off x="685800" y="1463040"/>
            <a:ext cx="3291840" cy="3291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522476"/>
            <a:ext cx="3054096" cy="219456"/>
          </a:xfrm>
          <a:prstGeom prst="rect">
            <a:avLst/>
          </a:prstGeom>
          <a:noFill/>
        </p:spPr>
        <p:txBody>
          <a:bodyPr wrap="square" lIns="0" rIns="0" tIns="0" bIns="0">
            <a:spAutoFit/>
          </a:bodyPr>
          <a:lstStyle/>
          <a:p>
            <a:pPr algn="l">
              <a:spcAft>
                <a:spcPts val="400"/>
              </a:spcAft>
              <a:defRPr sz="1000" b="1">
                <a:solidFill>
                  <a:srgbClr val="D8F28B"/>
                </a:solidFill>
                <a:latin typeface="Arial"/>
              </a:defRPr>
            </a:pPr>
            <a:r>
              <a:t>PROJET SOLO · 1 AN</a:t>
            </a:r>
          </a:p>
        </p:txBody>
      </p:sp>
      <p:sp>
        <p:nvSpPr>
          <p:cNvPr id="10" name="TextBox 9"/>
          <p:cNvSpPr txBox="1"/>
          <p:nvPr/>
        </p:nvSpPr>
        <p:spPr>
          <a:xfrm>
            <a:off x="640080" y="2286000"/>
            <a:ext cx="7315200" cy="2834640"/>
          </a:xfrm>
          <a:prstGeom prst="rect">
            <a:avLst/>
          </a:prstGeom>
          <a:noFill/>
        </p:spPr>
        <p:txBody>
          <a:bodyPr wrap="square" lIns="0" rIns="0" tIns="0" bIns="0">
            <a:spAutoFit/>
          </a:bodyPr>
          <a:lstStyle/>
          <a:p>
            <a:pPr algn="l">
              <a:spcAft>
                <a:spcPts val="400"/>
              </a:spcAft>
              <a:defRPr sz="5500" b="1">
                <a:solidFill>
                  <a:srgbClr val="FFFFFF"/>
                </a:solidFill>
                <a:latin typeface="Arial"/>
              </a:defRPr>
            </a:pPr>
            <a:r>
              <a:t>Une année</a:t>
            </a:r>
          </a:p>
          <a:p>
            <a:pPr algn="l">
              <a:spcAft>
                <a:spcPts val="400"/>
              </a:spcAft>
              <a:defRPr sz="5500" b="1">
                <a:solidFill>
                  <a:srgbClr val="FFFFFF"/>
                </a:solidFill>
                <a:latin typeface="Arial"/>
              </a:defRPr>
            </a:pPr>
            <a:r>
              <a:t>pour construire</a:t>
            </a:r>
          </a:p>
          <a:p>
            <a:pPr algn="l">
              <a:spcAft>
                <a:spcPts val="400"/>
              </a:spcAft>
              <a:defRPr sz="5500" b="1">
                <a:solidFill>
                  <a:srgbClr val="FFFFFF"/>
                </a:solidFill>
                <a:latin typeface="Arial"/>
              </a:defRPr>
            </a:pPr>
            <a:r>
              <a:t>Spity.</a:t>
            </a:r>
          </a:p>
        </p:txBody>
      </p:sp>
      <p:sp>
        <p:nvSpPr>
          <p:cNvPr id="11" name="TextBox 10"/>
          <p:cNvSpPr txBox="1"/>
          <p:nvPr/>
        </p:nvSpPr>
        <p:spPr>
          <a:xfrm>
            <a:off x="685800" y="5486400"/>
            <a:ext cx="6720840" cy="914400"/>
          </a:xfrm>
          <a:prstGeom prst="rect">
            <a:avLst/>
          </a:prstGeom>
          <a:noFill/>
        </p:spPr>
        <p:txBody>
          <a:bodyPr wrap="square" lIns="0" rIns="0" tIns="0" bIns="0">
            <a:spAutoFit/>
          </a:bodyPr>
          <a:lstStyle/>
          <a:p>
            <a:pPr algn="l">
              <a:spcAft>
                <a:spcPts val="400"/>
              </a:spcAft>
              <a:defRPr sz="2400" b="0">
                <a:solidFill>
                  <a:srgbClr val="C7D6CB"/>
                </a:solidFill>
                <a:latin typeface="Arial"/>
              </a:defRPr>
            </a:pPr>
            <a:r>
              <a:t>Du besoin des grimpeurs à un site déployé.</a:t>
            </a:r>
          </a:p>
        </p:txBody>
      </p:sp>
      <p:sp>
        <p:nvSpPr>
          <p:cNvPr id="12" name="TextBox 11"/>
          <p:cNvSpPr txBox="1"/>
          <p:nvPr/>
        </p:nvSpPr>
        <p:spPr>
          <a:xfrm>
            <a:off x="685800" y="6812280"/>
            <a:ext cx="6400800" cy="50292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Dorian Joly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LES SEPT COMPÉTENCES DU BLOC 3</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Sommaire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Du besoin utilisateur à la validation du logiciel.</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02</a:t>
            </a:r>
          </a:p>
        </p:txBody>
      </p:sp>
      <p:sp>
        <p:nvSpPr>
          <p:cNvPr id="9" name="TextBox 8"/>
          <p:cNvSpPr txBox="1"/>
          <p:nvPr/>
        </p:nvSpPr>
        <p:spPr>
          <a:xfrm>
            <a:off x="685800" y="2770632"/>
            <a:ext cx="3931920" cy="2011680"/>
          </a:xfrm>
          <a:prstGeom prst="rect">
            <a:avLst/>
          </a:prstGeom>
          <a:noFill/>
        </p:spPr>
        <p:txBody>
          <a:bodyPr wrap="square" lIns="0" rIns="0" tIns="0" bIns="0">
            <a:spAutoFit/>
          </a:bodyPr>
          <a:lstStyle/>
          <a:p>
            <a:pPr algn="l">
              <a:spcAft>
                <a:spcPts val="400"/>
              </a:spcAft>
              <a:defRPr sz="4100" b="1">
                <a:solidFill>
                  <a:srgbClr val="D8F28B"/>
                </a:solidFill>
                <a:latin typeface="Arial"/>
              </a:defRPr>
            </a:pPr>
            <a:r>
              <a:t>Du besoin</a:t>
            </a:r>
          </a:p>
          <a:p>
            <a:pPr algn="l">
              <a:spcAft>
                <a:spcPts val="400"/>
              </a:spcAft>
              <a:defRPr sz="4100" b="1">
                <a:solidFill>
                  <a:srgbClr val="D8F28B"/>
                </a:solidFill>
                <a:latin typeface="Arial"/>
              </a:defRPr>
            </a:pPr>
            <a:r>
              <a:t>à l’usage.</a:t>
            </a:r>
          </a:p>
        </p:txBody>
      </p:sp>
      <p:sp>
        <p:nvSpPr>
          <p:cNvPr id="10" name="TextBox 9"/>
          <p:cNvSpPr txBox="1"/>
          <p:nvPr/>
        </p:nvSpPr>
        <p:spPr>
          <a:xfrm>
            <a:off x="731520" y="5166360"/>
            <a:ext cx="3794760" cy="1005840"/>
          </a:xfrm>
          <a:prstGeom prst="rect">
            <a:avLst/>
          </a:prstGeom>
          <a:noFill/>
        </p:spPr>
        <p:txBody>
          <a:bodyPr wrap="square" lIns="0" rIns="0" tIns="0" bIns="0">
            <a:spAutoFit/>
          </a:bodyPr>
          <a:lstStyle/>
          <a:p>
            <a:pPr algn="l">
              <a:spcAft>
                <a:spcPts val="400"/>
              </a:spcAft>
              <a:defRPr sz="2100" b="0">
                <a:solidFill>
                  <a:srgbClr val="C7D6CB"/>
                </a:solidFill>
                <a:latin typeface="Arial"/>
              </a:defRPr>
            </a:pPr>
            <a:r>
              <a:t>Organiser le travail.</a:t>
            </a:r>
          </a:p>
          <a:p>
            <a:pPr algn="l">
              <a:spcAft>
                <a:spcPts val="400"/>
              </a:spcAft>
              <a:defRPr sz="2100" b="0">
                <a:solidFill>
                  <a:srgbClr val="C7D6CB"/>
                </a:solidFill>
                <a:latin typeface="Arial"/>
              </a:defRPr>
            </a:pPr>
            <a:r>
              <a:t>Vérifier le résultat.</a:t>
            </a:r>
          </a:p>
        </p:txBody>
      </p:sp>
      <p:sp>
        <p:nvSpPr>
          <p:cNvPr id="11" name="TextBox 10"/>
          <p:cNvSpPr txBox="1"/>
          <p:nvPr/>
        </p:nvSpPr>
        <p:spPr>
          <a:xfrm>
            <a:off x="4892040" y="244144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01</a:t>
            </a:r>
          </a:p>
        </p:txBody>
      </p:sp>
      <p:sp>
        <p:nvSpPr>
          <p:cNvPr id="12" name="TextBox 11"/>
          <p:cNvSpPr txBox="1"/>
          <p:nvPr/>
        </p:nvSpPr>
        <p:spPr>
          <a:xfrm>
            <a:off x="5623560" y="244144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Planifier le projet</a:t>
            </a:r>
          </a:p>
        </p:txBody>
      </p:sp>
      <p:sp>
        <p:nvSpPr>
          <p:cNvPr id="13" name="TextBox 12"/>
          <p:cNvSpPr txBox="1"/>
          <p:nvPr/>
        </p:nvSpPr>
        <p:spPr>
          <a:xfrm>
            <a:off x="11521440" y="252374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C.3.1</a:t>
            </a:r>
          </a:p>
        </p:txBody>
      </p:sp>
      <p:cxnSp>
        <p:nvCxnSpPr>
          <p:cNvPr id="14" name="Connector 13"/>
          <p:cNvCxnSpPr/>
          <p:nvPr/>
        </p:nvCxnSpPr>
        <p:spPr>
          <a:xfrm>
            <a:off x="5623560" y="294436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892040" y="303580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02</a:t>
            </a:r>
          </a:p>
        </p:txBody>
      </p:sp>
      <p:sp>
        <p:nvSpPr>
          <p:cNvPr id="16" name="TextBox 15"/>
          <p:cNvSpPr txBox="1"/>
          <p:nvPr/>
        </p:nvSpPr>
        <p:spPr>
          <a:xfrm>
            <a:off x="5623560" y="303580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Suivre l’avancement</a:t>
            </a:r>
          </a:p>
        </p:txBody>
      </p:sp>
      <p:sp>
        <p:nvSpPr>
          <p:cNvPr id="17" name="TextBox 16"/>
          <p:cNvSpPr txBox="1"/>
          <p:nvPr/>
        </p:nvSpPr>
        <p:spPr>
          <a:xfrm>
            <a:off x="11521440" y="3118103"/>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C3.2.1</a:t>
            </a:r>
          </a:p>
        </p:txBody>
      </p:sp>
      <p:cxnSp>
        <p:nvCxnSpPr>
          <p:cNvPr id="18" name="Connector 17"/>
          <p:cNvCxnSpPr/>
          <p:nvPr/>
        </p:nvCxnSpPr>
        <p:spPr>
          <a:xfrm>
            <a:off x="5623560" y="353872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892040" y="363016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03</a:t>
            </a:r>
          </a:p>
        </p:txBody>
      </p:sp>
      <p:sp>
        <p:nvSpPr>
          <p:cNvPr id="20" name="TextBox 19"/>
          <p:cNvSpPr txBox="1"/>
          <p:nvPr/>
        </p:nvSpPr>
        <p:spPr>
          <a:xfrm>
            <a:off x="5623560" y="363016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Arbitrer</a:t>
            </a:r>
          </a:p>
        </p:txBody>
      </p:sp>
      <p:sp>
        <p:nvSpPr>
          <p:cNvPr id="21" name="TextBox 20"/>
          <p:cNvSpPr txBox="1"/>
          <p:nvPr/>
        </p:nvSpPr>
        <p:spPr>
          <a:xfrm>
            <a:off x="11521440" y="3712463"/>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C3.2.2</a:t>
            </a:r>
          </a:p>
        </p:txBody>
      </p:sp>
      <p:cxnSp>
        <p:nvCxnSpPr>
          <p:cNvPr id="22" name="Connector 21"/>
          <p:cNvCxnSpPr/>
          <p:nvPr/>
        </p:nvCxnSpPr>
        <p:spPr>
          <a:xfrm>
            <a:off x="5623560" y="4133087"/>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892040" y="422452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04</a:t>
            </a:r>
          </a:p>
        </p:txBody>
      </p:sp>
      <p:sp>
        <p:nvSpPr>
          <p:cNvPr id="24" name="TextBox 23"/>
          <p:cNvSpPr txBox="1"/>
          <p:nvPr/>
        </p:nvSpPr>
        <p:spPr>
          <a:xfrm>
            <a:off x="5623560" y="422452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Manager et communiquer</a:t>
            </a:r>
          </a:p>
        </p:txBody>
      </p:sp>
      <p:sp>
        <p:nvSpPr>
          <p:cNvPr id="25" name="TextBox 24"/>
          <p:cNvSpPr txBox="1"/>
          <p:nvPr/>
        </p:nvSpPr>
        <p:spPr>
          <a:xfrm>
            <a:off x="11521440" y="430682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C3.3.1</a:t>
            </a:r>
          </a:p>
        </p:txBody>
      </p:sp>
      <p:cxnSp>
        <p:nvCxnSpPr>
          <p:cNvPr id="26" name="Connector 25"/>
          <p:cNvCxnSpPr/>
          <p:nvPr/>
        </p:nvCxnSpPr>
        <p:spPr>
          <a:xfrm>
            <a:off x="5623560" y="472744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892040" y="481888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05</a:t>
            </a:r>
          </a:p>
        </p:txBody>
      </p:sp>
      <p:sp>
        <p:nvSpPr>
          <p:cNvPr id="28" name="TextBox 27"/>
          <p:cNvSpPr txBox="1"/>
          <p:nvPr/>
        </p:nvSpPr>
        <p:spPr>
          <a:xfrm>
            <a:off x="5623560" y="481888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Développer les compétences</a:t>
            </a:r>
          </a:p>
        </p:txBody>
      </p:sp>
      <p:sp>
        <p:nvSpPr>
          <p:cNvPr id="29" name="TextBox 28"/>
          <p:cNvSpPr txBox="1"/>
          <p:nvPr/>
        </p:nvSpPr>
        <p:spPr>
          <a:xfrm>
            <a:off x="11521440" y="4901183"/>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C3.3.2</a:t>
            </a:r>
          </a:p>
        </p:txBody>
      </p:sp>
      <p:cxnSp>
        <p:nvCxnSpPr>
          <p:cNvPr id="30" name="Connector 29"/>
          <p:cNvCxnSpPr/>
          <p:nvPr/>
        </p:nvCxnSpPr>
        <p:spPr>
          <a:xfrm>
            <a:off x="5623560" y="5321807"/>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892040" y="541324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06</a:t>
            </a:r>
          </a:p>
        </p:txBody>
      </p:sp>
      <p:sp>
        <p:nvSpPr>
          <p:cNvPr id="32" name="TextBox 31"/>
          <p:cNvSpPr txBox="1"/>
          <p:nvPr/>
        </p:nvSpPr>
        <p:spPr>
          <a:xfrm>
            <a:off x="5623560" y="541324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Suivre avec le client</a:t>
            </a:r>
          </a:p>
        </p:txBody>
      </p:sp>
      <p:sp>
        <p:nvSpPr>
          <p:cNvPr id="33" name="TextBox 32"/>
          <p:cNvSpPr txBox="1"/>
          <p:nvPr/>
        </p:nvSpPr>
        <p:spPr>
          <a:xfrm>
            <a:off x="11521440" y="549554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C3.4.1</a:t>
            </a:r>
          </a:p>
        </p:txBody>
      </p:sp>
      <p:cxnSp>
        <p:nvCxnSpPr>
          <p:cNvPr id="34" name="Connector 33"/>
          <p:cNvCxnSpPr/>
          <p:nvPr/>
        </p:nvCxnSpPr>
        <p:spPr>
          <a:xfrm>
            <a:off x="5623560" y="591616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892040" y="600760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07</a:t>
            </a:r>
          </a:p>
        </p:txBody>
      </p:sp>
      <p:sp>
        <p:nvSpPr>
          <p:cNvPr id="36" name="TextBox 35"/>
          <p:cNvSpPr txBox="1"/>
          <p:nvPr/>
        </p:nvSpPr>
        <p:spPr>
          <a:xfrm>
            <a:off x="5623560" y="600760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Démontrer et valider</a:t>
            </a:r>
          </a:p>
        </p:txBody>
      </p:sp>
      <p:sp>
        <p:nvSpPr>
          <p:cNvPr id="37" name="TextBox 36"/>
          <p:cNvSpPr txBox="1"/>
          <p:nvPr/>
        </p:nvSpPr>
        <p:spPr>
          <a:xfrm>
            <a:off x="11521440" y="608990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C3.4.2</a:t>
            </a:r>
          </a:p>
        </p:txBody>
      </p:sp>
      <p:cxnSp>
        <p:nvCxnSpPr>
          <p:cNvPr id="38" name="Connector 37"/>
          <p:cNvCxnSpPr/>
          <p:nvPr/>
        </p:nvCxnSpPr>
        <p:spPr>
          <a:xfrm>
            <a:off x="5623560" y="651052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PRÉSENTATION / SPITY, PROJET SOLO SUR UN AN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Relier les grimpeurs. Simplifier les sorties.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Deux besoins concrets pour guider les fonctionnalités.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03</a:t>
            </a:r>
          </a:p>
        </p:txBody>
      </p:sp>
      <p:sp>
        <p:nvSpPr>
          <p:cNvPr id="9" name="Rounded Rectangle 8"/>
          <p:cNvSpPr/>
          <p:nvPr/>
        </p:nvSpPr>
        <p:spPr>
          <a:xfrm>
            <a:off x="640080" y="2560320"/>
            <a:ext cx="164592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619756"/>
            <a:ext cx="140817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GRIMPEUR</a:t>
            </a:r>
          </a:p>
        </p:txBody>
      </p:sp>
      <p:sp>
        <p:nvSpPr>
          <p:cNvPr id="11" name="TextBox 10"/>
          <p:cNvSpPr txBox="1"/>
          <p:nvPr/>
        </p:nvSpPr>
        <p:spPr>
          <a:xfrm>
            <a:off x="640080" y="3063239"/>
            <a:ext cx="5212080" cy="54864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Trouver un partenaire</a:t>
            </a:r>
          </a:p>
        </p:txBody>
      </p:sp>
      <p:sp>
        <p:nvSpPr>
          <p:cNvPr id="12" name="TextBox 11"/>
          <p:cNvSpPr txBox="1"/>
          <p:nvPr/>
        </p:nvSpPr>
        <p:spPr>
          <a:xfrm>
            <a:off x="640080" y="3630168"/>
            <a:ext cx="5212080" cy="82296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Discipline, niveau et profil pour préparer une sortie.</a:t>
            </a:r>
          </a:p>
        </p:txBody>
      </p:sp>
      <p:sp>
        <p:nvSpPr>
          <p:cNvPr id="13" name="Rounded Rectangle 12"/>
          <p:cNvSpPr/>
          <p:nvPr/>
        </p:nvSpPr>
        <p:spPr>
          <a:xfrm>
            <a:off x="640080" y="4434840"/>
            <a:ext cx="164592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494276"/>
            <a:ext cx="140817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CLUB</a:t>
            </a:r>
          </a:p>
        </p:txBody>
      </p:sp>
      <p:sp>
        <p:nvSpPr>
          <p:cNvPr id="15" name="TextBox 14"/>
          <p:cNvSpPr txBox="1"/>
          <p:nvPr/>
        </p:nvSpPr>
        <p:spPr>
          <a:xfrm>
            <a:off x="640080" y="4937759"/>
            <a:ext cx="5212080" cy="54864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Organiser un événement</a:t>
            </a:r>
          </a:p>
        </p:txBody>
      </p:sp>
      <p:sp>
        <p:nvSpPr>
          <p:cNvPr id="16" name="TextBox 15"/>
          <p:cNvSpPr txBox="1"/>
          <p:nvPr/>
        </p:nvSpPr>
        <p:spPr>
          <a:xfrm>
            <a:off x="640080" y="5504688"/>
            <a:ext cx="5212080" cy="82296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Places disponibles, inscriptions et liste des participants.</a:t>
            </a:r>
          </a:p>
        </p:txBody>
      </p:sp>
      <p:sp>
        <p:nvSpPr>
          <p:cNvPr id="17" name="Rounded Rectangle 16"/>
          <p:cNvSpPr/>
          <p:nvPr/>
        </p:nvSpPr>
        <p:spPr>
          <a:xfrm>
            <a:off x="6263640" y="2487168"/>
            <a:ext cx="7772400" cy="4407408"/>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eux-2026-09-15"/>
          <p:cNvPicPr>
            <a:picLocks noChangeAspect="1"/>
          </p:cNvPicPr>
          <p:nvPr/>
        </p:nvPicPr>
        <p:blipFill>
          <a:blip r:embed="rId3"/>
          <a:stretch>
            <a:fillRect/>
          </a:stretch>
        </p:blipFill>
        <p:spPr>
          <a:xfrm>
            <a:off x="7213518" y="2633472"/>
            <a:ext cx="5872642" cy="4078224"/>
          </a:xfrm>
          <a:prstGeom prst="rect">
            <a:avLst/>
          </a:prstGeom>
        </p:spPr>
      </p:pic>
      <p:sp>
        <p:nvSpPr>
          <p:cNvPr id="19" name="Rectangle 18"/>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Parcours présenté : partenaire → événement → inscription.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C.3.1 / PLANIFIER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Une méthode adaptée au travail solo</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Un flux de tâches, des jalons et des contrôles.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04</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FLUX</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Linear</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Rendre visibles les priorités et les états ; limiter la dispersion.</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CALENDRIER</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Rétroplanning</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Visualiser les phases, dépendances et points de validation.</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QUALITÉ</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Git + CI</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Versionner les changements et conserver les résultats des contrôles.</a:t>
            </a:r>
          </a:p>
        </p:txBody>
      </p:sp>
      <p:sp>
        <p:nvSpPr>
          <p:cNvPr id="21" name="Rectangle 20"/>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Relier les priorités du backlog aux jalons et aux résultats des contrôles.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C.3.1 / PLANNING DÉTAILLÉ</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Planifier les travaux sur une année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Planning annuel reconstruit · neuf lots issus du cadrage.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05</a:t>
            </a:r>
          </a:p>
        </p:txBody>
      </p:sp>
      <p:graphicFrame>
        <p:nvGraphicFramePr>
          <p:cNvPr id="9" name="Chart 8"/>
          <p:cNvGraphicFramePr>
            <a:graphicFrameLocks noGrp="1"/>
          </p:cNvGraphicFramePr>
          <p:nvPr/>
        </p:nvGraphicFramePr>
        <p:xfrm>
          <a:off x="548640" y="2423160"/>
          <a:ext cx="10058400" cy="4114800"/>
        </p:xfrm>
        <a:graphic>
          <a:graphicData uri="http://schemas.openxmlformats.org/drawingml/2006/chart">
            <c:chart xmlns:c="http://schemas.openxmlformats.org/drawingml/2006/chart" r:id="rId3"/>
          </a:graphicData>
        </a:graphic>
      </p:graphicFrame>
      <p:sp>
        <p:nvSpPr>
          <p:cNvPr id="10" name="TextBox 9"/>
          <p:cNvSpPr txBox="1"/>
          <p:nvPr/>
        </p:nvSpPr>
        <p:spPr>
          <a:xfrm>
            <a:off x="822960" y="6547104"/>
            <a:ext cx="9784080" cy="246888"/>
          </a:xfrm>
          <a:prstGeom prst="rect">
            <a:avLst/>
          </a:prstGeom>
          <a:noFill/>
        </p:spPr>
        <p:txBody>
          <a:bodyPr wrap="square" lIns="0" rIns="0" tIns="0" bIns="0">
            <a:spAutoFit/>
          </a:bodyPr>
          <a:lstStyle/>
          <a:p>
            <a:pPr algn="l">
              <a:spcAft>
                <a:spcPts val="400"/>
              </a:spcAft>
              <a:defRPr sz="1100" b="1">
                <a:solidFill>
                  <a:srgbClr val="5C6C65"/>
                </a:solidFill>
                <a:latin typeface="Arial"/>
              </a:defRPr>
            </a:pPr>
            <a:r>
              <a:t>MOIS RELATIFS · PLANNING RÉVISÉ DU CAS</a:t>
            </a:r>
          </a:p>
        </p:txBody>
      </p:sp>
      <p:sp>
        <p:nvSpPr>
          <p:cNvPr id="11" name="TextBox 10"/>
          <p:cNvSpPr txBox="1"/>
          <p:nvPr/>
        </p:nvSpPr>
        <p:spPr>
          <a:xfrm>
            <a:off x="10881360" y="2770632"/>
            <a:ext cx="320040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82</a:t>
            </a:r>
          </a:p>
        </p:txBody>
      </p:sp>
      <p:sp>
        <p:nvSpPr>
          <p:cNvPr id="12" name="TextBox 11"/>
          <p:cNvSpPr txBox="1"/>
          <p:nvPr/>
        </p:nvSpPr>
        <p:spPr>
          <a:xfrm>
            <a:off x="10881360" y="3703320"/>
            <a:ext cx="320040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j-h estimés B1</a:t>
            </a:r>
          </a:p>
        </p:txBody>
      </p:sp>
      <p:sp>
        <p:nvSpPr>
          <p:cNvPr id="13" name="TextBox 12"/>
          <p:cNvSpPr txBox="1"/>
          <p:nvPr/>
        </p:nvSpPr>
        <p:spPr>
          <a:xfrm>
            <a:off x="10881360" y="4434840"/>
            <a:ext cx="3200400" cy="100584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Dépendances :</a:t>
            </a:r>
          </a:p>
          <a:p>
            <a:pPr algn="l">
              <a:spcAft>
                <a:spcPts val="400"/>
              </a:spcAft>
              <a:defRPr sz="1600" b="0">
                <a:solidFill>
                  <a:srgbClr val="5C6C65"/>
                </a:solidFill>
                <a:latin typeface="Arial"/>
              </a:defRPr>
            </a:pPr>
            <a:r>
              <a:t>accès → profils</a:t>
            </a:r>
          </a:p>
          <a:p>
            <a:pPr algn="l">
              <a:spcAft>
                <a:spcPts val="400"/>
              </a:spcAft>
              <a:defRPr sz="1600" b="0">
                <a:solidFill>
                  <a:srgbClr val="5C6C65"/>
                </a:solidFill>
                <a:latin typeface="Arial"/>
              </a:defRPr>
            </a:pPr>
            <a:r>
              <a:t>événement → inscription</a:t>
            </a:r>
          </a:p>
        </p:txBody>
      </p:sp>
      <p:sp>
        <p:nvSpPr>
          <p:cNvPr id="14" name="Rectangle 13"/>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Étude M1 · mesure M2 puis M10–11 · conception M2–3 · réalisation M3–10 · restitution M12.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C.3.1 / RESPONSABILITÉS</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Affecter les missions et prévoir les moyens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Projet solo · mise en situation d’une recette avec un testeur ponctuel.</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06</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Mission</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Réalise / décide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Moyens et adaptation</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Cadrage, développement, livraison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 R / A</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Poste, Git, Next.js, MariaDB, Docker, VPS</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Recette ponctuelle — simulée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Testeur fictif : R ; Dorian : A</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Critères écrits, comptes dédiés et retours reproductibles</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Décision de validation — simulée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Représentant club fictif : A</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prépare la démonstration et les réserves</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Accessibilité — simulée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Persona testeur malentendant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Sous-titres vérifiés, écrit, prise de parole organisée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R = réalise ; A = décide. Budget initial : 44 250 € estimés dans le cadrage.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C3.2.1 / MESURER L’AVANCEMENT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Linear : un état daté du travail</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Observation du 14 septembre 2026 ; un ticket annulé exclu du dénominateur.</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07</a:t>
            </a:r>
          </a:p>
        </p:txBody>
      </p:sp>
      <p:graphicFrame>
        <p:nvGraphicFramePr>
          <p:cNvPr id="9" name="Chart 8"/>
          <p:cNvGraphicFramePr>
            <a:graphicFrameLocks noGrp="1"/>
          </p:cNvGraphicFramePr>
          <p:nvPr/>
        </p:nvGraphicFramePr>
        <p:xfrm>
          <a:off x="594360" y="2651760"/>
          <a:ext cx="9738360" cy="3657600"/>
        </p:xfrm>
        <a:graphic>
          <a:graphicData uri="http://schemas.openxmlformats.org/drawingml/2006/chart">
            <c:chart xmlns:c="http://schemas.openxmlformats.org/drawingml/2006/chart" r:id="rId3"/>
          </a:graphicData>
        </a:graphic>
      </p:graphicFrame>
      <p:sp>
        <p:nvSpPr>
          <p:cNvPr id="10" name="TextBox 9"/>
          <p:cNvSpPr txBox="1"/>
          <p:nvPr/>
        </p:nvSpPr>
        <p:spPr>
          <a:xfrm>
            <a:off x="10652760" y="2834640"/>
            <a:ext cx="338328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12 / 24</a:t>
            </a:r>
          </a:p>
        </p:txBody>
      </p:sp>
      <p:sp>
        <p:nvSpPr>
          <p:cNvPr id="11" name="TextBox 10"/>
          <p:cNvSpPr txBox="1"/>
          <p:nvPr/>
        </p:nvSpPr>
        <p:spPr>
          <a:xfrm>
            <a:off x="10652760" y="3767328"/>
            <a:ext cx="338328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tickets terminés</a:t>
            </a:r>
          </a:p>
        </p:txBody>
      </p:sp>
      <p:sp>
        <p:nvSpPr>
          <p:cNvPr id="12" name="TextBox 11"/>
          <p:cNvSpPr txBox="1"/>
          <p:nvPr/>
        </p:nvSpPr>
        <p:spPr>
          <a:xfrm>
            <a:off x="10652760" y="4498848"/>
            <a:ext cx="3383280" cy="100584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14 septembre 2026</a:t>
            </a:r>
          </a:p>
          <a:p>
            <a:pPr algn="l">
              <a:spcAft>
                <a:spcPts val="400"/>
              </a:spcAft>
              <a:defRPr sz="1600" b="0">
                <a:solidFill>
                  <a:srgbClr val="5C6C65"/>
                </a:solidFill>
                <a:latin typeface="Arial"/>
              </a:defRPr>
            </a:pPr>
            <a:r>
              <a:t>1 annulé exclu</a:t>
            </a:r>
          </a:p>
          <a:p>
            <a:pPr algn="l">
              <a:spcAft>
                <a:spcPts val="400"/>
              </a:spcAft>
              <a:defRPr sz="1600" b="0">
                <a:solidFill>
                  <a:srgbClr val="5C6C65"/>
                </a:solidFill>
                <a:latin typeface="Arial"/>
              </a:defRPr>
            </a:pPr>
            <a:r>
              <a:t>Tailles non pondérées</a:t>
            </a:r>
          </a:p>
        </p:txBody>
      </p:sp>
      <p:sp>
        <p:nvSpPr>
          <p:cNvPr id="13" name="Rectangle 12"/>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12 tickets terminés sur 24 · indicateur non pondéré, à rapprocher de la recette.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C3.2.1 / COÛTS, DÉLAIS ET RESSOURCES</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Un tableau de bord pour décider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suivi annuel au mois 10.</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08</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Indicateur</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Référence → prévision</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Lecture et action</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Charge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82 → 86 j-h</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58 consommés simulés + 28 restants</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Coût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44 250 → 46 050 €</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+1 800 € ; réexaminer le reste à faire</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Délai</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Fin M11 → fin M12</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mois ; annoncer le nouveau jalon</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Capacité solo</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12 j-h prévus / 10 disponibles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120 % ; reporter 2 j-h hors période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Revue hebdomadaire proposée : mettre à jour les entrées, expliquer les écarts, décider et tracer.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C3.2.1 / SUIVRE LES RISQUES</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Anticiper les points de vigilance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signaux d’alerte et réponses associées.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09</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Risque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Signal / seuil proposé</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Réponse et responsable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Surcharge solo</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Charge / capacité &gt; 100 %</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 déplacer une tâche et revoir le jalon</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Parcours non fiable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Un critère critique en échec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Dorian : corriger avant validation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Démo indisponible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Connexion ou santé en échec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 diagnostiquer ; secours daté</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Recette inaccessible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Consigne non comprise / sous-titres KO</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Dorian : support écrit et essai avant séance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Contrôler à chaque revue : avancement, coûts, délais, risques et disponibilité des ressources.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C3.2.2 / PROBLÈME, OPTIONS, DÉCISION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Arbitrer face à une navigation trop lente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Cas réel du 15 septembre : un calcul décoratif bloque le navigateur.</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10</a:t>
            </a:r>
          </a:p>
        </p:txBody>
      </p:sp>
      <p:graphicFrame>
        <p:nvGraphicFramePr>
          <p:cNvPr id="9" name="Table 8"/>
          <p:cNvGraphicFramePr>
            <a:graphicFrameLocks noGrp="1"/>
          </p:cNvGraphicFramePr>
          <p:nvPr/>
        </p:nvGraphicFramePr>
        <p:xfrm>
          <a:off x="594360" y="2423160"/>
          <a:ext cx="13441680" cy="4261104"/>
        </p:xfrm>
        <a:graphic>
          <a:graphicData uri="http://schemas.openxmlformats.org/drawingml/2006/table">
            <a:tbl>
              <a:tblPr firstRow="1" bandRow="1">
                <a:tableStyleId>{5C22544A-7EE6-4342-B048-85BDC9FD1C3A}</a:tableStyleId>
              </a:tblPr>
              <a:tblGrid>
                <a:gridCol w="2743200"/>
                <a:gridCol w="4983480"/>
                <a:gridCol w="5715000"/>
              </a:tblGrid>
              <a:tr h="1065276">
                <a:tc>
                  <a:txBody>
                    <a:bodyPr/>
                    <a:lstStyle/>
                    <a:p>
                      <a:pPr>
                        <a:defRPr sz="1900" b="1">
                          <a:solidFill>
                            <a:srgbClr val="FFFFFF"/>
                          </a:solidFill>
                          <a:latin typeface="Arial"/>
                        </a:defRPr>
                      </a:pPr>
                      <a:r>
                        <a:t>Option analysée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Intérêt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Limite / décision</a:t>
                      </a:r>
                    </a:p>
                  </a:txBody>
                  <a:tcPr marL="137160" marR="109728" marT="64008" marB="54864" anchor="ctr">
                    <a:solidFill>
                      <a:srgbClr val="12332D"/>
                    </a:solidFill>
                    <a:lnL>
                      <a:noFill/>
                    </a:lnL>
                    <a:lnR>
                      <a:noFill/>
                    </a:lnR>
                    <a:lnT>
                      <a:noFill/>
                    </a:lnT>
                    <a:lnB>
                      <a:noFill/>
                    </a:lnB>
                  </a:tcPr>
                </a:tc>
              </a:tr>
              <a:tr h="1065276">
                <a:tc>
                  <a:txBody>
                    <a:bodyPr/>
                    <a:lstStyle/>
                    <a:p>
                      <a:pPr>
                        <a:defRPr sz="1900" b="1">
                          <a:solidFill>
                            <a:srgbClr val="12332D"/>
                          </a:solidFill>
                          <a:latin typeface="Arial"/>
                        </a:defRPr>
                      </a:pPr>
                      <a:r>
                        <a:t>Garder l’animation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Conserver tout le mouvement</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Calcul bloquant observé toujours présent</a:t>
                      </a:r>
                    </a:p>
                  </a:txBody>
                  <a:tcPr marL="137160" marR="109728" marT="64008" marB="54864" anchor="ctr">
                    <a:solidFill>
                      <a:srgbClr val="FFFFFF"/>
                    </a:solidFill>
                    <a:lnL>
                      <a:noFill/>
                    </a:lnL>
                    <a:lnR>
                      <a:noFill/>
                    </a:lnR>
                    <a:lnT>
                      <a:noFill/>
                    </a:lnT>
                    <a:lnB>
                      <a:noFill/>
                    </a:lnB>
                  </a:tcPr>
                </a:tc>
              </a:tr>
              <a:tr h="1065276">
                <a:tc>
                  <a:txBody>
                    <a:bodyPr/>
                    <a:lstStyle/>
                    <a:p>
                      <a:pPr>
                        <a:defRPr sz="1900" b="1">
                          <a:solidFill>
                            <a:srgbClr val="12332D"/>
                          </a:solidFill>
                          <a:latin typeface="Arial"/>
                        </a:defRPr>
                      </a:pPr>
                      <a:r>
                        <a:t>Optimiser ou différer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Préserver potentiellement l’animation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Gain non mesuré pour cette option</a:t>
                      </a:r>
                    </a:p>
                  </a:txBody>
                  <a:tcPr marL="137160" marR="109728" marT="64008" marB="54864" anchor="ctr">
                    <a:solidFill>
                      <a:srgbClr val="EBEFE6"/>
                    </a:solidFill>
                    <a:lnL>
                      <a:noFill/>
                    </a:lnL>
                    <a:lnR>
                      <a:noFill/>
                    </a:lnR>
                    <a:lnT>
                      <a:noFill/>
                    </a:lnT>
                    <a:lnB>
                      <a:noFill/>
                    </a:lnB>
                  </a:tcPr>
                </a:tc>
              </a:tr>
              <a:tr h="1065276">
                <a:tc>
                  <a:txBody>
                    <a:bodyPr/>
                    <a:lstStyle/>
                    <a:p>
                      <a:pPr>
                        <a:defRPr sz="1900" b="1">
                          <a:solidFill>
                            <a:srgbClr val="12332D"/>
                          </a:solidFill>
                          <a:latin typeface="Arial"/>
                        </a:defRPr>
                      </a:pPr>
                      <a:r>
                        <a:t>Fond SVG statique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Conserver le motif sans calcul animé</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Choix implémenté ; perte du mouvement</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Choix retenu : conserver le motif graphique avec un SVG statique et rendre l’attente visible.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C3.2.2 / VÉRIFIER LE RÉSULTAT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Mesurer l’effet de la correction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Mesures locales contrôlées du 15 septembre ; un passage par parcours.</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11</a:t>
            </a:r>
          </a:p>
        </p:txBody>
      </p:sp>
      <p:graphicFrame>
        <p:nvGraphicFramePr>
          <p:cNvPr id="9" name="Chart 8"/>
          <p:cNvGraphicFramePr>
            <a:graphicFrameLocks noGrp="1"/>
          </p:cNvGraphicFramePr>
          <p:nvPr/>
        </p:nvGraphicFramePr>
        <p:xfrm>
          <a:off x="594360" y="2468880"/>
          <a:ext cx="9784080" cy="4206240"/>
        </p:xfrm>
        <a:graphic>
          <a:graphicData uri="http://schemas.openxmlformats.org/drawingml/2006/chart">
            <c:chart xmlns:c="http://schemas.openxmlformats.org/drawingml/2006/chart" r:id="rId3"/>
          </a:graphicData>
        </a:graphic>
      </p:graphicFrame>
      <p:sp>
        <p:nvSpPr>
          <p:cNvPr id="10" name="TextBox 9"/>
          <p:cNvSpPr txBox="1"/>
          <p:nvPr/>
        </p:nvSpPr>
        <p:spPr>
          <a:xfrm>
            <a:off x="10607040" y="2788920"/>
            <a:ext cx="3474720" cy="365760"/>
          </a:xfrm>
          <a:prstGeom prst="rect">
            <a:avLst/>
          </a:prstGeom>
          <a:noFill/>
        </p:spPr>
        <p:txBody>
          <a:bodyPr wrap="square" lIns="0" rIns="0" tIns="0" bIns="0">
            <a:spAutoFit/>
          </a:bodyPr>
          <a:lstStyle/>
          <a:p>
            <a:pPr algn="l">
              <a:spcAft>
                <a:spcPts val="400"/>
              </a:spcAft>
              <a:defRPr sz="1300" b="1">
                <a:solidFill>
                  <a:srgbClr val="C7D6CB"/>
                </a:solidFill>
                <a:latin typeface="Arial"/>
              </a:defRPr>
            </a:pPr>
            <a:r>
              <a:t>MÉDIANE OBSERVÉE</a:t>
            </a:r>
          </a:p>
        </p:txBody>
      </p:sp>
      <p:sp>
        <p:nvSpPr>
          <p:cNvPr id="11" name="TextBox 10"/>
          <p:cNvSpPr txBox="1"/>
          <p:nvPr/>
        </p:nvSpPr>
        <p:spPr>
          <a:xfrm>
            <a:off x="10607040" y="3438144"/>
            <a:ext cx="3291840" cy="731520"/>
          </a:xfrm>
          <a:prstGeom prst="rect">
            <a:avLst/>
          </a:prstGeom>
          <a:noFill/>
        </p:spPr>
        <p:txBody>
          <a:bodyPr wrap="square" lIns="0" rIns="0" tIns="0" bIns="0">
            <a:spAutoFit/>
          </a:bodyPr>
          <a:lstStyle/>
          <a:p>
            <a:pPr algn="l">
              <a:spcAft>
                <a:spcPts val="400"/>
              </a:spcAft>
              <a:defRPr sz="4000" b="1">
                <a:solidFill>
                  <a:srgbClr val="FFFFFF"/>
                </a:solidFill>
                <a:latin typeface="Arial"/>
              </a:defRPr>
            </a:pPr>
            <a:r>
              <a:t>10,22 s</a:t>
            </a:r>
          </a:p>
        </p:txBody>
      </p:sp>
      <p:sp>
        <p:nvSpPr>
          <p:cNvPr id="12" name="TextBox 11"/>
          <p:cNvSpPr txBox="1"/>
          <p:nvPr/>
        </p:nvSpPr>
        <p:spPr>
          <a:xfrm>
            <a:off x="10652760" y="4343400"/>
            <a:ext cx="1828800" cy="594360"/>
          </a:xfrm>
          <a:prstGeom prst="rect">
            <a:avLst/>
          </a:prstGeom>
          <a:noFill/>
        </p:spPr>
        <p:txBody>
          <a:bodyPr wrap="square" lIns="0" rIns="0" tIns="0" bIns="0">
            <a:spAutoFit/>
          </a:bodyPr>
          <a:lstStyle/>
          <a:p>
            <a:pPr algn="l">
              <a:spcAft>
                <a:spcPts val="400"/>
              </a:spcAft>
              <a:defRPr sz="3000" b="1">
                <a:solidFill>
                  <a:srgbClr val="D8F28B"/>
                </a:solidFill>
                <a:latin typeface="Arial"/>
              </a:defRPr>
            </a:pPr>
            <a:r>
              <a:t>↓</a:t>
            </a:r>
          </a:p>
        </p:txBody>
      </p:sp>
      <p:sp>
        <p:nvSpPr>
          <p:cNvPr id="13" name="TextBox 12"/>
          <p:cNvSpPr txBox="1"/>
          <p:nvPr/>
        </p:nvSpPr>
        <p:spPr>
          <a:xfrm>
            <a:off x="10607040" y="5010912"/>
            <a:ext cx="3291840" cy="731520"/>
          </a:xfrm>
          <a:prstGeom prst="rect">
            <a:avLst/>
          </a:prstGeom>
          <a:noFill/>
        </p:spPr>
        <p:txBody>
          <a:bodyPr wrap="square" lIns="0" rIns="0" tIns="0" bIns="0">
            <a:spAutoFit/>
          </a:bodyPr>
          <a:lstStyle/>
          <a:p>
            <a:pPr algn="l">
              <a:spcAft>
                <a:spcPts val="400"/>
              </a:spcAft>
              <a:defRPr sz="4000" b="1">
                <a:solidFill>
                  <a:srgbClr val="D8F28B"/>
                </a:solidFill>
                <a:latin typeface="Arial"/>
              </a:defRPr>
            </a:pPr>
            <a:r>
              <a:t>0,748 s</a:t>
            </a:r>
          </a:p>
        </p:txBody>
      </p:sp>
      <p:sp>
        <p:nvSpPr>
          <p:cNvPr id="14" name="TextBox 13"/>
          <p:cNvSpPr txBox="1"/>
          <p:nvPr/>
        </p:nvSpPr>
        <p:spPr>
          <a:xfrm>
            <a:off x="10607040" y="6035040"/>
            <a:ext cx="3383280" cy="384048"/>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5 parcours locaux</a:t>
            </a:r>
          </a:p>
        </p:txBody>
      </p:sp>
      <p:sp>
        <p:nvSpPr>
          <p:cNvPr id="15" name="Rectangle 14"/>
          <p:cNvSpPr/>
          <p:nvPr/>
        </p:nvSpPr>
        <p:spPr>
          <a:xfrm>
            <a:off x="594360" y="6995160"/>
            <a:ext cx="50292" cy="438912"/>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D8F28B"/>
                </a:solidFill>
                <a:latin typeface="Arial"/>
              </a:defRPr>
            </a:pPr>
            <a:r>
              <a:t>CPU ×4 · latence 100 ms · mêmes parcours. Ces temps ne sont pas des mesures de production.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C3.3.1 / MANAGEMENT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Adapter la posture à une situation précise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Mise en situation · arbitrer les priorités avec un testeur ponctuel.</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12</a:t>
            </a:r>
          </a:p>
        </p:txBody>
      </p:sp>
      <p:sp>
        <p:nvSpPr>
          <p:cNvPr id="9" name="Rounded Rectangle 8"/>
          <p:cNvSpPr/>
          <p:nvPr/>
        </p:nvSpPr>
        <p:spPr>
          <a:xfrm>
            <a:off x="594360" y="2514600"/>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70048"/>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PARTICIPATIF</a:t>
            </a:r>
          </a:p>
        </p:txBody>
      </p:sp>
      <p:sp>
        <p:nvSpPr>
          <p:cNvPr id="11" name="TextBox 10"/>
          <p:cNvSpPr txBox="1"/>
          <p:nvPr/>
        </p:nvSpPr>
        <p:spPr>
          <a:xfrm>
            <a:off x="822960" y="3063240"/>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Écouter les faits</a:t>
            </a:r>
          </a:p>
        </p:txBody>
      </p:sp>
      <p:sp>
        <p:nvSpPr>
          <p:cNvPr id="12" name="TextBox 11"/>
          <p:cNvSpPr txBox="1"/>
          <p:nvPr/>
        </p:nvSpPr>
        <p:spPr>
          <a:xfrm>
            <a:off x="3410712" y="3054096"/>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Le testeur veut corriger les blocages ; le porteur veut enrichir le décor.</a:t>
            </a:r>
          </a:p>
        </p:txBody>
      </p:sp>
      <p:sp>
        <p:nvSpPr>
          <p:cNvPr id="13" name="Rounded Rectangle 12"/>
          <p:cNvSpPr/>
          <p:nvPr/>
        </p:nvSpPr>
        <p:spPr>
          <a:xfrm>
            <a:off x="7470648" y="2514600"/>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670048"/>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PERSUASIF</a:t>
            </a:r>
          </a:p>
        </p:txBody>
      </p:sp>
      <p:sp>
        <p:nvSpPr>
          <p:cNvPr id="15" name="TextBox 14"/>
          <p:cNvSpPr txBox="1"/>
          <p:nvPr/>
        </p:nvSpPr>
        <p:spPr>
          <a:xfrm>
            <a:off x="7699248" y="3063240"/>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Expliquer le choix</a:t>
            </a:r>
          </a:p>
        </p:txBody>
      </p:sp>
      <p:sp>
        <p:nvSpPr>
          <p:cNvPr id="16" name="TextBox 15"/>
          <p:cNvSpPr txBox="1"/>
          <p:nvPr/>
        </p:nvSpPr>
        <p:spPr>
          <a:xfrm>
            <a:off x="10287000" y="3054096"/>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Prioriser le parcours utilisable avec les critères et les mesures.</a:t>
            </a:r>
          </a:p>
        </p:txBody>
      </p:sp>
      <p:sp>
        <p:nvSpPr>
          <p:cNvPr id="17" name="Rounded Rectangle 16"/>
          <p:cNvSpPr/>
          <p:nvPr/>
        </p:nvSpPr>
        <p:spPr>
          <a:xfrm>
            <a:off x="594360" y="4379976"/>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535424"/>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DIRECTIF</a:t>
            </a:r>
          </a:p>
        </p:txBody>
      </p:sp>
      <p:sp>
        <p:nvSpPr>
          <p:cNvPr id="19" name="TextBox 18"/>
          <p:cNvSpPr txBox="1"/>
          <p:nvPr/>
        </p:nvSpPr>
        <p:spPr>
          <a:xfrm>
            <a:off x="822960" y="4928616"/>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Fixer la limite</a:t>
            </a:r>
          </a:p>
        </p:txBody>
      </p:sp>
      <p:sp>
        <p:nvSpPr>
          <p:cNvPr id="20" name="TextBox 19"/>
          <p:cNvSpPr txBox="1"/>
          <p:nvPr/>
        </p:nvSpPr>
        <p:spPr>
          <a:xfrm>
            <a:off x="3410712" y="4919472"/>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Aucune validation si un critère critique reste en échec.</a:t>
            </a:r>
          </a:p>
        </p:txBody>
      </p:sp>
      <p:sp>
        <p:nvSpPr>
          <p:cNvPr id="21" name="Rounded Rectangle 20"/>
          <p:cNvSpPr/>
          <p:nvPr/>
        </p:nvSpPr>
        <p:spPr>
          <a:xfrm>
            <a:off x="7470648" y="4379976"/>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535424"/>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DÉLÉGATIF</a:t>
            </a:r>
          </a:p>
        </p:txBody>
      </p:sp>
      <p:sp>
        <p:nvSpPr>
          <p:cNvPr id="23" name="TextBox 22"/>
          <p:cNvSpPr txBox="1"/>
          <p:nvPr/>
        </p:nvSpPr>
        <p:spPr>
          <a:xfrm>
            <a:off x="7699248" y="4928616"/>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Confier la recette</a:t>
            </a:r>
          </a:p>
        </p:txBody>
      </p:sp>
      <p:sp>
        <p:nvSpPr>
          <p:cNvPr id="24" name="TextBox 23"/>
          <p:cNvSpPr txBox="1"/>
          <p:nvPr/>
        </p:nvSpPr>
        <p:spPr>
          <a:xfrm>
            <a:off x="10287000" y="4919472"/>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Résultat attendu, autonomie et point de contrôle convenus.</a:t>
            </a:r>
          </a:p>
        </p:txBody>
      </p:sp>
      <p:sp>
        <p:nvSpPr>
          <p:cNvPr id="25" name="Rectangle 24"/>
          <p:cNvSpPr/>
          <p:nvPr/>
        </p:nvSpPr>
        <p:spPr>
          <a:xfrm>
            <a:off x="594360" y="6995160"/>
            <a:ext cx="50292" cy="438912"/>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D8F28B"/>
                </a:solidFill>
                <a:latin typeface="Arial"/>
              </a:defRPr>
            </a:pPr>
            <a:r>
              <a:t>Analyse critique : décider seul trop vite peut faire perdre une alerte utile ; écouter puis trancher.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C3.3.1 / CHARGE ET COMMUNICATION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Organiser une collaboration accessible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charge, accessibilité et travail à distance.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13</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Point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Organisation proposée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Contrôle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Charge de la séance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Porteur 4 h / 5 h ; testeur 4 h / 5 h</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80 % chacun ; 1 h de marge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Accessibilité</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Consignes écrites, sous-titres, une voix à la fois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Le testeur reformule puis retrouve la décision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Distance et langues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Créneau commun avec fuseaux, glossaire FR/EN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Compréhension vérifiée sans supposer la langue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Outils partagés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Linear : action ; Git : version ; dossier : preuves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Un lien commun vers critères et compte rendu</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Préparation écrite → point de coordination → action et responsable → retour asynchrone.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C3.3.2 / GRILLE COMMENTÉE</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Évaluer les compétences utiles au projet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niveaux de départ et objectifs de progression.</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14</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Rôle du cas</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Compétence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Actuel → cible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Porteur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Planning et suivi des écarts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 2</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Porteur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Développement et API</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2 → 2</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Testeur fictif</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Recette reproductible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 2</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Testeur fictif</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Parcours clavier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 → 2</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0 : non abordé · 1 : accompagné · 2 : autonome · 3 : cas complexes.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C3.3.2 / FORMATION ET BESOIN DE RENFORT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Prévoir une progression vérifiable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Plan de formation proposé dans la mise en situation.</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15</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Public / moment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Action et modalité</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Résultat attendu</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Porteur · avant M10</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h : atelier de recalcul du suivi</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Expliquer seul le coût et le décalage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Testeur · avant M11</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2 h : recette et clavier, exercice guidé</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Rejouer un cas et décrire un défaut</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Adaptation au handicap</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Écrit, sous-titres, pauses et durée adaptées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Vérifier la compréhension avant autonomie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Besoin persistant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Renfort QA conditionnel de 4 h</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Fiche de besoin préparée en annexe 26</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Évaluer après pratique ; si l’écart persiste, adapter la formation puis arbitrer un renfort.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C3.4.1 / SUIVI CLIENT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Un compte rendu qui aide à décider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Compte rendu simulé · point d’avancement au mois 10.</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16</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CONSTAT</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Un écart annoncé</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Prévision simulée : +1 800 € et +1 mois. Retour : garder un parcours fluide.</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DÉCISION</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Prioriser l’usage</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Conserver le fond statique ; maintenir les critères de recette.</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ACTIONS</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Préparer la validation</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Porteur : réviser le suivi. Testeur : préparer M11. Club : revoir les critères.</a:t>
            </a:r>
          </a:p>
        </p:txBody>
      </p:sp>
      <p:sp>
        <p:nvSpPr>
          <p:cNvPr id="21" name="Rectangle 20"/>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Compte rendu structuré : contexte → faits → décision → responsable → prochaine validation.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C3.4.1 / JALONS ET CONFORMITÉ</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Prévoir les points de validation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validations au fil du projet.</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17</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Point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Livrable examiné</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Décision attendue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M3 · cadrage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Besoin et critères du parcours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Confirmer le périmètre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M10 · évolution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Écarts, options et version disponible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Arbitrer et réviser la prévision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M11 · recette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Résultats des critères et réserves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Corriger ou autoriser la démo</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M12 · restitution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Dernière version et parcours complet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Accepter, réserver ou refuser</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Chaque réserve : problème précis, action, responsable et échéance à convenir.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C3.4.1 / SATISFACTION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Mesurer le retour pour agir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Objectifs proposés · résultats de satisfaction non mesurés.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18</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Indicateur</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Calcul / recueil</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Cible pédagogique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Réussite sans aide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Parcours réussis / tentés ; noter l’effectif</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 80 %</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Utilité perçue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Note de 1 à 5 ; moyenne et répondants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 4 / 5</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Conformité critique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Critères critiques acceptés / évalués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100 %</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Blocages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Nombre de tâches empêchées ouvertes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0 avant acceptation</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Sous la cible : qualifier → prioriser → corriger → vérifier à nouveau. Résultats : non mesurés.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C3.4.2 / PRÉPARER LA DÉMONSTRATION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Les critères de validation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Quatre critères pour évaluer le parcours utilisateur.</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19</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Parcours</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Résultat attendu</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Parcours</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Partenaire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Filtres adaptés et état de demande clair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Session grimpeur</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Inscription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Confirmation et capacité cohérentes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Événement de démonstration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Organisation club</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Participants et commandes autorisées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Session club distincte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Utilisation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Navigation et commandes au clavier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Manipulation en direct</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Vérifier chaque critère sur la version présentée.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C3.4.2 / DÉMONTRER ET VALIDER</a:t>
            </a:r>
          </a:p>
        </p:txBody>
      </p:sp>
      <p:cxnSp>
        <p:nvCxnSpPr>
          <p:cNvPr id="4" name="Connector 3"/>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6" name="TextBox 5"/>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20</a:t>
            </a:r>
          </a:p>
        </p:txBody>
      </p:sp>
      <p:pic>
        <p:nvPicPr>
          <p:cNvPr id="7" name="Picture 6" descr="escalade-falaise-gros-plan"/>
          <p:cNvPicPr>
            <a:picLocks noChangeAspect="1"/>
          </p:cNvPicPr>
          <p:nvPr/>
        </p:nvPicPr>
        <p:blipFill>
          <a:blip r:embed="rId3"/>
          <a:srcRect l="21620" r="21620"/>
          <a:stretch>
            <a:fillRect/>
          </a:stretch>
        </p:blipFill>
        <p:spPr>
          <a:xfrm>
            <a:off x="8092440" y="0"/>
            <a:ext cx="6537960" cy="7680960"/>
          </a:xfrm>
          <a:prstGeom prst="rect">
            <a:avLst/>
          </a:prstGeom>
        </p:spPr>
      </p:pic>
      <p:sp>
        <p:nvSpPr>
          <p:cNvPr id="8" name="Rounded Rectangle 7"/>
          <p:cNvSpPr/>
          <p:nvPr/>
        </p:nvSpPr>
        <p:spPr>
          <a:xfrm>
            <a:off x="685800" y="1463040"/>
            <a:ext cx="3291840" cy="3291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522476"/>
            <a:ext cx="3054096" cy="219456"/>
          </a:xfrm>
          <a:prstGeom prst="rect">
            <a:avLst/>
          </a:prstGeom>
          <a:noFill/>
        </p:spPr>
        <p:txBody>
          <a:bodyPr wrap="square" lIns="0" rIns="0" tIns="0" bIns="0">
            <a:spAutoFit/>
          </a:bodyPr>
          <a:lstStyle/>
          <a:p>
            <a:pPr algn="l">
              <a:spcAft>
                <a:spcPts val="400"/>
              </a:spcAft>
              <a:defRPr sz="1000" b="1">
                <a:solidFill>
                  <a:srgbClr val="D8F28B"/>
                </a:solidFill>
                <a:latin typeface="Arial"/>
              </a:defRPr>
            </a:pPr>
            <a:r>
              <a:t>DÉMONSTRATION EN DIRECT</a:t>
            </a:r>
          </a:p>
        </p:txBody>
      </p:sp>
      <p:sp>
        <p:nvSpPr>
          <p:cNvPr id="10" name="TextBox 9"/>
          <p:cNvSpPr txBox="1"/>
          <p:nvPr/>
        </p:nvSpPr>
        <p:spPr>
          <a:xfrm>
            <a:off x="640080" y="2286000"/>
            <a:ext cx="7315200" cy="2834640"/>
          </a:xfrm>
          <a:prstGeom prst="rect">
            <a:avLst/>
          </a:prstGeom>
          <a:noFill/>
        </p:spPr>
        <p:txBody>
          <a:bodyPr wrap="square" lIns="0" rIns="0" tIns="0" bIns="0">
            <a:spAutoFit/>
          </a:bodyPr>
          <a:lstStyle/>
          <a:p>
            <a:pPr algn="l">
              <a:spcAft>
                <a:spcPts val="400"/>
              </a:spcAft>
              <a:defRPr sz="5500" b="1">
                <a:solidFill>
                  <a:srgbClr val="FFFFFF"/>
                </a:solidFill>
                <a:latin typeface="Arial"/>
              </a:defRPr>
            </a:pPr>
            <a:r>
              <a:t>Passer du suivi</a:t>
            </a:r>
          </a:p>
          <a:p>
            <a:pPr algn="l">
              <a:spcAft>
                <a:spcPts val="400"/>
              </a:spcAft>
              <a:defRPr sz="5500" b="1">
                <a:solidFill>
                  <a:srgbClr val="FFFFFF"/>
                </a:solidFill>
                <a:latin typeface="Arial"/>
              </a:defRPr>
            </a:pPr>
            <a:r>
              <a:t>à l’usage.</a:t>
            </a:r>
          </a:p>
        </p:txBody>
      </p:sp>
      <p:sp>
        <p:nvSpPr>
          <p:cNvPr id="11" name="TextBox 10"/>
          <p:cNvSpPr txBox="1"/>
          <p:nvPr/>
        </p:nvSpPr>
        <p:spPr>
          <a:xfrm>
            <a:off x="685800" y="5486400"/>
            <a:ext cx="6720840" cy="914400"/>
          </a:xfrm>
          <a:prstGeom prst="rect">
            <a:avLst/>
          </a:prstGeom>
          <a:noFill/>
        </p:spPr>
        <p:txBody>
          <a:bodyPr wrap="square" lIns="0" rIns="0" tIns="0" bIns="0">
            <a:spAutoFit/>
          </a:bodyPr>
          <a:lstStyle/>
          <a:p>
            <a:pPr algn="l">
              <a:spcAft>
                <a:spcPts val="400"/>
              </a:spcAft>
              <a:defRPr sz="2400" b="0">
                <a:solidFill>
                  <a:srgbClr val="C7D6CB"/>
                </a:solidFill>
                <a:latin typeface="Arial"/>
              </a:defRPr>
            </a:pPr>
            <a:r>
              <a:t>Deux sessions pour un parcours complet.</a:t>
            </a:r>
          </a:p>
        </p:txBody>
      </p:sp>
      <p:sp>
        <p:nvSpPr>
          <p:cNvPr id="12" name="TextBox 11"/>
          <p:cNvSpPr txBox="1"/>
          <p:nvPr/>
        </p:nvSpPr>
        <p:spPr>
          <a:xfrm>
            <a:off x="685800" y="6812280"/>
            <a:ext cx="6400800" cy="50292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Grimpeur → Club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C3.4.2 / DÉMONTRER ET VALIDER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Trouver un partenaire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Parcours grimpeur · base de démonstration.</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21</a:t>
            </a:r>
          </a:p>
        </p:txBody>
      </p:sp>
      <p:sp>
        <p:nvSpPr>
          <p:cNvPr id="9" name="Rounded Rectangle 8"/>
          <p:cNvSpPr/>
          <p:nvPr/>
        </p:nvSpPr>
        <p:spPr>
          <a:xfrm>
            <a:off x="594360" y="2286000"/>
            <a:ext cx="8412480" cy="5166360"/>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tching-2026-09-15"/>
          <p:cNvPicPr>
            <a:picLocks noChangeAspect="1"/>
          </p:cNvPicPr>
          <p:nvPr/>
        </p:nvPicPr>
        <p:blipFill>
          <a:blip r:embed="rId3"/>
          <a:stretch>
            <a:fillRect/>
          </a:stretch>
        </p:blipFill>
        <p:spPr>
          <a:xfrm>
            <a:off x="1219078" y="2377440"/>
            <a:ext cx="7163043" cy="4974336"/>
          </a:xfrm>
          <a:prstGeom prst="rect">
            <a:avLst/>
          </a:prstGeom>
        </p:spPr>
      </p:pic>
      <p:sp>
        <p:nvSpPr>
          <p:cNvPr id="11" name="Rounded Rectangle 10"/>
          <p:cNvSpPr/>
          <p:nvPr/>
        </p:nvSpPr>
        <p:spPr>
          <a:xfrm>
            <a:off x="9784080" y="288036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02952" y="293979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01</a:t>
            </a:r>
          </a:p>
        </p:txBody>
      </p:sp>
      <p:sp>
        <p:nvSpPr>
          <p:cNvPr id="13" name="TextBox 12"/>
          <p:cNvSpPr txBox="1"/>
          <p:nvPr/>
        </p:nvSpPr>
        <p:spPr>
          <a:xfrm>
            <a:off x="9784080" y="3319272"/>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Profil</a:t>
            </a:r>
          </a:p>
        </p:txBody>
      </p:sp>
      <p:sp>
        <p:nvSpPr>
          <p:cNvPr id="14" name="Rounded Rectangle 13"/>
          <p:cNvSpPr/>
          <p:nvPr/>
        </p:nvSpPr>
        <p:spPr>
          <a:xfrm>
            <a:off x="9784080" y="410565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2952" y="416509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02</a:t>
            </a:r>
          </a:p>
        </p:txBody>
      </p:sp>
      <p:sp>
        <p:nvSpPr>
          <p:cNvPr id="16" name="TextBox 15"/>
          <p:cNvSpPr txBox="1"/>
          <p:nvPr/>
        </p:nvSpPr>
        <p:spPr>
          <a:xfrm>
            <a:off x="9784080" y="4544568"/>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Filtres</a:t>
            </a:r>
          </a:p>
        </p:txBody>
      </p:sp>
      <p:sp>
        <p:nvSpPr>
          <p:cNvPr id="17" name="Rounded Rectangle 16"/>
          <p:cNvSpPr/>
          <p:nvPr/>
        </p:nvSpPr>
        <p:spPr>
          <a:xfrm>
            <a:off x="9784080" y="533095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2952" y="539038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03</a:t>
            </a:r>
          </a:p>
        </p:txBody>
      </p:sp>
      <p:sp>
        <p:nvSpPr>
          <p:cNvPr id="19" name="TextBox 18"/>
          <p:cNvSpPr txBox="1"/>
          <p:nvPr/>
        </p:nvSpPr>
        <p:spPr>
          <a:xfrm>
            <a:off x="9784080" y="5769864"/>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Demande</a:t>
            </a:r>
          </a:p>
        </p:txBody>
      </p:sp>
      <p:sp>
        <p:nvSpPr>
          <p:cNvPr id="20" name="TextBox 19"/>
          <p:cNvSpPr txBox="1"/>
          <p:nvPr/>
        </p:nvSpPr>
        <p:spPr>
          <a:xfrm>
            <a:off x="9784080" y="7159752"/>
            <a:ext cx="4114800" cy="274320"/>
          </a:xfrm>
          <a:prstGeom prst="rect">
            <a:avLst/>
          </a:prstGeom>
          <a:noFill/>
        </p:spPr>
        <p:txBody>
          <a:bodyPr wrap="square" lIns="0" rIns="0" tIns="0" bIns="0">
            <a:spAutoFit/>
          </a:bodyPr>
          <a:lstStyle/>
          <a:p>
            <a:pPr algn="l">
              <a:spcAft>
                <a:spcPts val="400"/>
              </a:spcAft>
              <a:defRPr sz="1000" b="0">
                <a:solidFill>
                  <a:srgbClr val="5C6C65"/>
                </a:solidFill>
                <a:latin typeface="Arial"/>
              </a:defRPr>
            </a:pPr>
            <a:r>
              <a:t>Interface du 15/09/2026 · données de démo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C3.4.2 / DÉMONTRER ET VALIDER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S’inscrire et retrouver les participants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Parcours grimpeur puis club.</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22</a:t>
            </a:r>
          </a:p>
        </p:txBody>
      </p:sp>
      <p:sp>
        <p:nvSpPr>
          <p:cNvPr id="9" name="Rounded Rectangle 8"/>
          <p:cNvSpPr/>
          <p:nvPr/>
        </p:nvSpPr>
        <p:spPr>
          <a:xfrm>
            <a:off x="594360" y="2286000"/>
            <a:ext cx="8412480" cy="5166360"/>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venements-2026-09-15"/>
          <p:cNvPicPr>
            <a:picLocks noChangeAspect="1"/>
          </p:cNvPicPr>
          <p:nvPr/>
        </p:nvPicPr>
        <p:blipFill>
          <a:blip r:embed="rId3"/>
          <a:stretch>
            <a:fillRect/>
          </a:stretch>
        </p:blipFill>
        <p:spPr>
          <a:xfrm>
            <a:off x="1219078" y="2377440"/>
            <a:ext cx="7163043" cy="4974336"/>
          </a:xfrm>
          <a:prstGeom prst="rect">
            <a:avLst/>
          </a:prstGeom>
        </p:spPr>
      </p:pic>
      <p:sp>
        <p:nvSpPr>
          <p:cNvPr id="11" name="Rounded Rectangle 10"/>
          <p:cNvSpPr/>
          <p:nvPr/>
        </p:nvSpPr>
        <p:spPr>
          <a:xfrm>
            <a:off x="9784080" y="288036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02952" y="293979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01</a:t>
            </a:r>
          </a:p>
        </p:txBody>
      </p:sp>
      <p:sp>
        <p:nvSpPr>
          <p:cNvPr id="13" name="TextBox 12"/>
          <p:cNvSpPr txBox="1"/>
          <p:nvPr/>
        </p:nvSpPr>
        <p:spPr>
          <a:xfrm>
            <a:off x="9784080" y="3319272"/>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Événement</a:t>
            </a:r>
          </a:p>
        </p:txBody>
      </p:sp>
      <p:sp>
        <p:nvSpPr>
          <p:cNvPr id="14" name="Rounded Rectangle 13"/>
          <p:cNvSpPr/>
          <p:nvPr/>
        </p:nvSpPr>
        <p:spPr>
          <a:xfrm>
            <a:off x="9784080" y="410565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2952" y="416509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02</a:t>
            </a:r>
          </a:p>
        </p:txBody>
      </p:sp>
      <p:sp>
        <p:nvSpPr>
          <p:cNvPr id="16" name="TextBox 15"/>
          <p:cNvSpPr txBox="1"/>
          <p:nvPr/>
        </p:nvSpPr>
        <p:spPr>
          <a:xfrm>
            <a:off x="9784080" y="4544568"/>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Inscription</a:t>
            </a:r>
          </a:p>
        </p:txBody>
      </p:sp>
      <p:sp>
        <p:nvSpPr>
          <p:cNvPr id="17" name="Rounded Rectangle 16"/>
          <p:cNvSpPr/>
          <p:nvPr/>
        </p:nvSpPr>
        <p:spPr>
          <a:xfrm>
            <a:off x="9784080" y="533095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2952" y="539038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03</a:t>
            </a:r>
          </a:p>
        </p:txBody>
      </p:sp>
      <p:sp>
        <p:nvSpPr>
          <p:cNvPr id="19" name="TextBox 18"/>
          <p:cNvSpPr txBox="1"/>
          <p:nvPr/>
        </p:nvSpPr>
        <p:spPr>
          <a:xfrm>
            <a:off x="9784080" y="5769864"/>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Participants</a:t>
            </a:r>
          </a:p>
        </p:txBody>
      </p:sp>
      <p:sp>
        <p:nvSpPr>
          <p:cNvPr id="20" name="TextBox 19"/>
          <p:cNvSpPr txBox="1"/>
          <p:nvPr/>
        </p:nvSpPr>
        <p:spPr>
          <a:xfrm>
            <a:off x="9784080" y="7159752"/>
            <a:ext cx="4114800" cy="274320"/>
          </a:xfrm>
          <a:prstGeom prst="rect">
            <a:avLst/>
          </a:prstGeom>
          <a:noFill/>
        </p:spPr>
        <p:txBody>
          <a:bodyPr wrap="square" lIns="0" rIns="0" tIns="0" bIns="0">
            <a:spAutoFit/>
          </a:bodyPr>
          <a:lstStyle/>
          <a:p>
            <a:pPr algn="l">
              <a:spcAft>
                <a:spcPts val="400"/>
              </a:spcAft>
              <a:defRPr sz="1000" b="0">
                <a:solidFill>
                  <a:srgbClr val="5C6C65"/>
                </a:solidFill>
                <a:latin typeface="Arial"/>
              </a:defRPr>
            </a:pPr>
            <a:r>
              <a:t>Interface du 15/09/2026 · données de démo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C3.4.2 / DÉMONTRER ET VALIDER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Conclure par une décision de validation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Un bilan des résultats et des suites à donner.</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23</a:t>
            </a:r>
          </a:p>
        </p:txBody>
      </p:sp>
      <p:sp>
        <p:nvSpPr>
          <p:cNvPr id="9" name="Rounded Rectangle 8"/>
          <p:cNvSpPr/>
          <p:nvPr/>
        </p:nvSpPr>
        <p:spPr>
          <a:xfrm>
            <a:off x="594360" y="2606040"/>
            <a:ext cx="4251960" cy="393192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DÉMONSTRATION</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800" b="1">
                <a:solidFill>
                  <a:srgbClr val="FFFFFF"/>
                </a:solidFill>
                <a:latin typeface="Arial"/>
              </a:defRPr>
            </a:pPr>
            <a:r>
              <a:t>Critères observés</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2000" b="0">
                <a:solidFill>
                  <a:srgbClr val="C7D6CB"/>
                </a:solidFill>
                <a:latin typeface="Arial"/>
              </a:defRPr>
            </a:pPr>
            <a:r>
              <a:t>Partenaire, inscription, participants et utilisation au clavier.</a:t>
            </a:r>
          </a:p>
        </p:txBody>
      </p:sp>
      <p:sp>
        <p:nvSpPr>
          <p:cNvPr id="13" name="Rounded Rectangle 12"/>
          <p:cNvSpPr/>
          <p:nvPr/>
        </p:nvSpPr>
        <p:spPr>
          <a:xfrm>
            <a:off x="5184648" y="2606040"/>
            <a:ext cx="4251960" cy="393192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DÉCISION</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800" b="1">
                <a:solidFill>
                  <a:srgbClr val="FFFFFF"/>
                </a:solidFill>
                <a:latin typeface="Arial"/>
              </a:defRPr>
            </a:pPr>
            <a:r>
              <a:t>Accepté / avec réserve / refusé</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2000" b="0">
                <a:solidFill>
                  <a:srgbClr val="C7D6CB"/>
                </a:solidFill>
                <a:latin typeface="Arial"/>
              </a:defRPr>
            </a:pPr>
            <a:r>
              <a:t>Une décision fondée sur les critères et les résultats observés.</a:t>
            </a:r>
          </a:p>
        </p:txBody>
      </p:sp>
      <p:sp>
        <p:nvSpPr>
          <p:cNvPr id="17" name="Rounded Rectangle 16"/>
          <p:cNvSpPr/>
          <p:nvPr/>
        </p:nvSpPr>
        <p:spPr>
          <a:xfrm>
            <a:off x="9774936" y="2606040"/>
            <a:ext cx="4251960" cy="393192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SUITE</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800" b="1">
                <a:solidFill>
                  <a:srgbClr val="FFFFFF"/>
                </a:solidFill>
                <a:latin typeface="Arial"/>
              </a:defRPr>
            </a:pPr>
            <a:r>
              <a:t>Traiter les réserves</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2000" b="0">
                <a:solidFill>
                  <a:srgbClr val="C7D6CB"/>
                </a:solidFill>
                <a:latin typeface="Arial"/>
              </a:defRPr>
            </a:pPr>
            <a:r>
              <a:t>Un problème, une action, un responsable et une échéance.</a:t>
            </a:r>
          </a:p>
        </p:txBody>
      </p:sp>
      <p:sp>
        <p:nvSpPr>
          <p:cNvPr id="21" name="Rectangle 20"/>
          <p:cNvSpPr/>
          <p:nvPr/>
        </p:nvSpPr>
        <p:spPr>
          <a:xfrm>
            <a:off x="594360" y="6995160"/>
            <a:ext cx="50292" cy="438912"/>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D8F28B"/>
                </a:solidFill>
                <a:latin typeface="Arial"/>
              </a:defRPr>
            </a:pPr>
            <a:r>
              <a:t>Une réserve donne lieu à une action, un responsable et une prochaine vérification.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VUE D’ENSEMBLE</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Synthèse du pilotage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Organisation, décisions et critères de validation.</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24</a:t>
            </a:r>
          </a:p>
        </p:txBody>
      </p:sp>
      <p:graphicFrame>
        <p:nvGraphicFramePr>
          <p:cNvPr id="9" name="Table 8"/>
          <p:cNvGraphicFramePr>
            <a:graphicFrameLocks noGrp="1"/>
          </p:cNvGraphicFramePr>
          <p:nvPr/>
        </p:nvGraphicFramePr>
        <p:xfrm>
          <a:off x="594360" y="2423160"/>
          <a:ext cx="13441680" cy="4261104"/>
        </p:xfrm>
        <a:graphic>
          <a:graphicData uri="http://schemas.openxmlformats.org/drawingml/2006/table">
            <a:tbl>
              <a:tblPr firstRow="1" bandRow="1">
                <a:tableStyleId>{5C22544A-7EE6-4342-B048-85BDC9FD1C3A}</a:tableStyleId>
              </a:tblPr>
              <a:tblGrid>
                <a:gridCol w="2743200"/>
                <a:gridCol w="4983480"/>
                <a:gridCol w="5715000"/>
              </a:tblGrid>
              <a:tr h="532638">
                <a:tc>
                  <a:txBody>
                    <a:bodyPr/>
                    <a:lstStyle/>
                    <a:p>
                      <a:pPr>
                        <a:defRPr sz="1700" b="1">
                          <a:solidFill>
                            <a:srgbClr val="FFFFFF"/>
                          </a:solidFill>
                          <a:latin typeface="Arial"/>
                        </a:defRPr>
                      </a:pPr>
                      <a:r>
                        <a:t>Axe</a:t>
                      </a:r>
                    </a:p>
                  </a:txBody>
                  <a:tcPr marL="137160" marR="109728" marT="64008" marB="54864" anchor="ctr">
                    <a:solidFill>
                      <a:srgbClr val="12332D"/>
                    </a:solidFill>
                    <a:lnL>
                      <a:noFill/>
                    </a:lnL>
                    <a:lnR>
                      <a:noFill/>
                    </a:lnR>
                    <a:lnT>
                      <a:noFill/>
                    </a:lnT>
                    <a:lnB>
                      <a:noFill/>
                    </a:lnB>
                  </a:tcPr>
                </a:tc>
                <a:tc>
                  <a:txBody>
                    <a:bodyPr/>
                    <a:lstStyle/>
                    <a:p>
                      <a:pPr>
                        <a:defRPr sz="1700" b="1">
                          <a:solidFill>
                            <a:srgbClr val="FFFFFF"/>
                          </a:solidFill>
                          <a:latin typeface="Arial"/>
                        </a:defRPr>
                      </a:pPr>
                      <a:r>
                        <a:t>Support</a:t>
                      </a:r>
                    </a:p>
                  </a:txBody>
                  <a:tcPr marL="137160" marR="109728" marT="64008" marB="54864" anchor="ctr">
                    <a:solidFill>
                      <a:srgbClr val="12332D"/>
                    </a:solidFill>
                    <a:lnL>
                      <a:noFill/>
                    </a:lnL>
                    <a:lnR>
                      <a:noFill/>
                    </a:lnR>
                    <a:lnT>
                      <a:noFill/>
                    </a:lnT>
                    <a:lnB>
                      <a:noFill/>
                    </a:lnB>
                  </a:tcPr>
                </a:tc>
                <a:tc>
                  <a:txBody>
                    <a:bodyPr/>
                    <a:lstStyle/>
                    <a:p>
                      <a:pPr>
                        <a:defRPr sz="1700" b="1">
                          <a:solidFill>
                            <a:srgbClr val="FFFFFF"/>
                          </a:solidFill>
                          <a:latin typeface="Arial"/>
                        </a:defRPr>
                      </a:pPr>
                      <a:r>
                        <a:t>Décision associée</a:t>
                      </a:r>
                    </a:p>
                  </a:txBody>
                  <a:tcPr marL="137160" marR="109728" marT="64008" marB="54864" anchor="ctr">
                    <a:solidFill>
                      <a:srgbClr val="12332D"/>
                    </a:solidFill>
                    <a:lnL>
                      <a:noFill/>
                    </a:lnL>
                    <a:lnR>
                      <a:noFill/>
                    </a:lnR>
                    <a:lnT>
                      <a:noFill/>
                    </a:lnT>
                    <a:lnB>
                      <a:noFill/>
                    </a:lnB>
                  </a:tcPr>
                </a:tc>
              </a:tr>
              <a:tr h="532638">
                <a:tc>
                  <a:txBody>
                    <a:bodyPr/>
                    <a:lstStyle/>
                    <a:p>
                      <a:pPr>
                        <a:defRPr sz="1700" b="1">
                          <a:solidFill>
                            <a:srgbClr val="12332D"/>
                          </a:solidFill>
                          <a:latin typeface="Arial"/>
                        </a:defRPr>
                      </a:pPr>
                      <a:r>
                        <a:t>Organisation</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Planning et priorités</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Ordonner les tâches et préparer les jalons</a:t>
                      </a:r>
                    </a:p>
                  </a:txBody>
                  <a:tcPr marL="137160" marR="109728" marT="64008" marB="54864" anchor="ctr">
                    <a:solidFill>
                      <a:srgbClr val="FFFFFF"/>
                    </a:solidFill>
                    <a:lnL>
                      <a:noFill/>
                    </a:lnL>
                    <a:lnR>
                      <a:noFill/>
                    </a:lnR>
                    <a:lnT>
                      <a:noFill/>
                    </a:lnT>
                    <a:lnB>
                      <a:noFill/>
                    </a:lnB>
                  </a:tcPr>
                </a:tc>
              </a:tr>
              <a:tr h="532638">
                <a:tc>
                  <a:txBody>
                    <a:bodyPr/>
                    <a:lstStyle/>
                    <a:p>
                      <a:pPr>
                        <a:defRPr sz="1700" b="1">
                          <a:solidFill>
                            <a:srgbClr val="12332D"/>
                          </a:solidFill>
                          <a:latin typeface="Arial"/>
                        </a:defRPr>
                      </a:pPr>
                      <a:r>
                        <a:t>Avancement</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Tickets et critères</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Vérifier le périmètre réellement terminé</a:t>
                      </a:r>
                    </a:p>
                  </a:txBody>
                  <a:tcPr marL="137160" marR="109728" marT="64008" marB="54864" anchor="ctr">
                    <a:solidFill>
                      <a:srgbClr val="EBEFE6"/>
                    </a:solidFill>
                    <a:lnL>
                      <a:noFill/>
                    </a:lnL>
                    <a:lnR>
                      <a:noFill/>
                    </a:lnR>
                    <a:lnT>
                      <a:noFill/>
                    </a:lnT>
                    <a:lnB>
                      <a:noFill/>
                    </a:lnB>
                  </a:tcPr>
                </a:tc>
              </a:tr>
              <a:tr h="532638">
                <a:tc>
                  <a:txBody>
                    <a:bodyPr/>
                    <a:lstStyle/>
                    <a:p>
                      <a:pPr>
                        <a:defRPr sz="1700" b="1">
                          <a:solidFill>
                            <a:srgbClr val="12332D"/>
                          </a:solidFill>
                          <a:latin typeface="Arial"/>
                        </a:defRPr>
                      </a:pPr>
                      <a:r>
                        <a:t>Écarts</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Prévision de charge, coût et délai</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Actualiser la prévision et le périmètre</a:t>
                      </a:r>
                    </a:p>
                  </a:txBody>
                  <a:tcPr marL="137160" marR="109728" marT="64008" marB="54864" anchor="ctr">
                    <a:solidFill>
                      <a:srgbClr val="FFFFFF"/>
                    </a:solidFill>
                    <a:lnL>
                      <a:noFill/>
                    </a:lnL>
                    <a:lnR>
                      <a:noFill/>
                    </a:lnR>
                    <a:lnT>
                      <a:noFill/>
                    </a:lnT>
                    <a:lnB>
                      <a:noFill/>
                    </a:lnB>
                  </a:tcPr>
                </a:tc>
              </a:tr>
              <a:tr h="532638">
                <a:tc>
                  <a:txBody>
                    <a:bodyPr/>
                    <a:lstStyle/>
                    <a:p>
                      <a:pPr>
                        <a:defRPr sz="1700" b="1">
                          <a:solidFill>
                            <a:srgbClr val="12332D"/>
                          </a:solidFill>
                          <a:latin typeface="Arial"/>
                        </a:defRPr>
                      </a:pPr>
                      <a:r>
                        <a:t>Qualité</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Recette et mesures</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Corriger les blocages et vérifier le résultat</a:t>
                      </a:r>
                    </a:p>
                  </a:txBody>
                  <a:tcPr marL="137160" marR="109728" marT="64008" marB="54864" anchor="ctr">
                    <a:solidFill>
                      <a:srgbClr val="EBEFE6"/>
                    </a:solidFill>
                    <a:lnL>
                      <a:noFill/>
                    </a:lnL>
                    <a:lnR>
                      <a:noFill/>
                    </a:lnR>
                    <a:lnT>
                      <a:noFill/>
                    </a:lnT>
                    <a:lnB>
                      <a:noFill/>
                    </a:lnB>
                  </a:tcPr>
                </a:tc>
              </a:tr>
              <a:tr h="532638">
                <a:tc>
                  <a:txBody>
                    <a:bodyPr/>
                    <a:lstStyle/>
                    <a:p>
                      <a:pPr>
                        <a:defRPr sz="1700" b="1">
                          <a:solidFill>
                            <a:srgbClr val="12332D"/>
                          </a:solidFill>
                          <a:latin typeface="Arial"/>
                        </a:defRPr>
                      </a:pPr>
                      <a:r>
                        <a:t>Collaboration · simulation</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Missions, compétences et accessibilité</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Adapter le travail et l’accompagnement</a:t>
                      </a:r>
                    </a:p>
                  </a:txBody>
                  <a:tcPr marL="137160" marR="109728" marT="64008" marB="54864" anchor="ctr">
                    <a:solidFill>
                      <a:srgbClr val="FFFFFF"/>
                    </a:solidFill>
                    <a:lnL>
                      <a:noFill/>
                    </a:lnL>
                    <a:lnR>
                      <a:noFill/>
                    </a:lnR>
                    <a:lnT>
                      <a:noFill/>
                    </a:lnT>
                    <a:lnB>
                      <a:noFill/>
                    </a:lnB>
                  </a:tcPr>
                </a:tc>
              </a:tr>
              <a:tr h="532638">
                <a:tc>
                  <a:txBody>
                    <a:bodyPr/>
                    <a:lstStyle/>
                    <a:p>
                      <a:pPr>
                        <a:defRPr sz="1700" b="1">
                          <a:solidFill>
                            <a:srgbClr val="12332D"/>
                          </a:solidFill>
                          <a:latin typeface="Arial"/>
                        </a:defRPr>
                      </a:pPr>
                      <a:r>
                        <a:t>Suivi client · simulation</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Compte rendu et objectifs de satisfaction</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Préparer les arbitrages et la réception</a:t>
                      </a:r>
                    </a:p>
                  </a:txBody>
                  <a:tcPr marL="137160" marR="109728" marT="64008" marB="54864" anchor="ctr">
                    <a:solidFill>
                      <a:srgbClr val="EBEFE6"/>
                    </a:solidFill>
                    <a:lnL>
                      <a:noFill/>
                    </a:lnL>
                    <a:lnR>
                      <a:noFill/>
                    </a:lnR>
                    <a:lnT>
                      <a:noFill/>
                    </a:lnT>
                    <a:lnB>
                      <a:noFill/>
                    </a:lnB>
                  </a:tcPr>
                </a:tc>
              </a:tr>
              <a:tr h="532638">
                <a:tc>
                  <a:txBody>
                    <a:bodyPr/>
                    <a:lstStyle/>
                    <a:p>
                      <a:pPr>
                        <a:defRPr sz="1700" b="1">
                          <a:solidFill>
                            <a:srgbClr val="12332D"/>
                          </a:solidFill>
                          <a:latin typeface="Arial"/>
                        </a:defRPr>
                      </a:pPr>
                      <a:r>
                        <a:t>Validation</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Démonstration et réserves</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Accepter ou définir les actions restantes</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Relier le besoin, le travail réalisé et le résultat attendu.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CHRONOLOGIE RÉELLE DU DÉPÔT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Les étapes enregistrées dans Git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Jalons de développement issus de l’historique des versions.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25</a:t>
            </a:r>
          </a:p>
        </p:txBody>
      </p:sp>
      <p:sp>
        <p:nvSpPr>
          <p:cNvPr id="9" name="TextBox 8"/>
          <p:cNvSpPr txBox="1"/>
          <p:nvPr/>
        </p:nvSpPr>
        <p:spPr>
          <a:xfrm>
            <a:off x="731520" y="2651760"/>
            <a:ext cx="274320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1 an</a:t>
            </a:r>
          </a:p>
        </p:txBody>
      </p:sp>
      <p:sp>
        <p:nvSpPr>
          <p:cNvPr id="10" name="TextBox 9"/>
          <p:cNvSpPr txBox="1"/>
          <p:nvPr/>
        </p:nvSpPr>
        <p:spPr>
          <a:xfrm>
            <a:off x="731520" y="3584448"/>
            <a:ext cx="274320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projet solo</a:t>
            </a:r>
          </a:p>
        </p:txBody>
      </p:sp>
      <p:sp>
        <p:nvSpPr>
          <p:cNvPr id="11" name="TextBox 10"/>
          <p:cNvSpPr txBox="1"/>
          <p:nvPr/>
        </p:nvSpPr>
        <p:spPr>
          <a:xfrm>
            <a:off x="731520" y="4315968"/>
            <a:ext cx="2743200" cy="100584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De la conception</a:t>
            </a:r>
          </a:p>
          <a:p>
            <a:pPr algn="l">
              <a:spcAft>
                <a:spcPts val="400"/>
              </a:spcAft>
              <a:defRPr sz="1600" b="0">
                <a:solidFill>
                  <a:srgbClr val="5C6C65"/>
                </a:solidFill>
                <a:latin typeface="Arial"/>
              </a:defRPr>
            </a:pPr>
            <a:r>
              <a:t>à la livraison</a:t>
            </a:r>
          </a:p>
        </p:txBody>
      </p:sp>
      <p:sp>
        <p:nvSpPr>
          <p:cNvPr id="12" name="Rounded Rectangle 11"/>
          <p:cNvSpPr/>
          <p:nvPr/>
        </p:nvSpPr>
        <p:spPr>
          <a:xfrm>
            <a:off x="4023360" y="2423160"/>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42232" y="2482596"/>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JAN. 2026</a:t>
            </a:r>
          </a:p>
        </p:txBody>
      </p:sp>
      <p:sp>
        <p:nvSpPr>
          <p:cNvPr id="14" name="TextBox 13"/>
          <p:cNvSpPr txBox="1"/>
          <p:nvPr/>
        </p:nvSpPr>
        <p:spPr>
          <a:xfrm>
            <a:off x="5742432" y="2404872"/>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Fondations</a:t>
            </a:r>
          </a:p>
        </p:txBody>
      </p:sp>
      <p:sp>
        <p:nvSpPr>
          <p:cNvPr id="15" name="TextBox 14"/>
          <p:cNvSpPr txBox="1"/>
          <p:nvPr/>
        </p:nvSpPr>
        <p:spPr>
          <a:xfrm>
            <a:off x="5742432" y="2843784"/>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Next.js, Tailwind, Drizzle</a:t>
            </a:r>
          </a:p>
        </p:txBody>
      </p:sp>
      <p:cxnSp>
        <p:nvCxnSpPr>
          <p:cNvPr id="16" name="Connector 15"/>
          <p:cNvCxnSpPr/>
          <p:nvPr/>
        </p:nvCxnSpPr>
        <p:spPr>
          <a:xfrm>
            <a:off x="5742432" y="3163824"/>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23360" y="3255264"/>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42232" y="3314700"/>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MAI</a:t>
            </a:r>
          </a:p>
        </p:txBody>
      </p:sp>
      <p:sp>
        <p:nvSpPr>
          <p:cNvPr id="19" name="TextBox 18"/>
          <p:cNvSpPr txBox="1"/>
          <p:nvPr/>
        </p:nvSpPr>
        <p:spPr>
          <a:xfrm>
            <a:off x="5742432" y="3236976"/>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Premiers parcours</a:t>
            </a:r>
          </a:p>
        </p:txBody>
      </p:sp>
      <p:sp>
        <p:nvSpPr>
          <p:cNvPr id="20" name="TextBox 19"/>
          <p:cNvSpPr txBox="1"/>
          <p:nvPr/>
        </p:nvSpPr>
        <p:spPr>
          <a:xfrm>
            <a:off x="5742432" y="3675888"/>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Connexion, profils, lieux</a:t>
            </a:r>
          </a:p>
        </p:txBody>
      </p:sp>
      <p:cxnSp>
        <p:nvCxnSpPr>
          <p:cNvPr id="21" name="Connector 20"/>
          <p:cNvCxnSpPr/>
          <p:nvPr/>
        </p:nvCxnSpPr>
        <p:spPr>
          <a:xfrm>
            <a:off x="5742432" y="3995928"/>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023360" y="4087368"/>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42232" y="4146804"/>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JUILLET</a:t>
            </a:r>
          </a:p>
        </p:txBody>
      </p:sp>
      <p:sp>
        <p:nvSpPr>
          <p:cNvPr id="24" name="TextBox 23"/>
          <p:cNvSpPr txBox="1"/>
          <p:nvPr/>
        </p:nvSpPr>
        <p:spPr>
          <a:xfrm>
            <a:off x="5742432" y="4069080"/>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Prototype testé</a:t>
            </a:r>
          </a:p>
        </p:txBody>
      </p:sp>
      <p:sp>
        <p:nvSpPr>
          <p:cNvPr id="25" name="TextBox 24"/>
          <p:cNvSpPr txBox="1"/>
          <p:nvPr/>
        </p:nvSpPr>
        <p:spPr>
          <a:xfrm>
            <a:off x="5742432" y="4507992"/>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Matching, événements, CI</a:t>
            </a:r>
          </a:p>
        </p:txBody>
      </p:sp>
      <p:cxnSp>
        <p:nvCxnSpPr>
          <p:cNvPr id="26" name="Connector 25"/>
          <p:cNvCxnSpPr/>
          <p:nvPr/>
        </p:nvCxnSpPr>
        <p:spPr>
          <a:xfrm>
            <a:off x="5742432" y="4828031"/>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023360" y="4919472"/>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42232" y="4978908"/>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AOÛT</a:t>
            </a:r>
          </a:p>
        </p:txBody>
      </p:sp>
      <p:sp>
        <p:nvSpPr>
          <p:cNvPr id="29" name="TextBox 28"/>
          <p:cNvSpPr txBox="1"/>
          <p:nvPr/>
        </p:nvSpPr>
        <p:spPr>
          <a:xfrm>
            <a:off x="5742432" y="4901184"/>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Maintenance</a:t>
            </a:r>
          </a:p>
        </p:txBody>
      </p:sp>
      <p:sp>
        <p:nvSpPr>
          <p:cNvPr id="30" name="TextBox 29"/>
          <p:cNvSpPr txBox="1"/>
          <p:nvPr/>
        </p:nvSpPr>
        <p:spPr>
          <a:xfrm>
            <a:off x="5742432" y="5340096"/>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Supervision, incidents, qualité</a:t>
            </a:r>
          </a:p>
        </p:txBody>
      </p:sp>
      <p:cxnSp>
        <p:nvCxnSpPr>
          <p:cNvPr id="31" name="Connector 30"/>
          <p:cNvCxnSpPr/>
          <p:nvPr/>
        </p:nvCxnSpPr>
        <p:spPr>
          <a:xfrm>
            <a:off x="5742432" y="5660136"/>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023360" y="5751576"/>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42232" y="5811012"/>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SEPT.</a:t>
            </a:r>
          </a:p>
        </p:txBody>
      </p:sp>
      <p:sp>
        <p:nvSpPr>
          <p:cNvPr id="34" name="TextBox 33"/>
          <p:cNvSpPr txBox="1"/>
          <p:nvPr/>
        </p:nvSpPr>
        <p:spPr>
          <a:xfrm>
            <a:off x="5742432" y="5733288"/>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Livraison enrichie</a:t>
            </a:r>
          </a:p>
        </p:txBody>
      </p:sp>
      <p:sp>
        <p:nvSpPr>
          <p:cNvPr id="35" name="TextBox 34"/>
          <p:cNvSpPr txBox="1"/>
          <p:nvPr/>
        </p:nvSpPr>
        <p:spPr>
          <a:xfrm>
            <a:off x="5742432" y="6172200"/>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Médias, administration, topos</a:t>
            </a:r>
          </a:p>
        </p:txBody>
      </p:sp>
      <p:sp>
        <p:nvSpPr>
          <p:cNvPr id="36" name="Rectangle 35"/>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Les commits datent des versions ; ils ne mesurent pas les heures travaillées.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C3.3.2 · TRANSMISSION RH</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Préparer un besoin de renfort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demande de renfort conditionnelle.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26</a:t>
            </a:r>
          </a:p>
        </p:txBody>
      </p:sp>
      <p:graphicFrame>
        <p:nvGraphicFramePr>
          <p:cNvPr id="9" name="Table 8"/>
          <p:cNvGraphicFramePr>
            <a:graphicFrameLocks noGrp="1"/>
          </p:cNvGraphicFramePr>
          <p:nvPr/>
        </p:nvGraphicFramePr>
        <p:xfrm>
          <a:off x="594360" y="2423160"/>
          <a:ext cx="13441680" cy="4261103"/>
        </p:xfrm>
        <a:graphic>
          <a:graphicData uri="http://schemas.openxmlformats.org/drawingml/2006/table">
            <a:tbl>
              <a:tblPr firstRow="1" bandRow="1">
                <a:tableStyleId>{5C22544A-7EE6-4342-B048-85BDC9FD1C3A}</a:tableStyleId>
              </a:tblPr>
              <a:tblGrid>
                <a:gridCol w="3200400"/>
                <a:gridCol w="10241280"/>
              </a:tblGrid>
              <a:tr h="608729">
                <a:tc>
                  <a:txBody>
                    <a:bodyPr/>
                    <a:lstStyle/>
                    <a:p>
                      <a:pPr>
                        <a:defRPr sz="1700" b="1">
                          <a:solidFill>
                            <a:srgbClr val="FFFFFF"/>
                          </a:solidFill>
                          <a:latin typeface="Arial"/>
                        </a:defRPr>
                      </a:pPr>
                      <a:r>
                        <a:t>Rubrique</a:t>
                      </a:r>
                    </a:p>
                  </a:txBody>
                  <a:tcPr marL="137160" marR="109728" marT="64008" marB="54864" anchor="ctr">
                    <a:solidFill>
                      <a:srgbClr val="12332D"/>
                    </a:solidFill>
                    <a:lnL>
                      <a:noFill/>
                    </a:lnL>
                    <a:lnR>
                      <a:noFill/>
                    </a:lnR>
                    <a:lnT>
                      <a:noFill/>
                    </a:lnT>
                    <a:lnB>
                      <a:noFill/>
                    </a:lnB>
                  </a:tcPr>
                </a:tc>
                <a:tc>
                  <a:txBody>
                    <a:bodyPr/>
                    <a:lstStyle/>
                    <a:p>
                      <a:pPr>
                        <a:defRPr sz="1700" b="1">
                          <a:solidFill>
                            <a:srgbClr val="FFFFFF"/>
                          </a:solidFill>
                          <a:latin typeface="Arial"/>
                        </a:defRPr>
                      </a:pPr>
                      <a:r>
                        <a:t>Besoin à transmettre aux ressources humaines</a:t>
                      </a:r>
                    </a:p>
                  </a:txBody>
                  <a:tcPr marL="137160" marR="109728" marT="64008" marB="54864" anchor="ctr">
                    <a:solidFill>
                      <a:srgbClr val="12332D"/>
                    </a:solidFill>
                    <a:lnL>
                      <a:noFill/>
                    </a:lnL>
                    <a:lnR>
                      <a:noFill/>
                    </a:lnR>
                    <a:lnT>
                      <a:noFill/>
                    </a:lnT>
                    <a:lnB>
                      <a:noFill/>
                    </a:lnB>
                  </a:tcPr>
                </a:tc>
              </a:tr>
              <a:tr h="608729">
                <a:tc>
                  <a:txBody>
                    <a:bodyPr/>
                    <a:lstStyle/>
                    <a:p>
                      <a:pPr>
                        <a:defRPr sz="1700" b="1">
                          <a:solidFill>
                            <a:srgbClr val="12332D"/>
                          </a:solidFill>
                          <a:latin typeface="Arial"/>
                        </a:defRPr>
                      </a:pPr>
                      <a:r>
                        <a:t>Déclencheur</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Recette critique non maîtrisée après la formation et son évaluation</a:t>
                      </a:r>
                    </a:p>
                  </a:txBody>
                  <a:tcPr marL="137160" marR="109728" marT="64008" marB="54864" anchor="ctr">
                    <a:solidFill>
                      <a:srgbClr val="FFFFFF"/>
                    </a:solidFill>
                    <a:lnL>
                      <a:noFill/>
                    </a:lnL>
                    <a:lnR>
                      <a:noFill/>
                    </a:lnR>
                    <a:lnT>
                      <a:noFill/>
                    </a:lnT>
                    <a:lnB>
                      <a:noFill/>
                    </a:lnB>
                  </a:tcPr>
                </a:tc>
              </a:tr>
              <a:tr h="608729">
                <a:tc>
                  <a:txBody>
                    <a:bodyPr/>
                    <a:lstStyle/>
                    <a:p>
                      <a:pPr>
                        <a:defRPr sz="1700" b="1">
                          <a:solidFill>
                            <a:srgbClr val="12332D"/>
                          </a:solidFill>
                          <a:latin typeface="Arial"/>
                        </a:defRPr>
                      </a:pPr>
                      <a:r>
                        <a:t>Mission</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4 h de renfort QA avant la restitution ; parcours et anomalies reproductibles</a:t>
                      </a:r>
                    </a:p>
                  </a:txBody>
                  <a:tcPr marL="137160" marR="109728" marT="64008" marB="54864" anchor="ctr">
                    <a:solidFill>
                      <a:srgbClr val="EBEFE6"/>
                    </a:solidFill>
                    <a:lnL>
                      <a:noFill/>
                    </a:lnL>
                    <a:lnR>
                      <a:noFill/>
                    </a:lnR>
                    <a:lnT>
                      <a:noFill/>
                    </a:lnT>
                    <a:lnB>
                      <a:noFill/>
                    </a:lnB>
                  </a:tcPr>
                </a:tc>
              </a:tr>
              <a:tr h="608729">
                <a:tc>
                  <a:txBody>
                    <a:bodyPr/>
                    <a:lstStyle/>
                    <a:p>
                      <a:pPr>
                        <a:defRPr sz="1700" b="1">
                          <a:solidFill>
                            <a:srgbClr val="12332D"/>
                          </a:solidFill>
                          <a:latin typeface="Arial"/>
                        </a:defRPr>
                      </a:pPr>
                      <a:r>
                        <a:t>Compétences</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Recette navigateur, accessibilité clavier, communication écrite</a:t>
                      </a:r>
                    </a:p>
                  </a:txBody>
                  <a:tcPr marL="137160" marR="109728" marT="64008" marB="54864" anchor="ctr">
                    <a:solidFill>
                      <a:srgbClr val="FFFFFF"/>
                    </a:solidFill>
                    <a:lnL>
                      <a:noFill/>
                    </a:lnL>
                    <a:lnR>
                      <a:noFill/>
                    </a:lnR>
                    <a:lnT>
                      <a:noFill/>
                    </a:lnT>
                    <a:lnB>
                      <a:noFill/>
                    </a:lnB>
                  </a:tcPr>
                </a:tc>
              </a:tr>
              <a:tr h="608729">
                <a:tc>
                  <a:txBody>
                    <a:bodyPr/>
                    <a:lstStyle/>
                    <a:p>
                      <a:pPr>
                        <a:defRPr sz="1700" b="1">
                          <a:solidFill>
                            <a:srgbClr val="12332D"/>
                          </a:solidFill>
                          <a:latin typeface="Arial"/>
                        </a:defRPr>
                      </a:pPr>
                      <a:r>
                        <a:t>Sélection / intégration</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Exercice accessible sur base test ; binôme de prise en main avec le porteur</a:t>
                      </a:r>
                    </a:p>
                  </a:txBody>
                  <a:tcPr marL="137160" marR="109728" marT="64008" marB="54864" anchor="ctr">
                    <a:solidFill>
                      <a:srgbClr val="EBEFE6"/>
                    </a:solidFill>
                    <a:lnL>
                      <a:noFill/>
                    </a:lnL>
                    <a:lnR>
                      <a:noFill/>
                    </a:lnR>
                    <a:lnT>
                      <a:noFill/>
                    </a:lnT>
                    <a:lnB>
                      <a:noFill/>
                    </a:lnB>
                  </a:tcPr>
                </a:tc>
              </a:tr>
              <a:tr h="608729">
                <a:tc>
                  <a:txBody>
                    <a:bodyPr/>
                    <a:lstStyle/>
                    <a:p>
                      <a:pPr>
                        <a:defRPr sz="1700" b="1">
                          <a:solidFill>
                            <a:srgbClr val="12332D"/>
                          </a:solidFill>
                          <a:latin typeface="Arial"/>
                        </a:defRPr>
                      </a:pPr>
                      <a:r>
                        <a:t>Coût indicatif</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4 h × 45 € = 180 € ; hors budget de base, engagement à arbitrer</a:t>
                      </a:r>
                    </a:p>
                  </a:txBody>
                  <a:tcPr marL="137160" marR="109728" marT="64008" marB="54864" anchor="ctr">
                    <a:solidFill>
                      <a:srgbClr val="FFFFFF"/>
                    </a:solidFill>
                    <a:lnL>
                      <a:noFill/>
                    </a:lnL>
                    <a:lnR>
                      <a:noFill/>
                    </a:lnR>
                    <a:lnT>
                      <a:noFill/>
                    </a:lnT>
                    <a:lnB>
                      <a:noFill/>
                    </a:lnB>
                  </a:tcPr>
                </a:tc>
              </a:tr>
              <a:tr h="608729">
                <a:tc>
                  <a:txBody>
                    <a:bodyPr/>
                    <a:lstStyle/>
                    <a:p>
                      <a:pPr>
                        <a:defRPr sz="1700" b="1">
                          <a:solidFill>
                            <a:srgbClr val="12332D"/>
                          </a:solidFill>
                          <a:latin typeface="Arial"/>
                        </a:defRPr>
                      </a:pPr>
                      <a:r>
                        <a:t>Accueil et contrôle</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Accès limités, critères écrits, point de retour et validation du livrable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Confirmer la mission, la disponibilité, les modalités et le budget avant engagement.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Spity — Piloter le projet | Bloc 3</dc:title>
  <dc:subject>Soutenance RNCP39583 — Coordonner et piloter Spity</dc:subject>
  <dc:creator>Dorian Joly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