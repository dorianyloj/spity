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Début</c:v>
                </c:pt>
              </c:strCache>
            </c:strRef>
          </c:tx>
          <c:spPr>
            <a:noFill/>
            <a:ln>
              <a:noFill/>
            </a:ln>
          </c:spPr>
          <c:cat>
            <c:strRef>
              <c:f>Sheet1!$A$2:$A$10</c:f>
              <c:strCache>
                <c:ptCount val="9"/>
                <c:pt idx="0">
                  <c:v>Cadrage / UX</c:v>
                </c:pt>
                <c:pt idx="1">
                  <c:v>Setup technique</c:v>
                </c:pt>
                <c:pt idx="2">
                  <c:v>Auth / sécurité</c:v>
                </c:pt>
                <c:pt idx="3">
                  <c:v>Profils</c:v>
                </c:pt>
                <c:pt idx="4">
                  <c:v>Feed social</c:v>
                </c:pt>
                <c:pt idx="5">
                  <c:v>Répertoire</c:v>
                </c:pt>
                <c:pt idx="6">
                  <c:v>Topos</c:v>
                </c:pt>
                <c:pt idx="7">
                  <c:v>Événements</c:v>
                </c:pt>
                <c:pt idx="8">
                  <c:v>Tests / access. / doc.</c:v>
                </c:pt>
              </c:strCache>
            </c:strRef>
          </c:cat>
          <c:val>
            <c:numRef>
              <c:f>Sheet1!$B$2:$B$10</c:f>
              <c:numCache>
                <c:formatCode>General</c:formatCode>
                <c:ptCount val="9"/>
                <c:pt idx="0">
                  <c:v>0</c:v>
                </c:pt>
                <c:pt idx="1">
                  <c:v>1</c:v>
                </c:pt>
                <c:pt idx="2">
                  <c:v>2</c:v>
                </c:pt>
                <c:pt idx="3">
                  <c:v>3</c:v>
                </c:pt>
                <c:pt idx="4">
                  <c:v>4</c:v>
                </c:pt>
                <c:pt idx="5">
                  <c:v>5</c:v>
                </c:pt>
                <c:pt idx="6">
                  <c:v>7</c:v>
                </c:pt>
                <c:pt idx="7">
                  <c:v>7</c:v>
                </c:pt>
                <c:pt idx="8">
                  <c:v>9</c:v>
                </c:pt>
              </c:numCache>
            </c:numRef>
          </c:val>
        </c:ser>
        <c:ser>
          <c:idx val="1"/>
          <c:order val="1"/>
          <c:tx>
            <c:strRef>
              <c:f>Sheet1!$C$1</c:f>
              <c:strCache>
                <c:ptCount val="1"/>
                <c:pt idx="0">
                  <c:v>Durée</c:v>
                </c:pt>
              </c:strCache>
            </c:strRef>
          </c:tx>
          <c:spPr>
            <a:solidFill>
              <a:srgbClr val="286957"/>
            </a:solidFill>
            <a:ln>
              <a:noFill/>
            </a:ln>
          </c:spPr>
          <c:cat>
            <c:strRef>
              <c:f>Sheet1!$A$2:$A$10</c:f>
              <c:strCache>
                <c:ptCount val="9"/>
                <c:pt idx="0">
                  <c:v>Cadrage / UX</c:v>
                </c:pt>
                <c:pt idx="1">
                  <c:v>Setup technique</c:v>
                </c:pt>
                <c:pt idx="2">
                  <c:v>Auth / sécurité</c:v>
                </c:pt>
                <c:pt idx="3">
                  <c:v>Profils</c:v>
                </c:pt>
                <c:pt idx="4">
                  <c:v>Feed social</c:v>
                </c:pt>
                <c:pt idx="5">
                  <c:v>Répertoire</c:v>
                </c:pt>
                <c:pt idx="6">
                  <c:v>Topos</c:v>
                </c:pt>
                <c:pt idx="7">
                  <c:v>Événements</c:v>
                </c:pt>
                <c:pt idx="8">
                  <c:v>Tests / access. / doc.</c:v>
                </c:pt>
              </c:strCache>
            </c:strRef>
          </c:cat>
          <c:val>
            <c:numRef>
              <c:f>Sheet1!$C$2:$C$10</c:f>
              <c:numCache>
                <c:formatCode>General</c:formatCode>
                <c:ptCount val="9"/>
                <c:pt idx="0">
                  <c:v>2</c:v>
                </c:pt>
                <c:pt idx="1">
                  <c:v>2</c:v>
                </c:pt>
                <c:pt idx="2">
                  <c:v>2</c:v>
                </c:pt>
                <c:pt idx="3">
                  <c:v>2</c:v>
                </c:pt>
                <c:pt idx="4">
                  <c:v>3</c:v>
                </c:pt>
                <c:pt idx="5">
                  <c:v>3</c:v>
                </c:pt>
                <c:pt idx="6">
                  <c:v>3</c:v>
                </c:pt>
                <c:pt idx="7">
                  <c:v>3</c:v>
                </c:pt>
                <c:pt idx="8">
                  <c:v>3</c:v>
                </c:pt>
              </c:numCache>
            </c:numRef>
          </c:val>
        </c:ser>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2.0"/>
          <c:min val="0.0"/>
        </c:scaling>
        <c:delete val="0"/>
        <c:axPos val="b"/>
        <c:majorGridlines>
          <c:spPr>
            <a:ln w="7620">
              <a:solidFill>
                <a:srgbClr val="DDE3D9"/>
              </a:solidFill>
            </a:ln>
          </c:spPr>
        </c:majorGridlines>
        <c:numFmt formatCode="0"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Tickets</c:v>
                </c:pt>
              </c:strCache>
            </c:strRef>
          </c:tx>
          <c:spPr>
            <a:solidFill>
              <a:srgbClr val="286957"/>
            </a:solidFill>
            <a:ln>
              <a:noFill/>
            </a:ln>
          </c:spPr>
          <c:cat>
            <c:strRef>
              <c:f>Sheet1!$A$2:$A$5</c:f>
              <c:strCache>
                <c:ptCount val="4"/>
                <c:pt idx="0">
                  <c:v>Terminé</c:v>
                </c:pt>
                <c:pt idx="1">
                  <c:v>En cours</c:v>
                </c:pt>
                <c:pt idx="2">
                  <c:v>À faire</c:v>
                </c:pt>
                <c:pt idx="3">
                  <c:v>Backlog</c:v>
                </c:pt>
              </c:strCache>
            </c:strRef>
          </c:cat>
          <c:val>
            <c:numRef>
              <c:f>Sheet1!$B$2:$B$5</c:f>
              <c:numCache>
                <c:formatCode>General</c:formatCode>
                <c:ptCount val="4"/>
                <c:pt idx="0">
                  <c:v>12</c:v>
                </c:pt>
                <c:pt idx="1">
                  <c:v>1</c:v>
                </c:pt>
                <c:pt idx="2">
                  <c:v>4</c:v>
                </c:pt>
                <c:pt idx="3">
                  <c:v>7</c:v>
                </c:pt>
              </c:numCache>
            </c:numRef>
          </c:val>
        </c:ser>
        <c:dLbls>
          <c:numFmt formatCode="0" sourceLinked="0"/>
          <c:txPr>
            <a:bodyPr/>
            <a:lstStyle/>
            <a:p>
              <a:pPr>
                <a:defRPr sz="1700" b="1">
                  <a:solidFill>
                    <a:srgbClr val="12332D"/>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4.0"/>
          <c:min val="0.0"/>
        </c:scaling>
        <c:delete val="0"/>
        <c:axPos val="b"/>
        <c:majorGridlines>
          <c:spPr>
            <a:ln w="7620">
              <a:solidFill>
                <a:srgbClr val="DDE3D9"/>
              </a:solidFill>
            </a:ln>
          </c:spPr>
        </c:majorGridlines>
        <c:numFmt formatCode="0"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Avant</c:v>
                </c:pt>
              </c:strCache>
            </c:strRef>
          </c:tx>
          <c:spPr>
            <a:solidFill>
              <a:srgbClr val="86A18C"/>
            </a:solidFill>
            <a:ln>
              <a:noFill/>
            </a:ln>
          </c:spPr>
          <c:cat>
            <c:strRef>
              <c:f>Sheet1!$A$2:$A$6</c:f>
              <c:strCache>
                <c:ptCount val="5"/>
                <c:pt idx="0">
                  <c:v>Partenaires</c:v>
                </c:pt>
                <c:pt idx="1">
                  <c:v>Événements</c:v>
                </c:pt>
                <c:pt idx="2">
                  <c:v>Demandes</c:v>
                </c:pt>
                <c:pt idx="3">
                  <c:v>Profil</c:v>
                </c:pt>
                <c:pt idx="4">
                  <c:v>Feed</c:v>
                </c:pt>
              </c:strCache>
            </c:strRef>
          </c:cat>
          <c:val>
            <c:numRef>
              <c:f>Sheet1!$B$2:$B$6</c:f>
              <c:numCache>
                <c:formatCode>General</c:formatCode>
                <c:ptCount val="5"/>
                <c:pt idx="0">
                  <c:v>11.041</c:v>
                </c:pt>
                <c:pt idx="1">
                  <c:v>9.917</c:v>
                </c:pt>
                <c:pt idx="2">
                  <c:v>10.22</c:v>
                </c:pt>
                <c:pt idx="3">
                  <c:v>10.363</c:v>
                </c:pt>
                <c:pt idx="4">
                  <c:v>8.66</c:v>
                </c:pt>
              </c:numCache>
            </c:numRef>
          </c:val>
        </c:ser>
        <c:ser>
          <c:idx val="1"/>
          <c:order val="1"/>
          <c:tx>
            <c:strRef>
              <c:f>Sheet1!$C$1</c:f>
              <c:strCache>
                <c:ptCount val="1"/>
                <c:pt idx="0">
                  <c:v>Après</c:v>
                </c:pt>
              </c:strCache>
            </c:strRef>
          </c:tx>
          <c:spPr>
            <a:solidFill>
              <a:srgbClr val="D8F28B"/>
            </a:solidFill>
            <a:ln>
              <a:noFill/>
            </a:ln>
          </c:spPr>
          <c:cat>
            <c:strRef>
              <c:f>Sheet1!$A$2:$A$6</c:f>
              <c:strCache>
                <c:ptCount val="5"/>
                <c:pt idx="0">
                  <c:v>Partenaires</c:v>
                </c:pt>
                <c:pt idx="1">
                  <c:v>Événements</c:v>
                </c:pt>
                <c:pt idx="2">
                  <c:v>Demandes</c:v>
                </c:pt>
                <c:pt idx="3">
                  <c:v>Profil</c:v>
                </c:pt>
                <c:pt idx="4">
                  <c:v>Feed</c:v>
                </c:pt>
              </c:strCache>
            </c:strRef>
          </c:cat>
          <c:val>
            <c:numRef>
              <c:f>Sheet1!$C$2:$C$6</c:f>
              <c:numCache>
                <c:formatCode>General</c:formatCode>
                <c:ptCount val="5"/>
                <c:pt idx="0">
                  <c:v>1.123</c:v>
                </c:pt>
                <c:pt idx="1">
                  <c:v>0.763</c:v>
                </c:pt>
                <c:pt idx="2">
                  <c:v>0.55</c:v>
                </c:pt>
                <c:pt idx="3">
                  <c:v>0.748</c:v>
                </c:pt>
                <c:pt idx="4">
                  <c:v>0.494</c:v>
                </c:pt>
              </c:numCache>
            </c:numRef>
          </c:val>
        </c:ser>
        <c:dLbls>
          <c:numFmt formatCode="0.00&quot; s&quot;" sourceLinked="0"/>
          <c:txPr>
            <a:bodyPr/>
            <a:lstStyle/>
            <a:p>
              <a:pPr>
                <a:defRPr sz="1700" b="1">
                  <a:solidFill>
                    <a:srgbClr val="FFFFFF"/>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C7D6CB"/>
                </a:solidFill>
                <a:latin typeface="Arial"/>
              </a:defRPr>
            </a:pPr>
          </a:p>
        </c:txPr>
        <c:crossAx val="-2113994440"/>
        <c:crosses val="autoZero"/>
        <c:auto val="1"/>
        <c:lblAlgn val="ctr"/>
        <c:lblOffset val="100"/>
        <c:noMultiLvlLbl val="0"/>
      </c:catAx>
      <c:valAx>
        <c:axId val="-2113994440"/>
        <c:scaling>
          <c:max val="13.0"/>
          <c:min val="0.0"/>
        </c:scaling>
        <c:delete val="0"/>
        <c:axPos val="b"/>
        <c:majorGridlines>
          <c:spPr>
            <a:ln w="7620">
              <a:solidFill>
                <a:srgbClr val="1C453B"/>
              </a:solidFill>
            </a:ln>
          </c:spPr>
        </c:majorGridlines>
        <c:numFmt formatCode="0.00&quot; s&quot;" sourceLinked="0"/>
        <c:majorTickMark val="out"/>
        <c:minorTickMark val="none"/>
        <c:tickLblPos val="nextTo"/>
        <c:spPr>
          <a:ln>
            <a:noFill/>
          </a:ln>
        </c:spPr>
        <c:txPr>
          <a:bodyPr/>
          <a:lstStyle/>
          <a:p>
            <a:pPr>
              <a:defRPr sz="1200">
                <a:solidFill>
                  <a:srgbClr val="C7D6CB"/>
                </a:solidFill>
                <a:latin typeface="Arial"/>
              </a:defRPr>
            </a:pPr>
          </a:p>
        </c:txPr>
        <c:crossAx val="-2068027336"/>
        <c:crosses val="autoZero"/>
      </c:valAx>
      <c:spPr>
        <a:noFill/>
        <a:ln>
          <a:noFill/>
        </a:ln>
      </c:spPr>
    </c:plotArea>
    <c:legend>
      <c:legendPos val="b"/>
      <c:overlay val="0"/>
      <c:txPr>
        <a:bodyPr/>
        <a:lstStyle/>
        <a:p>
          <a:pPr>
            <a:defRPr sz="1300">
              <a:latin typeface="Arial"/>
            </a:defRPr>
          </a:pPr>
        </a:p>
      </c:txPr>
    </c:legend>
    <c:dispBlanksAs val="gap"/>
  </c:chart>
  <c:txPr>
    <a:bodyPr/>
    <a:lstStyle/>
    <a:p>
      <a:pPr>
        <a:defRPr sz="1600">
          <a:solidFill>
            <a:srgbClr val="FFFFFF"/>
          </a:solidFill>
          <a:latin typeface="Arial"/>
        </a:defRPr>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00:00–00:30</a:t>
            </a:r>
          </a:p>
          <a:p>
            <a:r>
              <a:t>NATURE : Durée déclarée et preuves du dépôt</a:t>
            </a:r>
          </a:p>
          <a:p/>
          <a:p>
            <a:r>
              <a:t>TEXTE ORAL</a:t>
            </a:r>
          </a:p>
          <a:p>
            <a:r>
              <a:t>Spity est un projet d’escalade que j’ai développé seul sur un an. Je présente sa gestion et le logiciel. Les traces de développement, la correction de navigation et le déploiement sont réels. Pour traiter les compétences de pilotage, de collaboration et de suivi client qui ne sont pas toutes documentées dans le projet solo, j’ajoute des mises en situation explicitement signalées. Elles se déroulent dans le cadre d’une année, sans être présentées comme des événements réellement vécus.</a:t>
            </a:r>
          </a:p>
          <a:p/>
          <a:p>
            <a:r>
              <a:t>À MONTRER</a:t>
            </a:r>
          </a:p>
          <a:p/>
          <a:p/>
          <a:p>
            <a:r>
              <a:t>SOURCE</a:t>
            </a:r>
          </a:p>
          <a:p>
            <a:r>
              <a:t>Durée déclarée par le candidat ; CADRAGE_PROJET.md ; historique Git.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00:30–01:00</a:t>
            </a:r>
          </a:p>
          <a:p>
            <a:r>
              <a:t>NATURE : Plan aligné sur les deux PDF fournis</a:t>
            </a:r>
          </a:p>
          <a:p/>
          <a:p>
            <a:r>
              <a:t>TEXTE ORAL</a:t>
            </a:r>
          </a:p>
          <a:p>
            <a:r>
              <a:t>Je présente d’abord le besoin et le projet solo. Je déroule ensuite les sept compétences dans l’ordre : planification, suivi, arbitrage, management, compétences, suivi client et démonstration. Les six minutes de manipulation sont incluses dans les trente minutes. Les trois compétences signalées comme obligatoires dans le PDF fourni sont la planification, le suivi de l’avancement et la démonstration. Toutes les autres restent traitées.</a:t>
            </a:r>
          </a:p>
          <a:p/>
          <a:p>
            <a:r>
              <a:t>À MONTRER</a:t>
            </a:r>
          </a:p>
          <a:p/>
          <a:p/>
          <a:p>
            <a:r>
              <a:t>SOURCE</a:t>
            </a:r>
          </a:p>
          <a:p>
            <a:r>
              <a:t>Référentiel p. 11–14 ; compétences obligatoires p.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01:00–02:00</a:t>
            </a:r>
          </a:p>
          <a:p>
            <a:r>
              <a:t>NATURE : Éléments du projet documentés</a:t>
            </a:r>
          </a:p>
          <a:p/>
          <a:p>
            <a:r>
              <a:t>TEXTE ORAL</a:t>
            </a:r>
          </a:p>
          <a:p>
            <a:r>
              <a:t>Spity répond à deux besoins complémentaires. Un grimpeur cherche une personne avec laquelle pratiquer et une sortie adaptée. Un club souhaite organiser une activité et retrouver les participants. Le produit regroupe donc des profils, des partenaires, des événements et un répertoire de lieux. Ces besoins servent de fil conducteur à la démonstration. La capture montre une interface de la base de démonstration, avec des données de test. Le Collectif Altitude Grimpe présent dans le cadrage initial est un commanditaire fictif ; il ne constitue pas la preuve d’un client réel. Aucun accord de ce collectif n’est revendiqué ici.</a:t>
            </a:r>
          </a:p>
          <a:p/>
          <a:p>
            <a:r>
              <a:t>À MONTRER</a:t>
            </a:r>
          </a:p>
          <a:p>
            <a:r>
              <a:t>Montrer le besoin utilisateur puis le répertoire, sans détailler chaque fonction.</a:t>
            </a:r>
          </a:p>
          <a:p/>
          <a:p>
            <a:r>
              <a:t>SOURCE</a:t>
            </a:r>
          </a:p>
          <a:p>
            <a:r>
              <a:t>CADRAGE_PROJET.md ; capture lieux du 15/09/2026 ; Bloc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02:00–03:00</a:t>
            </a:r>
          </a:p>
          <a:p>
            <a:r>
              <a:t>NATURE : Outils réels ; cadre méthodologique argumenté et calendrier pédagogique</a:t>
            </a:r>
          </a:p>
          <a:p/>
          <a:p>
            <a:r>
              <a:t>TEXTE ORAL</a:t>
            </a:r>
          </a:p>
          <a:p>
            <a:r>
              <a:t>Je retiens un flux inspiré de Kanban, adapté à un projet solo où les priorités évoluent. Linear apporte la visibilité sur les tâches. Le rétroplanning complète le tableau en montrant les dates cibles et les dépendances, que le simple statut d’un ticket ne suffit pas à expliquer. Les deux outils sont compatibles : un lot planifié contient des tâches suivies dans Linear. Git et la CI relient les modifications à leurs contrôles. Le dépôt prouve l’existence de ces outils ; il ne prouve pas que toutes les pratiques proposées ont été appliquées historiquement. Dans la mise en situation, une revue hebdomadaire actualise le reste à faire et les risques.</a:t>
            </a:r>
          </a:p>
          <a:p/>
          <a:p>
            <a:r>
              <a:t>À MONTRER</a:t>
            </a:r>
          </a:p>
          <a:p/>
          <a:p/>
          <a:p>
            <a:r>
              <a:t>SOURCE</a:t>
            </a:r>
          </a:p>
          <a:p>
            <a:r>
              <a:t>Linear 14/09 ; dépôt ; A01.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03:00–04:30</a:t>
            </a:r>
          </a:p>
          <a:p>
            <a:r>
              <a:t>NATURE : Mise en situation pédagogique explicitement simulée</a:t>
            </a:r>
          </a:p>
          <a:p/>
          <a:p>
            <a:r>
              <a:t>TEXTE ORAL</a:t>
            </a:r>
          </a:p>
          <a:p>
            <a:r>
              <a:t>Le graphique répartit les neuf lots du cadrage sur douze mois relatifs. Les charges de référence viennent du Bloc 1 : elles totalisent 82 jours-personne estimés. Leur position dans le calendrier est une reconstruction pédagogique, pas le planning historique retrouvé. L’étude et la mesure du besoin précèdent la conception. La réalisation des parcours s’appuie sur l’authentification et les profils. Les événements doivent exister avant la recette des inscriptions. Les contrôles se poursuivent pendant la réalisation, puis la restitution intervient au dernier mois. Les points de vigilance portent sur les dépendances, le temps disponible en solo et la préparation d’une recette sur une version stable. Les vraies dates de commits restent dans l’annexe, séparées de ce modèle.</a:t>
            </a:r>
          </a:p>
          <a:p/>
          <a:p>
            <a:r>
              <a:t>À MONTRER</a:t>
            </a:r>
          </a:p>
          <a:p/>
          <a:p/>
          <a:p>
            <a:r>
              <a:t>SOURCE</a:t>
            </a:r>
          </a:p>
          <a:p>
            <a:r>
              <a:t>B1 : neuf lots, 82 j-h ; mise-en-situation.json ; A01.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04:30–06:00</a:t>
            </a:r>
          </a:p>
          <a:p>
            <a:r>
              <a:t>NATURE : Mise en situation pédagogique explicitement simulée</a:t>
            </a:r>
          </a:p>
          <a:p/>
          <a:p>
            <a:r>
              <a:t>TEXTE ORAL</a:t>
            </a:r>
          </a:p>
          <a:p>
            <a:r>
              <a:t>Dans la réalité, j’ai réalisé Spity seul. Le tableau sépare donc les responsabilités du projet individuel et une extension pédagogique de recette. Pour cette séance fictive, un testeur réalise les contrôles et Dorian reste responsable du livrable. Un représentant de club fictif décide de l’acceptation dans la mise en situation. Les missions sont affectées selon les compétences nécessaires, pas selon une situation de handicap. Le persona testeur est malentendant : les consignes écrites, les sous-titres vérifiés et les échanges asynchrones rendent sa mission accessible. Les ressources matérielles et logicielles sont celles du projet. Le budget de référence reste l’estimation B1, distincte des dépenses réelles non fournies.</a:t>
            </a:r>
          </a:p>
          <a:p/>
          <a:p>
            <a:r>
              <a:t>À MONTRER</a:t>
            </a:r>
          </a:p>
          <a:p/>
          <a:p/>
          <a:p>
            <a:r>
              <a:t>SOURCE</a:t>
            </a:r>
          </a:p>
          <a:p>
            <a:r>
              <a:t>A02 ; données B1 ; séance pédagogique dans mise-en-situation.json.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06:00–07:00</a:t>
            </a:r>
          </a:p>
          <a:p>
            <a:r>
              <a:t>NATURE : Observation historique non pondérée</a:t>
            </a:r>
          </a:p>
          <a:p/>
          <a:p>
            <a:r>
              <a:t>TEXTE ORAL</a:t>
            </a:r>
          </a:p>
          <a:p>
            <a:r>
              <a:t>Le relevé du 14 septembre contient 25 tickets, dont un annulé. Sur les 24 autres, 12 sont terminés, un est en cours, quatre sont à faire et sept restent dans le backlog. Le ratio de tickets terminés vaut donc 50 %. Sa lecture demande deux précautions. D’abord, les tickets n’ont pas tous la même taille. Ensuite, certains statuts peuvent être en retard sur le logiciel : le relevé contient par exemple un sujet d’authentification à faire alors que des parcours de connexion existent dans le dépôt. Le tableau permet de repérer un écart à vérifier ; il ne permet pas de conclure que toute la fonction est terminée. Je conserve la date du relevé et je ne présente pas ces nombres comme un état en direct du 16 septembre.</a:t>
            </a:r>
          </a:p>
          <a:p/>
          <a:p>
            <a:r>
              <a:t>À MONTRER</a:t>
            </a:r>
          </a:p>
          <a:p/>
          <a:p/>
          <a:p>
            <a:r>
              <a:t>SOURCE</a:t>
            </a:r>
          </a:p>
          <a:p>
            <a:r>
              <a:t>donnees/linear-2026-09-14.json ; A09.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07:00–08:30</a:t>
            </a:r>
          </a:p>
          <a:p>
            <a:r>
              <a:t>NATURE : Mise en situation pédagogique explicitement simulée</a:t>
            </a:r>
          </a:p>
          <a:p/>
          <a:p>
            <a:r>
              <a:t>TEXTE ORAL</a:t>
            </a:r>
          </a:p>
          <a:p>
            <a:r>
              <a:t>Le relevé Linear est réel et daté. Ce tableau est, lui, un exemple chiffré simulé pour montrer comment suivre les autres dimensions du projet. À M10, 58 jours-personne sont supposés consommés et 28 restent à faire. La prévision devient 86 jours, contre 82 initialement. À 450 euros par jour et en conservant les autres postes B1 à 7 350 euros, le total atteint 46 050 euros, soit un écart de 1 800 euros. Le jalon passe de la fin du mois 11 à la fin du mois 12. La prochaine période contient 12 jours de travail pour une capacité hypothétique de 10 : il faut déplacer deux jours de charge ou réduire le périmètre. Ces valeurs servent à expliquer les formules et les décisions ; elles ne sont pas mon temps ou mes dépenses réels.</a:t>
            </a:r>
          </a:p>
          <a:p/>
          <a:p>
            <a:r>
              <a:t>À MONTRER</a:t>
            </a:r>
          </a:p>
          <a:p/>
          <a:p/>
          <a:p>
            <a:r>
              <a:t>SOURCE</a:t>
            </a:r>
          </a:p>
          <a:p>
            <a:r>
              <a:t>mise-en-situation.json ; classeur, Suivi SIMULE ; A03.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08:30–09:30</a:t>
            </a:r>
          </a:p>
          <a:p>
            <a:r>
              <a:t>NATURE : Mise en situation pédagogique explicitement simulée</a:t>
            </a:r>
          </a:p>
          <a:p/>
          <a:p>
            <a:r>
              <a:t>TEXTE ORAL</a:t>
            </a:r>
          </a:p>
          <a:p>
            <a:r>
              <a:t>Un tableau de bord doit déclencher des actions. Je propose donc des signaux observables : dépasser la capacité, échouer sur un critère critique, ne pas pouvoir ouvrir le logiciel ou ne pas comprendre une consigne de recette. Chaque ligne associe une réponse et un responsable. Dans le projet solo, Dorian porte ces décisions. La ligne sur la recette accessible appartient à la séance fictive avec testeur. La revue hebdomadaire proposée rapproche les tickets, les écarts et les risques, puis conserve une action datée. Le tableau est un dispositif de pilotage pédagogique ; aucune cotation historique ou réunion réellement tenue n’est revendiquée.</a:t>
            </a:r>
          </a:p>
          <a:p/>
          <a:p>
            <a:r>
              <a:t>À MONTRER</a:t>
            </a:r>
          </a:p>
          <a:p/>
          <a:p/>
          <a:p>
            <a:r>
              <a:t>SOURCE</a:t>
            </a:r>
          </a:p>
          <a:p>
            <a:r>
              <a:t>A03 ; scénario annuel ; audit navigation pour le problème réel.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09:30–11:00</a:t>
            </a:r>
          </a:p>
          <a:p>
            <a:r>
              <a:t>NATURE : Arbitrage réel ; comparaison rétrospective</a:t>
            </a:r>
          </a:p>
          <a:p/>
          <a:p>
            <a:r>
              <a:t>TEXTE ORAL</a:t>
            </a:r>
          </a:p>
          <a:p>
            <a:r>
              <a:t>Le cas réel est la lenteur signalée lors des clics de navigation. La conséquence est visible : l’utilisateur attend sans percevoir clairement le résultat de son action. Le diagnostic local montre que l’initialisation du fond animé monopolise le navigateur. Le tableau compare les options comme outil d’aide à la décision. Garder le fond conserve le problème. Optimiser ou différer l’animation peut être étudié, mais aucun gain n’a été mesuré dans les preuves disponibles. Le choix retenu remplace le fond par un SVG statique et ajoute un indicateur d’attente. Il conserve le motif graphique et sacrifie le mouvement. Le changement est réel ; la comparaison formalisée ici est rétrospective. Les mesures suivantes permettent d’en discuter l’effet.</a:t>
            </a:r>
          </a:p>
          <a:p/>
          <a:p>
            <a:r>
              <a:t>À MONTRER</a:t>
            </a:r>
          </a:p>
          <a:p/>
          <a:p/>
          <a:p>
            <a:r>
              <a:t>SOURCE</a:t>
            </a:r>
          </a:p>
          <a:p>
            <a:r>
              <a:t>Audit navigation du 15/09 ; commit 83e4c29.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11:00–12:00</a:t>
            </a:r>
          </a:p>
          <a:p>
            <a:r>
              <a:t>NATURE : Mesures locales contrôlées, échantillon limité</a:t>
            </a:r>
          </a:p>
          <a:p/>
          <a:p>
            <a:r>
              <a:t>TEXTE ORAL</a:t>
            </a:r>
          </a:p>
          <a:p>
            <a:r>
              <a:t>Le graphique compare les mêmes cinq parcours avant et après la correction. Les mesures sont réalisées avec Chromium, un processeur ralenti quatre fois et une latence réseau simulée de 100 millisecondes. Avant correction, le temps médian observé est de 10 220 millisecondes. Après correction, il est de 748 millisecondes. La comparaison montre un effet très net dans ces conditions. Elle reste un échantillon d’un passage par parcours : ce n’est ni une moyenne sur tous les utilisateurs, ni un engagement de performance, ni une mesure en production. Le protocole et les valeurs sont conservés dans l’audit. Je préfère présenter les temps et leurs limites plutôt que transformer un test local en promesse générale.</a:t>
            </a:r>
          </a:p>
          <a:p/>
          <a:p>
            <a:r>
              <a:t>À MONTRER</a:t>
            </a:r>
          </a:p>
          <a:p>
            <a:r>
              <a:t>Comparer les barres de deux parcours et expliquer le protocole.</a:t>
            </a:r>
          </a:p>
          <a:p/>
          <a:p>
            <a:r>
              <a:t>SOURCE</a:t>
            </a:r>
          </a:p>
          <a:p>
            <a:r>
              <a:t>Audit navigation du 15/09 ; donnees/projet-reel.json,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12:00–13:30</a:t>
            </a:r>
          </a:p>
          <a:p>
            <a:r>
              <a:t>NATURE : Mise en situation pédagogique explicitement simulée</a:t>
            </a:r>
          </a:p>
          <a:p/>
          <a:p>
            <a:r>
              <a:t>TEXTE ORAL</a:t>
            </a:r>
          </a:p>
          <a:p>
            <a:r>
              <a:t>Cette situation est simulée : j’imagine une séance de recette ponctuelle, sans transformer Spity en projet développé en équipe. Le testeur demande de traiter les blocages, tandis que le porteur souhaite enrichir le décor. Une posture participative sert d’abord à écouter les faits et les impacts. Une posture persuasive permet d’expliquer le compromis. La posture directive fixe une limite : un critère critique en échec empêche l’acceptation. Enfin, la posture délégative confie un scénario de test avec un résultat attendu et un point de contrôle. La critique porte sur une décision trop rapide du porteur : elle peut faire perdre une information utile. La recommandation est de faire reformuler le problème, comparer les options, décider puis écrire l’action. Aucun conflit réel n’est attribué à une personne.</a:t>
            </a:r>
          </a:p>
          <a:p/>
          <a:p>
            <a:r>
              <a:t>À MONTRER</a:t>
            </a:r>
          </a:p>
          <a:p/>
          <a:p/>
          <a:p>
            <a:r>
              <a:t>SOURCE</a:t>
            </a:r>
          </a:p>
          <a:p>
            <a:r>
              <a:t>A05 ; séance pédagogique ; référentiel p. 12–13.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13:30–15:00</a:t>
            </a:r>
          </a:p>
          <a:p>
            <a:r>
              <a:t>NATURE : Mise en situation pédagogique explicitement simulée</a:t>
            </a:r>
          </a:p>
          <a:p/>
          <a:p>
            <a:r>
              <a:t>TEXTE ORAL</a:t>
            </a:r>
          </a:p>
          <a:p>
            <a:r>
              <a:t>Dans la simulation, la séance comporte quatre heures de travail pour le porteur et quatre pour le testeur, chacun disposant de cinq heures. La répartition respecte les compétences et conserve une marge. Ce n’est pas une capacité réelle mesurée. Pour le persona malentendant, les consignes sont écrites, les sous-titres sont vérifiés et les prises de parole organisées. Le contrôle consiste à faire reformuler la consigne et retrouver la décision. Dans un contexte à distance et multiculturel, les invitations indiquent les heures locales et le vocabulaire partagé évite les ambiguïtés. Linear suit les actions, Git identifie la version et le dossier centralise les preuves. Un point court, préparé par écrit, se termine par un responsable et un retour attendu.</a:t>
            </a:r>
          </a:p>
          <a:p/>
          <a:p>
            <a:r>
              <a:t>À MONTRER</a:t>
            </a:r>
          </a:p>
          <a:p/>
          <a:p/>
          <a:p>
            <a:r>
              <a:t>SOURCE</a:t>
            </a:r>
          </a:p>
          <a:p>
            <a:r>
              <a:t>A02/A05 ; mise-en-situation.json, review.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15:00–16:30</a:t>
            </a:r>
          </a:p>
          <a:p>
            <a:r>
              <a:t>NATURE : Mise en situation pédagogique explicitement simulée</a:t>
            </a:r>
          </a:p>
          <a:p/>
          <a:p>
            <a:r>
              <a:t>TEXTE ORAL</a:t>
            </a:r>
          </a:p>
          <a:p>
            <a:r>
              <a:t>Les compétences nécessaires sont le suivi, le développement, la recette et la vérification au clavier. Cette grille est pédagogique : elle ne constitue pas une note réellement attribuée à Dorian ou à un testeur. L’échelle va de zéro, non abordé, à trois, autonome sur des cas complexes. Dans le cas, le porteur lit le suivi avec aide mais doit expliquer seul les écarts : il passe donc d’un niveau un à une cible deux. Le développement est supposé autonome et ne demande pas de formation prioritaire. Le testeur sait suivre une consigne mais doit produire une recette reproductible et vérifier le clavier sans aide. Ces écarts justifient les actions de formation. Le niveau technique reste indépendant de la situation de handicap.</a:t>
            </a:r>
          </a:p>
          <a:p/>
          <a:p>
            <a:r>
              <a:t>À MONTRER</a:t>
            </a:r>
          </a:p>
          <a:p/>
          <a:p/>
          <a:p>
            <a:r>
              <a:t>SOURCE</a:t>
            </a:r>
          </a:p>
          <a:p>
            <a:r>
              <a:t>A06 ; mise-en-situation.json, skills.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16:30–18:00</a:t>
            </a:r>
          </a:p>
          <a:p>
            <a:r>
              <a:t>NATURE : Mise en situation pédagogique explicitement simulée</a:t>
            </a:r>
          </a:p>
          <a:p/>
          <a:p>
            <a:r>
              <a:t>TEXTE ORAL</a:t>
            </a:r>
          </a:p>
          <a:p>
            <a:r>
              <a:t>Le plan répond aux écarts de la grille. Le porteur dispose d’un atelier d’une heure avant la revue M10 pour recalculer et expliquer le tableau de bord. Le testeur dispose de deux heures avant la recette M11 pour pratiquer la recette et les contrôles clavier. Les durées sont des hypothèses de formation, distinctes des huit heures de la séance de recette. Les supports sont écrits et sous-titrés, les pauses et le temps supplémentaire sont adaptés au besoin. L’efficacité se juge sur une tâche réalisée sans aide, pas sur la seule présence. Si une compétence critique reste indisponible, la fiche de renfort prépare une mission, un profil et des critères pour un service RH dans la mise en situation. Aucun recrutement n’est réellement engagé.</a:t>
            </a:r>
          </a:p>
          <a:p/>
          <a:p>
            <a:r>
              <a:t>À MONTRER</a:t>
            </a:r>
          </a:p>
          <a:p/>
          <a:p/>
          <a:p>
            <a:r>
              <a:t>SOURCE</a:t>
            </a:r>
          </a:p>
          <a:p>
            <a:r>
              <a:t>A06 ; mise-en-situation.json, training ; annexe 26.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18:00–19:30</a:t>
            </a:r>
          </a:p>
          <a:p>
            <a:r>
              <a:t>NATURE : Mise en situation pédagogique explicitement simulée</a:t>
            </a:r>
          </a:p>
          <a:p/>
          <a:p>
            <a:r>
              <a:t>TEXTE ORAL</a:t>
            </a:r>
          </a:p>
          <a:p>
            <a:r>
              <a:t>Le compte rendu montré est fictif et identifié CR-SIM-02. Il relie les chiffres de la simulation au besoin d’un persona club. Le constat annonce la prévision, son écart et sa conséquence sur le jalon. La décision pédagogique consiste à conserver le fond statique et à protéger les critères de recette. Les actions distinguent le porteur, le testeur ponctuel et le représentant de club fictif. Le document donne aussi un prochain point de validation. Cette structure aide un client à comprendre et à choisir. La correction du fond est réellement présente dans le logiciel, mais ce compte rendu n’est pas son origine historique et n’a pas été signé par un client réel.</a:t>
            </a:r>
          </a:p>
          <a:p/>
          <a:p>
            <a:r>
              <a:t>À MONTRER</a:t>
            </a:r>
          </a:p>
          <a:p/>
          <a:p/>
          <a:p>
            <a:r>
              <a:t>SOURCE</a:t>
            </a:r>
          </a:p>
          <a:p>
            <a:r>
              <a:t>A07 ; mise-en-situation.json, clientReviews ; retours simulés du candidat.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19:30–20:30</a:t>
            </a:r>
          </a:p>
          <a:p>
            <a:r>
              <a:t>NATURE : Mise en situation pédagogique explicitement simulée</a:t>
            </a:r>
          </a:p>
          <a:p/>
          <a:p>
            <a:r>
              <a:t>TEXTE ORAL</a:t>
            </a:r>
          </a:p>
          <a:p>
            <a:r>
              <a:t>Les points de validation du modèle annuel suivent les risques du projet. Le cadrage vérifie le besoin avant d’engager la réalisation. La revue M10 expose les écarts et permet de décider. La recette M11 rapproche chaque critère de son résultat et prépare les corrections. La restitution M12 porte sur la dernière version prête. Une réserve entraîne une action avec un responsable et une échéance à convenir. Ces rendez-vous sont planifiés dans la simulation ; ils ne sont pas des réunions historiques déclarées. Le calendrier évite de découvrir à la dernière minute que le logiciel ne répond pas au parcours attendu.</a:t>
            </a:r>
          </a:p>
          <a:p/>
          <a:p>
            <a:r>
              <a:t>À MONTRER</a:t>
            </a:r>
          </a:p>
          <a:p/>
          <a:p/>
          <a:p>
            <a:r>
              <a:t>SOURCE</a:t>
            </a:r>
          </a:p>
          <a:p>
            <a:r>
              <a:t>A01/A07 ; planning annuel simulé.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20:30–21:30</a:t>
            </a:r>
          </a:p>
          <a:p>
            <a:r>
              <a:t>NATURE : Mise en situation pédagogique explicitement simulée</a:t>
            </a:r>
          </a:p>
          <a:p/>
          <a:p>
            <a:r>
              <a:t>TEXTE ORAL</a:t>
            </a:r>
          </a:p>
          <a:p>
            <a:r>
              <a:t>Les indicateurs sont définis avant la séance : réussite sans aide, utilité perçue, conformité des critères critiques et blocages ouverts. Le protocole note aussi l’effectif, car une moyenne isolée masque le nombre de retours. Les cibles affichées sont pédagogiques, pas des engagements signés. Les résultats restent non mesurés. Si la réussite sans aide est faible, il faut identifier l’étape difficile. Une faible utilité demande de revenir au besoin. Un blocage critique empêche l’acceptation et déclenche une correction suivie d’une nouvelle vérification. Ces indicateurs complètent les tests techniques, qui ne mesurent pas la satisfaction.</a:t>
            </a:r>
          </a:p>
          <a:p/>
          <a:p>
            <a:r>
              <a:t>À MONTRER</a:t>
            </a:r>
          </a:p>
          <a:p/>
          <a:p/>
          <a:p>
            <a:r>
              <a:t>SOURCE</a:t>
            </a:r>
          </a:p>
          <a:p>
            <a:r>
              <a:t>A07 ; indicateurs proposés pour les personas simulés.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21:30–23:00</a:t>
            </a:r>
          </a:p>
          <a:p>
            <a:r>
              <a:t>NATURE : Protocole proposé pour la démonstration</a:t>
            </a:r>
          </a:p>
          <a:p/>
          <a:p>
            <a:r>
              <a:t>TEXTE ORAL</a:t>
            </a:r>
          </a:p>
          <a:p>
            <a:r>
              <a:t>La démonstration est préparée autour de critères visibles. Pour les partenaires, je vérifie les filtres et l’état d’une demande. Pour un événement, je montre l’inscription et les places disponibles. Avec la session club, je retrouve les participants et les commandes autorisées. Je termine par un passage au clavier. La préparation se fait sur une base isolée contenant des comptes de test. Avant l’oral, il faut vérifier les dates des événements, les connexions et la version utilisée. Les captures du 15 septembre servent de secours si un incident empêche une manipulation. Dans ce cas, j’annonce le problème et le critère qui n’a pas été revérifié en direct. Je ne transforme pas une capture en validation actuelle.</a:t>
            </a:r>
          </a:p>
          <a:p/>
          <a:p>
            <a:r>
              <a:t>À MONTRER</a:t>
            </a:r>
          </a:p>
          <a:p>
            <a:r>
              <a:t>Préparer deux sessions et annoncer les critères avant de changer d’écran.</a:t>
            </a:r>
          </a:p>
          <a:p/>
          <a:p>
            <a:r>
              <a:t>SOURCE</a:t>
            </a:r>
          </a:p>
          <a:p>
            <a:r>
              <a:t>A08 ; captures du 15/09 ; recette du projet.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23:00–23:30</a:t>
            </a:r>
          </a:p>
          <a:p>
            <a:r>
              <a:t>NATURE : Manipulation à réaliser devant le jury</a:t>
            </a:r>
          </a:p>
          <a:p/>
          <a:p>
            <a:r>
              <a:t>TEXTE ORAL</a:t>
            </a:r>
          </a:p>
          <a:p>
            <a:r>
              <a:t>Je passe à la démonstration. Les comptes utilisés sont des comptes de test dans une base dédiée. Je commence avec une session grimpeur, puis je passe à la session club pour retrouver les participants. L’objectif est de montrer les critères annoncés, pas de parcourir toutes les pages du site.</a:t>
            </a:r>
          </a:p>
          <a:p/>
          <a:p>
            <a:r>
              <a:t>À MONTRER</a:t>
            </a:r>
          </a:p>
          <a:p>
            <a:r>
              <a:t>Basculer dans le navigateur préparé ; annoncer la version.</a:t>
            </a:r>
          </a:p>
          <a:p/>
          <a:p>
            <a:r>
              <a:t>SOURCE</a:t>
            </a:r>
          </a:p>
          <a:p>
            <a:r>
              <a:t>A08 ; environnement local isolé.</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23:30–26:00</a:t>
            </a:r>
          </a:p>
          <a:p>
            <a:r>
              <a:t>NATURE : Manipulation en direct ; capture datée de secours</a:t>
            </a:r>
          </a:p>
          <a:p/>
          <a:p>
            <a:r>
              <a:t>TEXTE ORAL</a:t>
            </a:r>
          </a:p>
          <a:p>
            <a:r>
              <a:t>Afficher le profil de la session grimpeur et expliquer la discipline et le niveau utilisés. Ouvrir la recherche de partenaires, modifier un filtre et vérifier que les résultats restent cohérents. Consulter un profil compatible, puis montrer l’état d’une demande. Si une demande existe déjà, expliquer cet état au lieu d’annoncer un nouvel envoi. Lorsque le partenariat est accepté, montrer le passage vers les événements. Décrire chaque résultat visible avec les mots d’un utilisateur.</a:t>
            </a:r>
          </a:p>
          <a:p/>
          <a:p>
            <a:r>
              <a:t>À MONTRER</a:t>
            </a:r>
          </a:p>
          <a:p>
            <a:r>
              <a:t>0:30–1:00 profil ; 1:00–2:00 filtres ; 2:00–3:00 demande. Adapter aux données disponibles.</a:t>
            </a:r>
          </a:p>
          <a:p/>
          <a:p>
            <a:r>
              <a:t>SOURCE</a:t>
            </a:r>
          </a:p>
          <a:p>
            <a:r>
              <a:t>Capture matching du 15/09 ; code et recette matching.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26:00–29:00</a:t>
            </a:r>
          </a:p>
          <a:p>
            <a:r>
              <a:t>NATURE : Manipulation en direct ; capture datée de secours</a:t>
            </a:r>
          </a:p>
          <a:p/>
          <a:p>
            <a:r>
              <a:t>TEXTE ORAL</a:t>
            </a:r>
          </a:p>
          <a:p>
            <a:r>
              <a:t>Ouvrir un événement futur et montrer les places restantes. Procéder à l’inscription ou expliquer l’état déjà inscrit. Passer dans le navigateur de la session club et retrouver la liste des participants. Montrer que les commandes dépendent du rôle et vérifier un passage au clavier. Revenir aux critères annoncés : préciser ceux qui ont été montrés, ceux qui nécessitent une réserve et ceux qui reposent uniquement sur une preuve de test. Revenir au diaporama avant la fin des six minutes.</a:t>
            </a:r>
          </a:p>
          <a:p/>
          <a:p>
            <a:r>
              <a:t>À MONTRER</a:t>
            </a:r>
          </a:p>
          <a:p>
            <a:r>
              <a:t>3:00–4:00 inscription ; 4:00–5:15 club ; 5:15–5:45 clavier ; 5:45–6:00 retour aux critères.</a:t>
            </a:r>
          </a:p>
          <a:p/>
          <a:p>
            <a:r>
              <a:t>SOURCE</a:t>
            </a:r>
          </a:p>
          <a:p>
            <a:r>
              <a:t>Capture événements du 15/09 ; A08 ; recette événements.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29:00–30:00</a:t>
            </a:r>
          </a:p>
          <a:p>
            <a:r>
              <a:t>NATURE : Éléments du projet documentés</a:t>
            </a:r>
          </a:p>
          <a:p/>
          <a:p>
            <a:r>
              <a:t>TEXTE ORAL</a:t>
            </a:r>
          </a:p>
          <a:p>
            <a:r>
              <a:t>Je termine par le résultat des manipulations : quels critères ont réussi et quelles réserves restent ouvertes ? La décision doit être formulée à partir de ce qui a été montré : accepté, accepté avec réserve ou refusé. Chaque réserve décrit une action, un responsable et une prochaine vérification. Cette validation est recherchée à la fin de la démonstration ; elle n’est pas inventée à l’avance. Le support a présenté les sept compétences, en séparant le projet solo réel sur un an, les estimations initiales et les mises en situation pédagogiques. Les traces du logiciel et les limites des simulations restent disponibles dans les annexes.</a:t>
            </a:r>
          </a:p>
          <a:p/>
          <a:p>
            <a:r>
              <a:t>À MONTRER</a:t>
            </a:r>
          </a:p>
          <a:p>
            <a:r>
              <a:t>Donner le bilan réel des manipulations, puis ouvrir les questions.</a:t>
            </a:r>
          </a:p>
          <a:p/>
          <a:p>
            <a:r>
              <a:t>SOURCE</a:t>
            </a:r>
          </a:p>
          <a:p>
            <a:r>
              <a:t>Synthèse des pièces citées ; matrice des compétences.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Annexe hors timing</a:t>
            </a:r>
          </a:p>
          <a:p>
            <a:r>
              <a:t>NATURE : Analyse de couverture, sans attribution de compétence</a:t>
            </a:r>
          </a:p>
          <a:p/>
          <a:p>
            <a:r>
              <a:t>TEXTE ORAL</a:t>
            </a:r>
          </a:p>
          <a:p>
            <a:r>
              <a:t>Chaque compétence dispose d’un contenu visible, de notes et d’une annexe détaillée. Les compétences obligatoires sont repérées dans le PDF fourni. La matrice distingue les faits, les estimations et les simulations. Cette correspondance prouve la présence des éléments dans le support ; elle ne préjuge pas de leur évaluation par le jury.</a:t>
            </a:r>
          </a:p>
          <a:p/>
          <a:p>
            <a:r>
              <a:t>À MONTRER</a:t>
            </a:r>
          </a:p>
          <a:p/>
          <a:p/>
          <a:p>
            <a:r>
              <a:t>SOURCE</a:t>
            </a:r>
          </a:p>
          <a:p>
            <a:r>
              <a:t>cadre-evaluation.json ; MATRICE_PREUVES.md.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Annexe hors timing</a:t>
            </a:r>
          </a:p>
          <a:p>
            <a:r>
              <a:t>NATURE : Durée déclarée ; chronologie rétrospective issue de Git</a:t>
            </a:r>
          </a:p>
          <a:p/>
          <a:p>
            <a:r>
              <a:t>TEXTE ORAL</a:t>
            </a:r>
          </a:p>
          <a:p>
            <a:r>
              <a:t>Le projet s’inscrit sur un an, comme indiqué dans mon cadrage personnel. Le dépôt apporte des repères complémentaires : les fondations techniques sont enregistrées en janvier, puis les interfaces, les profils et les lieux en mai. En juillet apparaissent le matching, les événements et la recette automatisée. En août, le projet intègre davantage de maintenance et de supervision. En septembre, il évolue avec les médias, l’administration et les contributions aux falaises. Cette chronologie est reconstruite à partir des commits. Elle montre ce qui est traçable, mais ne remplace pas un planning initial approuvé. Le premier commit ne date pas nécessairement le début de la réflexion sur le projet. Les mois exacts de début et de fin de l’année restent à confirmer. Je ne transforme pas une période sans commit en absence de travail.</a:t>
            </a:r>
          </a:p>
          <a:p/>
          <a:p>
            <a:r>
              <a:t>À MONTRER</a:t>
            </a:r>
          </a:p>
          <a:p>
            <a:r>
              <a:t>Suivre la frise ; ouvrir un commit uniquement si le jury demande la preuve.</a:t>
            </a:r>
          </a:p>
          <a:p/>
          <a:p>
            <a:r>
              <a:t>SOURCE</a:t>
            </a:r>
          </a:p>
          <a:p>
            <a:r>
              <a:t>donnees/projet-reel.json ; preuves/historique-git.txt.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Annexe hors timing</a:t>
            </a:r>
          </a:p>
          <a:p>
            <a:r>
              <a:t>NATURE : Mise en situation pédagogique explicitement simulée</a:t>
            </a:r>
          </a:p>
          <a:p/>
          <a:p>
            <a:r>
              <a:t>TEXTE ORAL</a:t>
            </a:r>
          </a:p>
          <a:p>
            <a:r>
              <a:t>Cette fiche montre comment transmettre un besoin au service RH dans la mise en situation. Le déclencheur est un écart critique qui persiste après formation. La mission est limitée à quatre heures de recette, avec compétences, disponibilité à confirmer et livrable précis. La sélection se fait par un exercice accessible et l’accueil donne les critères et les seuls accès nécessaires. Le coût indicatif de 180 euros serait supplémentaire et doit être arbitré avant tout engagement. Le projet réel est solo : aucun service RH n’a été sollicité ni renfort engagé.</a:t>
            </a:r>
          </a:p>
          <a:p/>
          <a:p>
            <a:r>
              <a:t>À MONTRER</a:t>
            </a:r>
          </a:p>
          <a:p/>
          <a:p/>
          <a:p>
            <a:r>
              <a:t>SOURCE</a:t>
            </a:r>
          </a:p>
          <a:p>
            <a:r>
              <a:t>A06 ; fiche de mise en situation pédagogique.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SPITY · BLOC 3</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01</a:t>
            </a:r>
          </a:p>
        </p:txBody>
      </p:sp>
      <p:pic>
        <p:nvPicPr>
          <p:cNvPr id="7" name="Picture 6" descr="escalade-falaise-coucher-soleil"/>
          <p:cNvPicPr>
            <a:picLocks noChangeAspect="1"/>
          </p:cNvPicPr>
          <p:nvPr/>
        </p:nvPicPr>
        <p:blipFill>
          <a:blip r:embed="rId3"/>
          <a:srcRect t="5944" b="5944"/>
          <a:stretch>
            <a:fillRect/>
          </a:stretch>
        </p:blipFill>
        <p:spPr>
          <a:xfrm>
            <a:off x="8092440" y="0"/>
            <a:ext cx="6537960" cy="7680960"/>
          </a:xfrm>
          <a:prstGeom prst="rect">
            <a:avLst/>
          </a:prstGeom>
        </p:spPr>
      </p:pic>
      <p:sp>
        <p:nvSpPr>
          <p:cNvPr id="8" name="Rounded Rectangle 7"/>
          <p:cNvSpPr/>
          <p:nvPr/>
        </p:nvSpPr>
        <p:spPr>
          <a:xfrm>
            <a:off x="685800" y="1463040"/>
            <a:ext cx="329184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22476"/>
            <a:ext cx="305409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PROJET SOLO · 1 AN</a:t>
            </a:r>
          </a:p>
        </p:txBody>
      </p:sp>
      <p:sp>
        <p:nvSpPr>
          <p:cNvPr id="10" name="TextBox 9"/>
          <p:cNvSpPr txBox="1"/>
          <p:nvPr/>
        </p:nvSpPr>
        <p:spPr>
          <a:xfrm>
            <a:off x="640080" y="2286000"/>
            <a:ext cx="7315200" cy="2834640"/>
          </a:xfrm>
          <a:prstGeom prst="rect">
            <a:avLst/>
          </a:prstGeom>
          <a:noFill/>
        </p:spPr>
        <p:txBody>
          <a:bodyPr wrap="square" lIns="0" rIns="0" tIns="0" bIns="0">
            <a:spAutoFit/>
          </a:bodyPr>
          <a:lstStyle/>
          <a:p>
            <a:pPr algn="l">
              <a:spcAft>
                <a:spcPts val="400"/>
              </a:spcAft>
              <a:defRPr sz="5500" b="1">
                <a:solidFill>
                  <a:srgbClr val="FFFFFF"/>
                </a:solidFill>
                <a:latin typeface="Arial"/>
              </a:defRPr>
            </a:pPr>
            <a:r>
              <a:t>Une année</a:t>
            </a:r>
          </a:p>
          <a:p>
            <a:pPr algn="l">
              <a:spcAft>
                <a:spcPts val="400"/>
              </a:spcAft>
              <a:defRPr sz="5500" b="1">
                <a:solidFill>
                  <a:srgbClr val="FFFFFF"/>
                </a:solidFill>
                <a:latin typeface="Arial"/>
              </a:defRPr>
            </a:pPr>
            <a:r>
              <a:t>pour construire</a:t>
            </a:r>
          </a:p>
          <a:p>
            <a:pPr algn="l">
              <a:spcAft>
                <a:spcPts val="400"/>
              </a:spcAft>
              <a:defRPr sz="5500" b="1">
                <a:solidFill>
                  <a:srgbClr val="FFFFFF"/>
                </a:solidFill>
                <a:latin typeface="Arial"/>
              </a:defRPr>
            </a:pPr>
            <a:r>
              <a:t>Spity.</a:t>
            </a:r>
          </a:p>
        </p:txBody>
      </p:sp>
      <p:sp>
        <p:nvSpPr>
          <p:cNvPr id="11" name="TextBox 10"/>
          <p:cNvSpPr txBox="1"/>
          <p:nvPr/>
        </p:nvSpPr>
        <p:spPr>
          <a:xfrm>
            <a:off x="685800" y="5486400"/>
            <a:ext cx="6720840" cy="914400"/>
          </a:xfrm>
          <a:prstGeom prst="rect">
            <a:avLst/>
          </a:prstGeom>
          <a:noFill/>
        </p:spPr>
        <p:txBody>
          <a:bodyPr wrap="square" lIns="0" rIns="0" tIns="0" bIns="0">
            <a:spAutoFit/>
          </a:bodyPr>
          <a:lstStyle/>
          <a:p>
            <a:pPr algn="l">
              <a:spcAft>
                <a:spcPts val="400"/>
              </a:spcAft>
              <a:defRPr sz="2400" b="0">
                <a:solidFill>
                  <a:srgbClr val="C7D6CB"/>
                </a:solidFill>
                <a:latin typeface="Arial"/>
              </a:defRPr>
            </a:pPr>
            <a:r>
              <a:t>Du besoin des grimpeurs à un site déployé.</a:t>
            </a:r>
          </a:p>
        </p:txBody>
      </p:sp>
      <p:sp>
        <p:nvSpPr>
          <p:cNvPr id="12" name="TextBox 11"/>
          <p:cNvSpPr txBox="1"/>
          <p:nvPr/>
        </p:nvSpPr>
        <p:spPr>
          <a:xfrm>
            <a:off x="685800" y="6812280"/>
            <a:ext cx="6400800" cy="50292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Dorian Joly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LES SEPT COMPÉTENCES DU BLOC 3</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Sommaire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Présentation du projet, puis les compétences dans l’ordre du référentiel.</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02</a:t>
            </a:r>
          </a:p>
        </p:txBody>
      </p:sp>
      <p:sp>
        <p:nvSpPr>
          <p:cNvPr id="9" name="TextBox 8"/>
          <p:cNvSpPr txBox="1"/>
          <p:nvPr/>
        </p:nvSpPr>
        <p:spPr>
          <a:xfrm>
            <a:off x="685800" y="2743200"/>
            <a:ext cx="3657600" cy="868680"/>
          </a:xfrm>
          <a:prstGeom prst="rect">
            <a:avLst/>
          </a:prstGeom>
          <a:noFill/>
        </p:spPr>
        <p:txBody>
          <a:bodyPr wrap="square" lIns="0" rIns="0" tIns="0" bIns="0">
            <a:spAutoFit/>
          </a:bodyPr>
          <a:lstStyle/>
          <a:p>
            <a:pPr algn="l">
              <a:spcAft>
                <a:spcPts val="400"/>
              </a:spcAft>
              <a:defRPr sz="5600" b="1">
                <a:solidFill>
                  <a:srgbClr val="D8F28B"/>
                </a:solidFill>
                <a:latin typeface="Arial"/>
              </a:defRPr>
            </a:pPr>
            <a:r>
              <a:t>30</a:t>
            </a:r>
          </a:p>
        </p:txBody>
      </p:sp>
      <p:sp>
        <p:nvSpPr>
          <p:cNvPr id="10" name="TextBox 9"/>
          <p:cNvSpPr txBox="1"/>
          <p:nvPr/>
        </p:nvSpPr>
        <p:spPr>
          <a:xfrm>
            <a:off x="685800" y="3675887"/>
            <a:ext cx="3657600" cy="548640"/>
          </a:xfrm>
          <a:prstGeom prst="rect">
            <a:avLst/>
          </a:prstGeom>
          <a:noFill/>
        </p:spPr>
        <p:txBody>
          <a:bodyPr wrap="square" lIns="0" rIns="0" tIns="0" bIns="0">
            <a:spAutoFit/>
          </a:bodyPr>
          <a:lstStyle/>
          <a:p>
            <a:pPr algn="l">
              <a:spcAft>
                <a:spcPts val="400"/>
              </a:spcAft>
              <a:defRPr sz="2000" b="1">
                <a:solidFill>
                  <a:srgbClr val="FFFFFF"/>
                </a:solidFill>
                <a:latin typeface="Arial"/>
              </a:defRPr>
            </a:pPr>
            <a:r>
              <a:t>minutes pour présenter</a:t>
            </a:r>
          </a:p>
        </p:txBody>
      </p:sp>
      <p:sp>
        <p:nvSpPr>
          <p:cNvPr id="11" name="TextBox 10"/>
          <p:cNvSpPr txBox="1"/>
          <p:nvPr/>
        </p:nvSpPr>
        <p:spPr>
          <a:xfrm>
            <a:off x="685800" y="4407408"/>
            <a:ext cx="3657600" cy="1005840"/>
          </a:xfrm>
          <a:prstGeom prst="rect">
            <a:avLst/>
          </a:prstGeom>
          <a:noFill/>
        </p:spPr>
        <p:txBody>
          <a:bodyPr wrap="square" lIns="0" rIns="0" tIns="0" bIns="0">
            <a:spAutoFit/>
          </a:bodyPr>
          <a:lstStyle/>
          <a:p>
            <a:pPr algn="l">
              <a:spcAft>
                <a:spcPts val="400"/>
              </a:spcAft>
              <a:defRPr sz="1600" b="0">
                <a:solidFill>
                  <a:srgbClr val="C7D6CB"/>
                </a:solidFill>
                <a:latin typeface="Arial"/>
              </a:defRPr>
            </a:pPr>
            <a:r>
              <a:t>24 min d’explications</a:t>
            </a:r>
          </a:p>
          <a:p>
            <a:pPr algn="l">
              <a:spcAft>
                <a:spcPts val="400"/>
              </a:spcAft>
              <a:defRPr sz="1600" b="0">
                <a:solidFill>
                  <a:srgbClr val="C7D6CB"/>
                </a:solidFill>
                <a:latin typeface="Arial"/>
              </a:defRPr>
            </a:pPr>
            <a:r>
              <a:t>6 min de démonstration</a:t>
            </a:r>
          </a:p>
        </p:txBody>
      </p:sp>
      <p:sp>
        <p:nvSpPr>
          <p:cNvPr id="12" name="TextBox 11"/>
          <p:cNvSpPr txBox="1"/>
          <p:nvPr/>
        </p:nvSpPr>
        <p:spPr>
          <a:xfrm>
            <a:off x="4892040" y="244144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01</a:t>
            </a:r>
          </a:p>
        </p:txBody>
      </p:sp>
      <p:sp>
        <p:nvSpPr>
          <p:cNvPr id="13" name="TextBox 12"/>
          <p:cNvSpPr txBox="1"/>
          <p:nvPr/>
        </p:nvSpPr>
        <p:spPr>
          <a:xfrm>
            <a:off x="5623560" y="244144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Planifier le projet</a:t>
            </a:r>
          </a:p>
        </p:txBody>
      </p:sp>
      <p:sp>
        <p:nvSpPr>
          <p:cNvPr id="14" name="TextBox 13"/>
          <p:cNvSpPr txBox="1"/>
          <p:nvPr/>
        </p:nvSpPr>
        <p:spPr>
          <a:xfrm>
            <a:off x="11521440" y="252374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C.3.1</a:t>
            </a:r>
          </a:p>
        </p:txBody>
      </p:sp>
      <p:cxnSp>
        <p:nvCxnSpPr>
          <p:cNvPr id="15" name="Connector 14"/>
          <p:cNvCxnSpPr/>
          <p:nvPr/>
        </p:nvCxnSpPr>
        <p:spPr>
          <a:xfrm>
            <a:off x="5623560" y="294436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92040" y="303580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02</a:t>
            </a:r>
          </a:p>
        </p:txBody>
      </p:sp>
      <p:sp>
        <p:nvSpPr>
          <p:cNvPr id="17" name="TextBox 16"/>
          <p:cNvSpPr txBox="1"/>
          <p:nvPr/>
        </p:nvSpPr>
        <p:spPr>
          <a:xfrm>
            <a:off x="5623560" y="303580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Suivre l’avancement</a:t>
            </a:r>
          </a:p>
        </p:txBody>
      </p:sp>
      <p:sp>
        <p:nvSpPr>
          <p:cNvPr id="18" name="TextBox 17"/>
          <p:cNvSpPr txBox="1"/>
          <p:nvPr/>
        </p:nvSpPr>
        <p:spPr>
          <a:xfrm>
            <a:off x="11521440" y="3118103"/>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C3.2.1</a:t>
            </a:r>
          </a:p>
        </p:txBody>
      </p:sp>
      <p:cxnSp>
        <p:nvCxnSpPr>
          <p:cNvPr id="19" name="Connector 18"/>
          <p:cNvCxnSpPr/>
          <p:nvPr/>
        </p:nvCxnSpPr>
        <p:spPr>
          <a:xfrm>
            <a:off x="5623560" y="353872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92040" y="363016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03</a:t>
            </a:r>
          </a:p>
        </p:txBody>
      </p:sp>
      <p:sp>
        <p:nvSpPr>
          <p:cNvPr id="21" name="TextBox 20"/>
          <p:cNvSpPr txBox="1"/>
          <p:nvPr/>
        </p:nvSpPr>
        <p:spPr>
          <a:xfrm>
            <a:off x="5623560" y="363016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Arbitrer</a:t>
            </a:r>
          </a:p>
        </p:txBody>
      </p:sp>
      <p:sp>
        <p:nvSpPr>
          <p:cNvPr id="22" name="TextBox 21"/>
          <p:cNvSpPr txBox="1"/>
          <p:nvPr/>
        </p:nvSpPr>
        <p:spPr>
          <a:xfrm>
            <a:off x="11521440" y="3712463"/>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C3.2.2</a:t>
            </a:r>
          </a:p>
        </p:txBody>
      </p:sp>
      <p:cxnSp>
        <p:nvCxnSpPr>
          <p:cNvPr id="23" name="Connector 22"/>
          <p:cNvCxnSpPr/>
          <p:nvPr/>
        </p:nvCxnSpPr>
        <p:spPr>
          <a:xfrm>
            <a:off x="5623560" y="4133087"/>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92040" y="422452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04</a:t>
            </a:r>
          </a:p>
        </p:txBody>
      </p:sp>
      <p:sp>
        <p:nvSpPr>
          <p:cNvPr id="25" name="TextBox 24"/>
          <p:cNvSpPr txBox="1"/>
          <p:nvPr/>
        </p:nvSpPr>
        <p:spPr>
          <a:xfrm>
            <a:off x="5623560" y="422452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Manager et communiquer</a:t>
            </a:r>
          </a:p>
        </p:txBody>
      </p:sp>
      <p:sp>
        <p:nvSpPr>
          <p:cNvPr id="26" name="TextBox 25"/>
          <p:cNvSpPr txBox="1"/>
          <p:nvPr/>
        </p:nvSpPr>
        <p:spPr>
          <a:xfrm>
            <a:off x="11521440" y="430682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C3.3.1</a:t>
            </a:r>
          </a:p>
        </p:txBody>
      </p:sp>
      <p:cxnSp>
        <p:nvCxnSpPr>
          <p:cNvPr id="27" name="Connector 26"/>
          <p:cNvCxnSpPr/>
          <p:nvPr/>
        </p:nvCxnSpPr>
        <p:spPr>
          <a:xfrm>
            <a:off x="5623560" y="472744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892040" y="481888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05</a:t>
            </a:r>
          </a:p>
        </p:txBody>
      </p:sp>
      <p:sp>
        <p:nvSpPr>
          <p:cNvPr id="29" name="TextBox 28"/>
          <p:cNvSpPr txBox="1"/>
          <p:nvPr/>
        </p:nvSpPr>
        <p:spPr>
          <a:xfrm>
            <a:off x="5623560" y="481888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Développer les compétences</a:t>
            </a:r>
          </a:p>
        </p:txBody>
      </p:sp>
      <p:sp>
        <p:nvSpPr>
          <p:cNvPr id="30" name="TextBox 29"/>
          <p:cNvSpPr txBox="1"/>
          <p:nvPr/>
        </p:nvSpPr>
        <p:spPr>
          <a:xfrm>
            <a:off x="11521440" y="4901183"/>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C3.3.2</a:t>
            </a:r>
          </a:p>
        </p:txBody>
      </p:sp>
      <p:cxnSp>
        <p:nvCxnSpPr>
          <p:cNvPr id="31" name="Connector 30"/>
          <p:cNvCxnSpPr/>
          <p:nvPr/>
        </p:nvCxnSpPr>
        <p:spPr>
          <a:xfrm>
            <a:off x="5623560" y="5321807"/>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892040" y="541324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06</a:t>
            </a:r>
          </a:p>
        </p:txBody>
      </p:sp>
      <p:sp>
        <p:nvSpPr>
          <p:cNvPr id="33" name="TextBox 32"/>
          <p:cNvSpPr txBox="1"/>
          <p:nvPr/>
        </p:nvSpPr>
        <p:spPr>
          <a:xfrm>
            <a:off x="5623560" y="541324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Suivre avec le client</a:t>
            </a:r>
          </a:p>
        </p:txBody>
      </p:sp>
      <p:sp>
        <p:nvSpPr>
          <p:cNvPr id="34" name="TextBox 33"/>
          <p:cNvSpPr txBox="1"/>
          <p:nvPr/>
        </p:nvSpPr>
        <p:spPr>
          <a:xfrm>
            <a:off x="11521440" y="549554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C3.4.1</a:t>
            </a:r>
          </a:p>
        </p:txBody>
      </p:sp>
      <p:cxnSp>
        <p:nvCxnSpPr>
          <p:cNvPr id="35" name="Connector 34"/>
          <p:cNvCxnSpPr/>
          <p:nvPr/>
        </p:nvCxnSpPr>
        <p:spPr>
          <a:xfrm>
            <a:off x="5623560" y="591616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892040" y="600760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07</a:t>
            </a:r>
          </a:p>
        </p:txBody>
      </p:sp>
      <p:sp>
        <p:nvSpPr>
          <p:cNvPr id="37" name="TextBox 36"/>
          <p:cNvSpPr txBox="1"/>
          <p:nvPr/>
        </p:nvSpPr>
        <p:spPr>
          <a:xfrm>
            <a:off x="5623560" y="600760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Démontrer et valider</a:t>
            </a:r>
          </a:p>
        </p:txBody>
      </p:sp>
      <p:sp>
        <p:nvSpPr>
          <p:cNvPr id="38" name="TextBox 37"/>
          <p:cNvSpPr txBox="1"/>
          <p:nvPr/>
        </p:nvSpPr>
        <p:spPr>
          <a:xfrm>
            <a:off x="11521440" y="608990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C3.4.2</a:t>
            </a:r>
          </a:p>
        </p:txBody>
      </p:sp>
      <p:cxnSp>
        <p:nvCxnSpPr>
          <p:cNvPr id="39" name="Connector 38"/>
          <p:cNvCxnSpPr/>
          <p:nvPr/>
        </p:nvCxnSpPr>
        <p:spPr>
          <a:xfrm>
            <a:off x="5623560" y="651052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PRÉSENTATION / SPITY, PROJET SOLO SUR UN AN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Relier les grimpeurs. Simplifier les sorties.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Deux besoins concrets pour guider les fonctionnalités.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03</a:t>
            </a:r>
          </a:p>
        </p:txBody>
      </p:sp>
      <p:sp>
        <p:nvSpPr>
          <p:cNvPr id="9" name="Rounded Rectangle 8"/>
          <p:cNvSpPr/>
          <p:nvPr/>
        </p:nvSpPr>
        <p:spPr>
          <a:xfrm>
            <a:off x="640080" y="256032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61975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GRIMPEUR</a:t>
            </a:r>
          </a:p>
        </p:txBody>
      </p:sp>
      <p:sp>
        <p:nvSpPr>
          <p:cNvPr id="11" name="TextBox 10"/>
          <p:cNvSpPr txBox="1"/>
          <p:nvPr/>
        </p:nvSpPr>
        <p:spPr>
          <a:xfrm>
            <a:off x="640080" y="3063239"/>
            <a:ext cx="5212080" cy="54864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Trouver un partenaire</a:t>
            </a:r>
          </a:p>
        </p:txBody>
      </p:sp>
      <p:sp>
        <p:nvSpPr>
          <p:cNvPr id="12" name="TextBox 11"/>
          <p:cNvSpPr txBox="1"/>
          <p:nvPr/>
        </p:nvSpPr>
        <p:spPr>
          <a:xfrm>
            <a:off x="640080" y="3630168"/>
            <a:ext cx="5212080" cy="82296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Discipline, niveau et profil pour préparer une sortie.</a:t>
            </a:r>
          </a:p>
        </p:txBody>
      </p:sp>
      <p:sp>
        <p:nvSpPr>
          <p:cNvPr id="13" name="Rounded Rectangle 12"/>
          <p:cNvSpPr/>
          <p:nvPr/>
        </p:nvSpPr>
        <p:spPr>
          <a:xfrm>
            <a:off x="640080" y="443484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49427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CLUB</a:t>
            </a:r>
          </a:p>
        </p:txBody>
      </p:sp>
      <p:sp>
        <p:nvSpPr>
          <p:cNvPr id="15" name="TextBox 14"/>
          <p:cNvSpPr txBox="1"/>
          <p:nvPr/>
        </p:nvSpPr>
        <p:spPr>
          <a:xfrm>
            <a:off x="640080" y="4937759"/>
            <a:ext cx="5212080" cy="54864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Organiser un événement</a:t>
            </a:r>
          </a:p>
        </p:txBody>
      </p:sp>
      <p:sp>
        <p:nvSpPr>
          <p:cNvPr id="16" name="TextBox 15"/>
          <p:cNvSpPr txBox="1"/>
          <p:nvPr/>
        </p:nvSpPr>
        <p:spPr>
          <a:xfrm>
            <a:off x="640080" y="5504688"/>
            <a:ext cx="5212080" cy="82296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Places disponibles, inscriptions et liste des participants.</a:t>
            </a:r>
          </a:p>
        </p:txBody>
      </p:sp>
      <p:sp>
        <p:nvSpPr>
          <p:cNvPr id="17" name="Rounded Rectangle 16"/>
          <p:cNvSpPr/>
          <p:nvPr/>
        </p:nvSpPr>
        <p:spPr>
          <a:xfrm>
            <a:off x="6263640" y="2487168"/>
            <a:ext cx="7772400" cy="4407408"/>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eux-2026-09-15"/>
          <p:cNvPicPr>
            <a:picLocks noChangeAspect="1"/>
          </p:cNvPicPr>
          <p:nvPr/>
        </p:nvPicPr>
        <p:blipFill>
          <a:blip r:embed="rId3"/>
          <a:stretch>
            <a:fillRect/>
          </a:stretch>
        </p:blipFill>
        <p:spPr>
          <a:xfrm>
            <a:off x="7213518" y="2633472"/>
            <a:ext cx="5872642" cy="4078224"/>
          </a:xfrm>
          <a:prstGeom prst="rect">
            <a:avLst/>
          </a:prstGeom>
        </p:spPr>
      </p:pic>
      <p:sp>
        <p:nvSpPr>
          <p:cNvPr id="19" name="Rectangle 18"/>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Parcours présenté : partenaire → événement → inscription.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C.3.1 / PLANIFIER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Une méthode adaptée au travail solo</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Flux de tâches inspiré de Kanban ; rétroplanning annuel pour les jalons.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04</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FLUX</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Linear</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Rendre visibles les priorités et les états ; limiter la dispersion.</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CALENDRIER</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Rétroplanning</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Visualiser les phases, dépendances et points de validation.</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QUALITÉ</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Git + CI</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Versionner les changements et conserver les résultats des contrôles.</a:t>
            </a:r>
          </a:p>
        </p:txBody>
      </p:sp>
      <p:sp>
        <p:nvSpPr>
          <p:cNvPr id="21" name="Rectangle 20"/>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Linear est observé dans le projet ; le calendrier annuel présenté est une reconstruction pédagogique.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C.3.1 / PLANNING DÉTAILLÉ</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Planifier les travaux sur une année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M1–M12 : modèle pédagogique sur un an, sans dates calendaires inventées.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05</a:t>
            </a:r>
          </a:p>
        </p:txBody>
      </p:sp>
      <p:graphicFrame>
        <p:nvGraphicFramePr>
          <p:cNvPr id="9" name="Chart 8"/>
          <p:cNvGraphicFramePr>
            <a:graphicFrameLocks noGrp="1"/>
          </p:cNvGraphicFramePr>
          <p:nvPr/>
        </p:nvGraphicFramePr>
        <p:xfrm>
          <a:off x="548640" y="2423160"/>
          <a:ext cx="10058400" cy="4114800"/>
        </p:xfrm>
        <a:graphic>
          <a:graphicData uri="http://schemas.openxmlformats.org/drawingml/2006/chart">
            <c:chart xmlns:c="http://schemas.openxmlformats.org/drawingml/2006/chart" r:id="rId3"/>
          </a:graphicData>
        </a:graphic>
      </p:graphicFrame>
      <p:sp>
        <p:nvSpPr>
          <p:cNvPr id="10" name="TextBox 9"/>
          <p:cNvSpPr txBox="1"/>
          <p:nvPr/>
        </p:nvSpPr>
        <p:spPr>
          <a:xfrm>
            <a:off x="822960" y="6547104"/>
            <a:ext cx="9784080" cy="246888"/>
          </a:xfrm>
          <a:prstGeom prst="rect">
            <a:avLst/>
          </a:prstGeom>
          <a:noFill/>
        </p:spPr>
        <p:txBody>
          <a:bodyPr wrap="square" lIns="0" rIns="0" tIns="0" bIns="0">
            <a:spAutoFit/>
          </a:bodyPr>
          <a:lstStyle/>
          <a:p>
            <a:pPr algn="l">
              <a:spcAft>
                <a:spcPts val="400"/>
              </a:spcAft>
              <a:defRPr sz="1100" b="1">
                <a:solidFill>
                  <a:srgbClr val="5C6C65"/>
                </a:solidFill>
                <a:latin typeface="Arial"/>
              </a:defRPr>
            </a:pPr>
            <a:r>
              <a:t>MOIS RELATIFS · PLANNING RÉVISÉ DU CAS</a:t>
            </a:r>
          </a:p>
        </p:txBody>
      </p:sp>
      <p:sp>
        <p:nvSpPr>
          <p:cNvPr id="11" name="TextBox 10"/>
          <p:cNvSpPr txBox="1"/>
          <p:nvPr/>
        </p:nvSpPr>
        <p:spPr>
          <a:xfrm>
            <a:off x="10881360" y="2770632"/>
            <a:ext cx="32004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82</a:t>
            </a:r>
          </a:p>
        </p:txBody>
      </p:sp>
      <p:sp>
        <p:nvSpPr>
          <p:cNvPr id="12" name="TextBox 11"/>
          <p:cNvSpPr txBox="1"/>
          <p:nvPr/>
        </p:nvSpPr>
        <p:spPr>
          <a:xfrm>
            <a:off x="10881360" y="3703320"/>
            <a:ext cx="32004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j-h estimés B1</a:t>
            </a:r>
          </a:p>
        </p:txBody>
      </p:sp>
      <p:sp>
        <p:nvSpPr>
          <p:cNvPr id="13" name="TextBox 12"/>
          <p:cNvSpPr txBox="1"/>
          <p:nvPr/>
        </p:nvSpPr>
        <p:spPr>
          <a:xfrm>
            <a:off x="10881360" y="4434840"/>
            <a:ext cx="3200400" cy="100584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Dépendances :</a:t>
            </a:r>
          </a:p>
          <a:p>
            <a:pPr algn="l">
              <a:spcAft>
                <a:spcPts val="400"/>
              </a:spcAft>
              <a:defRPr sz="1600" b="0">
                <a:solidFill>
                  <a:srgbClr val="5C6C65"/>
                </a:solidFill>
                <a:latin typeface="Arial"/>
              </a:defRPr>
            </a:pPr>
            <a:r>
              <a:t>accès → profils</a:t>
            </a:r>
          </a:p>
          <a:p>
            <a:pPr algn="l">
              <a:spcAft>
                <a:spcPts val="400"/>
              </a:spcAft>
              <a:defRPr sz="1600" b="0">
                <a:solidFill>
                  <a:srgbClr val="5C6C65"/>
                </a:solidFill>
                <a:latin typeface="Arial"/>
              </a:defRPr>
            </a:pPr>
            <a:r>
              <a:t>événement → inscription</a:t>
            </a:r>
          </a:p>
        </p:txBody>
      </p:sp>
      <p:sp>
        <p:nvSpPr>
          <p:cNvPr id="14" name="Rectangle 13"/>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Étude M1 · mesure M2 puis M10–11 · conception M2–3 · réalisation M3–10 · restitution M12.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C.3.1 / RESPONSABILITÉS</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Affecter les missions et prévoir les moyens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Projet réel : Dorian seul. Extension simulée : une séance avec un testeur ponctuel.</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06</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Mission</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Réalise / décide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Moyens et adaptation</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Cadrage, développement, livraison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 R / 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Poste, Git, Next.js, MariaDB, Docker, VPS</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Recette ponctuelle — simulée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Testeur fictif : R ; Dorian : A</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Critères écrits, comptes dédiés et retours reproductibles</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Décision de validation — simulée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Représentant club fictif : 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prépare la démonstration et les réserves</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Accessibilité — simulée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Persona testeur malentendant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Sous-titres vérifiés, écrit, prise de parole organisée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 = réalise ; A = décide. Budget initial B1 : 44 250 € estimés ; pas de dépense réelle déclarée.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C3.2.1 / MESURER L’AVANCEMENT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Linear : un état daté du travail</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Observation du 14 septembre 2026 ; un ticket annulé exclu du dénominateur.</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07</a:t>
            </a:r>
          </a:p>
        </p:txBody>
      </p:sp>
      <p:graphicFrame>
        <p:nvGraphicFramePr>
          <p:cNvPr id="9" name="Chart 8"/>
          <p:cNvGraphicFramePr>
            <a:graphicFrameLocks noGrp="1"/>
          </p:cNvGraphicFramePr>
          <p:nvPr/>
        </p:nvGraphicFramePr>
        <p:xfrm>
          <a:off x="594360" y="2651760"/>
          <a:ext cx="9738360" cy="3657600"/>
        </p:xfrm>
        <a:graphic>
          <a:graphicData uri="http://schemas.openxmlformats.org/drawingml/2006/chart">
            <c:chart xmlns:c="http://schemas.openxmlformats.org/drawingml/2006/chart" r:id="rId3"/>
          </a:graphicData>
        </a:graphic>
      </p:graphicFrame>
      <p:sp>
        <p:nvSpPr>
          <p:cNvPr id="10" name="TextBox 9"/>
          <p:cNvSpPr txBox="1"/>
          <p:nvPr/>
        </p:nvSpPr>
        <p:spPr>
          <a:xfrm>
            <a:off x="10652760" y="2834640"/>
            <a:ext cx="338328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12 / 24</a:t>
            </a:r>
          </a:p>
        </p:txBody>
      </p:sp>
      <p:sp>
        <p:nvSpPr>
          <p:cNvPr id="11" name="TextBox 10"/>
          <p:cNvSpPr txBox="1"/>
          <p:nvPr/>
        </p:nvSpPr>
        <p:spPr>
          <a:xfrm>
            <a:off x="10652760" y="3767328"/>
            <a:ext cx="338328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tickets terminés</a:t>
            </a:r>
          </a:p>
        </p:txBody>
      </p:sp>
      <p:sp>
        <p:nvSpPr>
          <p:cNvPr id="12" name="TextBox 11"/>
          <p:cNvSpPr txBox="1"/>
          <p:nvPr/>
        </p:nvSpPr>
        <p:spPr>
          <a:xfrm>
            <a:off x="10652760" y="4498848"/>
            <a:ext cx="3383280" cy="100584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14 septembre 2026</a:t>
            </a:r>
          </a:p>
          <a:p>
            <a:pPr algn="l">
              <a:spcAft>
                <a:spcPts val="400"/>
              </a:spcAft>
              <a:defRPr sz="1600" b="0">
                <a:solidFill>
                  <a:srgbClr val="5C6C65"/>
                </a:solidFill>
                <a:latin typeface="Arial"/>
              </a:defRPr>
            </a:pPr>
            <a:r>
              <a:t>1 annulé exclu</a:t>
            </a:r>
          </a:p>
          <a:p>
            <a:pPr algn="l">
              <a:spcAft>
                <a:spcPts val="400"/>
              </a:spcAft>
              <a:defRPr sz="1600" b="0">
                <a:solidFill>
                  <a:srgbClr val="5C6C65"/>
                </a:solidFill>
                <a:latin typeface="Arial"/>
              </a:defRPr>
            </a:pPr>
            <a:r>
              <a:t>Tailles non pondérées</a:t>
            </a:r>
          </a:p>
        </p:txBody>
      </p:sp>
      <p:sp>
        <p:nvSpPr>
          <p:cNvPr id="13" name="Rectangle 12"/>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12 tickets terminés sur 24 : un décompte de statuts, pas 50 % du produit.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C3.2.1 / COÛTS, DÉLAIS ET RESSOURCES</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Un tableau de bord pour décider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SIMULATION À M10 · exemple de suivi annuel, distinct des observations réelles.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Indicateur</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Référence → prévision</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Lecture et action</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Charge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82 → 86 j-h</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58 consommés simulés + 28 restants</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Coût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44 250 → 46 050 €</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+1 800 € ; réexaminer le reste à faire</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Délai</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Fin M11 → fin M12</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mois ; annoncer le nouveau jalon</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Capacité solo</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12 j-h prévus / 10 disponibles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120 % ; reporter 2 j-h hors période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Revue hebdomadaire proposée : mettre à jour les entrées, expliquer les écarts, décider et tracer.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C3.2.1 / SUIVRE LES RISQUES</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Anticiper les points de vigilance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Registre pédagogique, appuyé sur des problèmes possibles du projet.</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Risque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Signal / seuil proposé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Réponse et responsable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Surcharge solo</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Charge / capacité &gt; 100 %</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 déplacer une tâche et revoir le jalon</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Parcours non fiable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Un critère critique en échec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Dorian : corriger avant validation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Démo indisponible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Connexion ou santé en échec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 diagnostiquer ; secours daté</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Recette inaccessible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Consigne non comprise / sous-titres KO</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Dorian : support écrit et essai avant séance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Contrôler à chaque revue : avancement, coûts, délais, risques et disponibilité des ressources.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C3.2.2 / PROBLÈME, OPTIONS, DÉCISION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Arbitrer face à une navigation trop lente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Cas réel du 15 septembre : un calcul décoratif bloque le navigateur.</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10</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1065276">
                <a:tc>
                  <a:txBody>
                    <a:bodyPr/>
                    <a:lstStyle/>
                    <a:p>
                      <a:pPr>
                        <a:defRPr sz="1900" b="1">
                          <a:solidFill>
                            <a:srgbClr val="FFFFFF"/>
                          </a:solidFill>
                          <a:latin typeface="Arial"/>
                        </a:defRPr>
                      </a:pPr>
                      <a:r>
                        <a:t>Option analysée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Intérêt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Limite / décision</a:t>
                      </a:r>
                    </a:p>
                  </a:txBody>
                  <a:tcPr marL="137160" marR="109728" marT="64008" marB="54864" anchor="ctr">
                    <a:solidFill>
                      <a:srgbClr val="12332D"/>
                    </a:solidFill>
                    <a:lnL>
                      <a:noFill/>
                    </a:lnL>
                    <a:lnR>
                      <a:noFill/>
                    </a:lnR>
                    <a:lnT>
                      <a:noFill/>
                    </a:lnT>
                    <a:lnB>
                      <a:noFill/>
                    </a:lnB>
                  </a:tcPr>
                </a:tc>
              </a:tr>
              <a:tr h="1065276">
                <a:tc>
                  <a:txBody>
                    <a:bodyPr/>
                    <a:lstStyle/>
                    <a:p>
                      <a:pPr>
                        <a:defRPr sz="1900" b="1">
                          <a:solidFill>
                            <a:srgbClr val="12332D"/>
                          </a:solidFill>
                          <a:latin typeface="Arial"/>
                        </a:defRPr>
                      </a:pPr>
                      <a:r>
                        <a:t>Garder l’animation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Conserver tout le mouvement</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Calcul bloquant observé toujours présent</a:t>
                      </a:r>
                    </a:p>
                  </a:txBody>
                  <a:tcPr marL="137160" marR="109728" marT="64008" marB="54864" anchor="ctr">
                    <a:solidFill>
                      <a:srgbClr val="FFFFFF"/>
                    </a:solidFill>
                    <a:lnL>
                      <a:noFill/>
                    </a:lnL>
                    <a:lnR>
                      <a:noFill/>
                    </a:lnR>
                    <a:lnT>
                      <a:noFill/>
                    </a:lnT>
                    <a:lnB>
                      <a:noFill/>
                    </a:lnB>
                  </a:tcPr>
                </a:tc>
              </a:tr>
              <a:tr h="1065276">
                <a:tc>
                  <a:txBody>
                    <a:bodyPr/>
                    <a:lstStyle/>
                    <a:p>
                      <a:pPr>
                        <a:defRPr sz="1900" b="1">
                          <a:solidFill>
                            <a:srgbClr val="12332D"/>
                          </a:solidFill>
                          <a:latin typeface="Arial"/>
                        </a:defRPr>
                      </a:pPr>
                      <a:r>
                        <a:t>Optimiser ou différer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Préserver potentiellement l’animation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Gain non mesuré dans les pièces</a:t>
                      </a:r>
                    </a:p>
                  </a:txBody>
                  <a:tcPr marL="137160" marR="109728" marT="64008" marB="54864" anchor="ctr">
                    <a:solidFill>
                      <a:srgbClr val="EBEFE6"/>
                    </a:solidFill>
                    <a:lnL>
                      <a:noFill/>
                    </a:lnL>
                    <a:lnR>
                      <a:noFill/>
                    </a:lnR>
                    <a:lnT>
                      <a:noFill/>
                    </a:lnT>
                    <a:lnB>
                      <a:noFill/>
                    </a:lnB>
                  </a:tcPr>
                </a:tc>
              </a:tr>
              <a:tr h="1065276">
                <a:tc>
                  <a:txBody>
                    <a:bodyPr/>
                    <a:lstStyle/>
                    <a:p>
                      <a:pPr>
                        <a:defRPr sz="1900" b="1">
                          <a:solidFill>
                            <a:srgbClr val="12332D"/>
                          </a:solidFill>
                          <a:latin typeface="Arial"/>
                        </a:defRPr>
                      </a:pPr>
                      <a:r>
                        <a:t>Fond SVG statique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Conserver le motif sans calcul animé</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Choix implémenté ; perte du mouvement</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Décision : SVG statique + indicateur d’attente. Commit 83e4c29 ; PR 35 ; version livrée 872db19.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C3.2.2 / VÉRIFIER LE RÉSULTAT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Mesurer l’effet de la correction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Mesures locales contrôlées du 15 septembre ; un passage par parcours.</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11</a:t>
            </a:r>
          </a:p>
        </p:txBody>
      </p:sp>
      <p:graphicFrame>
        <p:nvGraphicFramePr>
          <p:cNvPr id="9" name="Chart 8"/>
          <p:cNvGraphicFramePr>
            <a:graphicFrameLocks noGrp="1"/>
          </p:cNvGraphicFramePr>
          <p:nvPr/>
        </p:nvGraphicFramePr>
        <p:xfrm>
          <a:off x="594360" y="2468880"/>
          <a:ext cx="9784080" cy="4206240"/>
        </p:xfrm>
        <a:graphic>
          <a:graphicData uri="http://schemas.openxmlformats.org/drawingml/2006/chart">
            <c:chart xmlns:c="http://schemas.openxmlformats.org/drawingml/2006/chart" r:id="rId3"/>
          </a:graphicData>
        </a:graphic>
      </p:graphicFrame>
      <p:sp>
        <p:nvSpPr>
          <p:cNvPr id="10" name="TextBox 9"/>
          <p:cNvSpPr txBox="1"/>
          <p:nvPr/>
        </p:nvSpPr>
        <p:spPr>
          <a:xfrm>
            <a:off x="10607040" y="2788920"/>
            <a:ext cx="3474720" cy="365760"/>
          </a:xfrm>
          <a:prstGeom prst="rect">
            <a:avLst/>
          </a:prstGeom>
          <a:noFill/>
        </p:spPr>
        <p:txBody>
          <a:bodyPr wrap="square" lIns="0" rIns="0" tIns="0" bIns="0">
            <a:spAutoFit/>
          </a:bodyPr>
          <a:lstStyle/>
          <a:p>
            <a:pPr algn="l">
              <a:spcAft>
                <a:spcPts val="400"/>
              </a:spcAft>
              <a:defRPr sz="1300" b="1">
                <a:solidFill>
                  <a:srgbClr val="C7D6CB"/>
                </a:solidFill>
                <a:latin typeface="Arial"/>
              </a:defRPr>
            </a:pPr>
            <a:r>
              <a:t>MÉDIANE OBSERVÉE</a:t>
            </a:r>
          </a:p>
        </p:txBody>
      </p:sp>
      <p:sp>
        <p:nvSpPr>
          <p:cNvPr id="11" name="TextBox 10"/>
          <p:cNvSpPr txBox="1"/>
          <p:nvPr/>
        </p:nvSpPr>
        <p:spPr>
          <a:xfrm>
            <a:off x="10607040" y="3438144"/>
            <a:ext cx="3291840" cy="731520"/>
          </a:xfrm>
          <a:prstGeom prst="rect">
            <a:avLst/>
          </a:prstGeom>
          <a:noFill/>
        </p:spPr>
        <p:txBody>
          <a:bodyPr wrap="square" lIns="0" rIns="0" tIns="0" bIns="0">
            <a:spAutoFit/>
          </a:bodyPr>
          <a:lstStyle/>
          <a:p>
            <a:pPr algn="l">
              <a:spcAft>
                <a:spcPts val="400"/>
              </a:spcAft>
              <a:defRPr sz="4000" b="1">
                <a:solidFill>
                  <a:srgbClr val="FFFFFF"/>
                </a:solidFill>
                <a:latin typeface="Arial"/>
              </a:defRPr>
            </a:pPr>
            <a:r>
              <a:t>10,22 s</a:t>
            </a:r>
          </a:p>
        </p:txBody>
      </p:sp>
      <p:sp>
        <p:nvSpPr>
          <p:cNvPr id="12" name="TextBox 11"/>
          <p:cNvSpPr txBox="1"/>
          <p:nvPr/>
        </p:nvSpPr>
        <p:spPr>
          <a:xfrm>
            <a:off x="10652760" y="4343400"/>
            <a:ext cx="1828800" cy="594360"/>
          </a:xfrm>
          <a:prstGeom prst="rect">
            <a:avLst/>
          </a:prstGeom>
          <a:noFill/>
        </p:spPr>
        <p:txBody>
          <a:bodyPr wrap="square" lIns="0" rIns="0" tIns="0" bIns="0">
            <a:spAutoFit/>
          </a:bodyPr>
          <a:lstStyle/>
          <a:p>
            <a:pPr algn="l">
              <a:spcAft>
                <a:spcPts val="400"/>
              </a:spcAft>
              <a:defRPr sz="3000" b="1">
                <a:solidFill>
                  <a:srgbClr val="D8F28B"/>
                </a:solidFill>
                <a:latin typeface="Arial"/>
              </a:defRPr>
            </a:pPr>
            <a:r>
              <a:t>↓</a:t>
            </a:r>
          </a:p>
        </p:txBody>
      </p:sp>
      <p:sp>
        <p:nvSpPr>
          <p:cNvPr id="13" name="TextBox 12"/>
          <p:cNvSpPr txBox="1"/>
          <p:nvPr/>
        </p:nvSpPr>
        <p:spPr>
          <a:xfrm>
            <a:off x="10607040" y="5010912"/>
            <a:ext cx="3291840" cy="731520"/>
          </a:xfrm>
          <a:prstGeom prst="rect">
            <a:avLst/>
          </a:prstGeom>
          <a:noFill/>
        </p:spPr>
        <p:txBody>
          <a:bodyPr wrap="square" lIns="0" rIns="0" tIns="0" bIns="0">
            <a:spAutoFit/>
          </a:bodyPr>
          <a:lstStyle/>
          <a:p>
            <a:pPr algn="l">
              <a:spcAft>
                <a:spcPts val="400"/>
              </a:spcAft>
              <a:defRPr sz="4000" b="1">
                <a:solidFill>
                  <a:srgbClr val="D8F28B"/>
                </a:solidFill>
                <a:latin typeface="Arial"/>
              </a:defRPr>
            </a:pPr>
            <a:r>
              <a:t>0,748 s</a:t>
            </a:r>
          </a:p>
        </p:txBody>
      </p:sp>
      <p:sp>
        <p:nvSpPr>
          <p:cNvPr id="14" name="TextBox 13"/>
          <p:cNvSpPr txBox="1"/>
          <p:nvPr/>
        </p:nvSpPr>
        <p:spPr>
          <a:xfrm>
            <a:off x="10607040" y="6035040"/>
            <a:ext cx="3383280" cy="384048"/>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5 parcours locaux</a:t>
            </a:r>
          </a:p>
        </p:txBody>
      </p:sp>
      <p:sp>
        <p:nvSpPr>
          <p:cNvPr id="15" name="Rectangle 14"/>
          <p:cNvSpPr/>
          <p:nvPr/>
        </p:nvSpPr>
        <p:spPr>
          <a:xfrm>
            <a:off x="594360" y="6995160"/>
            <a:ext cx="50292" cy="438912"/>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D8F28B"/>
                </a:solidFill>
                <a:latin typeface="Arial"/>
              </a:defRPr>
            </a:pPr>
            <a:r>
              <a:t>CPU ×4 · latence 100 ms · mêmes parcours. Ces temps ne sont pas des mesures de production.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C3.3.1 / MANAGEMENT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Adapter la posture à une situation précise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SIMULATION · une recette ponctuelle avec testeur, dans un projet développé seul.</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12</a:t>
            </a:r>
          </a:p>
        </p:txBody>
      </p:sp>
      <p:sp>
        <p:nvSpPr>
          <p:cNvPr id="9" name="Rounded Rectangle 8"/>
          <p:cNvSpPr/>
          <p:nvPr/>
        </p:nvSpPr>
        <p:spPr>
          <a:xfrm>
            <a:off x="594360" y="2514600"/>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70048"/>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PARTICIPATIF</a:t>
            </a:r>
          </a:p>
        </p:txBody>
      </p:sp>
      <p:sp>
        <p:nvSpPr>
          <p:cNvPr id="11" name="TextBox 10"/>
          <p:cNvSpPr txBox="1"/>
          <p:nvPr/>
        </p:nvSpPr>
        <p:spPr>
          <a:xfrm>
            <a:off x="822960" y="3063240"/>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Écouter les faits</a:t>
            </a:r>
          </a:p>
        </p:txBody>
      </p:sp>
      <p:sp>
        <p:nvSpPr>
          <p:cNvPr id="12" name="TextBox 11"/>
          <p:cNvSpPr txBox="1"/>
          <p:nvPr/>
        </p:nvSpPr>
        <p:spPr>
          <a:xfrm>
            <a:off x="3410712" y="3054096"/>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Le testeur veut corriger les blocages ; le porteur veut enrichir le décor.</a:t>
            </a:r>
          </a:p>
        </p:txBody>
      </p:sp>
      <p:sp>
        <p:nvSpPr>
          <p:cNvPr id="13" name="Rounded Rectangle 12"/>
          <p:cNvSpPr/>
          <p:nvPr/>
        </p:nvSpPr>
        <p:spPr>
          <a:xfrm>
            <a:off x="7470648" y="2514600"/>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670048"/>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PERSUASIF</a:t>
            </a:r>
          </a:p>
        </p:txBody>
      </p:sp>
      <p:sp>
        <p:nvSpPr>
          <p:cNvPr id="15" name="TextBox 14"/>
          <p:cNvSpPr txBox="1"/>
          <p:nvPr/>
        </p:nvSpPr>
        <p:spPr>
          <a:xfrm>
            <a:off x="7699248" y="3063240"/>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Expliquer le choix</a:t>
            </a:r>
          </a:p>
        </p:txBody>
      </p:sp>
      <p:sp>
        <p:nvSpPr>
          <p:cNvPr id="16" name="TextBox 15"/>
          <p:cNvSpPr txBox="1"/>
          <p:nvPr/>
        </p:nvSpPr>
        <p:spPr>
          <a:xfrm>
            <a:off x="10287000" y="3054096"/>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Prioriser le parcours utilisable avec les critères et les mesures.</a:t>
            </a:r>
          </a:p>
        </p:txBody>
      </p:sp>
      <p:sp>
        <p:nvSpPr>
          <p:cNvPr id="17" name="Rounded Rectangle 16"/>
          <p:cNvSpPr/>
          <p:nvPr/>
        </p:nvSpPr>
        <p:spPr>
          <a:xfrm>
            <a:off x="594360" y="4379976"/>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535424"/>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DIRECTIF</a:t>
            </a:r>
          </a:p>
        </p:txBody>
      </p:sp>
      <p:sp>
        <p:nvSpPr>
          <p:cNvPr id="19" name="TextBox 18"/>
          <p:cNvSpPr txBox="1"/>
          <p:nvPr/>
        </p:nvSpPr>
        <p:spPr>
          <a:xfrm>
            <a:off x="822960" y="4928616"/>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Fixer la limite</a:t>
            </a:r>
          </a:p>
        </p:txBody>
      </p:sp>
      <p:sp>
        <p:nvSpPr>
          <p:cNvPr id="20" name="TextBox 19"/>
          <p:cNvSpPr txBox="1"/>
          <p:nvPr/>
        </p:nvSpPr>
        <p:spPr>
          <a:xfrm>
            <a:off x="3410712" y="4919472"/>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Aucune validation si un critère critique reste en échec.</a:t>
            </a:r>
          </a:p>
        </p:txBody>
      </p:sp>
      <p:sp>
        <p:nvSpPr>
          <p:cNvPr id="21" name="Rounded Rectangle 20"/>
          <p:cNvSpPr/>
          <p:nvPr/>
        </p:nvSpPr>
        <p:spPr>
          <a:xfrm>
            <a:off x="7470648" y="4379976"/>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535424"/>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DÉLÉGATIF</a:t>
            </a:r>
          </a:p>
        </p:txBody>
      </p:sp>
      <p:sp>
        <p:nvSpPr>
          <p:cNvPr id="23" name="TextBox 22"/>
          <p:cNvSpPr txBox="1"/>
          <p:nvPr/>
        </p:nvSpPr>
        <p:spPr>
          <a:xfrm>
            <a:off x="7699248" y="4928616"/>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Confier la recette</a:t>
            </a:r>
          </a:p>
        </p:txBody>
      </p:sp>
      <p:sp>
        <p:nvSpPr>
          <p:cNvPr id="24" name="TextBox 23"/>
          <p:cNvSpPr txBox="1"/>
          <p:nvPr/>
        </p:nvSpPr>
        <p:spPr>
          <a:xfrm>
            <a:off x="10287000" y="4919472"/>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Résultat attendu, autonomie et point de contrôle convenus.</a:t>
            </a:r>
          </a:p>
        </p:txBody>
      </p:sp>
      <p:sp>
        <p:nvSpPr>
          <p:cNvPr id="25" name="Rectangle 24"/>
          <p:cNvSpPr/>
          <p:nvPr/>
        </p:nvSpPr>
        <p:spPr>
          <a:xfrm>
            <a:off x="594360" y="6995160"/>
            <a:ext cx="50292" cy="438912"/>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D8F28B"/>
                </a:solidFill>
                <a:latin typeface="Arial"/>
              </a:defRPr>
            </a:pPr>
            <a:r>
              <a:t>Analyse critique : décider seul trop vite peut faire perdre une alerte utile ; écouter puis trancher.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C3.3.1 / CHARGE ET COMMUNICATION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Organiser une collaboration accessible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SIMULATION · testeur malentendant, à distance ; contexte multiculturel prévu.</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13</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Point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Organisation proposée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Contrôle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Charge de la séance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Porteur 4 h / 5 h ; testeur 4 h / 5 h</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80 % chacun ; 1 h de marge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Accessibilité</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Consignes écrites, sous-titres, une voix à la fois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Le testeur reformule puis retrouve la décision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Distance et langues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Créneau commun avec fuseaux, glossaire FR/EN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Compréhension vérifiée sans supposer la langue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Outils partagés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Linear : action ; Git : version ; dossier : preuves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Un lien commun vers critères et compte rendu</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Rituel proposé : préparation écrite → point de 20 min → action responsable → retour asynchrone.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C3.3.2 / GRILLE COMMENTÉE</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Évaluer les compétences utiles au projet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SIMULATION · niveaux pédagogiques, aucune évaluation personnelle réelle.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14</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Rôle du cas</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Compétence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Actuel → cible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Porteur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Planning et suivi des écarts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 2</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Porteur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Développement et API</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2 → 2</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Testeur fictif</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Recette reproductible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 2</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Testeur fictif</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Parcours clavier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 → 2</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0 : non abordé · 1 : accompagné · 2 : autonome · 3 : cas complexes.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C3.3.2 / FORMATION ET BESOIN DE RENFORT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Prévoir une progression vérifiable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PLAN SIMULÉ · formations proposées, pas de sessions déclarées suivies.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15</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Public / moment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Action et modalité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Résultat attendu</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Porteur · avant M10</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h : atelier de recalcul du suivi</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Expliquer seul le coût et le décalage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Testeur · avant M11</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2 h : recette et clavier, exercice guidé</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Rejouer un cas et décrire un défaut</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Adaptation au handicap</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Écrit, sous-titres, pauses et durée adaptées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Vérifier la compréhension avant autonomie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Besoin persistant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Renfort QA conditionnel de 4 h</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Fiche de besoin préparée en annexe 26</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Évaluer après pratique ; si l’écart persiste, adapter la formation puis arbitrer un renfort.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C3.4.1 / SUIVI CLIENT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Un compte rendu qui aide à décider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CR-SIM-02 · M10 · exemple pédagogique, interlocuteur club fictif.</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16</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CONSTAT</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Un écart annoncé</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Prévision simulée : +1 800 € et +1 mois. Retour : garder un parcours fluide.</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Prioriser l’usage</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Conserver le fond statique ; maintenir les critères de recette.</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ACTIONS</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Préparer la validation</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Porteur : réviser le suivi. Testeur : préparer M11. Club : revoir les critères.</a:t>
            </a:r>
          </a:p>
        </p:txBody>
      </p:sp>
      <p:sp>
        <p:nvSpPr>
          <p:cNvPr id="21" name="Rectangle 20"/>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Compte rendu structuré : contexte → faits → décision → responsable → prochaine validation.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C3.4.1 / JALONS ET CONFORMITÉ</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Prévoir les points de validation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Calendrier pédagogique cohérent avec le planning annuel.</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17</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Point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Objet à montrer</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Décision attendue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M3 · cadrage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Besoin et critères du parcours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Confirmer le périmètre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M10 · évolution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Écarts, options et version disponible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Arbitrer et réviser la prévision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M11 · recette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Résultats des critères et réserves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Corriger ou autoriser la démo</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M12 · restitution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Dernière version et parcours complet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Accepter, réserver ou refuser</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Chaque réserve : problème précis, action, responsable et échéance à convenir.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C3.4.1 / SATISFACTION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Mesurer le retour pour agir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Protocole proposé ; aucun résultat réel mesuré.</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Indicateur</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Calcul / recueil</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Cible pédagogique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Réussite sans aide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Parcours réussis / tentés ; noter l’effectif</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 80 %</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Utilité perçue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Note de 1 à 5 ; moyenne et répondants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 4 / 5</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Conformité critique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Critères critiques acceptés / évalués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100 %</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Blocages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Nombre de tâches empêchées ouvertes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0 avant acceptation</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Sous la cible : qualifier → prioriser → corriger → vérifier à nouveau. Résultats : non mesurés.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C3.4.2 / PRÉPARER LA DÉMONSTRATION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Préparer une démonstration vérifiable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La réussite s’observe sur des actions précises.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Parcours</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Résultat attendu</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Preuve à montrer</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Partenaire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Filtres adaptés et état de demande clair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Session grimpeur</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Inscription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Confirmation et capacité cohérentes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Événement de démonstration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Organisation club</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Participants et commandes autorisées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Session club distincte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Utilisation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Navigation et commandes au clavier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Manipulation en direct</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Une capture datée sert de secours ; une manipulation réussie valide le critère montré.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C3.4.2 / DÉMONTRER ET VALIDER</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20</a:t>
            </a:r>
          </a:p>
        </p:txBody>
      </p:sp>
      <p:pic>
        <p:nvPicPr>
          <p:cNvPr id="7" name="Picture 6" descr="escalade-falaise-gros-plan"/>
          <p:cNvPicPr>
            <a:picLocks noChangeAspect="1"/>
          </p:cNvPicPr>
          <p:nvPr/>
        </p:nvPicPr>
        <p:blipFill>
          <a:blip r:embed="rId3"/>
          <a:srcRect l="21620" r="21620"/>
          <a:stretch>
            <a:fillRect/>
          </a:stretch>
        </p:blipFill>
        <p:spPr>
          <a:xfrm>
            <a:off x="8092440" y="0"/>
            <a:ext cx="6537960" cy="7680960"/>
          </a:xfrm>
          <a:prstGeom prst="rect">
            <a:avLst/>
          </a:prstGeom>
        </p:spPr>
      </p:pic>
      <p:sp>
        <p:nvSpPr>
          <p:cNvPr id="8" name="Rounded Rectangle 7"/>
          <p:cNvSpPr/>
          <p:nvPr/>
        </p:nvSpPr>
        <p:spPr>
          <a:xfrm>
            <a:off x="685800" y="1463040"/>
            <a:ext cx="329184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22476"/>
            <a:ext cx="305409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DÉMONSTRATION EN DIRECT</a:t>
            </a:r>
          </a:p>
        </p:txBody>
      </p:sp>
      <p:sp>
        <p:nvSpPr>
          <p:cNvPr id="10" name="TextBox 9"/>
          <p:cNvSpPr txBox="1"/>
          <p:nvPr/>
        </p:nvSpPr>
        <p:spPr>
          <a:xfrm>
            <a:off x="640080" y="2286000"/>
            <a:ext cx="7315200" cy="2834640"/>
          </a:xfrm>
          <a:prstGeom prst="rect">
            <a:avLst/>
          </a:prstGeom>
          <a:noFill/>
        </p:spPr>
        <p:txBody>
          <a:bodyPr wrap="square" lIns="0" rIns="0" tIns="0" bIns="0">
            <a:spAutoFit/>
          </a:bodyPr>
          <a:lstStyle/>
          <a:p>
            <a:pPr algn="l">
              <a:spcAft>
                <a:spcPts val="400"/>
              </a:spcAft>
              <a:defRPr sz="5500" b="1">
                <a:solidFill>
                  <a:srgbClr val="FFFFFF"/>
                </a:solidFill>
                <a:latin typeface="Arial"/>
              </a:defRPr>
            </a:pPr>
            <a:r>
              <a:t>Passer du suivi</a:t>
            </a:r>
          </a:p>
          <a:p>
            <a:pPr algn="l">
              <a:spcAft>
                <a:spcPts val="400"/>
              </a:spcAft>
              <a:defRPr sz="5500" b="1">
                <a:solidFill>
                  <a:srgbClr val="FFFFFF"/>
                </a:solidFill>
                <a:latin typeface="Arial"/>
              </a:defRPr>
            </a:pPr>
            <a:r>
              <a:t>à l’usage.</a:t>
            </a:r>
          </a:p>
        </p:txBody>
      </p:sp>
      <p:sp>
        <p:nvSpPr>
          <p:cNvPr id="11" name="TextBox 10"/>
          <p:cNvSpPr txBox="1"/>
          <p:nvPr/>
        </p:nvSpPr>
        <p:spPr>
          <a:xfrm>
            <a:off x="685800" y="5486400"/>
            <a:ext cx="6720840" cy="914400"/>
          </a:xfrm>
          <a:prstGeom prst="rect">
            <a:avLst/>
          </a:prstGeom>
          <a:noFill/>
        </p:spPr>
        <p:txBody>
          <a:bodyPr wrap="square" lIns="0" rIns="0" tIns="0" bIns="0">
            <a:spAutoFit/>
          </a:bodyPr>
          <a:lstStyle/>
          <a:p>
            <a:pPr algn="l">
              <a:spcAft>
                <a:spcPts val="400"/>
              </a:spcAft>
              <a:defRPr sz="2400" b="0">
                <a:solidFill>
                  <a:srgbClr val="C7D6CB"/>
                </a:solidFill>
                <a:latin typeface="Arial"/>
              </a:defRPr>
            </a:pPr>
            <a:r>
              <a:t>Deux sessions pour un parcours complet.</a:t>
            </a:r>
          </a:p>
        </p:txBody>
      </p:sp>
      <p:sp>
        <p:nvSpPr>
          <p:cNvPr id="12" name="TextBox 11"/>
          <p:cNvSpPr txBox="1"/>
          <p:nvPr/>
        </p:nvSpPr>
        <p:spPr>
          <a:xfrm>
            <a:off x="685800" y="6812280"/>
            <a:ext cx="6400800" cy="50292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6 minutes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C3.4.2 / DÉMONTRER ET VALIDER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Trouver un partenaire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grimpeur · base de démonstration.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21</a:t>
            </a:r>
          </a:p>
        </p:txBody>
      </p:sp>
      <p:sp>
        <p:nvSpPr>
          <p:cNvPr id="9" name="Rounded Rectangle 8"/>
          <p:cNvSpPr/>
          <p:nvPr/>
        </p:nvSpPr>
        <p:spPr>
          <a:xfrm>
            <a:off x="594360" y="2286000"/>
            <a:ext cx="8412480" cy="5166360"/>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tching-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Profil</a:t>
            </a:r>
          </a:p>
        </p:txBody>
      </p:sp>
      <p:sp>
        <p:nvSpPr>
          <p:cNvPr id="14" name="Rounded Rectangle 13"/>
          <p:cNvSpPr/>
          <p:nvPr/>
        </p:nvSpPr>
        <p:spPr>
          <a:xfrm>
            <a:off x="9784080" y="410565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Filtres</a:t>
            </a:r>
          </a:p>
        </p:txBody>
      </p:sp>
      <p:sp>
        <p:nvSpPr>
          <p:cNvPr id="17" name="Rounded Rectangle 16"/>
          <p:cNvSpPr/>
          <p:nvPr/>
        </p:nvSpPr>
        <p:spPr>
          <a:xfrm>
            <a:off x="9784080" y="533095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Demande</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100" b="0">
                <a:solidFill>
                  <a:srgbClr val="5C6C65"/>
                </a:solidFill>
                <a:latin typeface="Arial"/>
              </a:defRPr>
            </a:pPr>
            <a:r>
              <a:t>Capture de secours · 15/09/2026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C3.4.2 / DÉMONTRER ET VALIDER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S’inscrire et retrouver les participants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grimpeur puis club · six minutes au total.</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22</a:t>
            </a:r>
          </a:p>
        </p:txBody>
      </p:sp>
      <p:sp>
        <p:nvSpPr>
          <p:cNvPr id="9" name="Rounded Rectangle 8"/>
          <p:cNvSpPr/>
          <p:nvPr/>
        </p:nvSpPr>
        <p:spPr>
          <a:xfrm>
            <a:off x="594360" y="2286000"/>
            <a:ext cx="8412480" cy="5166360"/>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venements-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Événement</a:t>
            </a:r>
          </a:p>
        </p:txBody>
      </p:sp>
      <p:sp>
        <p:nvSpPr>
          <p:cNvPr id="14" name="Rounded Rectangle 13"/>
          <p:cNvSpPr/>
          <p:nvPr/>
        </p:nvSpPr>
        <p:spPr>
          <a:xfrm>
            <a:off x="9784080" y="410565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Inscription</a:t>
            </a:r>
          </a:p>
        </p:txBody>
      </p:sp>
      <p:sp>
        <p:nvSpPr>
          <p:cNvPr id="17" name="Rounded Rectangle 16"/>
          <p:cNvSpPr/>
          <p:nvPr/>
        </p:nvSpPr>
        <p:spPr>
          <a:xfrm>
            <a:off x="9784080" y="533095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Participants</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100" b="0">
                <a:solidFill>
                  <a:srgbClr val="5C6C65"/>
                </a:solidFill>
                <a:latin typeface="Arial"/>
              </a:defRPr>
            </a:pPr>
            <a:r>
              <a:t>Capture de secours · 15/09/2026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C3.4.2 / DÉMONTRER ET VALIDER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Conclure par une décision de validation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Conclure sur ce que les preuves permettent d’affirmer.</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23</a:t>
            </a:r>
          </a:p>
        </p:txBody>
      </p:sp>
      <p:sp>
        <p:nvSpPr>
          <p:cNvPr id="9" name="Rounded Rectangle 8"/>
          <p:cNvSpPr/>
          <p:nvPr/>
        </p:nvSpPr>
        <p:spPr>
          <a:xfrm>
            <a:off x="594360" y="2606040"/>
            <a:ext cx="4251960" cy="393192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DÉMONSTRATION</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800" b="1">
                <a:solidFill>
                  <a:srgbClr val="FFFFFF"/>
                </a:solidFill>
                <a:latin typeface="Arial"/>
              </a:defRPr>
            </a:pPr>
            <a:r>
              <a:t>Critères observés</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2000" b="0">
                <a:solidFill>
                  <a:srgbClr val="C7D6CB"/>
                </a:solidFill>
                <a:latin typeface="Arial"/>
              </a:defRPr>
            </a:pPr>
            <a:r>
              <a:t>Partenaire, inscription, participants et utilisation au clavier.</a:t>
            </a:r>
          </a:p>
        </p:txBody>
      </p:sp>
      <p:sp>
        <p:nvSpPr>
          <p:cNvPr id="13" name="Rounded Rectangle 12"/>
          <p:cNvSpPr/>
          <p:nvPr/>
        </p:nvSpPr>
        <p:spPr>
          <a:xfrm>
            <a:off x="5184648" y="2606040"/>
            <a:ext cx="4251960" cy="393192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800" b="1">
                <a:solidFill>
                  <a:srgbClr val="FFFFFF"/>
                </a:solidFill>
                <a:latin typeface="Arial"/>
              </a:defRPr>
            </a:pPr>
            <a:r>
              <a:t>Accepté / avec réserve / refusé</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2000" b="0">
                <a:solidFill>
                  <a:srgbClr val="C7D6CB"/>
                </a:solidFill>
                <a:latin typeface="Arial"/>
              </a:defRPr>
            </a:pPr>
            <a:r>
              <a:t>Décider à partir du résultat montré, sans accord prérempli.</a:t>
            </a:r>
          </a:p>
        </p:txBody>
      </p:sp>
      <p:sp>
        <p:nvSpPr>
          <p:cNvPr id="17" name="Rounded Rectangle 16"/>
          <p:cNvSpPr/>
          <p:nvPr/>
        </p:nvSpPr>
        <p:spPr>
          <a:xfrm>
            <a:off x="9774936" y="2606040"/>
            <a:ext cx="4251960" cy="393192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SUITE</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800" b="1">
                <a:solidFill>
                  <a:srgbClr val="FFFFFF"/>
                </a:solidFill>
                <a:latin typeface="Arial"/>
              </a:defRPr>
            </a:pPr>
            <a:r>
              <a:t>Traiter les réserves</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2000" b="0">
                <a:solidFill>
                  <a:srgbClr val="C7D6CB"/>
                </a:solidFill>
                <a:latin typeface="Arial"/>
              </a:defRPr>
            </a:pPr>
            <a:r>
              <a:t>Un problème, une action, un responsable et une échéance.</a:t>
            </a:r>
          </a:p>
        </p:txBody>
      </p:sp>
      <p:sp>
        <p:nvSpPr>
          <p:cNvPr id="21" name="Rectangle 20"/>
          <p:cNvSpPr/>
          <p:nvPr/>
        </p:nvSpPr>
        <p:spPr>
          <a:xfrm>
            <a:off x="594360" y="6995160"/>
            <a:ext cx="50292" cy="438912"/>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D8F28B"/>
                </a:solidFill>
                <a:latin typeface="Arial"/>
              </a:defRPr>
            </a:pPr>
            <a:r>
              <a:t>Projet solo réel sur un an ; mises en situation pédagogiques annoncées ; preuves datées.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CORRESPONDANCE AVEC LE RÉFÉRENTIEL</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Les sept compétences et leurs preuves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Deux PDF fournis, une correspondance explicite et aucune acquisition présumée.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24</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532638">
                <a:tc>
                  <a:txBody>
                    <a:bodyPr/>
                    <a:lstStyle/>
                    <a:p>
                      <a:pPr>
                        <a:defRPr sz="1700" b="1">
                          <a:solidFill>
                            <a:srgbClr val="FFFFFF"/>
                          </a:solidFill>
                          <a:latin typeface="Arial"/>
                        </a:defRPr>
                      </a:pPr>
                      <a:r>
                        <a:t>Compétence</a:t>
                      </a:r>
                    </a:p>
                  </a:txBody>
                  <a:tcPr marL="137160" marR="109728" marT="64008" marB="54864" anchor="ctr">
                    <a:solidFill>
                      <a:srgbClr val="12332D"/>
                    </a:solidFill>
                    <a:lnL>
                      <a:noFill/>
                    </a:lnL>
                    <a:lnR>
                      <a:noFill/>
                    </a:lnR>
                    <a:lnT>
                      <a:noFill/>
                    </a:lnT>
                    <a:lnB>
                      <a:noFill/>
                    </a:lnB>
                  </a:tcPr>
                </a:tc>
                <a:tc>
                  <a:txBody>
                    <a:bodyPr/>
                    <a:lstStyle/>
                    <a:p>
                      <a:pPr>
                        <a:defRPr sz="1700" b="1">
                          <a:solidFill>
                            <a:srgbClr val="FFFFFF"/>
                          </a:solidFill>
                          <a:latin typeface="Arial"/>
                        </a:defRPr>
                      </a:pPr>
                      <a:r>
                        <a:t>Slides</a:t>
                      </a:r>
                    </a:p>
                  </a:txBody>
                  <a:tcPr marL="137160" marR="109728" marT="64008" marB="54864" anchor="ctr">
                    <a:solidFill>
                      <a:srgbClr val="12332D"/>
                    </a:solidFill>
                    <a:lnL>
                      <a:noFill/>
                    </a:lnL>
                    <a:lnR>
                      <a:noFill/>
                    </a:lnR>
                    <a:lnT>
                      <a:noFill/>
                    </a:lnT>
                    <a:lnB>
                      <a:noFill/>
                    </a:lnB>
                  </a:tcPr>
                </a:tc>
                <a:tc>
                  <a:txBody>
                    <a:bodyPr/>
                    <a:lstStyle/>
                    <a:p>
                      <a:pPr>
                        <a:defRPr sz="1700" b="1">
                          <a:solidFill>
                            <a:srgbClr val="FFFFFF"/>
                          </a:solidFill>
                          <a:latin typeface="Arial"/>
                        </a:defRPr>
                      </a:pPr>
                      <a:r>
                        <a:t>Éléments présentés</a:t>
                      </a:r>
                    </a:p>
                  </a:txBody>
                  <a:tcPr marL="137160" marR="109728" marT="64008" marB="54864" anchor="ctr">
                    <a:solidFill>
                      <a:srgbClr val="12332D"/>
                    </a:solidFill>
                    <a:lnL>
                      <a:noFill/>
                    </a:lnL>
                    <a:lnR>
                      <a:noFill/>
                    </a:lnR>
                    <a:lnT>
                      <a:noFill/>
                    </a:lnT>
                    <a:lnB>
                      <a:noFill/>
                    </a:lnB>
                  </a:tcPr>
                </a:tc>
              </a:tr>
              <a:tr h="532638">
                <a:tc>
                  <a:txBody>
                    <a:bodyPr/>
                    <a:lstStyle/>
                    <a:p>
                      <a:pPr>
                        <a:defRPr sz="1700" b="1">
                          <a:solidFill>
                            <a:srgbClr val="12332D"/>
                          </a:solidFill>
                          <a:latin typeface="Arial"/>
                        </a:defRPr>
                      </a:pPr>
                      <a:r>
                        <a:t>C.3.1 · obligatoire</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4–6</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Méthode, planning annuel, affectation et moyens</a:t>
                      </a:r>
                    </a:p>
                  </a:txBody>
                  <a:tcPr marL="137160" marR="109728" marT="64008" marB="54864" anchor="ctr">
                    <a:solidFill>
                      <a:srgbClr val="FFFFFF"/>
                    </a:solidFill>
                    <a:lnL>
                      <a:noFill/>
                    </a:lnL>
                    <a:lnR>
                      <a:noFill/>
                    </a:lnR>
                    <a:lnT>
                      <a:noFill/>
                    </a:lnT>
                    <a:lnB>
                      <a:noFill/>
                    </a:lnB>
                  </a:tcPr>
                </a:tc>
              </a:tr>
              <a:tr h="532638">
                <a:tc>
                  <a:txBody>
                    <a:bodyPr/>
                    <a:lstStyle/>
                    <a:p>
                      <a:pPr>
                        <a:defRPr sz="1700" b="1">
                          <a:solidFill>
                            <a:srgbClr val="12332D"/>
                          </a:solidFill>
                          <a:latin typeface="Arial"/>
                        </a:defRPr>
                      </a:pPr>
                      <a:r>
                        <a:t>C3.2.1 · obligatoire</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7–9</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Avancement, coûts, délais, risques et ressources</a:t>
                      </a:r>
                    </a:p>
                  </a:txBody>
                  <a:tcPr marL="137160" marR="109728" marT="64008" marB="54864" anchor="ctr">
                    <a:solidFill>
                      <a:srgbClr val="EBEFE6"/>
                    </a:solidFill>
                    <a:lnL>
                      <a:noFill/>
                    </a:lnL>
                    <a:lnR>
                      <a:noFill/>
                    </a:lnR>
                    <a:lnT>
                      <a:noFill/>
                    </a:lnT>
                    <a:lnB>
                      <a:noFill/>
                    </a:lnB>
                  </a:tcPr>
                </a:tc>
              </a:tr>
              <a:tr h="532638">
                <a:tc>
                  <a:txBody>
                    <a:bodyPr/>
                    <a:lstStyle/>
                    <a:p>
                      <a:pPr>
                        <a:defRPr sz="1700" b="1">
                          <a:solidFill>
                            <a:srgbClr val="12332D"/>
                          </a:solidFill>
                          <a:latin typeface="Arial"/>
                        </a:defRPr>
                      </a:pPr>
                      <a:r>
                        <a:t>C3.2.2</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10–11</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Problème, options, décision et mesures</a:t>
                      </a:r>
                    </a:p>
                  </a:txBody>
                  <a:tcPr marL="137160" marR="109728" marT="64008" marB="54864" anchor="ctr">
                    <a:solidFill>
                      <a:srgbClr val="FFFFFF"/>
                    </a:solidFill>
                    <a:lnL>
                      <a:noFill/>
                    </a:lnL>
                    <a:lnR>
                      <a:noFill/>
                    </a:lnR>
                    <a:lnT>
                      <a:noFill/>
                    </a:lnT>
                    <a:lnB>
                      <a:noFill/>
                    </a:lnB>
                  </a:tcPr>
                </a:tc>
              </a:tr>
              <a:tr h="532638">
                <a:tc>
                  <a:txBody>
                    <a:bodyPr/>
                    <a:lstStyle/>
                    <a:p>
                      <a:pPr>
                        <a:defRPr sz="1700" b="1">
                          <a:solidFill>
                            <a:srgbClr val="12332D"/>
                          </a:solidFill>
                          <a:latin typeface="Arial"/>
                        </a:defRPr>
                      </a:pPr>
                      <a:r>
                        <a:t>C3.3.1</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12–13</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Styles, analyse critique, charge et inclusion</a:t>
                      </a:r>
                    </a:p>
                  </a:txBody>
                  <a:tcPr marL="137160" marR="109728" marT="64008" marB="54864" anchor="ctr">
                    <a:solidFill>
                      <a:srgbClr val="EBEFE6"/>
                    </a:solidFill>
                    <a:lnL>
                      <a:noFill/>
                    </a:lnL>
                    <a:lnR>
                      <a:noFill/>
                    </a:lnR>
                    <a:lnT>
                      <a:noFill/>
                    </a:lnT>
                    <a:lnB>
                      <a:noFill/>
                    </a:lnB>
                  </a:tcPr>
                </a:tc>
              </a:tr>
              <a:tr h="532638">
                <a:tc>
                  <a:txBody>
                    <a:bodyPr/>
                    <a:lstStyle/>
                    <a:p>
                      <a:pPr>
                        <a:defRPr sz="1700" b="1">
                          <a:solidFill>
                            <a:srgbClr val="12332D"/>
                          </a:solidFill>
                          <a:latin typeface="Arial"/>
                        </a:defRPr>
                      </a:pPr>
                      <a:r>
                        <a:t>C3.3.2</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14–15 + 26</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Grille, formation et fiche de renfort</a:t>
                      </a:r>
                    </a:p>
                  </a:txBody>
                  <a:tcPr marL="137160" marR="109728" marT="64008" marB="54864" anchor="ctr">
                    <a:solidFill>
                      <a:srgbClr val="FFFFFF"/>
                    </a:solidFill>
                    <a:lnL>
                      <a:noFill/>
                    </a:lnL>
                    <a:lnR>
                      <a:noFill/>
                    </a:lnR>
                    <a:lnT>
                      <a:noFill/>
                    </a:lnT>
                    <a:lnB>
                      <a:noFill/>
                    </a:lnB>
                  </a:tcPr>
                </a:tc>
              </a:tr>
              <a:tr h="532638">
                <a:tc>
                  <a:txBody>
                    <a:bodyPr/>
                    <a:lstStyle/>
                    <a:p>
                      <a:pPr>
                        <a:defRPr sz="1700" b="1">
                          <a:solidFill>
                            <a:srgbClr val="12332D"/>
                          </a:solidFill>
                          <a:latin typeface="Arial"/>
                        </a:defRPr>
                      </a:pPr>
                      <a:r>
                        <a:t>C3.4.1</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16–18</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Comptes rendus, validations et satisfaction</a:t>
                      </a:r>
                    </a:p>
                  </a:txBody>
                  <a:tcPr marL="137160" marR="109728" marT="64008" marB="54864" anchor="ctr">
                    <a:solidFill>
                      <a:srgbClr val="EBEFE6"/>
                    </a:solidFill>
                    <a:lnL>
                      <a:noFill/>
                    </a:lnL>
                    <a:lnR>
                      <a:noFill/>
                    </a:lnR>
                    <a:lnT>
                      <a:noFill/>
                    </a:lnT>
                    <a:lnB>
                      <a:noFill/>
                    </a:lnB>
                  </a:tcPr>
                </a:tc>
              </a:tr>
              <a:tr h="532638">
                <a:tc>
                  <a:txBody>
                    <a:bodyPr/>
                    <a:lstStyle/>
                    <a:p>
                      <a:pPr>
                        <a:defRPr sz="1700" b="1">
                          <a:solidFill>
                            <a:srgbClr val="12332D"/>
                          </a:solidFill>
                          <a:latin typeface="Arial"/>
                        </a:defRPr>
                      </a:pPr>
                      <a:r>
                        <a:t>C3.4.2 · obligatoire</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19–23</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Dernière version, démo et décision</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Les mises en situation fictives sont autorisées par le référentiel ; elles restent signalées.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CHRONOLOGIE RÉELLE DU DÉPÔT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Les étapes enregistrées dans Git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Repères réels de commits ; distincts du calendrier pédagogique M1–M12.</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25</a:t>
            </a:r>
          </a:p>
        </p:txBody>
      </p:sp>
      <p:sp>
        <p:nvSpPr>
          <p:cNvPr id="9" name="TextBox 8"/>
          <p:cNvSpPr txBox="1"/>
          <p:nvPr/>
        </p:nvSpPr>
        <p:spPr>
          <a:xfrm>
            <a:off x="731520" y="2651760"/>
            <a:ext cx="27432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1 an</a:t>
            </a:r>
          </a:p>
        </p:txBody>
      </p:sp>
      <p:sp>
        <p:nvSpPr>
          <p:cNvPr id="10" name="TextBox 9"/>
          <p:cNvSpPr txBox="1"/>
          <p:nvPr/>
        </p:nvSpPr>
        <p:spPr>
          <a:xfrm>
            <a:off x="731520" y="3584448"/>
            <a:ext cx="27432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projet solo</a:t>
            </a:r>
          </a:p>
        </p:txBody>
      </p:sp>
      <p:sp>
        <p:nvSpPr>
          <p:cNvPr id="11" name="TextBox 10"/>
          <p:cNvSpPr txBox="1"/>
          <p:nvPr/>
        </p:nvSpPr>
        <p:spPr>
          <a:xfrm>
            <a:off x="731520" y="4315968"/>
            <a:ext cx="2743200" cy="100584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Période déclarée</a:t>
            </a:r>
          </a:p>
          <a:p>
            <a:pPr algn="l">
              <a:spcAft>
                <a:spcPts val="400"/>
              </a:spcAft>
              <a:defRPr sz="1600" b="0">
                <a:solidFill>
                  <a:srgbClr val="5C6C65"/>
                </a:solidFill>
                <a:latin typeface="Arial"/>
              </a:defRPr>
            </a:pPr>
            <a:r>
              <a:t>par Dorian Joly</a:t>
            </a:r>
          </a:p>
        </p:txBody>
      </p:sp>
      <p:sp>
        <p:nvSpPr>
          <p:cNvPr id="12" name="Rounded Rectangle 11"/>
          <p:cNvSpPr/>
          <p:nvPr/>
        </p:nvSpPr>
        <p:spPr>
          <a:xfrm>
            <a:off x="4023360" y="2423160"/>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42232" y="2482596"/>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JAN. 2026</a:t>
            </a:r>
          </a:p>
        </p:txBody>
      </p:sp>
      <p:sp>
        <p:nvSpPr>
          <p:cNvPr id="14" name="TextBox 13"/>
          <p:cNvSpPr txBox="1"/>
          <p:nvPr/>
        </p:nvSpPr>
        <p:spPr>
          <a:xfrm>
            <a:off x="5742432" y="2404872"/>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Fondations</a:t>
            </a:r>
          </a:p>
        </p:txBody>
      </p:sp>
      <p:sp>
        <p:nvSpPr>
          <p:cNvPr id="15" name="TextBox 14"/>
          <p:cNvSpPr txBox="1"/>
          <p:nvPr/>
        </p:nvSpPr>
        <p:spPr>
          <a:xfrm>
            <a:off x="5742432" y="2843784"/>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Next.js, Tailwind, Drizzle</a:t>
            </a:r>
          </a:p>
        </p:txBody>
      </p:sp>
      <p:cxnSp>
        <p:nvCxnSpPr>
          <p:cNvPr id="16" name="Connector 15"/>
          <p:cNvCxnSpPr/>
          <p:nvPr/>
        </p:nvCxnSpPr>
        <p:spPr>
          <a:xfrm>
            <a:off x="5742432" y="3163824"/>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23360" y="3255264"/>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42232" y="3314700"/>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MAI</a:t>
            </a:r>
          </a:p>
        </p:txBody>
      </p:sp>
      <p:sp>
        <p:nvSpPr>
          <p:cNvPr id="19" name="TextBox 18"/>
          <p:cNvSpPr txBox="1"/>
          <p:nvPr/>
        </p:nvSpPr>
        <p:spPr>
          <a:xfrm>
            <a:off x="5742432" y="3236976"/>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Premiers parcours</a:t>
            </a:r>
          </a:p>
        </p:txBody>
      </p:sp>
      <p:sp>
        <p:nvSpPr>
          <p:cNvPr id="20" name="TextBox 19"/>
          <p:cNvSpPr txBox="1"/>
          <p:nvPr/>
        </p:nvSpPr>
        <p:spPr>
          <a:xfrm>
            <a:off x="5742432" y="3675888"/>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Connexion, profils, lieux</a:t>
            </a:r>
          </a:p>
        </p:txBody>
      </p:sp>
      <p:cxnSp>
        <p:nvCxnSpPr>
          <p:cNvPr id="21" name="Connector 20"/>
          <p:cNvCxnSpPr/>
          <p:nvPr/>
        </p:nvCxnSpPr>
        <p:spPr>
          <a:xfrm>
            <a:off x="5742432" y="3995928"/>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023360" y="4087368"/>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42232" y="4146804"/>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JUILLET</a:t>
            </a:r>
          </a:p>
        </p:txBody>
      </p:sp>
      <p:sp>
        <p:nvSpPr>
          <p:cNvPr id="24" name="TextBox 23"/>
          <p:cNvSpPr txBox="1"/>
          <p:nvPr/>
        </p:nvSpPr>
        <p:spPr>
          <a:xfrm>
            <a:off x="5742432" y="4069080"/>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Prototype testé</a:t>
            </a:r>
          </a:p>
        </p:txBody>
      </p:sp>
      <p:sp>
        <p:nvSpPr>
          <p:cNvPr id="25" name="TextBox 24"/>
          <p:cNvSpPr txBox="1"/>
          <p:nvPr/>
        </p:nvSpPr>
        <p:spPr>
          <a:xfrm>
            <a:off x="5742432" y="4507992"/>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Matching, événements, CI</a:t>
            </a:r>
          </a:p>
        </p:txBody>
      </p:sp>
      <p:cxnSp>
        <p:nvCxnSpPr>
          <p:cNvPr id="26" name="Connector 25"/>
          <p:cNvCxnSpPr/>
          <p:nvPr/>
        </p:nvCxnSpPr>
        <p:spPr>
          <a:xfrm>
            <a:off x="5742432" y="4828031"/>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023360" y="4919472"/>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42232" y="4978908"/>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AOÛT</a:t>
            </a:r>
          </a:p>
        </p:txBody>
      </p:sp>
      <p:sp>
        <p:nvSpPr>
          <p:cNvPr id="29" name="TextBox 28"/>
          <p:cNvSpPr txBox="1"/>
          <p:nvPr/>
        </p:nvSpPr>
        <p:spPr>
          <a:xfrm>
            <a:off x="5742432" y="4901184"/>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Maintenance</a:t>
            </a:r>
          </a:p>
        </p:txBody>
      </p:sp>
      <p:sp>
        <p:nvSpPr>
          <p:cNvPr id="30" name="TextBox 29"/>
          <p:cNvSpPr txBox="1"/>
          <p:nvPr/>
        </p:nvSpPr>
        <p:spPr>
          <a:xfrm>
            <a:off x="5742432" y="5340096"/>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Supervision, incidents, qualité</a:t>
            </a:r>
          </a:p>
        </p:txBody>
      </p:sp>
      <p:cxnSp>
        <p:nvCxnSpPr>
          <p:cNvPr id="31" name="Connector 30"/>
          <p:cNvCxnSpPr/>
          <p:nvPr/>
        </p:nvCxnSpPr>
        <p:spPr>
          <a:xfrm>
            <a:off x="5742432" y="5660136"/>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023360" y="5751576"/>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42232" y="5811012"/>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SEPT.</a:t>
            </a:r>
          </a:p>
        </p:txBody>
      </p:sp>
      <p:sp>
        <p:nvSpPr>
          <p:cNvPr id="34" name="TextBox 33"/>
          <p:cNvSpPr txBox="1"/>
          <p:nvPr/>
        </p:nvSpPr>
        <p:spPr>
          <a:xfrm>
            <a:off x="5742432" y="5733288"/>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Livraison enrichie</a:t>
            </a:r>
          </a:p>
        </p:txBody>
      </p:sp>
      <p:sp>
        <p:nvSpPr>
          <p:cNvPr id="35" name="TextBox 34"/>
          <p:cNvSpPr txBox="1"/>
          <p:nvPr/>
        </p:nvSpPr>
        <p:spPr>
          <a:xfrm>
            <a:off x="5742432" y="6172200"/>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Médias, administration, topos</a:t>
            </a:r>
          </a:p>
        </p:txBody>
      </p:sp>
      <p:sp>
        <p:nvSpPr>
          <p:cNvPr id="36" name="Rectangle 35"/>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Les commits datent des versions ; ils ne mesurent pas les heures travaillées.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C3.3.2 · TRANSMISSION RH</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Préparer un besoin de renfort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FICHE SIMULÉE ET CONDITIONNELLE · aucun recrutement réel dans le projet solo.</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26</a:t>
            </a:r>
          </a:p>
        </p:txBody>
      </p:sp>
      <p:graphicFrame>
        <p:nvGraphicFramePr>
          <p:cNvPr id="9" name="Table 8"/>
          <p:cNvGraphicFramePr>
            <a:graphicFrameLocks noGrp="1"/>
          </p:cNvGraphicFramePr>
          <p:nvPr/>
        </p:nvGraphicFramePr>
        <p:xfrm>
          <a:off x="594360" y="2423160"/>
          <a:ext cx="13441680" cy="4261103"/>
        </p:xfrm>
        <a:graphic>
          <a:graphicData uri="http://schemas.openxmlformats.org/drawingml/2006/table">
            <a:tbl>
              <a:tblPr firstRow="1" bandRow="1">
                <a:tableStyleId>{5C22544A-7EE6-4342-B048-85BDC9FD1C3A}</a:tableStyleId>
              </a:tblPr>
              <a:tblGrid>
                <a:gridCol w="3200400"/>
                <a:gridCol w="10241280"/>
              </a:tblGrid>
              <a:tr h="608729">
                <a:tc>
                  <a:txBody>
                    <a:bodyPr/>
                    <a:lstStyle/>
                    <a:p>
                      <a:pPr>
                        <a:defRPr sz="1700" b="1">
                          <a:solidFill>
                            <a:srgbClr val="FFFFFF"/>
                          </a:solidFill>
                          <a:latin typeface="Arial"/>
                        </a:defRPr>
                      </a:pPr>
                      <a:r>
                        <a:t>Rubrique</a:t>
                      </a:r>
                    </a:p>
                  </a:txBody>
                  <a:tcPr marL="137160" marR="109728" marT="64008" marB="54864" anchor="ctr">
                    <a:solidFill>
                      <a:srgbClr val="12332D"/>
                    </a:solidFill>
                    <a:lnL>
                      <a:noFill/>
                    </a:lnL>
                    <a:lnR>
                      <a:noFill/>
                    </a:lnR>
                    <a:lnT>
                      <a:noFill/>
                    </a:lnT>
                    <a:lnB>
                      <a:noFill/>
                    </a:lnB>
                  </a:tcPr>
                </a:tc>
                <a:tc>
                  <a:txBody>
                    <a:bodyPr/>
                    <a:lstStyle/>
                    <a:p>
                      <a:pPr>
                        <a:defRPr sz="1700" b="1">
                          <a:solidFill>
                            <a:srgbClr val="FFFFFF"/>
                          </a:solidFill>
                          <a:latin typeface="Arial"/>
                        </a:defRPr>
                      </a:pPr>
                      <a:r>
                        <a:t>Besoin à transmettre au service RH du cas</a:t>
                      </a:r>
                    </a:p>
                  </a:txBody>
                  <a:tcPr marL="137160" marR="109728" marT="64008" marB="54864" anchor="ctr">
                    <a:solidFill>
                      <a:srgbClr val="12332D"/>
                    </a:solidFill>
                    <a:lnL>
                      <a:noFill/>
                    </a:lnL>
                    <a:lnR>
                      <a:noFill/>
                    </a:lnR>
                    <a:lnT>
                      <a:noFill/>
                    </a:lnT>
                    <a:lnB>
                      <a:noFill/>
                    </a:lnB>
                  </a:tcPr>
                </a:tc>
              </a:tr>
              <a:tr h="608729">
                <a:tc>
                  <a:txBody>
                    <a:bodyPr/>
                    <a:lstStyle/>
                    <a:p>
                      <a:pPr>
                        <a:defRPr sz="1700" b="1">
                          <a:solidFill>
                            <a:srgbClr val="12332D"/>
                          </a:solidFill>
                          <a:latin typeface="Arial"/>
                        </a:defRPr>
                      </a:pPr>
                      <a:r>
                        <a:t>Déclencheur</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Recette critique non maîtrisée après la formation et son évaluation</a:t>
                      </a:r>
                    </a:p>
                  </a:txBody>
                  <a:tcPr marL="137160" marR="109728" marT="64008" marB="54864" anchor="ctr">
                    <a:solidFill>
                      <a:srgbClr val="FFFFFF"/>
                    </a:solidFill>
                    <a:lnL>
                      <a:noFill/>
                    </a:lnL>
                    <a:lnR>
                      <a:noFill/>
                    </a:lnR>
                    <a:lnT>
                      <a:noFill/>
                    </a:lnT>
                    <a:lnB>
                      <a:noFill/>
                    </a:lnB>
                  </a:tcPr>
                </a:tc>
              </a:tr>
              <a:tr h="608729">
                <a:tc>
                  <a:txBody>
                    <a:bodyPr/>
                    <a:lstStyle/>
                    <a:p>
                      <a:pPr>
                        <a:defRPr sz="1700" b="1">
                          <a:solidFill>
                            <a:srgbClr val="12332D"/>
                          </a:solidFill>
                          <a:latin typeface="Arial"/>
                        </a:defRPr>
                      </a:pPr>
                      <a:r>
                        <a:t>Mission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4 h de renfort QA avant la restitution ; parcours et anomalies reproductibles</a:t>
                      </a:r>
                    </a:p>
                  </a:txBody>
                  <a:tcPr marL="137160" marR="109728" marT="64008" marB="54864" anchor="ctr">
                    <a:solidFill>
                      <a:srgbClr val="EBEFE6"/>
                    </a:solidFill>
                    <a:lnL>
                      <a:noFill/>
                    </a:lnL>
                    <a:lnR>
                      <a:noFill/>
                    </a:lnR>
                    <a:lnT>
                      <a:noFill/>
                    </a:lnT>
                    <a:lnB>
                      <a:noFill/>
                    </a:lnB>
                  </a:tcPr>
                </a:tc>
              </a:tr>
              <a:tr h="608729">
                <a:tc>
                  <a:txBody>
                    <a:bodyPr/>
                    <a:lstStyle/>
                    <a:p>
                      <a:pPr>
                        <a:defRPr sz="1700" b="1">
                          <a:solidFill>
                            <a:srgbClr val="12332D"/>
                          </a:solidFill>
                          <a:latin typeface="Arial"/>
                        </a:defRPr>
                      </a:pPr>
                      <a:r>
                        <a:t>Compétences</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Recette navigateur, accessibilité clavier, communication écrite</a:t>
                      </a:r>
                    </a:p>
                  </a:txBody>
                  <a:tcPr marL="137160" marR="109728" marT="64008" marB="54864" anchor="ctr">
                    <a:solidFill>
                      <a:srgbClr val="FFFFFF"/>
                    </a:solidFill>
                    <a:lnL>
                      <a:noFill/>
                    </a:lnL>
                    <a:lnR>
                      <a:noFill/>
                    </a:lnR>
                    <a:lnT>
                      <a:noFill/>
                    </a:lnT>
                    <a:lnB>
                      <a:noFill/>
                    </a:lnB>
                  </a:tcPr>
                </a:tc>
              </a:tr>
              <a:tr h="608729">
                <a:tc>
                  <a:txBody>
                    <a:bodyPr/>
                    <a:lstStyle/>
                    <a:p>
                      <a:pPr>
                        <a:defRPr sz="1700" b="1">
                          <a:solidFill>
                            <a:srgbClr val="12332D"/>
                          </a:solidFill>
                          <a:latin typeface="Arial"/>
                        </a:defRPr>
                      </a:pPr>
                      <a:r>
                        <a:t>Sélection / intégration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Exercice accessible sur base test ; binôme de prise en main avec le porteur</a:t>
                      </a:r>
                    </a:p>
                  </a:txBody>
                  <a:tcPr marL="137160" marR="109728" marT="64008" marB="54864" anchor="ctr">
                    <a:solidFill>
                      <a:srgbClr val="EBEFE6"/>
                    </a:solidFill>
                    <a:lnL>
                      <a:noFill/>
                    </a:lnL>
                    <a:lnR>
                      <a:noFill/>
                    </a:lnR>
                    <a:lnT>
                      <a:noFill/>
                    </a:lnT>
                    <a:lnB>
                      <a:noFill/>
                    </a:lnB>
                  </a:tcPr>
                </a:tc>
              </a:tr>
              <a:tr h="608729">
                <a:tc>
                  <a:txBody>
                    <a:bodyPr/>
                    <a:lstStyle/>
                    <a:p>
                      <a:pPr>
                        <a:defRPr sz="1700" b="1">
                          <a:solidFill>
                            <a:srgbClr val="12332D"/>
                          </a:solidFill>
                          <a:latin typeface="Arial"/>
                        </a:defRPr>
                      </a:pPr>
                      <a:r>
                        <a:t>Coût indicatif</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4 h × 45 € = 180 € ; hors budget de base, engagement à arbitrer</a:t>
                      </a:r>
                    </a:p>
                  </a:txBody>
                  <a:tcPr marL="137160" marR="109728" marT="64008" marB="54864" anchor="ctr">
                    <a:solidFill>
                      <a:srgbClr val="FFFFFF"/>
                    </a:solidFill>
                    <a:lnL>
                      <a:noFill/>
                    </a:lnL>
                    <a:lnR>
                      <a:noFill/>
                    </a:lnR>
                    <a:lnT>
                      <a:noFill/>
                    </a:lnT>
                    <a:lnB>
                      <a:noFill/>
                    </a:lnB>
                  </a:tcPr>
                </a:tc>
              </a:tr>
              <a:tr h="608729">
                <a:tc>
                  <a:txBody>
                    <a:bodyPr/>
                    <a:lstStyle/>
                    <a:p>
                      <a:pPr>
                        <a:defRPr sz="1700" b="1">
                          <a:solidFill>
                            <a:srgbClr val="12332D"/>
                          </a:solidFill>
                          <a:latin typeface="Arial"/>
                        </a:defRPr>
                      </a:pPr>
                      <a:r>
                        <a:t>Accueil et contrôle</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Accès limités, critères écrits, point de retour et validation du livrable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Préciser disponibilité, modalités et budget avant accord ; ne pas déclarer la fiche envoyée.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Spity — Piloter le projet | Bloc 3</dc:title>
  <dc:subject>Soutenance RNCP39583 — 30 minutes, démonstration incluse</dc:subject>
  <dc:creator>Dorian Joly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