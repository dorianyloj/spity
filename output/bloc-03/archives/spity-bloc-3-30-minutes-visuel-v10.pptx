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2e93ac79867454b" /><Relationship Type="http://schemas.openxmlformats.org/officeDocument/2006/relationships/extended-properties" Target="/docProps/app.xml" Id="Rd009c3f36faf4c64" /><Relationship Type="http://schemas.openxmlformats.org/officeDocument/2006/relationships/officeDocument" Target="/ppt/presentation.xml" Id="R289633bb437c4e14" /></Relationships>
</file>

<file path=ppt/presentation.xml><?xml version="1.0" encoding="utf-8"?>
<p:presentation xmlns:p="http://schemas.openxmlformats.org/presentationml/2006/main">
  <p:sldMasterIdLst>
    <p:sldMasterId xmlns:r="http://schemas.openxmlformats.org/officeDocument/2006/relationships" id="2147483648" r:id="R8a70bb985f554fec"/>
  </p:sldMasterIdLst>
  <p:notesMasterIdLst>
    <p:notesMasterId xmlns:r="http://schemas.openxmlformats.org/officeDocument/2006/relationships" r:id="R74d0e66249d0402f"/>
  </p:notesMasterIdLst>
  <p:sldIdLst>
    <p:sldId xmlns:r="http://schemas.openxmlformats.org/officeDocument/2006/relationships" id="256" r:id="R000b9c02aaf6413a"/>
    <p:sldId xmlns:r="http://schemas.openxmlformats.org/officeDocument/2006/relationships" id="257" r:id="R7b66f10bd14e4e09"/>
    <p:sldId xmlns:r="http://schemas.openxmlformats.org/officeDocument/2006/relationships" id="258" r:id="R4f17a9a989e4419e"/>
    <p:sldId xmlns:r="http://schemas.openxmlformats.org/officeDocument/2006/relationships" id="259" r:id="R37e73981bb2f40a8"/>
    <p:sldId xmlns:r="http://schemas.openxmlformats.org/officeDocument/2006/relationships" id="260" r:id="R6d5e8f5e1d5246f0"/>
    <p:sldId xmlns:r="http://schemas.openxmlformats.org/officeDocument/2006/relationships" id="261" r:id="R1449a037e56b40fb"/>
    <p:sldId xmlns:r="http://schemas.openxmlformats.org/officeDocument/2006/relationships" id="262" r:id="R26f52a2461f6499b"/>
    <p:sldId xmlns:r="http://schemas.openxmlformats.org/officeDocument/2006/relationships" id="263" r:id="R4772fb59d9324720"/>
    <p:sldId xmlns:r="http://schemas.openxmlformats.org/officeDocument/2006/relationships" id="264" r:id="R28a13843011a4709"/>
    <p:sldId xmlns:r="http://schemas.openxmlformats.org/officeDocument/2006/relationships" id="265" r:id="R8691c324cad0480c"/>
    <p:sldId xmlns:r="http://schemas.openxmlformats.org/officeDocument/2006/relationships" id="266" r:id="Ra623df843f5740c6"/>
    <p:sldId xmlns:r="http://schemas.openxmlformats.org/officeDocument/2006/relationships" id="267" r:id="Rce48f7bd190c45fb"/>
    <p:sldId xmlns:r="http://schemas.openxmlformats.org/officeDocument/2006/relationships" id="268" r:id="R6aa5e40183914dd6"/>
    <p:sldId xmlns:r="http://schemas.openxmlformats.org/officeDocument/2006/relationships" id="269" r:id="R91aecc27da674002"/>
    <p:sldId xmlns:r="http://schemas.openxmlformats.org/officeDocument/2006/relationships" id="270" r:id="R58b85fd9e908420a"/>
    <p:sldId xmlns:r="http://schemas.openxmlformats.org/officeDocument/2006/relationships" id="271" r:id="Rbee6a739a31d41e5"/>
    <p:sldId xmlns:r="http://schemas.openxmlformats.org/officeDocument/2006/relationships" id="272" r:id="R0363a7fa928246c7"/>
    <p:sldId xmlns:r="http://schemas.openxmlformats.org/officeDocument/2006/relationships" id="273" r:id="R42b1abb36a18491e"/>
    <p:sldId xmlns:r="http://schemas.openxmlformats.org/officeDocument/2006/relationships" id="274" r:id="R28ec5f9902a44120"/>
    <p:sldId xmlns:r="http://schemas.openxmlformats.org/officeDocument/2006/relationships" id="275" r:id="R87802333d7fa488b"/>
    <p:sldId xmlns:r="http://schemas.openxmlformats.org/officeDocument/2006/relationships" id="276" r:id="Re978610a8c6846d4"/>
    <p:sldId xmlns:r="http://schemas.openxmlformats.org/officeDocument/2006/relationships" id="277" r:id="Rcc31ce01a4364bab"/>
    <p:sldId xmlns:r="http://schemas.openxmlformats.org/officeDocument/2006/relationships" id="278" r:id="R878dfd61796e4aa1"/>
    <p:sldId xmlns:r="http://schemas.openxmlformats.org/officeDocument/2006/relationships" id="279" r:id="R55765b18b50e4cbd"/>
    <p:sldId xmlns:r="http://schemas.openxmlformats.org/officeDocument/2006/relationships" id="280" r:id="R8c2ba7f681b041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80f90374854e1e" /><Relationship Type="http://schemas.openxmlformats.org/officeDocument/2006/relationships/slideMaster" Target="/ppt/slideMasters/slideMaster1.xml" Id="R8a70bb985f554fec" /><Relationship Type="http://schemas.openxmlformats.org/officeDocument/2006/relationships/notesMaster" Target="/ppt/notesMasters/notesMaster1.xml" Id="R74d0e66249d0402f" /><Relationship Type="http://schemas.openxmlformats.org/officeDocument/2006/relationships/presProps" Target="/ppt/presProps.xml" Id="R1b496af8e2454479" /><Relationship Type="http://schemas.openxmlformats.org/officeDocument/2006/relationships/tableStyles" Target="/ppt/tableStyles.xml" Id="R554c506089724c64" /><Relationship Type="http://schemas.openxmlformats.org/officeDocument/2006/relationships/slide" Target="/ppt/slides/slide1.xml" Id="R000b9c02aaf6413a" /><Relationship Type="http://schemas.openxmlformats.org/officeDocument/2006/relationships/slide" Target="/ppt/slides/slide2.xml" Id="R7b66f10bd14e4e09" /><Relationship Type="http://schemas.openxmlformats.org/officeDocument/2006/relationships/slide" Target="/ppt/slides/slide3.xml" Id="R4f17a9a989e4419e" /><Relationship Type="http://schemas.openxmlformats.org/officeDocument/2006/relationships/slide" Target="/ppt/slides/slide4.xml" Id="R37e73981bb2f40a8" /><Relationship Type="http://schemas.openxmlformats.org/officeDocument/2006/relationships/slide" Target="/ppt/slides/slide5.xml" Id="R6d5e8f5e1d5246f0" /><Relationship Type="http://schemas.openxmlformats.org/officeDocument/2006/relationships/slide" Target="/ppt/slides/slide6.xml" Id="R1449a037e56b40fb" /><Relationship Type="http://schemas.openxmlformats.org/officeDocument/2006/relationships/slide" Target="/ppt/slides/slide7.xml" Id="R26f52a2461f6499b" /><Relationship Type="http://schemas.openxmlformats.org/officeDocument/2006/relationships/slide" Target="/ppt/slides/slide8.xml" Id="R4772fb59d9324720" /><Relationship Type="http://schemas.openxmlformats.org/officeDocument/2006/relationships/slide" Target="/ppt/slides/slide9.xml" Id="R28a13843011a4709" /><Relationship Type="http://schemas.openxmlformats.org/officeDocument/2006/relationships/slide" Target="/ppt/slides/slide10.xml" Id="R8691c324cad0480c" /><Relationship Type="http://schemas.openxmlformats.org/officeDocument/2006/relationships/slide" Target="/ppt/slides/slide11.xml" Id="Ra623df843f5740c6" /><Relationship Type="http://schemas.openxmlformats.org/officeDocument/2006/relationships/slide" Target="/ppt/slides/slide12.xml" Id="Rce48f7bd190c45fb" /><Relationship Type="http://schemas.openxmlformats.org/officeDocument/2006/relationships/slide" Target="/ppt/slides/slide13.xml" Id="R6aa5e40183914dd6" /><Relationship Type="http://schemas.openxmlformats.org/officeDocument/2006/relationships/slide" Target="/ppt/slides/slide14.xml" Id="R91aecc27da674002" /><Relationship Type="http://schemas.openxmlformats.org/officeDocument/2006/relationships/slide" Target="/ppt/slides/slide15.xml" Id="R58b85fd9e908420a" /><Relationship Type="http://schemas.openxmlformats.org/officeDocument/2006/relationships/slide" Target="/ppt/slides/slide16.xml" Id="Rbee6a739a31d41e5" /><Relationship Type="http://schemas.openxmlformats.org/officeDocument/2006/relationships/slide" Target="/ppt/slides/slide17.xml" Id="R0363a7fa928246c7" /><Relationship Type="http://schemas.openxmlformats.org/officeDocument/2006/relationships/slide" Target="/ppt/slides/slide18.xml" Id="R42b1abb36a18491e" /><Relationship Type="http://schemas.openxmlformats.org/officeDocument/2006/relationships/slide" Target="/ppt/slides/slide19.xml" Id="R28ec5f9902a44120" /><Relationship Type="http://schemas.openxmlformats.org/officeDocument/2006/relationships/slide" Target="/ppt/slides/slide20.xml" Id="R87802333d7fa488b" /><Relationship Type="http://schemas.openxmlformats.org/officeDocument/2006/relationships/slide" Target="/ppt/slides/slide21.xml" Id="Re978610a8c6846d4" /><Relationship Type="http://schemas.openxmlformats.org/officeDocument/2006/relationships/slide" Target="/ppt/slides/slide22.xml" Id="Rcc31ce01a4364bab" /><Relationship Type="http://schemas.openxmlformats.org/officeDocument/2006/relationships/slide" Target="/ppt/slides/slide23.xml" Id="R878dfd61796e4aa1" /><Relationship Type="http://schemas.openxmlformats.org/officeDocument/2006/relationships/slide" Target="/ppt/slides/slide24.xml" Id="R55765b18b50e4cbd" /><Relationship Type="http://schemas.openxmlformats.org/officeDocument/2006/relationships/slide" Target="/ppt/slides/slide25.xml" Id="R8c2ba7f681b041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c3e488601c40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b96e74b27643e8" /><Relationship Type="http://schemas.openxmlformats.org/officeDocument/2006/relationships/notesMaster" Target="/ppt/notesMasters/notesMaster1.xml" Id="R3f1b071a9b6347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1162802f2d4d68" /><Relationship Type="http://schemas.openxmlformats.org/officeDocument/2006/relationships/notesMaster" Target="/ppt/notesMasters/notesMaster1.xml" Id="R95ce5d7f67e54f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29512914b74fab" /><Relationship Type="http://schemas.openxmlformats.org/officeDocument/2006/relationships/notesMaster" Target="/ppt/notesMasters/notesMaster1.xml" Id="Rf56b0df3d57140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376e7847e14fe0" /><Relationship Type="http://schemas.openxmlformats.org/officeDocument/2006/relationships/notesMaster" Target="/ppt/notesMasters/notesMaster1.xml" Id="R9b04cc846f7144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1babe8ce8f485a" /><Relationship Type="http://schemas.openxmlformats.org/officeDocument/2006/relationships/notesMaster" Target="/ppt/notesMasters/notesMaster1.xml" Id="R865a4f02dbdb4d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9b199865d543ec" /><Relationship Type="http://schemas.openxmlformats.org/officeDocument/2006/relationships/notesMaster" Target="/ppt/notesMasters/notesMaster1.xml" Id="R3668a04ec51b47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b366a74a294268" /><Relationship Type="http://schemas.openxmlformats.org/officeDocument/2006/relationships/notesMaster" Target="/ppt/notesMasters/notesMaster1.xml" Id="R2ceaf316a27943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a0387b29e7475c" /><Relationship Type="http://schemas.openxmlformats.org/officeDocument/2006/relationships/notesMaster" Target="/ppt/notesMasters/notesMaster1.xml" Id="Rb819a8b1e89a40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0a00f8a1bf475d" /><Relationship Type="http://schemas.openxmlformats.org/officeDocument/2006/relationships/notesMaster" Target="/ppt/notesMasters/notesMaster1.xml" Id="R0686c77b0bb84b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d5654790ed4848" /><Relationship Type="http://schemas.openxmlformats.org/officeDocument/2006/relationships/notesMaster" Target="/ppt/notesMasters/notesMaster1.xml" Id="R8d1bb00f4b0346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2a1c09d73f415f" /><Relationship Type="http://schemas.openxmlformats.org/officeDocument/2006/relationships/notesMaster" Target="/ppt/notesMasters/notesMaster1.xml" Id="R5d51c3d8bae044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4f9decdf6846a3" /><Relationship Type="http://schemas.openxmlformats.org/officeDocument/2006/relationships/notesMaster" Target="/ppt/notesMasters/notesMaster1.xml" Id="R796c44c5f09044a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8fb9f53a104bdc" /><Relationship Type="http://schemas.openxmlformats.org/officeDocument/2006/relationships/notesMaster" Target="/ppt/notesMasters/notesMaster1.xml" Id="Red1ba420063e40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33c6c5ef0a449b3" /><Relationship Type="http://schemas.openxmlformats.org/officeDocument/2006/relationships/notesMaster" Target="/ppt/notesMasters/notesMaster1.xml" Id="R7ca4048b794f45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66fddd170d49db" /><Relationship Type="http://schemas.openxmlformats.org/officeDocument/2006/relationships/notesMaster" Target="/ppt/notesMasters/notesMaster1.xml" Id="R9cea1d27aef144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651945d9b448ea" /><Relationship Type="http://schemas.openxmlformats.org/officeDocument/2006/relationships/notesMaster" Target="/ppt/notesMasters/notesMaster1.xml" Id="Rf0d0ced446b04c2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c0c7842cf8e416f" /><Relationship Type="http://schemas.openxmlformats.org/officeDocument/2006/relationships/notesMaster" Target="/ppt/notesMasters/notesMaster1.xml" Id="Re3a4165a80d140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c5385205c74768" /><Relationship Type="http://schemas.openxmlformats.org/officeDocument/2006/relationships/notesMaster" Target="/ppt/notesMasters/notesMaster1.xml" Id="Ra6f6cb4cdcb94c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cd79c98866c44ac" /><Relationship Type="http://schemas.openxmlformats.org/officeDocument/2006/relationships/notesMaster" Target="/ppt/notesMasters/notesMaster1.xml" Id="R338cf689a6e245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0243f94801b47d8" /><Relationship Type="http://schemas.openxmlformats.org/officeDocument/2006/relationships/notesMaster" Target="/ppt/notesMasters/notesMaster1.xml" Id="R2bc1faec7c194b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da39d39bee481d" /><Relationship Type="http://schemas.openxmlformats.org/officeDocument/2006/relationships/notesMaster" Target="/ppt/notesMasters/notesMaster1.xml" Id="R623a48e1e66c4b7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cf1159c5a77491f" /><Relationship Type="http://schemas.openxmlformats.org/officeDocument/2006/relationships/notesMaster" Target="/ppt/notesMasters/notesMaster1.xml" Id="R8e27bc41f6974d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133651642e14abe" /><Relationship Type="http://schemas.openxmlformats.org/officeDocument/2006/relationships/notesMaster" Target="/ppt/notesMasters/notesMaster1.xml" Id="Rc28609b696ef4f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5e9fcb924a49f8" /><Relationship Type="http://schemas.openxmlformats.org/officeDocument/2006/relationships/notesMaster" Target="/ppt/notesMasters/notesMaster1.xml" Id="R31d5bc7a149045b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e1b5f4d1f74660" /><Relationship Type="http://schemas.openxmlformats.org/officeDocument/2006/relationships/notesMaster" Target="/ppt/notesMasters/notesMaster1.xml" Id="R796608bbed7144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01:30. Durée prévue : 01:00.</a:t>
            </a:r>
          </a:p>
          <a:p xmlns:a="http://schemas.openxmlformats.org/drawingml/2006/main">
            <a:r>
              <a:t/>
            </a:r>
          </a:p>
          <a:p xmlns:a="http://schemas.openxmlformats.org/drawingml/2006/main">
            <a:r>
              <a:t>TEXTE ORAL</a:t>
            </a:r>
          </a:p>
          <a:p xmlns:a="http://schemas.openxmlformats.org/drawingml/2006/main">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xmlns:a="http://schemas.openxmlformats.org/drawingml/2006/main">
            <a:r>
              <a:t/>
            </a:r>
          </a:p>
          <a:p xmlns:a="http://schemas.openxmlformats.org/drawingml/2006/main">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xmlns:a="http://schemas.openxmlformats.org/drawingml/2006/main">
            <a:r>
              <a:t/>
            </a:r>
          </a:p>
          <a:p xmlns:a="http://schemas.openxmlformats.org/drawingml/2006/main">
            <a:r>
              <a:t>TRANSITION</a:t>
            </a:r>
          </a:p>
          <a:p xmlns:a="http://schemas.openxmlformats.org/drawingml/2006/main">
            <a:r>
              <a:t>Les quatre blocs abordent ce même projet sous des angles complémentaires.</a:t>
            </a:r>
          </a:p>
          <a:p xmlns:a="http://schemas.openxmlformats.org/drawingml/2006/main">
            <a:r>
              <a:t/>
            </a:r>
          </a:p>
          <a:p xmlns:a="http://schemas.openxmlformats.org/drawingml/2006/main">
            <a:r>
              <a:t>SOURCE ET NATURE</a:t>
            </a:r>
          </a:p>
          <a:p xmlns:a="http://schemas.openxmlformats.org/drawingml/2006/main">
            <a:r>
              <a:t>B1, commanditaire fictif et produit réel. B1 : C1.1.1, p. 2 ; C1.4.1, p. 4-5. B2 : 16_DOSSIER_FINAL_BC02, F01-F10. Capture locale du 15 septembre 2026, données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01:30 à 02:30. Durée prévue : 01:00.</a:t>
            </a:r>
          </a:p>
          <a:p xmlns:a="http://schemas.openxmlformats.org/drawingml/2006/main">
            <a:r>
              <a:t/>
            </a:r>
          </a:p>
          <a:p xmlns:a="http://schemas.openxmlformats.org/drawingml/2006/main">
            <a:r>
              <a:t>TEXTE ORAL</a:t>
            </a:r>
          </a:p>
          <a:p xmlns:a="http://schemas.openxmlformats.org/drawingml/2006/main">
            <a:r>
              <a:t>Le Bloc 1 prévoit soixante-dix-neuf jours-homme pour le MVP. Ses cinq jalons couvrent le socle, la découverte, l'organisation des sorties, la communauté et la stabilisation. Je représente ici leur ordre à raison de cinq jours-homme par semaine, soit environ seize semaines. C'est un ordonnancement pédagogique, pas la reconstitution des dates réellement travaillées.</a:t>
            </a:r>
          </a:p>
          <a:p xmlns:a="http://schemas.openxmlformats.org/drawingml/2006/main">
            <a:r>
              <a:t/>
            </a:r>
          </a:p>
          <a:p xmlns:a="http://schemas.openxmlformats.org/drawingml/2006/main">
            <a:r>
              <a:t>Chaque jalon correspond à un résultat vérifiable, depuis un profil exploitable jusqu'à une recette documentée. Les fonctions du MVP cible dépassent le prototype évalué au Bloc 2. Le lot de quinze jours que je détaille ensuite permet d'expliquer le suivi sur un périmètre plus réduit. Ses heures ne s'ajoutent pas automatiquement au budget global. Le Bloc 4 prépare la suite, avec les anomalies et le support.</a:t>
            </a:r>
          </a:p>
          <a:p xmlns:a="http://schemas.openxmlformats.org/drawingml/2006/main">
            <a:r>
              <a:t/>
            </a:r>
          </a:p>
          <a:p xmlns:a="http://schemas.openxmlformats.org/drawingml/2006/main">
            <a:r>
              <a:t>TRANSITION</a:t>
            </a:r>
          </a:p>
          <a:p xmlns:a="http://schemas.openxmlformats.org/drawingml/2006/main">
            <a:r>
              <a:t>Je choisis une méthode adaptée au suivi de ce travail.</a:t>
            </a:r>
          </a:p>
          <a:p xmlns:a="http://schemas.openxmlformats.org/drawingml/2006/main">
            <a:r>
              <a:t/>
            </a:r>
          </a:p>
          <a:p xmlns:a="http://schemas.openxmlformats.org/drawingml/2006/main">
            <a:r>
              <a:t>SOURCE ET NATURE</a:t>
            </a:r>
          </a:p>
          <a:p xmlns:a="http://schemas.openxmlformats.org/drawingml/2006/main">
            <a:r>
              <a:t>C.3.1, ordonnancement pédagogique dérivé du Bloc 1. B1 C1.4.1 p. 7-8 ; A01 ; consolidation.json. Charges source 16+15+17+14+17=79 j-h. Calendrier relatif dérivé, capacité constante de 5 j-h/semaine.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02:30 à 04:00. Durée prévue : 01:30.</a:t>
            </a:r>
          </a:p>
          <a:p xmlns:a="http://schemas.openxmlformats.org/drawingml/2006/main">
            <a:r>
              <a:t/>
            </a:r>
          </a:p>
          <a:p xmlns:a="http://schemas.openxmlformats.org/drawingml/2006/main">
            <a:r>
              <a:t>TEXTE ORAL</a:t>
            </a:r>
          </a:p>
          <a:p xmlns:a="http://schemas.openxmlformats.org/drawingml/2006/main">
            <a:r>
              <a:t>Je retiens Kanban pour le cas : un petit effectif, des priorités évolutives et des retours rapides. La limite de deux tâches de réalisation simultanées réduit la dispersion. Une tâche ne passe à terminé qu'après vérification de ses critères. Scrum demanderait ici des cérémonies supplémentaires ; le cycle en V rendrait les retours intermédiaires moins fréquents.</a:t>
            </a:r>
          </a:p>
          <a:p xmlns:a="http://schemas.openxmlformats.org/drawingml/2006/main">
            <a:r>
              <a:t/>
            </a:r>
          </a:p>
          <a:p xmlns:a="http://schemas.openxmlformats.org/drawingml/2006/main">
            <a:r>
              <a:t>Linear rend visibles les sujets, leurs statuts et leurs dépendances. Le relevé réel du quatorze septembre contient vingt-cinq tickets, dont douze terminés et un annulé. Douze sur vingt-quatre donne cinquante pour cent de tickets, pas cinquante pour cent de produit livré. SPI-27, le service médias, conditionne l'API SPI-15 puis le formulaire SPI-18.</a:t>
            </a:r>
          </a:p>
          <a:p xmlns:a="http://schemas.openxmlformats.org/drawingml/2006/main">
            <a:r>
              <a:t/>
            </a:r>
          </a:p>
          <a:p xmlns:a="http://schemas.openxmlformats.org/drawingml/2006/main">
            <a:r>
              <a:t>Le planning à barres complète ce flux : il expose les dates, les chevauchements et les conditions de passage. Kanban pilote le travail courant ; les jalons encadrent les engagements. Les critères et comptes rendus sont partagés dans A07, le code dans Git. Ces documents pédagogiques restent distincts des tickets réellement observés dans Linear.</a:t>
            </a:r>
          </a:p>
          <a:p xmlns:a="http://schemas.openxmlformats.org/drawingml/2006/main">
            <a:r>
              <a:t/>
            </a:r>
          </a:p>
          <a:p xmlns:a="http://schemas.openxmlformats.org/drawingml/2006/main">
            <a:r>
              <a:t>GESTE OU MANIPULATION</a:t>
            </a:r>
          </a:p>
          <a:p xmlns:a="http://schemas.openxmlformats.org/drawingml/2006/main">
            <a:r>
              <a:t>Montrer les statuts, nommer Kanban et retrouver A07 depuis les ressources du dossier.</a:t>
            </a:r>
          </a:p>
          <a:p xmlns:a="http://schemas.openxmlformats.org/drawingml/2006/main">
            <a:r>
              <a:t/>
            </a:r>
          </a:p>
          <a:p xmlns:a="http://schemas.openxmlformats.org/drawingml/2006/main">
            <a:r>
              <a:t>TRANSITION</a:t>
            </a:r>
          </a:p>
          <a:p xmlns:a="http://schemas.openxmlformats.org/drawingml/2006/main">
            <a:r>
              <a:t>Je zoome maintenant sur le planning du lot.</a:t>
            </a:r>
          </a:p>
          <a:p xmlns:a="http://schemas.openxmlformats.org/drawingml/2006/main">
            <a:r>
              <a:t/>
            </a:r>
          </a:p>
          <a:p xmlns:a="http://schemas.openxmlformats.org/drawingml/2006/main">
            <a:r>
              <a:t>SOURCE ET NATURE</a:t>
            </a:r>
          </a:p>
          <a:p xmlns:a="http://schemas.openxmlformats.org/drawingml/2006/main">
            <a:r>
              <a:t>Linear observé, 14 septembre 2026. Dossier §3 ; A01/A05/A07/A09. Linear observé le 14 septembre, sans nouvelle modification des tickets. A07 et Git contiennent les ressources réellement consultables.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04:00 à 05:30. Durée prévue : 01:30.</a:t>
            </a:r>
          </a:p>
          <a:p xmlns:a="http://schemas.openxmlformats.org/drawingml/2006/main">
            <a:r>
              <a:t/>
            </a:r>
          </a:p>
          <a:p xmlns:a="http://schemas.openxmlformats.org/drawingml/2006/main">
            <a:r>
              <a:t>TEXTE ORAL</a:t>
            </a:r>
          </a:p>
          <a:p xmlns:a="http://schemas.openxmlformats.org/drawingml/2006/main">
            <a:r>
              <a:t>Ce planning détaille quinze jours ouvrés relatifs. L'étude cadre le besoin. La mesure transforme ce besoin en critères observables, par exemple une seule inscription acceptée sur la dernière place. La conception fixe les responsabilités et les moyens. La réalisation fournit les parcours, la recette mesure leur conformité et la restitution prépare la décision du client.</a:t>
            </a:r>
          </a:p>
          <a:p xmlns:a="http://schemas.openxmlformats.org/drawingml/2006/main">
            <a:r>
              <a:t/>
            </a:r>
          </a:p>
          <a:p xmlns:a="http://schemas.openxmlformats.org/drawingml/2006/main">
            <a:r>
              <a:t>Le diagramme à barres rend les chevauchements lisibles. Il complète Kanban sans imposer que toutes les activités attendent la fin de la précédente. QA peut préparer et tester les fonctions déjà disponibles. La clôture de la recette dépend toutefois de la stabilisation des événements et des corrections. La démonstration reste prévue à J15, après la recette J14.</a:t>
            </a:r>
          </a:p>
          <a:p xmlns:a="http://schemas.openxmlformats.org/drawingml/2006/main">
            <a:r>
              <a:t/>
            </a:r>
          </a:p>
          <a:p xmlns:a="http://schemas.openxmlformats.org/drawingml/2006/main">
            <a:r>
              <a:t>Je conserve les dates initiales dans le classeur pour mesurer les dérives. À J10, les événements sont prévus à J12 au lieu de J11 et la recette à J14 au lieu de J13. Chaque glissement vaut un jour. Ce décalage de date est distinct de l'augmentation de charge. A01 conserve les dix tâches et les trente activités estimées sont détaillées dans A09.</a:t>
            </a:r>
          </a:p>
          <a:p xmlns:a="http://schemas.openxmlformats.org/drawingml/2006/main">
            <a:r>
              <a:t/>
            </a:r>
          </a:p>
          <a:p xmlns:a="http://schemas.openxmlformats.org/drawingml/2006/main">
            <a:r>
              <a:t>GESTE OU MANIPULATION</a:t>
            </a:r>
          </a:p>
          <a:p xmlns:a="http://schemas.openxmlformats.org/drawingml/2006/main">
            <a:r>
              <a:t>Lire la phase Mesure, les chevauchements puis les dates initiales et revues.</a:t>
            </a:r>
          </a:p>
          <a:p xmlns:a="http://schemas.openxmlformats.org/drawingml/2006/main">
            <a:r>
              <a:t/>
            </a:r>
          </a:p>
          <a:p xmlns:a="http://schemas.openxmlformats.org/drawingml/2006/main">
            <a:r>
              <a:t>TRANSITION</a:t>
            </a:r>
          </a:p>
          <a:p xmlns:a="http://schemas.openxmlformats.org/drawingml/2006/main">
            <a:r>
              <a:t>La répartition des missions permet de tenir ces engagements.</a:t>
            </a:r>
          </a:p>
          <a:p xmlns:a="http://schemas.openxmlformats.org/drawingml/2006/main">
            <a:r>
              <a:t/>
            </a:r>
          </a:p>
          <a:p xmlns:a="http://schemas.openxmlformats.org/drawingml/2006/main">
            <a:r>
              <a:t>SOURCE ET NATURE</a:t>
            </a:r>
          </a:p>
          <a:p xmlns:a="http://schemas.openxmlformats.org/drawingml/2006/main">
            <a:r>
              <a:t>C.3.1, planning fictif du lot à J10. A01, A03, A09 et Planning. Étude T01, mesure T02, conception T03, réalisation T04-T06, recette T07/T10, restitution T09.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05:30 à 06:30. Durée prévue : 01:00.</a:t>
            </a:r>
          </a:p>
          <a:p xmlns:a="http://schemas.openxmlformats.org/drawingml/2006/main">
            <a:r>
              <a:t/>
            </a:r>
          </a:p>
          <a:p xmlns:a="http://schemas.openxmlformats.org/drawingml/2006/main">
            <a:r>
              <a:t>TEXTE ORAL</a:t>
            </a:r>
          </a:p>
          <a:p xmlns:a="http://schemas.openxmlformats.org/drawingml/2006/main">
            <a:r>
              <a:t>Le scénario distingue un chef de projet, un développeur et une testeuse QA nommée Camille. Camille est un personnage fictif malentendant. Je lui confie la préparation des critères et la recette, selon ses compétences. Ce sont les tâches T02 et T07. Sa capacité reste de trente heures pour vingt-quatre heures prévues à terminaison.</a:t>
            </a:r>
          </a:p>
          <a:p xmlns:a="http://schemas.openxmlformats.org/drawingml/2006/main">
            <a:r>
              <a:t/>
            </a:r>
          </a:p>
          <a:p xmlns:a="http://schemas.openxmlformats.org/drawingml/2006/main">
            <a:r>
              <a:t>L'aménagement porte sur les échanges : consignes écrites, réunions sous-titrées et décisions accessibles après la réunion. Le chef de projet prépare ces modalités avec elle. Une heure de préparation est incluse dans les tâches de pilotage existantes. La matrice RACI conserve une autorité de décision par activité. Camille reste responsable de la recette et le client de l'acceptation du périmètre.</a:t>
            </a:r>
          </a:p>
          <a:p xmlns:a="http://schemas.openxmlformats.org/drawingml/2006/main">
            <a:r>
              <a:t/>
            </a:r>
          </a:p>
          <a:p xmlns:a="http://schemas.openxmlformats.org/drawingml/2006/main">
            <a:r>
              <a:t>GESTE OU MANIPULATION</a:t>
            </a:r>
          </a:p>
          <a:p xmlns:a="http://schemas.openxmlformats.org/drawingml/2006/main">
            <a:r>
              <a:t>Présenter les trois rôles et identifier les missions T02/T07 de Camille. Distinguer sa capacité de sa charge prévue.</a:t>
            </a:r>
          </a:p>
          <a:p xmlns:a="http://schemas.openxmlformats.org/drawingml/2006/main">
            <a:r>
              <a:t/>
            </a:r>
          </a:p>
          <a:p xmlns:a="http://schemas.openxmlformats.org/drawingml/2006/main">
            <a:r>
              <a:t>TRANSITION</a:t>
            </a:r>
          </a:p>
          <a:p xmlns:a="http://schemas.openxmlformats.org/drawingml/2006/main">
            <a:r>
              <a:t>Je vérifie ensuite les écarts de charge avant d'engager le reste du lot.</a:t>
            </a:r>
          </a:p>
          <a:p xmlns:a="http://schemas.openxmlformats.org/drawingml/2006/main">
            <a:r>
              <a:t/>
            </a:r>
          </a:p>
          <a:p xmlns:a="http://schemas.openxmlformats.org/drawingml/2006/main">
            <a:r>
              <a:t>SOURCE ET NATURE</a:t>
            </a:r>
          </a:p>
          <a:p xmlns:a="http://schemas.openxmlformats.org/drawingml/2006/main">
            <a:r>
              <a:t>C.3.1, équipe et situation fictives. A02 ; donnees/inclusion.json. Camille est un personnage fictif. C.3.1 : référentiel RNCP39583, p. 11-12. Capacités et charges du cas conservées.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06:30 à 08:00. Durée prévue : 01:30.</a:t>
            </a:r>
          </a:p>
          <a:p xmlns:a="http://schemas.openxmlformats.org/drawingml/2006/main">
            <a:r>
              <a:t/>
            </a:r>
          </a:p>
          <a:p xmlns:a="http://schemas.openxmlformats.org/drawingml/2006/main">
            <a:r>
              <a:t>TEXTE ORAL</a:t>
            </a:r>
          </a:p>
          <a:p xmlns:a="http://schemas.openxmlformats.org/drawingml/2006/main">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xmlns:a="http://schemas.openxmlformats.org/drawingml/2006/main">
            <a:r>
              <a:t/>
            </a:r>
          </a:p>
          <a:p xmlns:a="http://schemas.openxmlformats.org/drawingml/2006/main">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xmlns:a="http://schemas.openxmlformats.org/drawingml/2006/main">
            <a:r>
              <a:t/>
            </a:r>
          </a:p>
          <a:p xmlns:a="http://schemas.openxmlformats.org/drawingml/2006/main">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 Les dates évoluent aussi : événements J11 à J12, recette J13 à J14. Dans les deux cas, le retard prévu vaut un jour.</a:t>
            </a:r>
          </a:p>
          <a:p xmlns:a="http://schemas.openxmlformats.org/drawingml/2006/main">
            <a:r>
              <a:t/>
            </a:r>
          </a:p>
          <a:p xmlns:a="http://schemas.openxmlformats.org/drawingml/2006/main">
            <a:r>
              <a:t>GESTE OU MANIPULATION</a:t>
            </a:r>
          </a:p>
          <a:p xmlns:a="http://schemas.openxmlformats.org/drawingml/2006/main">
            <a:r>
              <a:t>Lire chaque cause de variation puis montrer le total net de cinq heures.</a:t>
            </a:r>
          </a:p>
          <a:p xmlns:a="http://schemas.openxmlformats.org/drawingml/2006/main">
            <a:r>
              <a:t/>
            </a:r>
          </a:p>
          <a:p xmlns:a="http://schemas.openxmlformats.org/drawingml/2006/main">
            <a:r>
              <a:t>TRANSITION</a:t>
            </a:r>
          </a:p>
          <a:p xmlns:a="http://schemas.openxmlformats.org/drawingml/2006/main">
            <a:r>
              <a:t>Ces heures ont un effet différent sur le budget selon le rôle concerné.</a:t>
            </a:r>
          </a:p>
          <a:p xmlns:a="http://schemas.openxmlformats.org/drawingml/2006/main">
            <a:r>
              <a:t/>
            </a:r>
          </a:p>
          <a:p xmlns:a="http://schemas.openxmlformats.org/drawingml/2006/main">
            <a:r>
              <a:t>SOURCE ET NATURE</a:t>
            </a:r>
          </a:p>
          <a:p xmlns:a="http://schemas.openxmlformats.org/drawingml/2006/main">
            <a:r>
              <a:t>C3.2.1, simulation pédagogique. A09, section 4 et 5 ; donnees/pilotage.json, 30 estimateDetails ; classeur Estimations et Planning. Simulation pédagogique, sans relevés horaires réels.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08:00 à 09:30. Durée prévue : 01:30.</a:t>
            </a:r>
          </a:p>
          <a:p xmlns:a="http://schemas.openxmlformats.org/drawingml/2006/main">
            <a:r>
              <a:t/>
            </a:r>
          </a:p>
          <a:p xmlns:a="http://schemas.openxmlformats.org/drawingml/2006/main">
            <a:r>
              <a:t>TEXTE ORAL</a:t>
            </a:r>
          </a:p>
          <a:p xmlns:a="http://schemas.openxmlformats.org/drawingml/2006/main">
            <a:r>
              <a:t>Il faut distinguer deux périmètres. Les fiches détaillées du Bloc 1 estiment le lancement du MVP et sa première année à trente-huit mille cent vingt-six euros hors taxes, sur une base de soixante-dix-neuf jours-homme. Ici, je valorise seulement le lot pédagogique de démonstration, avec des taux horaires fictifs. Ce montant ne remplace pas le budget global et ne permet pas de calculer une économie du projet.</a:t>
            </a:r>
          </a:p>
          <a:p xmlns:a="http://schemas.openxmlformats.org/drawingml/2006/main">
            <a:r>
              <a:t/>
            </a:r>
          </a:p>
          <a:p xmlns:a="http://schemas.openxmlformats.org/drawingml/2006/main">
            <a:r>
              <a:t>La référence du lot est de quatre mille deux cent soixante-dix euros, frais compris. À J10, la prévision passe à quatre mille quatre cent soixante-cinq euros. L'écart atteint cent quatre-vingt-quinze euros, soit environ quatre virgule six pour cent. Il doit rester visible même si une réserve existe.</a:t>
            </a:r>
          </a:p>
          <a:p xmlns:a="http://schemas.openxmlformats.org/drawingml/2006/main">
            <a:r>
              <a:t/>
            </a:r>
          </a:p>
          <a:p xmlns:a="http://schemas.openxmlformats.org/drawingml/2006/main">
            <a:r>
              <a:t>La réserve initiale de quatre cent vingt-sept euros porte le plafond à quatre mille six cent quatre-vingt-dix-sept euros. Il reste deux cent trente-deux euros de marge. Je compare toute demande nouvelle à cette marge et à la disponibilité des rôles. Le classeur permet de retrouver le détail du calcul. Ces valeurs sont des hypothèses d'exercice, sans facture ni consommation réelle du budget du Bloc 1.</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A03 et classeur Pilotage. B1 : fiches C1.4.1 p. 7 et C1.4.2 p. 2-4, 79 j-h et 38 126 EUR HT. L’ancien diaporama B1 porte une autre estimation, voir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09:30 à 10:30.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 CP dépasse l'alerte de 90 %. QA était déjà chargé de la recette.</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10:30 à 11:30.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11:30 à 13:30. Durée prévue : 02:00.</a:t>
            </a:r>
          </a:p>
          <a:p xmlns:a="http://schemas.openxmlformats.org/drawingml/2006/main">
            <a:r>
              <a:t/>
            </a:r>
          </a:p>
          <a:p xmlns:a="http://schemas.openxmlformats.org/drawingml/2006/main">
            <a:r>
              <a:t>TEXTE ORAL</a:t>
            </a:r>
          </a:p>
          <a:p xmlns:a="http://schemas.openxmlformats.org/drawingml/2006/main">
            <a:r>
              <a:t>Un arbitrage réel du dépôt concerne la recette navigateur. Le dossier historique de juillet rapporte un échec pendant l'utilisation du serveur de développement, avec des compilations à froid au cours des scénarios. Cela créait un écart entre l'environnement de recette et l'artefact destiné à être livré.</a:t>
            </a:r>
          </a:p>
          <a:p xmlns:a="http://schemas.openxmlformats.org/drawingml/2006/main">
            <a:r>
              <a:t/>
            </a:r>
          </a:p>
          <a:p xmlns:a="http://schemas.openxmlformats.org/drawingml/2006/main">
            <a:r>
              <a:t>J'ai comparé rétrospectivement trois options pour expliquer le raisonnement. La première consiste à augmenter les délais ou à ajouter des tentatives. Elle est rapide à mettre en place, mais peut masquer la cause. La deuxième consiste à préchauffer le serveur de développement. Elle réduit certaines compilations pendant la recette, à condition d'avoir préparé toutes les routes utiles. La troisième consiste à tester le serveur standalone issu du build. Elle ajoute un temps de construction, mais rapproche la recette du livrable.</a:t>
            </a:r>
          </a:p>
          <a:p xmlns:a="http://schemas.openxmlformats.org/drawingml/2006/main">
            <a:r>
              <a:t/>
            </a:r>
          </a:p>
          <a:p xmlns:a="http://schemas.openxmlformats.org/drawingml/2006/main">
            <a:r>
              <a:t>Le commit visible dans Git retient cette troisième option et ajuste aussi l'utilisation de localhost pour les sessions. Le dossier historique rapporte une exécution réussie après consolidation. Je précise la portée de la preuve : la modification est vérifiable dans Git. Les résultats distants sont rapportés par le dossier de l'époque. La comparaison présentée ici est une analyse rétrospective, pas un procès-verbal rédigé le jour de la décision.</a:t>
            </a:r>
          </a:p>
          <a:p xmlns:a="http://schemas.openxmlformats.org/drawingml/2006/main">
            <a:r>
              <a:t/>
            </a:r>
          </a:p>
          <a:p xmlns:a="http://schemas.openxmlformats.org/drawingml/2006/main">
            <a:r>
              <a:t>Ce cas montre l'intérêt de rechercher la cause avant de modifier un seuil. Une recette utile doit rester reproductible et suffisamment proche des conditions de livraison pour éclairer une décision.</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Montrer le rattachement de la demande au contexte SPI-22, puis comparer les coûts et la capacité DEV.</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 B1 : C1.4.1, contributions aux topos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Le développeur souhaite ajouter une fonction alors que Camille attend une version stable. Leurs besoins sont différents : faire évoluer le produit et vérifier le périmètre engagé. Je demande les faits, les impacts et l'aide nécessaire avant de choisir une réponse.</a:t>
            </a:r>
          </a:p>
          <a:p xmlns:a="http://schemas.openxmlformats.org/drawingml/2006/main">
            <a:r>
              <a:t/>
            </a:r>
          </a:p>
          <a:p xmlns:a="http://schemas.openxmlformats.org/drawingml/2006/main">
            <a:r>
              <a:t>La posture participative sert à comparer leurs propositions. La posture persuasive permet d'expliquer au client les conséquences du report. Je reste directif sur les critères critiques de livraison : on ne valide pas une capacité non vérifiée. La délégation porte sur un résultat et un contrôle. DEV choisit l'implémentation ; Camille choisit les cas de recette dans les critères convenus.</a:t>
            </a:r>
          </a:p>
          <a:p xmlns:a="http://schemas.openxmlformats.org/drawingml/2006/main">
            <a:r>
              <a:t/>
            </a:r>
          </a:p>
          <a:p xmlns:a="http://schemas.openxmlformats.org/drawingml/2006/main">
            <a:r>
              <a:t>Une réponse seulement directive ferait taire le désaccord sans traiter sa cause. Une discussion sans échéance consommerait la faible marge du chef de projet. Je retiens quinze minutes, avec les options préparées par écrit, une autorité de décision identifiée et une prochaine action datée. Je vérifie ensuite l'application de cette décision. Ce fonctionnement donne de l'autonomie à l'équipe tout en protégeant les engagements du lot. Le résultat managérial décrit ici appartient au scénario fictif.</a:t>
            </a:r>
          </a:p>
          <a:p xmlns:a="http://schemas.openxmlformats.org/drawingml/2006/main">
            <a:r>
              <a:t/>
            </a:r>
          </a:p>
          <a:p xmlns:a="http://schemas.openxmlformats.org/drawingml/2006/main">
            <a:r>
              <a:t>GESTE OU MANIPULATION</a:t>
            </a:r>
          </a:p>
          <a:p xmlns:a="http://schemas.openxmlformats.org/drawingml/2006/main">
            <a:r>
              <a:t>Associer chaque style à une action, puis expliquer la limite d’une réponse seulement directive.</a:t>
            </a:r>
          </a:p>
          <a:p xmlns:a="http://schemas.openxmlformats.org/drawingml/2006/main">
            <a:r>
              <a:t/>
            </a:r>
          </a:p>
          <a:p xmlns:a="http://schemas.openxmlformats.org/drawingml/2006/main">
            <a:r>
              <a:t>TRANSITION</a:t>
            </a:r>
          </a:p>
          <a:p xmlns:a="http://schemas.openxmlformats.org/drawingml/2006/main">
            <a:r>
              <a:t>Ces échanges doivent être accessibles à toute l’équipe.</a:t>
            </a:r>
          </a:p>
          <a:p xmlns:a="http://schemas.openxmlformats.org/drawingml/2006/main">
            <a:r>
              <a:t/>
            </a:r>
          </a:p>
          <a:p xmlns:a="http://schemas.openxmlformats.org/drawingml/2006/main">
            <a:r>
              <a:t>SOURCE ET NATURE</a:t>
            </a:r>
          </a:p>
          <a:p xmlns:a="http://schemas.openxmlformats.org/drawingml/2006/main">
            <a:r>
              <a:t>C3.3.1, situation managériale fictive. A05, situation de désaccord, styles et analyse critique. Illustration fictive conservée.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Camille est notre testeuse QA malentendante fictive. Nous convenons de supports écrits, de sous-titres testés et d'une seule personne qui parle à la fois. La synthèse conserve l'action, le responsable et l'échéance. La formation utilise des consignes écrites et une démonstration sous-titrée.</a:t>
            </a:r>
          </a:p>
          <a:p xmlns:a="http://schemas.openxmlformats.org/drawingml/2006/main">
            <a:r>
              <a:t/>
            </a:r>
          </a:p>
          <a:p xmlns:a="http://schemas.openxmlformats.org/drawingml/2006/main">
            <a:r>
              <a:t>Dans le même scénario, le développeur travaille depuis Montréal, tandis que CP et Camille sont à Paris. L'invitation indique les deux fuseaux et propose un créneau commun. Comme la maîtrise du français peut varier, j'utilise un résumé simple et un glossaire français-anglais. DEV peut transmettre son avis par écrit avant la décision. Je ne déduis pas un accord du silence ou d'une différence de style d'expression.</a:t>
            </a:r>
          </a:p>
          <a:p xmlns:a="http://schemas.openxmlformats.org/drawingml/2006/main">
            <a:r>
              <a:t/>
            </a:r>
          </a:p>
          <a:p xmlns:a="http://schemas.openxmlformats.org/drawingml/2006/main">
            <a:r>
              <a:t>Le contrôle porte sur l'accès à l'information : reformuler une consigne à J3, retrouver une décision à J10, réaliser un cas sans aide à J14. Les résultats restent à constater. Si les sous-titres ou une formulation ne suffisent pas, je reprends par écrit et ajuste les modalités avec la personne. Le compte rendu partagé devient la référence commune.</a:t>
            </a:r>
          </a:p>
          <a:p xmlns:a="http://schemas.openxmlformats.org/drawingml/2006/main">
            <a:r>
              <a:t/>
            </a:r>
          </a:p>
          <a:p xmlns:a="http://schemas.openxmlformats.org/drawingml/2006/main">
            <a:r>
              <a:t>GESTE OU MANIPULATION</a:t>
            </a:r>
          </a:p>
          <a:p xmlns:a="http://schemas.openxmlformats.org/drawingml/2006/main">
            <a:r>
              <a:t>Présenter les adaptations de Camille puis le cas Paris/Montréal et le contrôle commun.</a:t>
            </a:r>
          </a:p>
          <a:p xmlns:a="http://schemas.openxmlformats.org/drawingml/2006/main">
            <a:r>
              <a:t/>
            </a:r>
          </a:p>
          <a:p xmlns:a="http://schemas.openxmlformats.org/drawingml/2006/main">
            <a:r>
              <a:t>TRANSITION</a:t>
            </a:r>
          </a:p>
          <a:p xmlns:a="http://schemas.openxmlformats.org/drawingml/2006/main">
            <a:r>
              <a:t>Je compare ensuite les compétences disponibles aux besoins du projet.</a:t>
            </a:r>
          </a:p>
          <a:p xmlns:a="http://schemas.openxmlformats.org/drawingml/2006/main">
            <a:r>
              <a:t/>
            </a:r>
          </a:p>
          <a:p xmlns:a="http://schemas.openxmlformats.org/drawingml/2006/main">
            <a:r>
              <a:t>SOURCE ET NATURE</a:t>
            </a:r>
          </a:p>
          <a:p xmlns:a="http://schemas.openxmlformats.org/drawingml/2006/main">
            <a:r>
              <a:t>C3.3.1, handicap et contexte international simulés. A02/A05/A06 ; inclusion.json et consolidation.json. Camille et le contexte Paris/Montréal sont fictifs ; aucune nationalité ou situation réelle inférée.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Cette grille compare une compétence précise à un niveau attendu. Zéro signifie non abordé, un réalisé avec accompagnement, deux autonome sur un cas courant et trois capable de traiter les cas complexes. Les niveaux sont ceux de l'exercice fictif, pas des évaluations réelles des personnes.</a:t>
            </a:r>
          </a:p>
          <a:p xmlns:a="http://schemas.openxmlformats.org/drawingml/2006/main">
            <a:r>
              <a:t/>
            </a:r>
          </a:p>
          <a:p xmlns:a="http://schemas.openxmlformats.org/drawingml/2006/main">
            <a:r>
              <a:t>Le chef de projet progresse sur le suivi des écarts. DEV doit sécuriser les inscriptions concurrentes. Camille doit rendre la recette navigateur et le contrôle clavier reproductibles. L'animation et le développement typé sont maintenus au niveau deux dans le cas.</a:t>
            </a:r>
          </a:p>
          <a:p xmlns:a="http://schemas.openxmlformats.org/drawingml/2006/main">
            <a:r>
              <a:t/>
            </a:r>
          </a:p>
          <a:p xmlns:a="http://schemas.openxmlformats.org/drawingml/2006/main">
            <a:r>
              <a:t>Je commente l'écart avec un exemple observable : expliquer pourquoi une seule demande obtient la dernière place. Une note globale par personne masquerait ce besoin. L'objectif reste la compétence utile au projet, indépendamment de la situation de handicap.</a:t>
            </a:r>
          </a:p>
          <a:p xmlns:a="http://schemas.openxmlformats.org/drawingml/2006/main">
            <a:r>
              <a:t/>
            </a:r>
          </a:p>
          <a:p xmlns:a="http://schemas.openxmlformats.org/drawingml/2006/main">
            <a:r>
              <a:t>GESTE OU MANIPULATION</a:t>
            </a:r>
          </a:p>
          <a:p xmlns:a="http://schemas.openxmlformats.org/drawingml/2006/main">
            <a:r>
              <a:t>Commenter une ligne complète : rôle, compétence, niveau actuel et cible.</a:t>
            </a:r>
          </a:p>
          <a:p xmlns:a="http://schemas.openxmlformats.org/drawingml/2006/main">
            <a:r>
              <a:t/>
            </a:r>
          </a:p>
          <a:p xmlns:a="http://schemas.openxmlformats.org/drawingml/2006/main">
            <a:r>
              <a:t>TRANSITION</a:t>
            </a:r>
          </a:p>
          <a:p xmlns:a="http://schemas.openxmlformats.org/drawingml/2006/main">
            <a:r>
              <a:t>Chaque écart conduit à une action de formation ciblée.</a:t>
            </a:r>
          </a:p>
          <a:p xmlns:a="http://schemas.openxmlformats.org/drawingml/2006/main">
            <a:r>
              <a:t/>
            </a:r>
          </a:p>
          <a:p xmlns:a="http://schemas.openxmlformats.org/drawingml/2006/main">
            <a:r>
              <a:t>SOURCE ET NATURE</a:t>
            </a:r>
          </a:p>
          <a:p xmlns:a="http://schemas.openxmlformats.org/drawingml/2006/main">
            <a:r>
              <a:t>C3.3.2, niveaux hypothétiques du cas. A06 : six compétences et échelle 0-3. Besoins et niveaux simulés.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Les six heures de formation sont déjà comprises dans les tâches. À J3, le chef de projet consacre une heure au tableau de bord et doit expliquer un écart recalculé. DEV dispose de deux heures pendant T06, entre J9 et J12, pour pratiquer les inscriptions concurrentes. Camille dispose de trois heures dans T07, entre J10 et J14 : deux pour la recette navigateur et une pour le clavier.</a:t>
            </a:r>
          </a:p>
          <a:p xmlns:a="http://schemas.openxmlformats.org/drawingml/2006/main">
            <a:r>
              <a:t/>
            </a:r>
          </a:p>
          <a:p xmlns:a="http://schemas.openxmlformats.org/drawingml/2006/main">
            <a:r>
              <a:t>Les ateliers commencent par une pratique accompagnée, puis un cas autonome. Camille reçoit des consignes écrites et une démonstration sous-titrée. Si le support est inaccessible, on le corrige ; si la difficulté reste technique, on ajuste l'accompagnement. Soixante euros de ressources sont prévus dans le budget fictif.</a:t>
            </a:r>
          </a:p>
          <a:p xmlns:a="http://schemas.openxmlformats.org/drawingml/2006/main">
            <a:r>
              <a:t/>
            </a:r>
          </a:p>
          <a:p xmlns:a="http://schemas.openxmlformats.org/drawingml/2006/main">
            <a:r>
              <a:t>À J12, si une compétence critique reste indisponible, CP prépare une demande de renfort aux RH. La fiche précise mission, délai, exercice de sélection et coût maximal. L'annexe présente une variante chiffrée qui doit être arbitrée avant engagement. Elle n'est pas activée dans le budget de base et aucune demande réelle n'est envoyée.</a:t>
            </a:r>
          </a:p>
          <a:p xmlns:a="http://schemas.openxmlformats.org/drawingml/2006/main">
            <a:r>
              <a:t/>
            </a:r>
          </a:p>
          <a:p xmlns:a="http://schemas.openxmlformats.org/drawingml/2006/main">
            <a:r>
              <a:t>GESTE OU MANIPULATION</a:t>
            </a:r>
          </a:p>
          <a:p xmlns:a="http://schemas.openxmlformats.org/drawingml/2006/main">
            <a:r>
              <a:t>Lire les trois actions et leurs critères de réussite, puis indiquer le déclencheur RH.</a:t>
            </a:r>
          </a:p>
          <a:p xmlns:a="http://schemas.openxmlformats.org/drawingml/2006/main">
            <a:r>
              <a:t/>
            </a:r>
          </a:p>
          <a:p xmlns:a="http://schemas.openxmlformats.org/drawingml/2006/main">
            <a:r>
              <a:t>TRANSITION</a:t>
            </a:r>
          </a:p>
          <a:p xmlns:a="http://schemas.openxmlformats.org/drawingml/2006/main">
            <a:r>
              <a:t>Le client reçoit ensuite un compte rendu qui permet de décider.</a:t>
            </a:r>
          </a:p>
          <a:p xmlns:a="http://schemas.openxmlformats.org/drawingml/2006/main">
            <a:r>
              <a:t/>
            </a:r>
          </a:p>
          <a:p xmlns:a="http://schemas.openxmlformats.org/drawingml/2006/main">
            <a:r>
              <a:t>SOURCE ET NATURE</a:t>
            </a:r>
          </a:p>
          <a:p xmlns:a="http://schemas.openxmlformats.org/drawingml/2006/main">
            <a:r>
              <a:t>C3.3.2, formations et besoin RH simulés. A06 et consolidation.json. Formation CP 1 h/T03, DEV 2 h/T06, QA 3 h/T07. Variante RH séparée, annexe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Voici un extrait du compte rendu pédagogique adressé à Claire Martin, pour le Collectif Altitude Grimpe. Il reprend le même commanditaire fictif que le Bloc 1. Les points de validation ont lieu à J3 pour le périmètre, à J10 pour les écarts et à J15 pour la démonstration.</a:t>
            </a:r>
          </a:p>
          <a:p xmlns:a="http://schemas.openxmlformats.org/drawingml/2006/main">
            <a:r>
              <a:t/>
            </a:r>
          </a:p>
          <a:p xmlns:a="http://schemas.openxmlformats.org/drawingml/2006/main">
            <a:r>
              <a:t>À J10, les événements glissent de J11 à J12. La prévision atteint quatre mille quatre cent soixante-cinq euros, avec deux cent trente-deux euros sous le plafond. Ajouter les contributions aux topos dépasserait le budget et la capacité DEV. Le client fictif retient donc le report de cette demande, avec maintien des critères de recette.</a:t>
            </a:r>
          </a:p>
          <a:p xmlns:a="http://schemas.openxmlformats.org/drawingml/2006/main">
            <a:r>
              <a:t/>
            </a:r>
          </a:p>
          <a:p xmlns:a="http://schemas.openxmlformats.org/drawingml/2006/main">
            <a:r>
              <a:t>Le compte rendu rend les actions vérifiables : DEV termine T06 à J12, QA clôt la recette après corrections à J14 et CP prépare la validation J15. Chacun retrouve le même document dans A07. Les évolutions, le risque, la décision, les responsables et les échéances restent liés. Une réserve devient une tâche suivie, et non une remarque oubliée. Cet exemple montre la forme d'un échange client utile ; il ne prouve pas un accord réellement obtenu.</a:t>
            </a:r>
          </a:p>
          <a:p xmlns:a="http://schemas.openxmlformats.org/drawingml/2006/main">
            <a:r>
              <a:t/>
            </a:r>
          </a:p>
          <a:p xmlns:a="http://schemas.openxmlformats.org/drawingml/2006/main">
            <a:r>
              <a:t>GESTE OU MANIPULATION</a:t>
            </a:r>
          </a:p>
          <a:p xmlns:a="http://schemas.openxmlformats.org/drawingml/2006/main">
            <a:r>
              <a:t>Montrer l’écart, la décision et les responsables ; ouvrir A07 si le jury demande le compte rendu complet.</a:t>
            </a:r>
          </a:p>
          <a:p xmlns:a="http://schemas.openxmlformats.org/drawingml/2006/main">
            <a:r>
              <a:t/>
            </a:r>
          </a:p>
          <a:p xmlns:a="http://schemas.openxmlformats.org/drawingml/2006/main">
            <a:r>
              <a:t>TRANSITION</a:t>
            </a:r>
          </a:p>
          <a:p xmlns:a="http://schemas.openxmlformats.org/drawingml/2006/main">
            <a:r>
              <a:t>Je complète cette validation par un protocole de satisfaction.</a:t>
            </a:r>
          </a:p>
          <a:p xmlns:a="http://schemas.openxmlformats.org/drawingml/2006/main">
            <a:r>
              <a:t/>
            </a:r>
          </a:p>
          <a:p xmlns:a="http://schemas.openxmlformats.org/drawingml/2006/main">
            <a:r>
              <a:t>SOURCE ET NATURE</a:t>
            </a:r>
          </a:p>
          <a:p xmlns:a="http://schemas.openxmlformats.org/drawingml/2006/main">
            <a:r>
              <a:t>C3.4.1, comptes rendus simulés. A07 CR02, A01, A04. Document partagé accessible dans le dépôt ; compte rendu et accord client fictifs.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À J15, je prévois une session pilote fictive avec deux grimpeurs et un représentant de club. Aucun participant n'a réellement été recruté pour cette mesure. Les résultats restent non mesurés.</a:t>
            </a:r>
          </a:p>
          <a:p xmlns:a="http://schemas.openxmlformats.org/drawingml/2006/main">
            <a:r>
              <a:t/>
            </a:r>
          </a:p>
          <a:p xmlns:a="http://schemas.openxmlformats.org/drawingml/2006/main">
            <a:r>
              <a:t>Je relève la part de critères critiques acceptés, avec une cible de cent pour cent. Je compte les parcours réussis sans aide, avec une cible de quatre-vingts pour cent. L'utilité attendue est au moins quatre sur cinq et aucun blocage critique ne doit rester ouvert.</a:t>
            </a:r>
          </a:p>
          <a:p xmlns:a="http://schemas.openxmlformats.org/drawingml/2006/main">
            <a:r>
              <a:t/>
            </a:r>
          </a:p>
          <a:p xmlns:a="http://schemas.openxmlformats.org/drawingml/2006/main">
            <a:r>
              <a:t>Chaque résultat indique sa date, son effectif et sa méthode. Un faible effectif ne représente pas tous les utilisateurs. Sous le seuil, je qualifie l'obstacle, affecte une correction et vérifie le parcours à nouveau. Les tests techniques ne remplacent pas cette appréciation du besoin par les utilisateurs.</a:t>
            </a:r>
          </a:p>
          <a:p xmlns:a="http://schemas.openxmlformats.org/drawingml/2006/main">
            <a:r>
              <a:t/>
            </a:r>
          </a:p>
          <a:p xmlns:a="http://schemas.openxmlformats.org/drawingml/2006/main">
            <a:r>
              <a:t>GESTE OU MANIPULATION</a:t>
            </a:r>
          </a:p>
          <a:p xmlns:a="http://schemas.openxmlformats.org/drawingml/2006/main">
            <a:r>
              <a:t>Lire un indicateur avec son calcul et son seuil, puis expliquer l’action déclenchée.</a:t>
            </a:r>
          </a:p>
          <a:p xmlns:a="http://schemas.openxmlformats.org/drawingml/2006/main">
            <a:r>
              <a:t/>
            </a:r>
          </a:p>
          <a:p xmlns:a="http://schemas.openxmlformats.org/drawingml/2006/main">
            <a:r>
              <a:t>TRANSITION</a:t>
            </a:r>
          </a:p>
          <a:p xmlns:a="http://schemas.openxmlformats.org/drawingml/2006/main">
            <a:r>
              <a:t>Je montre maintenant le parcours qui sera évalué.</a:t>
            </a:r>
          </a:p>
          <a:p xmlns:a="http://schemas.openxmlformats.org/drawingml/2006/main">
            <a:r>
              <a:t/>
            </a:r>
          </a:p>
          <a:p xmlns:a="http://schemas.openxmlformats.org/drawingml/2006/main">
            <a:r>
              <a:t>SOURCE ET NATURE</a:t>
            </a:r>
          </a:p>
          <a:p xmlns:a="http://schemas.openxmlformats.org/drawingml/2006/main">
            <a:r>
              <a:t>C3.4.1, aucun résultat client réel disponible. A07 : définitions, seuils et questionnaire ; consolidation.json : effectif prévu uniquement, résultats null.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Je termine par les critères annoncés : trouver un partenaire adapté, comprendre l'état de la demande, confirmer une inscription et retrouver le participant côté club. Je rappelle les contrôles montrés au clavier ainsi que la portée des preuves de capacité.</a:t>
            </a:r>
          </a:p>
          <a:p xmlns:a="http://schemas.openxmlformats.org/drawingml/2006/main">
            <a:r>
              <a:t/>
            </a:r>
          </a:p>
          <a:p xmlns:a="http://schemas.openxmlformats.org/drawingml/2006/main">
            <a:r>
              <a:t>Pour chacun, la décision attendue est accepté, accepté avec réserve ou refusé. Le constat doit correspondre à ce qui a réellement été observé pendant la démonstration. Si une fonction n'a pas été parcourue ou un contrôle a échoué, je l'indique et je conserve la réserve avec son responsable et sa prochaine vérification.</a:t>
            </a:r>
          </a:p>
          <a:p xmlns:a="http://schemas.openxmlformats.org/drawingml/2006/main">
            <a:r>
              <a:t/>
            </a:r>
          </a:p>
          <a:p xmlns:a="http://schemas.openxmlformats.org/drawingml/2006/main">
            <a:r>
              <a:t>Je demande alors si ce périmètre répond aux critères convenus. Les réserves alimentent le suivi de maintenance du Bloc 4 avec la version identifiée. Aucun accord réel n'est prérempli au nom du client.</a:t>
            </a:r>
          </a:p>
          <a:p xmlns:a="http://schemas.openxmlformats.org/drawingml/2006/main">
            <a:r>
              <a:t/>
            </a:r>
          </a:p>
          <a:p xmlns:a="http://schemas.openxmlformats.org/drawingml/2006/main">
            <a:r>
              <a:t>GESTE OU MANIPULATION</a:t>
            </a:r>
          </a:p>
          <a:p xmlns:a="http://schemas.openxmlformats.org/drawingml/2006/main">
            <a:r>
              <a:t>Demander la décision sur les critères. Terminer à 30:00.</a:t>
            </a:r>
          </a:p>
          <a:p xmlns:a="http://schemas.openxmlformats.org/drawingml/2006/main">
            <a:r>
              <a:t/>
            </a:r>
          </a:p>
          <a:p xmlns:a="http://schemas.openxmlformats.org/drawingml/2006/main">
            <a:r>
              <a:t>TRANSITION</a:t>
            </a:r>
          </a:p>
          <a:p xmlns:a="http://schemas.openxmlformats.org/drawingml/2006/main">
            <a:r>
              <a:t>Je suis prêt à répondre aux questions et à retrouver les preuves.</a:t>
            </a:r>
          </a:p>
          <a:p xmlns:a="http://schemas.openxmlformats.org/drawingml/2006/main">
            <a:r>
              <a:t/>
            </a:r>
          </a:p>
          <a:p xmlns:a="http://schemas.openxmlformats.org/drawingml/2006/main">
            <a:r>
              <a:t>SOURCE ET NATURE</a:t>
            </a:r>
          </a:p>
          <a:p xmlns:a="http://schemas.openxmlformats.org/drawingml/2006/main">
            <a:r>
              <a:t>C3.4.2, décision attendue après démonstration. A07 grille de validation ; A08 ; Bloc 4 suivi des réserves et anomalies.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La matrice RACI distingue réalisation, décision, consultation et information. Une seule autorité A est retenue par activité. Camille est le rôle QA fictif. Les aménagements modifient les échanges, sans retirer sa responsabilité de recette.</a:t>
            </a:r>
          </a:p>
          <a:p xmlns:a="http://schemas.openxmlformats.org/drawingml/2006/main">
            <a:r>
              <a:t/>
            </a:r>
          </a:p>
          <a:p xmlns:a="http://schemas.openxmlformats.org/drawingml/2006/main">
            <a:r>
              <a:t>SOURCE ET NATURE</a:t>
            </a:r>
          </a:p>
          <a:p xmlns:a="http://schemas.openxmlformats.org/drawingml/2006/main">
            <a:r>
              <a:t>Annexe, organisation fictive. A02, matrice RACI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xmlns:a="http://schemas.openxmlformats.org/drawingml/2006/main">
            <a:r>
              <a:t/>
            </a:r>
          </a:p>
          <a:p xmlns:a="http://schemas.openxmlformats.org/drawingml/2006/main">
            <a:r>
              <a:t>GESTE OU MANIPULATION</a:t>
            </a:r>
          </a:p>
          <a:p xmlns:a="http://schemas.openxmlformats.org/drawingml/2006/main">
            <a:r>
              <a:t>Choisir un scénario dans le tableau et expliquer séparément la contrainte budgétaire et la capacité.</a:t>
            </a:r>
          </a:p>
          <a:p xmlns:a="http://schemas.openxmlformats.org/drawingml/2006/main">
            <a:r>
              <a:t/>
            </a:r>
          </a:p>
          <a:p xmlns:a="http://schemas.openxmlformats.org/drawingml/2006/main">
            <a:r>
              <a:t>SOURCE ET NATURE</a:t>
            </a:r>
          </a:p>
          <a:p xmlns:a="http://schemas.openxmlformats.org/drawingml/2006/main">
            <a:r>
              <a:t>Annexe, scénarios pédagogiques. A09 section 6 ; classeur Pilotage, sensibilité ; donnees/pilotage.json. Taux et capacités fictifs du 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Si une compétence critique reste indisponible à J12, le scénario prévoit une demande au service RH fictif. Quatre heures de spécialiste à 45 euros ajoutent 180 euros, et une demi-heure de CP ajoute 22,50 euros. La prévision de cette variante devient 4 667,50 euros, soit 29,50 euros sous le plafond. La disponibilité J12-J13, le devis et le résultat attendu restent à confirmer. Cette variante indépendante n’est ni activée dans le classeur de base ni présentée comme une embauche réelle.</a:t>
            </a:r>
          </a:p>
          <a:p xmlns:a="http://schemas.openxmlformats.org/drawingml/2006/main">
            <a:r>
              <a:t/>
            </a:r>
          </a:p>
          <a:p xmlns:a="http://schemas.openxmlformats.org/drawingml/2006/main">
            <a:r>
              <a:t>SOURCE ET NATURE</a:t>
            </a:r>
          </a:p>
          <a:p xmlns:a="http://schemas.openxmlformats.org/drawingml/2006/main">
            <a:r>
              <a:t>Annexe, demande et devis pédagogiques. A06 et consolidation.json, variante RH non activée.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49b3d574b240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abac32676a4d91" /><Relationship Type="http://schemas.openxmlformats.org/officeDocument/2006/relationships/slideLayout" Target="/ppt/slideLayouts/slideLayout1.xml" Id="R156f8a54eeb248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6f8a54eeb248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609a56c97f4f3b" /><Relationship Type="http://schemas.openxmlformats.org/officeDocument/2006/relationships/image" Target="/ppt/media/image.jpeg" Id="R1be31bb3ff3b46df" /><Relationship Type="http://schemas.openxmlformats.org/officeDocument/2006/relationships/notesSlide" Target="/ppt/notesSlides/notesSlide1.xml" Id="Re0e8c430fa8c4a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0b90f1f5544278" /><Relationship Type="http://schemas.openxmlformats.org/officeDocument/2006/relationships/image" Target="/ppt/media/image.png" Id="R89411d74c38447f5" /><Relationship Type="http://schemas.openxmlformats.org/officeDocument/2006/relationships/notesSlide" Target="/ppt/notesSlides/notesSlide2.xml" Id="R59942cb8934a45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fd9e43d3dd4107" /><Relationship Type="http://schemas.openxmlformats.org/officeDocument/2006/relationships/chart" Target="/ppt/slides/charts/chart1.xml" Id="R997b3fb5160a430c" /><Relationship Type="http://schemas.openxmlformats.org/officeDocument/2006/relationships/notesSlide" Target="/ppt/notesSlides/notesSlide3.xml" Id="R3130e7eb22fa4b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09bfff346845c4" /><Relationship Type="http://schemas.openxmlformats.org/officeDocument/2006/relationships/chart" Target="/ppt/slides/charts/chart2.xml" Id="R3adc35e870f04d8f" /><Relationship Type="http://schemas.openxmlformats.org/officeDocument/2006/relationships/notesSlide" Target="/ppt/notesSlides/notesSlide4.xml" Id="Ra103f887da054a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0c36fb343d47de" /><Relationship Type="http://schemas.openxmlformats.org/officeDocument/2006/relationships/chart" Target="/ppt/slides/charts/chart3.xml" Id="R2cdc84c7c6bd4a6e" /><Relationship Type="http://schemas.openxmlformats.org/officeDocument/2006/relationships/notesSlide" Target="/ppt/notesSlides/notesSlide5.xml" Id="R1e659d69ea0d43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bc4147d9624506" /><Relationship Type="http://schemas.openxmlformats.org/officeDocument/2006/relationships/notesSlide" Target="/ppt/notesSlides/notesSlide6.xml" Id="R93b86cef0c984f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21535da1754e61" /><Relationship Type="http://schemas.openxmlformats.org/officeDocument/2006/relationships/chart" Target="/ppt/slides/charts/chart4.xml" Id="Rcde33faeae6c40f9" /><Relationship Type="http://schemas.openxmlformats.org/officeDocument/2006/relationships/notesSlide" Target="/ppt/notesSlides/notesSlide7.xml" Id="Rd394c1acc9a747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58e3767f3404db6" /><Relationship Type="http://schemas.openxmlformats.org/officeDocument/2006/relationships/chart" Target="/ppt/slides/charts/chart5.xml" Id="Re93cb159a9894793" /><Relationship Type="http://schemas.openxmlformats.org/officeDocument/2006/relationships/notesSlide" Target="/ppt/notesSlides/notesSlide8.xml" Id="Rd01874c5316644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79b62759d44785" /><Relationship Type="http://schemas.openxmlformats.org/officeDocument/2006/relationships/chart" Target="/ppt/slides/charts/chart6.xml" Id="Rfff2cc3039cd4118" /><Relationship Type="http://schemas.openxmlformats.org/officeDocument/2006/relationships/notesSlide" Target="/ppt/notesSlides/notesSlide9.xml" Id="R9bc8ddef02224b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2698c904a644a9" /><Relationship Type="http://schemas.openxmlformats.org/officeDocument/2006/relationships/notesSlide" Target="/ppt/notesSlides/notesSlide10.xml" Id="R9714b376e6e7442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f6101d08974eac" /><Relationship Type="http://schemas.openxmlformats.org/officeDocument/2006/relationships/notesSlide" Target="/ppt/notesSlides/notesSlide11.xml" Id="Rdf8c13c3ca104c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16b11a96d3b4ab7" /><Relationship Type="http://schemas.openxmlformats.org/officeDocument/2006/relationships/chart" Target="/ppt/slides/charts/chart7.xml" Id="R39641716b7fe4acf" /><Relationship Type="http://schemas.openxmlformats.org/officeDocument/2006/relationships/notesSlide" Target="/ppt/notesSlides/notesSlide12.xml" Id="Ra6697d11e20348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c47871cefa240d4" /><Relationship Type="http://schemas.openxmlformats.org/officeDocument/2006/relationships/image" Target="/ppt/media/image2.png" Id="R4c3c6cd5fbbe46b0" /><Relationship Type="http://schemas.openxmlformats.org/officeDocument/2006/relationships/notesSlide" Target="/ppt/notesSlides/notesSlide13.xml" Id="R88062f0bac1e48a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3ecd89bd0c04880" /><Relationship Type="http://schemas.openxmlformats.org/officeDocument/2006/relationships/notesSlide" Target="/ppt/notesSlides/notesSlide14.xml" Id="R2e04de2a174542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198284197e3464c" /><Relationship Type="http://schemas.openxmlformats.org/officeDocument/2006/relationships/notesSlide" Target="/ppt/notesSlides/notesSlide15.xml" Id="R6a655a35125d40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3ea0f30995646ce" /><Relationship Type="http://schemas.openxmlformats.org/officeDocument/2006/relationships/notesSlide" Target="/ppt/notesSlides/notesSlide16.xml" Id="R858341cfbc8a4c9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988db8a608b47b5" /><Relationship Type="http://schemas.openxmlformats.org/officeDocument/2006/relationships/notesSlide" Target="/ppt/notesSlides/notesSlide17.xml" Id="Re8ddc90b8dcf4a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161cf038f954d05" /><Relationship Type="http://schemas.openxmlformats.org/officeDocument/2006/relationships/notesSlide" Target="/ppt/notesSlides/notesSlide18.xml" Id="R228ffc19d87545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8ec0f6103024a75" /><Relationship Type="http://schemas.openxmlformats.org/officeDocument/2006/relationships/image" Target="/ppt/media/image2.jpeg" Id="Rdd910fca2af24c49" /><Relationship Type="http://schemas.openxmlformats.org/officeDocument/2006/relationships/notesSlide" Target="/ppt/notesSlides/notesSlide19.xml" Id="R70bad834534542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aa9d1d35c1c48b1" /><Relationship Type="http://schemas.openxmlformats.org/officeDocument/2006/relationships/image" Target="/ppt/media/image3.png" Id="R35202e326d214c82" /><Relationship Type="http://schemas.openxmlformats.org/officeDocument/2006/relationships/notesSlide" Target="/ppt/notesSlides/notesSlide20.xml" Id="Rc3392608bc10420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e05bcf46974333" /><Relationship Type="http://schemas.openxmlformats.org/officeDocument/2006/relationships/image" Target="/ppt/media/image4.png" Id="R67f160e2cd474349" /><Relationship Type="http://schemas.openxmlformats.org/officeDocument/2006/relationships/notesSlide" Target="/ppt/notesSlides/notesSlide21.xml" Id="R3783c2c1c1f74d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3e8582ff1cf4bf5" /><Relationship Type="http://schemas.openxmlformats.org/officeDocument/2006/relationships/notesSlide" Target="/ppt/notesSlides/notesSlide22.xml" Id="R9b48736c261543a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48842e373df4bff" /><Relationship Type="http://schemas.openxmlformats.org/officeDocument/2006/relationships/notesSlide" Target="/ppt/notesSlides/notesSlide23.xml" Id="R7d2b8b4fb891480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011cbb7be2419e" /><Relationship Type="http://schemas.openxmlformats.org/officeDocument/2006/relationships/notesSlide" Target="/ppt/notesSlides/notesSlide24.xml" Id="R8ffafdd7980745f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eae2eee45da4487" /><Relationship Type="http://schemas.openxmlformats.org/officeDocument/2006/relationships/notesSlide" Target="/ppt/notesSlides/notesSlide25.xml" Id="Rbf053d1fb35d40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cat>
            <c:strRef>
              <c:f>'Chart Data'!$A$2:$A$6</c:f>
              <c:strCache>
                <c:ptCount val="5"/>
                <c:pt idx="0">
                  <c:v>Stabilisation (17 j-h)</c:v>
                </c:pt>
                <c:pt idx="1">
                  <c:v>Communauté (14 j-h)</c:v>
                </c:pt>
                <c:pt idx="2">
                  <c:v>Organisation (17 j-h)</c:v>
                </c:pt>
                <c:pt idx="3">
                  <c:v>Découverte (15 j-h)</c:v>
                </c:pt>
                <c:pt idx="4">
                  <c:v>Socle (16 j-h)</c:v>
                </c:pt>
              </c:strCache>
            </c:strRef>
          </c:cat>
          <c:val>
            <c:numRef>
              <c:f>'Chart Data'!$B$2:$B$6</c:f>
              <c:numCache>
                <c:formatCode>0" sem."</c:formatCode>
                <c:ptCount val="5"/>
                <c:pt idx="0">
                  <c:v>12.4</c:v>
                </c:pt>
                <c:pt idx="1">
                  <c:v>9.6</c:v>
                </c:pt>
                <c:pt idx="2">
                  <c:v>6.2</c:v>
                </c:pt>
                <c:pt idx="3">
                  <c:v>3.2</c:v>
                </c:pt>
                <c:pt idx="4">
                  <c:v>0</c:v>
                </c:pt>
              </c:numCache>
            </c:numRef>
          </c:val>
        </c:ser>
        <c:ser>
          <c:idx val="1"/>
          <c:order val="1"/>
          <c:tx>
            <c:v>Durée de capacité</c:v>
          </c:tx>
          <c:spPr>
            <a:solidFill xmlns:a="http://schemas.openxmlformats.org/drawingml/2006/main">
              <a:srgbClr val="28725F"/>
            </a:solidFill>
          </c:spPr>
          <c:cat>
            <c:strRef>
              <c:f>'Chart Data'!$C$2:$C$6</c:f>
              <c:strCache>
                <c:ptCount val="5"/>
                <c:pt idx="0">
                  <c:v>Stabilisation (17 j-h)</c:v>
                </c:pt>
                <c:pt idx="1">
                  <c:v>Communauté (14 j-h)</c:v>
                </c:pt>
                <c:pt idx="2">
                  <c:v>Organisation (17 j-h)</c:v>
                </c:pt>
                <c:pt idx="3">
                  <c:v>Découverte (15 j-h)</c:v>
                </c:pt>
                <c:pt idx="4">
                  <c:v>Socle (16 j-h)</c:v>
                </c:pt>
              </c:strCache>
            </c:strRef>
          </c:cat>
          <c:val>
            <c:numRef>
              <c:f>'Chart Data'!$D$2:$D$6</c:f>
              <c:numCache>
                <c:formatCode>0" sem."</c:formatCode>
                <c:ptCount val="5"/>
                <c:pt idx="0">
                  <c:v>3.4</c:v>
                </c:pt>
                <c:pt idx="1">
                  <c:v>2.8</c:v>
                </c:pt>
                <c:pt idx="2">
                  <c:v>3.4</c:v>
                </c:pt>
                <c:pt idx="3">
                  <c:v>3</c:v>
                </c:pt>
                <c:pt idx="4">
                  <c:v>3.2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8312D"/>
                </a:solidFill>
                <a:latin typeface="Arial"/>
                <a:ea typeface="Arial"/>
                <a:cs typeface="Arial"/>
              </a:defRPr>
            </a:pPr>
          </a:p>
        </c:txPr>
        <c:crossAx val="48672768"/>
      </c:catAx>
      <c:valAx>
        <c:axId val="48672768"/>
        <c:scaling>
          <c:orientation val="minMax"/>
          <c:max val="16"/>
          <c:min val="0"/>
        </c:scaling>
        <c:delete val="0"/>
        <c:axPos val="b"/>
        <c:majorGridlines>
          <c:spPr>
            <a:ln xmlns:a="http://schemas.openxmlformats.org/drawingml/2006/main" w="9525">
              <a:solidFill>
                <a:srgbClr val="DBDFD5"/>
              </a:solidFill>
            </a:ln>
          </c:spPr>
        </c:majorGridlines>
        <c:numFmt formatCode="0&quot; se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4"/>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Tickets</c:v>
          </c:tx>
          <c:spPr>
            <a:solidFill xmlns:a="http://schemas.openxmlformats.org/drawingml/2006/main">
              <a:srgbClr val="28725F"/>
            </a:solidFill>
          </c:spPr>
          <c:dPt>
            <c:idx val="0"/>
            <c:invertIfNegative val="0"/>
            <c:spPr>
              <a:solidFill xmlns:a="http://schemas.openxmlformats.org/drawingml/2006/main">
                <a:srgbClr val="DADFD4"/>
              </a:solidFill>
            </c:spPr>
          </c:dPt>
          <c:dPt>
            <c:idx val="1"/>
            <c:invertIfNegative val="0"/>
            <c:spPr>
              <a:solidFill xmlns:a="http://schemas.openxmlformats.org/drawingml/2006/main">
                <a:srgbClr val="91AE91"/>
              </a:solidFill>
            </c:spPr>
          </c:dPt>
          <c:dPt>
            <c:idx val="2"/>
            <c:invertIfNegative val="0"/>
            <c:spPr>
              <a:solidFill xmlns:a="http://schemas.openxmlformats.org/drawingml/2006/main">
                <a:srgbClr val="C77952"/>
              </a:solidFill>
            </c:spPr>
          </c:dPt>
          <c:dPt>
            <c:idx val="3"/>
            <c:invertIfNegative val="0"/>
            <c:spPr>
              <a:solidFill xmlns:a="http://schemas.openxmlformats.org/drawingml/2006/main">
                <a:srgbClr val="28725F"/>
              </a:solidFill>
            </c:spPr>
          </c:dPt>
          <c:cat>
            <c:strRef>
              <c:f>'Chart Data'!$A$2:$A$5</c:f>
              <c:strCache>
                <c:ptCount val="4"/>
                <c:pt idx="0">
                  <c:v>Backlog</c:v>
                </c:pt>
                <c:pt idx="1">
                  <c:v>À faire</c:v>
                </c:pt>
                <c:pt idx="2">
                  <c:v>En cours</c:v>
                </c:pt>
                <c:pt idx="3">
                  <c:v>Terminé</c:v>
                </c:pt>
              </c:strCache>
            </c:strRef>
          </c:cat>
          <c:val>
            <c:numRef>
              <c:f>'Chart Data'!$B$2:$B$5</c:f>
              <c:numCache>
                <c:formatCode>General</c:formatCode>
                <c:ptCount val="4"/>
                <c:pt idx="0">
                  <c:v>7</c:v>
                </c:pt>
                <c:pt idx="1">
                  <c:v>4</c:v>
                </c:pt>
                <c:pt idx="2">
                  <c:v>1</c:v>
                </c:pt>
                <c:pt idx="3">
                  <c:v>12</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
              <c:idx val="5"/>
              <c:showLegendKey val="0"/>
              <c:showVal val="0"/>
              <c:showCatName val="0"/>
              <c:showSerName val="0"/>
              <c:showPercent val="0"/>
              <c:showBubbleSize val="0"/>
            </c:dLbl>
          </c:dLbls>
          <c:cat>
            <c:strRef>
              <c:f>'Chart Data'!$A$2:$A$7</c:f>
              <c:strCache>
                <c:ptCount val="6"/>
                <c:pt idx="0">
                  <c:v>Restitution</c:v>
                </c:pt>
                <c:pt idx="1">
                  <c:v>Recette</c:v>
                </c:pt>
                <c:pt idx="2">
                  <c:v>Réalisation</c:v>
                </c:pt>
                <c:pt idx="3">
                  <c:v>Conception</c:v>
                </c:pt>
                <c:pt idx="4">
                  <c:v>Mesure</c:v>
                </c:pt>
                <c:pt idx="5">
                  <c:v>Étude</c:v>
                </c:pt>
              </c:strCache>
            </c:strRef>
          </c:cat>
          <c:val>
            <c:numRef>
              <c:f>'Chart Data'!$B$2:$B$7</c:f>
              <c:numCache>
                <c:formatCode>"J"0</c:formatCode>
                <c:ptCount val="6"/>
                <c:pt idx="0">
                  <c:v>14</c:v>
                </c:pt>
                <c:pt idx="1">
                  <c:v>10</c:v>
                </c:pt>
                <c:pt idx="2">
                  <c:v>3</c:v>
                </c:pt>
                <c:pt idx="3">
                  <c:v>2</c:v>
                </c:pt>
                <c:pt idx="4">
                  <c:v>1</c:v>
                </c:pt>
                <c:pt idx="5">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Data'!$C$2:$C$7</c:f>
              <c:strCache>
                <c:ptCount val="6"/>
                <c:pt idx="0">
                  <c:v>Restitution</c:v>
                </c:pt>
                <c:pt idx="1">
                  <c:v>Recette</c:v>
                </c:pt>
                <c:pt idx="2">
                  <c:v>Réalisation</c:v>
                </c:pt>
                <c:pt idx="3">
                  <c:v>Conception</c:v>
                </c:pt>
                <c:pt idx="4">
                  <c:v>Mesure</c:v>
                </c:pt>
                <c:pt idx="5">
                  <c:v>Étude</c:v>
                </c:pt>
              </c:strCache>
            </c:strRef>
          </c:cat>
          <c:val>
            <c:numRef>
              <c:f>'Chart Data'!$D$2:$D$7</c:f>
              <c:numCache>
                <c:formatCode>"J"0</c:formatCode>
                <c:ptCount val="6"/>
                <c:pt idx="0">
                  <c:v>1</c:v>
                </c:pt>
                <c:pt idx="1">
                  <c:v>4</c:v>
                </c:pt>
                <c:pt idx="2">
                  <c:v>9</c:v>
                </c:pt>
                <c:pt idx="3">
                  <c:v>2</c:v>
                </c:pt>
                <c:pt idx="4">
                  <c:v>2</c:v>
                </c:pt>
                <c:pt idx="5">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Écart en heures</c:v>
          </c:tx>
          <c:spPr>
            <a:solidFill xmlns:a="http://schemas.openxmlformats.org/drawingml/2006/main">
              <a:srgbClr val="C77952"/>
            </a:solidFill>
          </c:spPr>
          <c:invertIfNegative val="0"/>
          <c:dPt>
            <c:idx val="0"/>
            <c:invertIfNegative val="0"/>
            <c:spPr>
              <a:solidFill xmlns:a="http://schemas.openxmlformats.org/drawingml/2006/main">
                <a:srgbClr val="28725F"/>
              </a:solidFill>
            </c:spPr>
          </c:dPt>
          <c:dLbls>
            <c:dLbl>
              <c:idx val="0"/>
              <c:tx>
                <c:rich>
                  <a:bodyPr xmlns:a="http://schemas.openxmlformats.org/drawingml/2006/main"/>
                  <a:lstStyle xmlns:a="http://schemas.openxmlformats.org/drawingml/2006/main"/>
                  <a:p xmlns:a="http://schemas.openxmlformats.org/drawingml/2006/main">
                    <a:r>
                      <a:rPr sz="1650" b="1">
                        <a:solidFill>
                          <a:srgbClr val="FFFFFF"/>
                        </a:solidFill>
                        <a:latin typeface="Arial"/>
                        <a:ea typeface="Arial"/>
                        <a:cs typeface="Arial"/>
                      </a:rPr>
                      <a:t>Corrections −2 h</a:t>
                    </a:r>
                  </a:p>
                </c:rich>
              </c:tx>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s>
          <c:cat>
            <c:strRef>
              <c:f>'Chart Data'!$A$2:$A$6</c:f>
              <c:strCache>
                <c:ptCount val="5"/>
                <c:pt idx="0">
                  <c:v>Corrections</c:v>
                </c:pt>
                <c:pt idx="1">
                  <c:v>Recette</c:v>
                </c:pt>
                <c:pt idx="2">
                  <c:v>Événements</c:v>
                </c:pt>
                <c:pt idx="3">
                  <c:v>Accès</c:v>
                </c:pt>
                <c:pt idx="4">
                  <c:v>Planning</c:v>
                </c:pt>
              </c:strCache>
            </c:strRef>
          </c:cat>
          <c:val>
            <c:numRef>
              <c:f>'Chart Data'!$B$2:$B$6</c:f>
              <c:numCache>
                <c:formatCode>+0" h";-0" h";0" h"</c:formatCode>
                <c:ptCount val="5"/>
                <c:pt idx="0">
                  <c:v>-2</c:v>
                </c:pt>
                <c:pt idx="1">
                  <c:v>2</c:v>
                </c:pt>
                <c:pt idx="2">
                  <c:v>2</c:v>
                </c:pt>
                <c:pt idx="3">
                  <c:v>2</c:v>
                </c:pt>
                <c:pt idx="4">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3"/>
          <c:min val="-3"/>
        </c:scaling>
        <c:delete val="0"/>
        <c:axPos val="b"/>
        <c:majorGridlines>
          <c:spPr>
            <a:ln xmlns:a="http://schemas.openxmlformats.org/drawingml/2006/main" w="9525">
              <a:solidFill>
                <a:srgbClr val="DBDFD5"/>
              </a:solidFill>
            </a:ln>
          </c:spPr>
        </c:majorGridlines>
        <c:numFmt formatCode="0&quot; 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be31bb3ff3b46df"/>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1D780D-27D5-4489-AC1C-DA32285139D0}"/>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96568753-7E6F-48DC-A64F-7D6A89E07C29}"/>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AEA2C801-C4BF-4F76-9102-5D47345ACD1A}"/>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9CB26D31-B478-4B6C-828D-8D8FCBC1582A}"/>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402573010"/>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5CD910-ECBF-4FC4-9656-969CEE37C9B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besoin d’Altitude Grimpe</a:t>
            </a:r>
          </a:p>
        </p:txBody>
      </p:sp>
      <p:sp>
        <p:nvSpPr>
          <p:cNvPr id="2" name="">
            <a:extLst xmlns:a="http://schemas.openxmlformats.org/drawingml/2006/main">
              <a:ext uri="{FF2B5EF4-FFF2-40B4-BE49-F238E27FC236}">
                <a16:creationId xmlns:a16="http://schemas.microsoft.com/office/drawing/2014/main" id="{97467360-8570-46ED-A0EC-0D03E997964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B1, commanditaire fictif et produit réel    00:30 à 01:30    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9411d74c38447f5"/>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F1EFC46-6118-4BAE-AF90-EFA8F9AAAAED}"/>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374BF7F6-BA23-4C48-B351-9A67C5D40153}"/>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AAA3B1C3-6706-4BD0-A4F4-53505A9D297D}"/>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D7E1A35C-2B4D-4190-BDF3-D0784CA366A1}"/>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1261459454"/>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27740F-20B3-49EB-BE29-7082C414FE1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planning global de Spity</a:t>
            </a:r>
          </a:p>
        </p:txBody>
      </p:sp>
      <p:sp>
        <p:nvSpPr>
          <p:cNvPr id="2" name="">
            <a:extLst xmlns:a="http://schemas.openxmlformats.org/drawingml/2006/main">
              <a:ext uri="{FF2B5EF4-FFF2-40B4-BE49-F238E27FC236}">
                <a16:creationId xmlns:a16="http://schemas.microsoft.com/office/drawing/2014/main" id="{63CD9306-26FD-40FD-8B1F-5B4009AB6CB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ordonnancement pédagogique dérivé du Bloc 1    01:30 à 02:30    3</a:t>
            </a:r>
          </a:p>
        </p:txBody>
      </p:sp>
      <p:graphicFrame>
        <p:nvGraphicFramePr>
          <p:cNvPr id="8" name="Chart"/>
          <p:cNvGraphicFramePr/>
          <p:nvPr/>
        </p:nvGraphicFramePr>
        <p:xfrm>
          <a:off xmlns:a="http://schemas.openxmlformats.org/drawingml/2006/main" x="609600" y="1647825"/>
          <a:ext xmlns:a="http://schemas.openxmlformats.org/drawingml/2006/main" cx="10820400" cy="3895725"/>
        </p:xfrm>
        <a:graphic xmlns:a="http://schemas.openxmlformats.org/drawingml/2006/main">
          <a:graphicData uri="http://schemas.openxmlformats.org/drawingml/2006/chart">
            <c:chart xmlns:r="http://schemas.openxmlformats.org/officeDocument/2006/relationships" xmlns:c="http://schemas.openxmlformats.org/drawingml/2006/chart" r:id="R997b3fb5160a430c"/>
          </a:graphicData>
        </a:graphic>
      </p:graphicFrame>
      <p:sp>
        <p:nvSpPr>
          <p:cNvPr id="4" name="">
            <a:extLst xmlns:a="http://schemas.openxmlformats.org/drawingml/2006/main">
              <a:ext uri="{FF2B5EF4-FFF2-40B4-BE49-F238E27FC236}">
                <a16:creationId xmlns:a16="http://schemas.microsoft.com/office/drawing/2014/main" id="{ED025FB1-5F44-4D72-9222-5B47699978E7}"/>
              </a:ext>
            </a:extLst>
          </p:cNvPr>
          <p:cNvSpPr>
            <a:spLocks xmlns:a="http://schemas.openxmlformats.org/drawingml/2006/main" noGrp="1"/>
          </p:cNvSpPr>
          <p:nvPr/>
        </p:nvSpPr>
        <p:spPr>
          <a:xfrm xmlns:a="http://schemas.openxmlformats.org/drawingml/2006/main">
            <a:off x="685800" y="56959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79 j-h à 5 j-h/semaine : 15,8 semaines de capacité.</a:t>
            </a:r>
          </a:p>
        </p:txBody>
      </p:sp>
      <p:sp>
        <p:nvSpPr>
          <p:cNvPr id="5" name="">
            <a:extLst xmlns:a="http://schemas.openxmlformats.org/drawingml/2006/main">
              <a:ext uri="{FF2B5EF4-FFF2-40B4-BE49-F238E27FC236}">
                <a16:creationId xmlns:a16="http://schemas.microsoft.com/office/drawing/2014/main" id="{5FA82F24-6964-48F3-AEE7-EFEB921D14B6}"/>
              </a:ext>
            </a:extLst>
          </p:cNvPr>
          <p:cNvSpPr>
            <a:spLocks xmlns:a="http://schemas.openxmlformats.org/drawingml/2006/main" noGrp="1"/>
          </p:cNvSpPr>
          <p:nvPr/>
        </p:nvSpPr>
        <p:spPr>
          <a:xfrm xmlns:a="http://schemas.openxmlformats.org/drawingml/2006/main">
            <a:off x="685800" y="610552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7068"/>
                </a:solidFill>
                <a:latin typeface="Arial"/>
                <a:ea typeface="Arial"/>
                <a:cs typeface="Arial"/>
              </a:defRPr>
            </a:pPr>
            <a:r>
              <a:rPr sz="1575" b="0">
                <a:solidFill>
                  <a:srgbClr val="5D7068"/>
                </a:solidFill>
                <a:latin typeface="Arial"/>
                <a:ea typeface="Arial"/>
                <a:cs typeface="Arial"/>
              </a:rPr>
              <a:t>Ordre pédagogique du MVP cible. Le lot B3 est un zoom distinct.</a:t>
            </a:r>
          </a:p>
        </p:txBody>
      </p:sp>
    </p:spTree>
    <p:extLst>
      <p:ext uri="{BB962C8B-B14F-4D97-AF65-F5344CB8AC3E}">
        <p14:creationId xmlns:p14="http://schemas.microsoft.com/office/powerpoint/2010/main" val="797210598"/>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04835E-0360-4EDD-854E-4EB5AAC9253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Kanban pour suivre, des jalons pour décider</a:t>
            </a:r>
          </a:p>
        </p:txBody>
      </p:sp>
      <p:sp>
        <p:nvSpPr>
          <p:cNvPr id="2" name="">
            <a:extLst xmlns:a="http://schemas.openxmlformats.org/drawingml/2006/main">
              <a:ext uri="{FF2B5EF4-FFF2-40B4-BE49-F238E27FC236}">
                <a16:creationId xmlns:a16="http://schemas.microsoft.com/office/drawing/2014/main" id="{F44E02D9-64BF-45F4-9F3C-2C9077CEDAC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Linear observé, 14 septembre 2026    02:30 à 04:00    4</a:t>
            </a:r>
          </a:p>
        </p:txBody>
      </p:sp>
      <p:graphicFrame>
        <p:nvGraphicFramePr>
          <p:cNvPr id="11" name="Chart"/>
          <p:cNvGraphicFramePr/>
          <p:nvPr/>
        </p:nvGraphicFramePr>
        <p:xfrm>
          <a:off xmlns:a="http://schemas.openxmlformats.org/drawingml/2006/main" x="609600" y="1809750"/>
          <a:ext xmlns:a="http://schemas.openxmlformats.org/drawingml/2006/main" cx="6638925" cy="3495675"/>
        </p:xfrm>
        <a:graphic xmlns:a="http://schemas.openxmlformats.org/drawingml/2006/main">
          <a:graphicData uri="http://schemas.openxmlformats.org/drawingml/2006/chart">
            <c:chart xmlns:r="http://schemas.openxmlformats.org/officeDocument/2006/relationships" xmlns:c="http://schemas.openxmlformats.org/drawingml/2006/chart" r:id="R3adc35e870f04d8f"/>
          </a:graphicData>
        </a:graphic>
      </p:graphicFrame>
      <p:sp>
        <p:nvSpPr>
          <p:cNvPr id="4" name="">
            <a:extLst xmlns:a="http://schemas.openxmlformats.org/drawingml/2006/main">
              <a:ext uri="{FF2B5EF4-FFF2-40B4-BE49-F238E27FC236}">
                <a16:creationId xmlns:a16="http://schemas.microsoft.com/office/drawing/2014/main" id="{234E50A2-58AB-4B47-9EE2-995627F8C734}"/>
              </a:ext>
            </a:extLst>
          </p:cNvPr>
          <p:cNvSpPr>
            <a:spLocks xmlns:a="http://schemas.openxmlformats.org/drawingml/2006/main" noGrp="1"/>
          </p:cNvSpPr>
          <p:nvPr/>
        </p:nvSpPr>
        <p:spPr>
          <a:xfrm xmlns:a="http://schemas.openxmlformats.org/drawingml/2006/main">
            <a:off x="7696200" y="1857375"/>
            <a:ext cx="3848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8725F"/>
                </a:solidFill>
                <a:latin typeface="Arial"/>
                <a:ea typeface="Arial"/>
                <a:cs typeface="Arial"/>
              </a:defRPr>
            </a:pPr>
            <a:r>
              <a:rPr sz="3225" b="1">
                <a:solidFill>
                  <a:srgbClr val="28725F"/>
                </a:solidFill>
                <a:latin typeface="Arial"/>
                <a:ea typeface="Arial"/>
                <a:cs typeface="Arial"/>
              </a:rPr>
              <a:t>Kanban</a:t>
            </a:r>
          </a:p>
        </p:txBody>
      </p:sp>
      <p:sp>
        <p:nvSpPr>
          <p:cNvPr id="5" name="">
            <a:extLst xmlns:a="http://schemas.openxmlformats.org/drawingml/2006/main">
              <a:ext uri="{FF2B5EF4-FFF2-40B4-BE49-F238E27FC236}">
                <a16:creationId xmlns:a16="http://schemas.microsoft.com/office/drawing/2014/main" id="{4D3CFF00-08E6-49BD-A2D2-AD817F8061EA}"/>
              </a:ext>
            </a:extLst>
          </p:cNvPr>
          <p:cNvSpPr>
            <a:spLocks xmlns:a="http://schemas.openxmlformats.org/drawingml/2006/main" noGrp="1"/>
          </p:cNvSpPr>
          <p:nvPr/>
        </p:nvSpPr>
        <p:spPr>
          <a:xfrm xmlns:a="http://schemas.openxmlformats.org/drawingml/2006/main">
            <a:off x="7696200" y="2781300"/>
            <a:ext cx="3848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2 tâches en réalisation.</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Critères avant clôture.</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Jalons pour décider.</a:t>
            </a:r>
          </a:p>
        </p:txBody>
      </p:sp>
      <p:sp>
        <p:nvSpPr>
          <p:cNvPr id="6" name="">
            <a:extLst xmlns:a="http://schemas.openxmlformats.org/drawingml/2006/main">
              <a:ext uri="{FF2B5EF4-FFF2-40B4-BE49-F238E27FC236}">
                <a16:creationId xmlns:a16="http://schemas.microsoft.com/office/drawing/2014/main" id="{34897AFB-2B3B-4127-A43E-AB752096FCDC}"/>
              </a:ext>
            </a:extLst>
          </p:cNvPr>
          <p:cNvSpPr>
            <a:spLocks xmlns:a="http://schemas.openxmlformats.org/drawingml/2006/main" noGrp="1"/>
          </p:cNvSpPr>
          <p:nvPr/>
        </p:nvSpPr>
        <p:spPr>
          <a:xfrm xmlns:a="http://schemas.openxmlformats.org/drawingml/2006/main">
            <a:off x="7696200" y="4600575"/>
            <a:ext cx="3848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12 / 24 terminés</a:t>
            </a:r>
          </a:p>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1 annulé exclu, sans pondération.</a:t>
            </a:r>
          </a:p>
        </p:txBody>
      </p:sp>
      <p:sp>
        <p:nvSpPr>
          <p:cNvPr id="7" name="">
            <a:extLst xmlns:a="http://schemas.openxmlformats.org/drawingml/2006/main">
              <a:ext uri="{FF2B5EF4-FFF2-40B4-BE49-F238E27FC236}">
                <a16:creationId xmlns:a16="http://schemas.microsoft.com/office/drawing/2014/main" id="{3AFEDA13-9A9E-4C3A-B567-F9385F2BBBE4}"/>
              </a:ext>
            </a:extLst>
          </p:cNvPr>
          <p:cNvSpPr>
            <a:spLocks xmlns:a="http://schemas.openxmlformats.org/drawingml/2006/main" noGrp="1"/>
          </p:cNvSpPr>
          <p:nvPr/>
        </p:nvSpPr>
        <p:spPr>
          <a:xfrm xmlns:a="http://schemas.openxmlformats.org/drawingml/2006/main">
            <a:off x="685800" y="56578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SPI-27 médias, SPI-15 API, SPI-18 formulaire.</a:t>
            </a:r>
          </a:p>
        </p:txBody>
      </p:sp>
      <p:sp>
        <p:nvSpPr>
          <p:cNvPr id="8" name="">
            <a:extLst xmlns:a="http://schemas.openxmlformats.org/drawingml/2006/main">
              <a:ext uri="{FF2B5EF4-FFF2-40B4-BE49-F238E27FC236}">
                <a16:creationId xmlns:a16="http://schemas.microsoft.com/office/drawing/2014/main" id="{B5366A40-BC12-4D96-B707-4A01B7E4D0A1}"/>
              </a:ext>
            </a:extLst>
          </p:cNvPr>
          <p:cNvSpPr>
            <a:spLocks xmlns:a="http://schemas.openxmlformats.org/drawingml/2006/main" noGrp="1"/>
          </p:cNvSpPr>
          <p:nvPr/>
        </p:nvSpPr>
        <p:spPr>
          <a:xfrm xmlns:a="http://schemas.openxmlformats.org/drawingml/2006/main">
            <a:off x="685800" y="60769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D7068"/>
                </a:solidFill>
                <a:latin typeface="Arial"/>
                <a:ea typeface="Arial"/>
                <a:cs typeface="Arial"/>
              </a:defRPr>
            </a:pPr>
            <a:r>
              <a:rPr sz="1725" b="0">
                <a:solidFill>
                  <a:srgbClr val="5D7068"/>
                </a:solidFill>
                <a:latin typeface="Arial"/>
                <a:ea typeface="Arial"/>
                <a:cs typeface="Arial"/>
              </a:rPr>
              <a:t>Ressources partagées : critères et CR dans A07, code dans Git.</a:t>
            </a:r>
          </a:p>
        </p:txBody>
      </p:sp>
    </p:spTree>
    <p:extLst>
      <p:ext uri="{BB962C8B-B14F-4D97-AF65-F5344CB8AC3E}">
        <p14:creationId xmlns:p14="http://schemas.microsoft.com/office/powerpoint/2010/main" val="560400011"/>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B294C2-89AE-4397-B572-D54AE0A916E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lot : phases, mesures et dépendances</a:t>
            </a:r>
          </a:p>
        </p:txBody>
      </p:sp>
      <p:sp>
        <p:nvSpPr>
          <p:cNvPr id="2" name="">
            <a:extLst xmlns:a="http://schemas.openxmlformats.org/drawingml/2006/main">
              <a:ext uri="{FF2B5EF4-FFF2-40B4-BE49-F238E27FC236}">
                <a16:creationId xmlns:a16="http://schemas.microsoft.com/office/drawing/2014/main" id="{80C46D58-A3E7-486C-98B0-0EE14F3C155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planning fictif du lot à J10    04:00 à 05:30    5</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2cdc84c7c6bd4a6e"/>
          </a:graphicData>
        </a:graphic>
      </p:graphicFrame>
      <p:sp>
        <p:nvSpPr>
          <p:cNvPr id="4" name="">
            <a:extLst xmlns:a="http://schemas.openxmlformats.org/drawingml/2006/main">
              <a:ext uri="{FF2B5EF4-FFF2-40B4-BE49-F238E27FC236}">
                <a16:creationId xmlns:a16="http://schemas.microsoft.com/office/drawing/2014/main" id="{AB1DE3BC-6436-44E1-ABA8-81A685682E14}"/>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1220997003"/>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72C9236-ADA3-414C-91AA-ABECC7A4D8D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missions et les aménagements</a:t>
            </a:r>
          </a:p>
        </p:txBody>
      </p:sp>
      <p:sp>
        <p:nvSpPr>
          <p:cNvPr id="2" name="">
            <a:extLst xmlns:a="http://schemas.openxmlformats.org/drawingml/2006/main">
              <a:ext uri="{FF2B5EF4-FFF2-40B4-BE49-F238E27FC236}">
                <a16:creationId xmlns:a16="http://schemas.microsoft.com/office/drawing/2014/main" id="{8C71DE7F-B22E-440B-A575-3CD3AFD5C58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équipe et situation fictives    05:30 à 06:30    6</a:t>
            </a:r>
          </a:p>
        </p:txBody>
      </p:sp>
      <p:sp>
        <p:nvSpPr>
          <p:cNvPr id="3" name="">
            <a:extLst xmlns:a="http://schemas.openxmlformats.org/drawingml/2006/main">
              <a:ext uri="{FF2B5EF4-FFF2-40B4-BE49-F238E27FC236}">
                <a16:creationId xmlns:a16="http://schemas.microsoft.com/office/drawing/2014/main" id="{45B8ABA3-0346-4953-94E8-C9FB1A04E81B}"/>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5B25CD19-54C7-4A68-8F9E-4CE4B9B254F7}"/>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D06E1EA9-01CE-4795-93DB-067F20108396}"/>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EC95688E-21B7-45FF-B93D-4313BC987AAE}"/>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3819702F-313F-4B3C-A3F8-F905C41F74EC}"/>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3FD8291F-989F-46DA-9898-D4EBC27EBF5E}"/>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31F78058-9F91-4BE3-9C0F-C34B8E5CEA88}"/>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DCA59970-37B6-45A3-BA8C-C635B06D0772}"/>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Camille, QA</a:t>
            </a:r>
          </a:p>
        </p:txBody>
      </p:sp>
      <p:sp>
        <p:nvSpPr>
          <p:cNvPr id="11" name="">
            <a:extLst xmlns:a="http://schemas.openxmlformats.org/drawingml/2006/main">
              <a:ext uri="{FF2B5EF4-FFF2-40B4-BE49-F238E27FC236}">
                <a16:creationId xmlns:a16="http://schemas.microsoft.com/office/drawing/2014/main" id="{4FFEDB69-4FAC-4269-9A3D-A3BC1EA02D30}"/>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et recette.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T02 et T07.</a:t>
            </a:r>
          </a:p>
        </p:txBody>
      </p:sp>
      <p:sp>
        <p:nvSpPr>
          <p:cNvPr id="12" name="">
            <a:extLst xmlns:a="http://schemas.openxmlformats.org/drawingml/2006/main">
              <a:ext uri="{FF2B5EF4-FFF2-40B4-BE49-F238E27FC236}">
                <a16:creationId xmlns:a16="http://schemas.microsoft.com/office/drawing/2014/main" id="{218DCCF1-46CC-4648-A907-C7C64B5C626E}"/>
              </a:ext>
            </a:extLst>
          </p:cNvPr>
          <p:cNvSpPr>
            <a:spLocks xmlns:a="http://schemas.openxmlformats.org/drawingml/2006/main" noGrp="1"/>
          </p:cNvSpPr>
          <p:nvPr/>
        </p:nvSpPr>
        <p:spPr>
          <a:xfrm xmlns:a="http://schemas.openxmlformats.org/drawingml/2006/main">
            <a:off x="685800" y="57531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Cas fictif : Camille est malentendante, les échanges sont adaptés.</a:t>
            </a:r>
          </a:p>
        </p:txBody>
      </p:sp>
    </p:spTree>
    <p:extLst>
      <p:ext uri="{BB962C8B-B14F-4D97-AF65-F5344CB8AC3E}">
        <p14:creationId xmlns:p14="http://schemas.microsoft.com/office/powerpoint/2010/main" val="2016566306"/>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0AECD9-060E-4A5B-850E-7BBA2F35627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causes des 5 heures supplémentaires</a:t>
            </a:r>
          </a:p>
        </p:txBody>
      </p:sp>
      <p:sp>
        <p:nvSpPr>
          <p:cNvPr id="2" name="">
            <a:extLst xmlns:a="http://schemas.openxmlformats.org/drawingml/2006/main">
              <a:ext uri="{FF2B5EF4-FFF2-40B4-BE49-F238E27FC236}">
                <a16:creationId xmlns:a16="http://schemas.microsoft.com/office/drawing/2014/main" id="{8083A057-B446-40B1-8152-D0CADEDDF61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06:30 à 08:00    7</a:t>
            </a:r>
          </a:p>
        </p:txBody>
      </p:sp>
      <p:graphicFrame>
        <p:nvGraphicFramePr>
          <p:cNvPr id="10" name="Chart"/>
          <p:cNvGraphicFramePr/>
          <p:nvPr/>
        </p:nvGraphicFramePr>
        <p:xfrm>
          <a:off xmlns:a="http://schemas.openxmlformats.org/drawingml/2006/main" x="647700" y="17145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cde33faeae6c40f9"/>
          </a:graphicData>
        </a:graphic>
      </p:graphicFrame>
      <p:sp>
        <p:nvSpPr>
          <p:cNvPr id="4" name="">
            <a:extLst xmlns:a="http://schemas.openxmlformats.org/drawingml/2006/main">
              <a:ext uri="{FF2B5EF4-FFF2-40B4-BE49-F238E27FC236}">
                <a16:creationId xmlns:a16="http://schemas.microsoft.com/office/drawing/2014/main" id="{6646E395-D3A4-43B6-9EBE-86316289A085}"/>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C048050C-63C0-404F-8674-798A4AA37ABB}"/>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de charge</a:t>
            </a:r>
          </a:p>
        </p:txBody>
      </p:sp>
      <p:sp>
        <p:nvSpPr>
          <p:cNvPr id="6" name="">
            <a:extLst xmlns:a="http://schemas.openxmlformats.org/drawingml/2006/main">
              <a:ext uri="{FF2B5EF4-FFF2-40B4-BE49-F238E27FC236}">
                <a16:creationId xmlns:a16="http://schemas.microsoft.com/office/drawing/2014/main" id="{97BED96F-BF2D-44D8-99CD-D76C64C5B135}"/>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Événements : J11 à J12</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 J13 à J14</a:t>
            </a:r>
          </a:p>
        </p:txBody>
      </p:sp>
      <p:sp>
        <p:nvSpPr>
          <p:cNvPr id="7" name="">
            <a:extLst xmlns:a="http://schemas.openxmlformats.org/drawingml/2006/main">
              <a:ext uri="{FF2B5EF4-FFF2-40B4-BE49-F238E27FC236}">
                <a16:creationId xmlns:a16="http://schemas.microsoft.com/office/drawing/2014/main" id="{A40F2C5B-AE6A-4B0E-B4DF-DFFABBCE9C16}"/>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T06 : +1 jour. T07 : +1 jour. La charge et le délai se distinguent.</a:t>
            </a:r>
          </a:p>
        </p:txBody>
      </p:sp>
    </p:spTree>
    <p:extLst>
      <p:ext uri="{BB962C8B-B14F-4D97-AF65-F5344CB8AC3E}">
        <p14:creationId xmlns:p14="http://schemas.microsoft.com/office/powerpoint/2010/main" val="1320397563"/>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361C1F-C4E1-4FEA-99DB-A94F478ADE6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budget du lot de démonstration</a:t>
            </a:r>
          </a:p>
        </p:txBody>
      </p:sp>
      <p:sp>
        <p:nvSpPr>
          <p:cNvPr id="2" name="">
            <a:extLst xmlns:a="http://schemas.openxmlformats.org/drawingml/2006/main">
              <a:ext uri="{FF2B5EF4-FFF2-40B4-BE49-F238E27FC236}">
                <a16:creationId xmlns:a16="http://schemas.microsoft.com/office/drawing/2014/main" id="{1E581790-2623-4AF4-80F1-938B7074FC3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montants fictifs en euros    08:00 à 09:30    8</a:t>
            </a:r>
          </a:p>
        </p:txBody>
      </p:sp>
      <p:graphicFrame>
        <p:nvGraphicFramePr>
          <p:cNvPr id="10"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e93cb159a9894793"/>
          </a:graphicData>
        </a:graphic>
      </p:graphicFrame>
      <p:sp>
        <p:nvSpPr>
          <p:cNvPr id="4" name="">
            <a:extLst xmlns:a="http://schemas.openxmlformats.org/drawingml/2006/main">
              <a:ext uri="{FF2B5EF4-FFF2-40B4-BE49-F238E27FC236}">
                <a16:creationId xmlns:a16="http://schemas.microsoft.com/office/drawing/2014/main" id="{D86355F0-28F3-401D-BE2D-7E45CB825069}"/>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770DD33A-E809-4BEC-8BF1-E2322C40B006}"/>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lot</a:t>
            </a:r>
          </a:p>
        </p:txBody>
      </p:sp>
      <p:sp>
        <p:nvSpPr>
          <p:cNvPr id="6" name="">
            <a:extLst xmlns:a="http://schemas.openxmlformats.org/drawingml/2006/main">
              <a:ext uri="{FF2B5EF4-FFF2-40B4-BE49-F238E27FC236}">
                <a16:creationId xmlns:a16="http://schemas.microsoft.com/office/drawing/2014/main" id="{163C8D10-9390-4A11-B409-527E493D9ED4}"/>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 sa référence.</a:t>
            </a:r>
          </a:p>
        </p:txBody>
      </p:sp>
      <p:sp>
        <p:nvSpPr>
          <p:cNvPr id="7" name="">
            <a:extLst xmlns:a="http://schemas.openxmlformats.org/drawingml/2006/main">
              <a:ext uri="{FF2B5EF4-FFF2-40B4-BE49-F238E27FC236}">
                <a16:creationId xmlns:a16="http://schemas.microsoft.com/office/drawing/2014/main" id="{292D7D12-F8EF-4CF1-A2F1-1FEAE126D9FF}"/>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Budget global B1 : 38 126 € HT. Exercice B3 distinct.</a:t>
            </a:r>
          </a:p>
        </p:txBody>
      </p:sp>
    </p:spTree>
    <p:extLst>
      <p:ext uri="{BB962C8B-B14F-4D97-AF65-F5344CB8AC3E}">
        <p14:creationId xmlns:p14="http://schemas.microsoft.com/office/powerpoint/2010/main" val="696400701"/>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60A2DF-CA40-45B0-A315-949B1AB1538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1C9E6656-DC57-499A-8C03-404E86ADAFD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09:30 à 10:30    9</a:t>
            </a:r>
          </a:p>
        </p:txBody>
      </p:sp>
      <p:graphicFrame>
        <p:nvGraphicFramePr>
          <p:cNvPr id="10"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fff2cc3039cd4118"/>
          </a:graphicData>
        </a:graphic>
      </p:graphicFrame>
      <p:sp>
        <p:nvSpPr>
          <p:cNvPr id="4" name="">
            <a:extLst xmlns:a="http://schemas.openxmlformats.org/drawingml/2006/main">
              <a:ext uri="{FF2B5EF4-FFF2-40B4-BE49-F238E27FC236}">
                <a16:creationId xmlns:a16="http://schemas.microsoft.com/office/drawing/2014/main" id="{B3D7B799-B3B5-4CCC-9E0F-48017BD636BF}"/>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A2D46794-8F9C-4008-BBBB-79DFC9FCD569}"/>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E6A19FF8-986F-4421-B54C-BD87FE5386CE}"/>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Alerte au-delà de 90 %.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CP atteint 96,7 %.</a:t>
            </a:r>
          </a:p>
        </p:txBody>
      </p:sp>
      <p:sp>
        <p:nvSpPr>
          <p:cNvPr id="7" name="">
            <a:extLst xmlns:a="http://schemas.openxmlformats.org/drawingml/2006/main">
              <a:ext uri="{FF2B5EF4-FFF2-40B4-BE49-F238E27FC236}">
                <a16:creationId xmlns:a16="http://schemas.microsoft.com/office/drawing/2014/main" id="{4107D72D-3CE6-48E4-98FD-9A2AD9FF57D1}"/>
              </a:ext>
            </a:extLst>
          </p:cNvPr>
          <p:cNvSpPr>
            <a:spLocks xmlns:a="http://schemas.openxmlformats.org/drawingml/2006/main" noGrp="1"/>
          </p:cNvSpPr>
          <p:nvPr/>
        </p:nvSpPr>
        <p:spPr>
          <a:xfrm xmlns:a="http://schemas.openxmlformats.org/drawingml/2006/main">
            <a:off x="685800" y="58674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Limiter les demandes. Protéger les créneaux d’arbitrage.</a:t>
            </a:r>
          </a:p>
        </p:txBody>
      </p:sp>
    </p:spTree>
    <p:extLst>
      <p:ext uri="{BB962C8B-B14F-4D97-AF65-F5344CB8AC3E}">
        <p14:creationId xmlns:p14="http://schemas.microsoft.com/office/powerpoint/2010/main" val="963315388"/>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BE8FD12-74E3-40A5-834B-94198CCA8BF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8C5DA8B2-A887-4C79-9DE0-A0735A0C505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extrait du registre fictif    10:30 à 11:30    10</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B82E7645-40C9-4392-817D-6F1ADA06CC27}"/>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D8315BDF-BDC3-4E40-A186-0F7E71AD83DD}"/>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D1E3CF02-796D-446F-BA4F-8A55AE77F35D}"/>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3F1E31F-D97E-4BA2-8F7B-9D8AA86D4A6F}"/>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BB159B1E-9EC3-469A-B160-F37B4AEF5050}"/>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7C06102C-F8E9-4375-9D7D-188798E8118F}"/>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91429380-AA03-495D-98E8-7DF309D810B5}"/>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E34F4BE4-3525-4823-8C30-D425331961F0}"/>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A4625E2B-BE8C-426B-AD1A-3D074B806E54}"/>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02453436-D6BC-4A2B-B027-8AC4DFE35A86}"/>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645716332"/>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DD04B3-1937-4037-B101-463316D0EAE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337B8078-2B81-4BEF-8375-C186D754F13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fait Git et analyse rétrospective    11:30 à 13:30    11</a:t>
            </a:r>
          </a:p>
        </p:txBody>
      </p:sp>
      <p:sp>
        <p:nvSpPr>
          <p:cNvPr id="3" name="">
            <a:extLst xmlns:a="http://schemas.openxmlformats.org/drawingml/2006/main">
              <a:ext uri="{FF2B5EF4-FFF2-40B4-BE49-F238E27FC236}">
                <a16:creationId xmlns:a16="http://schemas.microsoft.com/office/drawing/2014/main" id="{F38BCE28-E272-4027-BAFC-826BBF59D0FE}"/>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6436377-A45F-44C4-BC05-7D3C925E22D3}"/>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F7096F8D-A789-4051-BF12-501CBB0E4D3D}"/>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B3FF5664-F819-4555-913F-5A06161A4FFF}"/>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D6D02C4-173D-4591-BC21-B25642C252C9}"/>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EB0A2BEE-0A74-4FF4-9689-3A6CE076F3B6}"/>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A8B940B8-2245-4CB9-8568-21A349874173}"/>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5B98146-5E33-452D-9697-81BDED331FFF}"/>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9E1A5094-40D9-4210-8D6E-473B9B771E77}"/>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751D1FCE-4236-4435-8DBD-956473D7B869}"/>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1642756093"/>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94EC32-D3DE-43A6-AD63-54412D0079B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4461EB32-7982-4F37-A4CC-E098CC53A66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demande fictive à J10    13:30 à 15:00    12</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39641716b7fe4acf"/>
          </a:graphicData>
        </a:graphic>
      </p:graphicFrame>
      <p:sp>
        <p:nvSpPr>
          <p:cNvPr id="4" name="">
            <a:extLst xmlns:a="http://schemas.openxmlformats.org/drawingml/2006/main">
              <a:ext uri="{FF2B5EF4-FFF2-40B4-BE49-F238E27FC236}">
                <a16:creationId xmlns:a16="http://schemas.microsoft.com/office/drawing/2014/main" id="{B4433311-DE4E-4C09-B0C7-44476636C9FE}"/>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2438CD86-FDE0-4F3B-9151-CBD7F3DE2E19}"/>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830F3539-4F77-45BB-8F6A-9CF10413C869}"/>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Ajout au lot : +540 €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2039470203"/>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1CFBD9-CE59-494F-BF11-C1E51D7998B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styles adaptés à la situation</a:t>
            </a:r>
          </a:p>
        </p:txBody>
      </p:sp>
      <p:sp>
        <p:nvSpPr>
          <p:cNvPr id="2" name="">
            <a:extLst xmlns:a="http://schemas.openxmlformats.org/drawingml/2006/main">
              <a:ext uri="{FF2B5EF4-FFF2-40B4-BE49-F238E27FC236}">
                <a16:creationId xmlns:a16="http://schemas.microsoft.com/office/drawing/2014/main" id="{1699A594-8D28-4C12-A416-7F6F8B9B1D0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situation managériale fictive    15:00 à 16:30    13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c3c6cd5fbbe46b0"/>
          <a:stretch xmlns:a="http://schemas.openxmlformats.org/drawingml/2006/main"/>
        </p:blipFill>
        <p:spPr>
          <a:xfrm xmlns:a="http://schemas.openxmlformats.org/drawingml/2006/main">
            <a:off x="3607594" y="2095500"/>
            <a:ext cx="4786313" cy="3190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467E52-335F-4D39-AA09-CBFA801EACE7}"/>
              </a:ext>
            </a:extLst>
          </p:cNvPr>
          <p:cNvSpPr>
            <a:spLocks xmlns:a="http://schemas.openxmlformats.org/drawingml/2006/main" noGrp="1"/>
          </p:cNvSpPr>
          <p:nvPr/>
        </p:nvSpPr>
        <p:spPr>
          <a:xfrm xmlns:a="http://schemas.openxmlformats.org/drawingml/2006/main">
            <a:off x="685800" y="18859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Participatif</a:t>
            </a:r>
          </a:p>
        </p:txBody>
      </p:sp>
      <p:sp>
        <p:nvSpPr>
          <p:cNvPr id="5" name="">
            <a:extLst xmlns:a="http://schemas.openxmlformats.org/drawingml/2006/main">
              <a:ext uri="{FF2B5EF4-FFF2-40B4-BE49-F238E27FC236}">
                <a16:creationId xmlns:a16="http://schemas.microsoft.com/office/drawing/2014/main" id="{C9D9076C-73BA-454D-8487-0D9341E99545}"/>
              </a:ext>
            </a:extLst>
          </p:cNvPr>
          <p:cNvSpPr>
            <a:spLocks xmlns:a="http://schemas.openxmlformats.org/drawingml/2006/main" noGrp="1"/>
          </p:cNvSpPr>
          <p:nvPr/>
        </p:nvSpPr>
        <p:spPr>
          <a:xfrm xmlns:a="http://schemas.openxmlformats.org/drawingml/2006/main">
            <a:off x="685800" y="241935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Comparer les options.</a:t>
            </a:r>
          </a:p>
        </p:txBody>
      </p:sp>
      <p:sp>
        <p:nvSpPr>
          <p:cNvPr id="6" name="">
            <a:extLst xmlns:a="http://schemas.openxmlformats.org/drawingml/2006/main">
              <a:ext uri="{FF2B5EF4-FFF2-40B4-BE49-F238E27FC236}">
                <a16:creationId xmlns:a16="http://schemas.microsoft.com/office/drawing/2014/main" id="{CE794445-6CCD-4E33-8D3E-B8E930FD72F8}"/>
              </a:ext>
            </a:extLst>
          </p:cNvPr>
          <p:cNvSpPr>
            <a:spLocks xmlns:a="http://schemas.openxmlformats.org/drawingml/2006/main" noGrp="1"/>
          </p:cNvSpPr>
          <p:nvPr/>
        </p:nvSpPr>
        <p:spPr>
          <a:xfrm xmlns:a="http://schemas.openxmlformats.org/drawingml/2006/main">
            <a:off x="685800" y="384810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Persuasif</a:t>
            </a:r>
          </a:p>
        </p:txBody>
      </p:sp>
      <p:sp>
        <p:nvSpPr>
          <p:cNvPr id="7" name="">
            <a:extLst xmlns:a="http://schemas.openxmlformats.org/drawingml/2006/main">
              <a:ext uri="{FF2B5EF4-FFF2-40B4-BE49-F238E27FC236}">
                <a16:creationId xmlns:a16="http://schemas.microsoft.com/office/drawing/2014/main" id="{6D691294-DB1C-4F5C-9DEB-46CB1B889600}"/>
              </a:ext>
            </a:extLst>
          </p:cNvPr>
          <p:cNvSpPr>
            <a:spLocks xmlns:a="http://schemas.openxmlformats.org/drawingml/2006/main" noGrp="1"/>
          </p:cNvSpPr>
          <p:nvPr/>
        </p:nvSpPr>
        <p:spPr>
          <a:xfrm xmlns:a="http://schemas.openxmlformats.org/drawingml/2006/main">
            <a:off x="685800" y="438150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Expliquer le report.</a:t>
            </a:r>
          </a:p>
        </p:txBody>
      </p:sp>
      <p:sp>
        <p:nvSpPr>
          <p:cNvPr id="8" name="">
            <a:extLst xmlns:a="http://schemas.openxmlformats.org/drawingml/2006/main">
              <a:ext uri="{FF2B5EF4-FFF2-40B4-BE49-F238E27FC236}">
                <a16:creationId xmlns:a16="http://schemas.microsoft.com/office/drawing/2014/main" id="{F73D9DB3-9FCE-4E31-9BA3-63B58E13D21D}"/>
              </a:ext>
            </a:extLst>
          </p:cNvPr>
          <p:cNvSpPr>
            <a:spLocks xmlns:a="http://schemas.openxmlformats.org/drawingml/2006/main" noGrp="1"/>
          </p:cNvSpPr>
          <p:nvPr/>
        </p:nvSpPr>
        <p:spPr>
          <a:xfrm xmlns:a="http://schemas.openxmlformats.org/drawingml/2006/main">
            <a:off x="8963025" y="188595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Directif</a:t>
            </a:r>
          </a:p>
        </p:txBody>
      </p:sp>
      <p:sp>
        <p:nvSpPr>
          <p:cNvPr id="9" name="">
            <a:extLst xmlns:a="http://schemas.openxmlformats.org/drawingml/2006/main">
              <a:ext uri="{FF2B5EF4-FFF2-40B4-BE49-F238E27FC236}">
                <a16:creationId xmlns:a16="http://schemas.microsoft.com/office/drawing/2014/main" id="{FFF37071-B679-4342-AFEC-F5F2AB208FB3}"/>
              </a:ext>
            </a:extLst>
          </p:cNvPr>
          <p:cNvSpPr>
            <a:spLocks xmlns:a="http://schemas.openxmlformats.org/drawingml/2006/main" noGrp="1"/>
          </p:cNvSpPr>
          <p:nvPr/>
        </p:nvSpPr>
        <p:spPr>
          <a:xfrm xmlns:a="http://schemas.openxmlformats.org/drawingml/2006/main">
            <a:off x="8963025" y="241935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Fixer les critères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de livraison.</a:t>
            </a:r>
          </a:p>
        </p:txBody>
      </p:sp>
      <p:sp>
        <p:nvSpPr>
          <p:cNvPr id="10" name="">
            <a:extLst xmlns:a="http://schemas.openxmlformats.org/drawingml/2006/main">
              <a:ext uri="{FF2B5EF4-FFF2-40B4-BE49-F238E27FC236}">
                <a16:creationId xmlns:a16="http://schemas.microsoft.com/office/drawing/2014/main" id="{9C9DCB2D-A132-4AA8-A713-6A626FC9F117}"/>
              </a:ext>
            </a:extLst>
          </p:cNvPr>
          <p:cNvSpPr>
            <a:spLocks xmlns:a="http://schemas.openxmlformats.org/drawingml/2006/main" noGrp="1"/>
          </p:cNvSpPr>
          <p:nvPr/>
        </p:nvSpPr>
        <p:spPr>
          <a:xfrm xmlns:a="http://schemas.openxmlformats.org/drawingml/2006/main">
            <a:off x="8963025" y="384810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Délégatif</a:t>
            </a:r>
          </a:p>
        </p:txBody>
      </p:sp>
      <p:sp>
        <p:nvSpPr>
          <p:cNvPr id="11" name="">
            <a:extLst xmlns:a="http://schemas.openxmlformats.org/drawingml/2006/main">
              <a:ext uri="{FF2B5EF4-FFF2-40B4-BE49-F238E27FC236}">
                <a16:creationId xmlns:a16="http://schemas.microsoft.com/office/drawing/2014/main" id="{EC5EAEAF-75D3-41E6-AFEB-0CCA57770A1B}"/>
              </a:ext>
            </a:extLst>
          </p:cNvPr>
          <p:cNvSpPr>
            <a:spLocks xmlns:a="http://schemas.openxmlformats.org/drawingml/2006/main" noGrp="1"/>
          </p:cNvSpPr>
          <p:nvPr/>
        </p:nvSpPr>
        <p:spPr>
          <a:xfrm xmlns:a="http://schemas.openxmlformats.org/drawingml/2006/main">
            <a:off x="8963025" y="438150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Confier un résultat</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et un contrôle.</a:t>
            </a:r>
          </a:p>
        </p:txBody>
      </p:sp>
      <p:sp>
        <p:nvSpPr>
          <p:cNvPr id="12" name="">
            <a:extLst xmlns:a="http://schemas.openxmlformats.org/drawingml/2006/main">
              <a:ext uri="{FF2B5EF4-FFF2-40B4-BE49-F238E27FC236}">
                <a16:creationId xmlns:a16="http://schemas.microsoft.com/office/drawing/2014/main" id="{E84523B1-27C9-4ED8-A894-D68D4085C43F}"/>
              </a:ext>
            </a:extLst>
          </p:cNvPr>
          <p:cNvSpPr>
            <a:spLocks xmlns:a="http://schemas.openxmlformats.org/drawingml/2006/main" noGrp="1"/>
          </p:cNvSpPr>
          <p:nvPr/>
        </p:nvSpPr>
        <p:spPr>
          <a:xfrm xmlns:a="http://schemas.openxmlformats.org/drawingml/2006/main">
            <a:off x="685800" y="57912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15 minutes préparées. Une décision datée, puis un suivi.</a:t>
            </a:r>
          </a:p>
        </p:txBody>
      </p:sp>
    </p:spTree>
    <p:extLst>
      <p:ext uri="{BB962C8B-B14F-4D97-AF65-F5344CB8AC3E}">
        <p14:creationId xmlns:p14="http://schemas.microsoft.com/office/powerpoint/2010/main" val="780509549"/>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F08988-8025-4C2F-9B41-C59BB2353CC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Camille et une équipe à distance</a:t>
            </a:r>
          </a:p>
        </p:txBody>
      </p:sp>
      <p:sp>
        <p:nvSpPr>
          <p:cNvPr id="2" name="">
            <a:extLst xmlns:a="http://schemas.openxmlformats.org/drawingml/2006/main">
              <a:ext uri="{FF2B5EF4-FFF2-40B4-BE49-F238E27FC236}">
                <a16:creationId xmlns:a16="http://schemas.microsoft.com/office/drawing/2014/main" id="{926DBB54-C70D-40A4-8F7A-BDBC295244F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handicap et contexte international simulés    16:30 à 18:00    14</a:t>
            </a:r>
          </a:p>
        </p:txBody>
      </p:sp>
      <p:sp>
        <p:nvSpPr>
          <p:cNvPr id="3" name="">
            <a:extLst xmlns:a="http://schemas.openxmlformats.org/drawingml/2006/main">
              <a:ext uri="{FF2B5EF4-FFF2-40B4-BE49-F238E27FC236}">
                <a16:creationId xmlns:a16="http://schemas.microsoft.com/office/drawing/2014/main" id="{872B38D5-F3CA-4DE4-8099-B78BA5D27DCC}"/>
              </a:ext>
            </a:extLst>
          </p:cNvPr>
          <p:cNvSpPr>
            <a:spLocks xmlns:a="http://schemas.openxmlformats.org/drawingml/2006/main" noGrp="1"/>
          </p:cNvSpPr>
          <p:nvPr/>
        </p:nvSpPr>
        <p:spPr>
          <a:xfrm xmlns:a="http://schemas.openxmlformats.org/drawingml/2006/main">
            <a:off x="685800" y="1476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Camille, QA malentendante. Équipe fictive Paris / Montréal.</a:t>
            </a:r>
          </a:p>
        </p:txBody>
      </p:sp>
      <p:graphicFrame>
        <p:nvGraphicFramePr>
          <p:cNvPr id="11" name=""/>
          <p:cNvGraphicFramePr/>
          <p:nvPr/>
        </p:nvGraphicFramePr>
        <p:xfrm>
          <a:off xmlns:a="http://schemas.openxmlformats.org/drawingml/2006/main" x="609600" y="2095500"/>
          <a:ext xmlns:a="http://schemas.openxmlformats.org/drawingml/2006/main" cx="10972800" cy="2514600"/>
        </p:xfrm>
        <a:graphic xmlns:a="http://schemas.openxmlformats.org/drawingml/2006/main">
          <a:graphicData uri="http://schemas.openxmlformats.org/drawingml/2006/table">
            <a:tbl>
              <a:tblPr/>
              <a:tblGrid>
                <a:gridCol w="2571750"/>
                <a:gridCol w="8401050"/>
              </a:tblGrid>
              <a:tr h="628650">
                <a:tc>
                  <a:txBody>
                    <a:bodyPr/>
                    <a:lstStyle/>
                    <a:p>
                      <a:r>
                        <a:rPr sz="1800" b="1">
                          <a:solidFill>
                            <a:srgbClr val="FFFFFF"/>
                          </a:solidFill>
                          <a:latin typeface="Arial"/>
                          <a:ea typeface="Arial"/>
                          <a:cs typeface="Arial"/>
                        </a:rPr>
                        <a:t>Situation</a:t>
                      </a:r>
                    </a:p>
                  </a:txBody>
                  <a:tcPr marL="91440" marR="91440" marT="45720" marB="45720">
                    <a:solidFill>
                      <a:srgbClr val="28725F"/>
                    </a:solidFill>
                  </a:tcPr>
                </a:tc>
                <a:tc>
                  <a:txBody>
                    <a:bodyPr/>
                    <a:lstStyle/>
                    <a:p>
                      <a:r>
                        <a:rPr sz="1800" b="1">
                          <a:solidFill>
                            <a:srgbClr val="FFFFFF"/>
                          </a:solidFill>
                          <a:latin typeface="Arial"/>
                          <a:ea typeface="Arial"/>
                          <a:cs typeface="Arial"/>
                        </a:rPr>
                        <a:t>Aménagement retenu</a:t>
                      </a:r>
                    </a:p>
                  </a:txBody>
                  <a:tcPr marL="91440" marR="91440" marT="45720" marB="45720">
                    <a:solidFill>
                      <a:srgbClr val="28725F"/>
                    </a:solidFill>
                  </a:tcPr>
                </a:tc>
              </a:tr>
              <a:tr h="628650">
                <a:tc>
                  <a:txBody>
                    <a:bodyPr/>
                    <a:lstStyle/>
                    <a:p>
                      <a:r>
                        <a:rPr sz="1800" b="0">
                          <a:solidFill>
                            <a:srgbClr val="18312D"/>
                          </a:solidFill>
                          <a:latin typeface="Arial"/>
                          <a:ea typeface="Arial"/>
                          <a:cs typeface="Arial"/>
                        </a:rPr>
                        <a:t>Réunions</a:t>
                      </a:r>
                    </a:p>
                  </a:txBody>
                  <a:tcPr marL="91440" marR="91440" marT="45720" marB="45720">
                    <a:solidFill>
                      <a:srgbClr val="E9EEE4"/>
                    </a:solidFill>
                  </a:tcPr>
                </a:tc>
                <a:tc>
                  <a:txBody>
                    <a:bodyPr/>
                    <a:lstStyle/>
                    <a:p>
                      <a:r>
                        <a:rPr sz="1800" b="0">
                          <a:solidFill>
                            <a:srgbClr val="18312D"/>
                          </a:solidFill>
                          <a:latin typeface="Arial"/>
                          <a:ea typeface="Arial"/>
                          <a:cs typeface="Arial"/>
                        </a:rPr>
                        <a:t>Sous-titres testés, une personne parle à la fois.</a:t>
                      </a:r>
                    </a:p>
                  </a:txBody>
                  <a:tcPr marL="91440" marR="91440" marT="45720" marB="45720">
                    <a:solidFill>
                      <a:srgbClr val="E9EEE4"/>
                    </a:solidFill>
                  </a:tcPr>
                </a:tc>
              </a:tr>
              <a:tr h="628650">
                <a:tc>
                  <a:txBody>
                    <a:bodyPr/>
                    <a:lstStyle/>
                    <a:p>
                      <a:r>
                        <a:rPr sz="1800" b="0">
                          <a:solidFill>
                            <a:srgbClr val="18312D"/>
                          </a:solidFill>
                          <a:latin typeface="Arial"/>
                          <a:ea typeface="Arial"/>
                          <a:cs typeface="Arial"/>
                        </a:rPr>
                        <a:t>Décisions</a:t>
                      </a:r>
                    </a:p>
                  </a:txBody>
                  <a:tcPr marL="91440" marR="91440" marT="45720" marB="45720">
                    <a:solidFill>
                      <a:srgbClr val="F5F3EA"/>
                    </a:solidFill>
                  </a:tcPr>
                </a:tc>
                <a:tc>
                  <a:txBody>
                    <a:bodyPr/>
                    <a:lstStyle/>
                    <a:p>
                      <a:r>
                        <a:rPr sz="1800" b="0">
                          <a:solidFill>
                            <a:srgbClr val="18312D"/>
                          </a:solidFill>
                          <a:latin typeface="Arial"/>
                          <a:ea typeface="Arial"/>
                          <a:cs typeface="Arial"/>
                        </a:rPr>
                        <a:t>Synthèse écrite avec responsable et échéance.</a:t>
                      </a:r>
                    </a:p>
                  </a:txBody>
                  <a:tcPr marL="91440" marR="91440" marT="45720" marB="45720">
                    <a:solidFill>
                      <a:srgbClr val="F5F3EA"/>
                    </a:solidFill>
                  </a:tcPr>
                </a:tc>
              </a:tr>
              <a:tr h="628650">
                <a:tc>
                  <a:txBody>
                    <a:bodyPr/>
                    <a:lstStyle/>
                    <a:p>
                      <a:r>
                        <a:rPr sz="1800" b="0">
                          <a:solidFill>
                            <a:srgbClr val="18312D"/>
                          </a:solidFill>
                          <a:latin typeface="Arial"/>
                          <a:ea typeface="Arial"/>
                          <a:cs typeface="Arial"/>
                        </a:rPr>
                        <a:t>Formation</a:t>
                      </a:r>
                    </a:p>
                  </a:txBody>
                  <a:tcPr marL="91440" marR="91440" marT="45720" marB="45720">
                    <a:solidFill>
                      <a:srgbClr val="E9EEE4"/>
                    </a:solidFill>
                  </a:tcPr>
                </a:tc>
                <a:tc>
                  <a:txBody>
                    <a:bodyPr/>
                    <a:lstStyle/>
                    <a:p>
                      <a:r>
                        <a:rPr sz="1800" b="0">
                          <a:solidFill>
                            <a:srgbClr val="18312D"/>
                          </a:solidFill>
                          <a:latin typeface="Arial"/>
                          <a:ea typeface="Arial"/>
                          <a:cs typeface="Arial"/>
                        </a:rPr>
                        <a:t>Consignes écrites, démonstration sous-titrée.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B0D4C3E0-EDF5-40C9-80DE-7006514F6F1F}"/>
              </a:ext>
            </a:extLst>
          </p:cNvPr>
          <p:cNvSpPr>
            <a:spLocks xmlns:a="http://schemas.openxmlformats.org/drawingml/2006/main" noGrp="1"/>
          </p:cNvSpPr>
          <p:nvPr/>
        </p:nvSpPr>
        <p:spPr>
          <a:xfrm xmlns:a="http://schemas.openxmlformats.org/drawingml/2006/main">
            <a:off x="685800" y="48958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Paris / Montréal : avis écrits avant décision, glossaire FR/EN.</a:t>
            </a:r>
          </a:p>
        </p:txBody>
      </p:sp>
      <p:sp>
        <p:nvSpPr>
          <p:cNvPr id="6" name="">
            <a:extLst xmlns:a="http://schemas.openxmlformats.org/drawingml/2006/main">
              <a:ext uri="{FF2B5EF4-FFF2-40B4-BE49-F238E27FC236}">
                <a16:creationId xmlns:a16="http://schemas.microsoft.com/office/drawing/2014/main" id="{E555D680-6744-4FD1-A974-C4787955E280}"/>
              </a:ext>
            </a:extLst>
          </p:cNvPr>
          <p:cNvSpPr>
            <a:spLocks xmlns:a="http://schemas.openxmlformats.org/drawingml/2006/main" noGrp="1"/>
          </p:cNvSpPr>
          <p:nvPr/>
        </p:nvSpPr>
        <p:spPr>
          <a:xfrm xmlns:a="http://schemas.openxmlformats.org/drawingml/2006/main">
            <a:off x="685800" y="531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Créneau commun avec fuseaux. Reformulation de l’action attendue.</a:t>
            </a:r>
          </a:p>
        </p:txBody>
      </p:sp>
      <p:sp>
        <p:nvSpPr>
          <p:cNvPr id="7" name="">
            <a:extLst xmlns:a="http://schemas.openxmlformats.org/drawingml/2006/main">
              <a:ext uri="{FF2B5EF4-FFF2-40B4-BE49-F238E27FC236}">
                <a16:creationId xmlns:a16="http://schemas.microsoft.com/office/drawing/2014/main" id="{66ED57CE-1364-4FFF-904F-092A2C4064EC}"/>
              </a:ext>
            </a:extLst>
          </p:cNvPr>
          <p:cNvSpPr>
            <a:spLocks xmlns:a="http://schemas.openxmlformats.org/drawingml/2006/main" noGrp="1"/>
          </p:cNvSpPr>
          <p:nvPr/>
        </p:nvSpPr>
        <p:spPr>
          <a:xfrm xmlns:a="http://schemas.openxmlformats.org/drawingml/2006/main">
            <a:off x="685800" y="58578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J3 : comprendre. J10 : retrouver. J14 : réaliser sans aide.</a:t>
            </a:r>
          </a:p>
        </p:txBody>
      </p:sp>
    </p:spTree>
    <p:extLst>
      <p:ext uri="{BB962C8B-B14F-4D97-AF65-F5344CB8AC3E}">
        <p14:creationId xmlns:p14="http://schemas.microsoft.com/office/powerpoint/2010/main" val="512292498"/>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A98F8B-190F-4B3C-9594-4DEE13D1BB6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grille des compétences du lot</a:t>
            </a:r>
          </a:p>
        </p:txBody>
      </p:sp>
      <p:sp>
        <p:nvSpPr>
          <p:cNvPr id="2" name="">
            <a:extLst xmlns:a="http://schemas.openxmlformats.org/drawingml/2006/main">
              <a:ext uri="{FF2B5EF4-FFF2-40B4-BE49-F238E27FC236}">
                <a16:creationId xmlns:a16="http://schemas.microsoft.com/office/drawing/2014/main" id="{242398BE-FD27-4BD2-9EC1-AF1CC0ACDA1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niveaux hypothétiques du cas    18:00 à 19:00    15</a:t>
            </a:r>
          </a:p>
        </p:txBody>
      </p:sp>
      <p:graphicFrame>
        <p:nvGraphicFramePr>
          <p:cNvPr id="7" name=""/>
          <p:cNvGraphicFramePr/>
          <p:nvPr/>
        </p:nvGraphicFramePr>
        <p:xfrm>
          <a:off xmlns:a="http://schemas.openxmlformats.org/drawingml/2006/main" x="609600" y="1714500"/>
          <a:ext xmlns:a="http://schemas.openxmlformats.org/drawingml/2006/main" cx="10972800" cy="3943350"/>
        </p:xfrm>
        <a:graphic xmlns:a="http://schemas.openxmlformats.org/drawingml/2006/main">
          <a:graphicData uri="http://schemas.openxmlformats.org/drawingml/2006/table">
            <a:tbl>
              <a:tblPr/>
              <a:tblGrid>
                <a:gridCol w="1733550"/>
                <a:gridCol w="6191250"/>
                <a:gridCol w="1524000"/>
                <a:gridCol w="1524000"/>
              </a:tblGrid>
              <a:tr h="563336">
                <a:tc>
                  <a:txBody>
                    <a:bodyPr/>
                    <a:lstStyle/>
                    <a:p>
                      <a:r>
                        <a:rPr sz="1800" b="1">
                          <a:solidFill>
                            <a:srgbClr val="FFFFFF"/>
                          </a:solidFill>
                          <a:latin typeface="Arial"/>
                          <a:ea typeface="Arial"/>
                          <a:cs typeface="Arial"/>
                        </a:rPr>
                        <a:t>Rôle</a:t>
                      </a:r>
                    </a:p>
                  </a:txBody>
                  <a:tcPr marL="91440" marR="91440" marT="45720" marB="45720">
                    <a:solidFill>
                      <a:srgbClr val="28725F"/>
                    </a:solidFill>
                  </a:tcPr>
                </a:tc>
                <a:tc>
                  <a:txBody>
                    <a:bodyPr/>
                    <a:lstStyle/>
                    <a:p>
                      <a:r>
                        <a:rPr sz="1800" b="1">
                          <a:solidFill>
                            <a:srgbClr val="FFFFFF"/>
                          </a:solidFill>
                          <a:latin typeface="Arial"/>
                          <a:ea typeface="Arial"/>
                          <a:cs typeface="Arial"/>
                        </a:rPr>
                        <a:t>Compétence</a:t>
                      </a:r>
                    </a:p>
                  </a:txBody>
                  <a:tcPr marL="91440" marR="91440" marT="45720" marB="45720">
                    <a:solidFill>
                      <a:srgbClr val="28725F"/>
                    </a:solidFill>
                  </a:tcPr>
                </a:tc>
                <a:tc>
                  <a:txBody>
                    <a:bodyPr/>
                    <a:lstStyle/>
                    <a:p>
                      <a:r>
                        <a:rPr sz="1800" b="1">
                          <a:solidFill>
                            <a:srgbClr val="FFFFFF"/>
                          </a:solidFill>
                          <a:latin typeface="Arial"/>
                          <a:ea typeface="Arial"/>
                          <a:cs typeface="Arial"/>
                        </a:rPr>
                        <a:t>Actuel</a:t>
                      </a:r>
                    </a:p>
                  </a:txBody>
                  <a:tcPr marL="91440" marR="91440" marT="45720" marB="45720">
                    <a:solidFill>
                      <a:srgbClr val="28725F"/>
                    </a:solidFill>
                  </a:tcPr>
                </a:tc>
                <a:tc>
                  <a:txBody>
                    <a:bodyPr/>
                    <a:lstStyle/>
                    <a:p>
                      <a:r>
                        <a:rPr sz="1800" b="1">
                          <a:solidFill>
                            <a:srgbClr val="FFFFFF"/>
                          </a:solidFill>
                          <a:latin typeface="Arial"/>
                          <a:ea typeface="Arial"/>
                          <a:cs typeface="Arial"/>
                        </a:rPr>
                        <a:t>Cible</a:t>
                      </a:r>
                    </a:p>
                  </a:txBody>
                  <a:tcPr marL="91440" marR="91440" marT="45720" marB="45720">
                    <a:solidFill>
                      <a:srgbClr val="28725F"/>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E9EEE4"/>
                    </a:solidFill>
                  </a:tcPr>
                </a:tc>
                <a:tc>
                  <a:txBody>
                    <a:bodyPr/>
                    <a:lstStyle/>
                    <a:p>
                      <a:r>
                        <a:rPr sz="1800" b="0">
                          <a:solidFill>
                            <a:srgbClr val="18312D"/>
                          </a:solidFill>
                          <a:latin typeface="Arial"/>
                          <a:ea typeface="Arial"/>
                          <a:cs typeface="Arial"/>
                        </a:rPr>
                        <a:t>Planning et suivi des écarts</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F5F3EA"/>
                    </a:solidFill>
                  </a:tcPr>
                </a:tc>
                <a:tc>
                  <a:txBody>
                    <a:bodyPr/>
                    <a:lstStyle/>
                    <a:p>
                      <a:r>
                        <a:rPr sz="1800" b="0">
                          <a:solidFill>
                            <a:srgbClr val="18312D"/>
                          </a:solidFill>
                          <a:latin typeface="Arial"/>
                          <a:ea typeface="Arial"/>
                          <a:cs typeface="Arial"/>
                        </a:rPr>
                        <a:t>Animation et arbitrage</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E9EEE4"/>
                    </a:solidFill>
                  </a:tcPr>
                </a:tc>
                <a:tc>
                  <a:txBody>
                    <a:bodyPr/>
                    <a:lstStyle/>
                    <a:p>
                      <a:r>
                        <a:rPr sz="1800" b="0">
                          <a:solidFill>
                            <a:srgbClr val="18312D"/>
                          </a:solidFill>
                          <a:latin typeface="Arial"/>
                          <a:ea typeface="Arial"/>
                          <a:cs typeface="Arial"/>
                        </a:rPr>
                        <a:t>Développement typé et validation</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F5F3EA"/>
                    </a:solidFill>
                  </a:tcPr>
                </a:tc>
                <a:tc>
                  <a:txBody>
                    <a:bodyPr/>
                    <a:lstStyle/>
                    <a:p>
                      <a:r>
                        <a:rPr sz="1800" b="0">
                          <a:solidFill>
                            <a:srgbClr val="18312D"/>
                          </a:solidFill>
                          <a:latin typeface="Arial"/>
                          <a:ea typeface="Arial"/>
                          <a:cs typeface="Arial"/>
                        </a:rPr>
                        <a:t>Transactions et concurrence</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E9EEE4"/>
                    </a:solidFill>
                  </a:tcPr>
                </a:tc>
                <a:tc>
                  <a:txBody>
                    <a:bodyPr/>
                    <a:lstStyle/>
                    <a:p>
                      <a:r>
                        <a:rPr sz="1800" b="0">
                          <a:solidFill>
                            <a:srgbClr val="18312D"/>
                          </a:solidFill>
                          <a:latin typeface="Arial"/>
                          <a:ea typeface="Arial"/>
                          <a:cs typeface="Arial"/>
                        </a:rPr>
                        <a:t>Recette navigateur reproductible</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F5F3EA"/>
                    </a:solidFill>
                  </a:tcPr>
                </a:tc>
                <a:tc>
                  <a:txBody>
                    <a:bodyPr/>
                    <a:lstStyle/>
                    <a:p>
                      <a:r>
                        <a:rPr sz="1800" b="0">
                          <a:solidFill>
                            <a:srgbClr val="18312D"/>
                          </a:solidFill>
                          <a:latin typeface="Arial"/>
                          <a:ea typeface="Arial"/>
                          <a:cs typeface="Arial"/>
                        </a:rPr>
                        <a:t>Clavier et formulaires</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1E90503A-0EB8-4157-91C3-2E5AF984CB9B}"/>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0 : non abordé. 1 : accompagné. 2 : autonome. 3 : cas complexes.</a:t>
            </a:r>
          </a:p>
        </p:txBody>
      </p:sp>
    </p:spTree>
    <p:extLst>
      <p:ext uri="{BB962C8B-B14F-4D97-AF65-F5344CB8AC3E}">
        <p14:creationId xmlns:p14="http://schemas.microsoft.com/office/powerpoint/2010/main" val="950970384"/>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FC1E3C-95BF-4D9A-A28B-6597E5D60B7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plan de formation pour chaque rôle</a:t>
            </a:r>
          </a:p>
        </p:txBody>
      </p:sp>
      <p:sp>
        <p:nvSpPr>
          <p:cNvPr id="2" name="">
            <a:extLst xmlns:a="http://schemas.openxmlformats.org/drawingml/2006/main">
              <a:ext uri="{FF2B5EF4-FFF2-40B4-BE49-F238E27FC236}">
                <a16:creationId xmlns:a16="http://schemas.microsoft.com/office/drawing/2014/main" id="{938D8D34-1E30-4B82-8C80-BC8A73EAF86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formations et besoin RH simulés    19:00 à 20:30    16</a:t>
            </a:r>
          </a:p>
        </p:txBody>
      </p:sp>
      <p:sp>
        <p:nvSpPr>
          <p:cNvPr id="3" name="">
            <a:extLst xmlns:a="http://schemas.openxmlformats.org/drawingml/2006/main">
              <a:ext uri="{FF2B5EF4-FFF2-40B4-BE49-F238E27FC236}">
                <a16:creationId xmlns:a16="http://schemas.microsoft.com/office/drawing/2014/main" id="{7748B92A-8B9E-4272-BFBB-018D0CB9F6FA}"/>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6 h incluses dans les tâches. 60 € de ressources du cas.</a:t>
            </a:r>
          </a:p>
        </p:txBody>
      </p:sp>
      <p:graphicFrame>
        <p:nvGraphicFramePr>
          <p:cNvPr id="10" name=""/>
          <p:cNvGraphicFramePr/>
          <p:nvPr/>
        </p:nvGraphicFramePr>
        <p:xfrm>
          <a:off xmlns:a="http://schemas.openxmlformats.org/drawingml/2006/main" x="609600" y="2105025"/>
          <a:ext xmlns:a="http://schemas.openxmlformats.org/drawingml/2006/main" cx="10972800" cy="2781300"/>
        </p:xfrm>
        <a:graphic xmlns:a="http://schemas.openxmlformats.org/drawingml/2006/main">
          <a:graphicData uri="http://schemas.openxmlformats.org/drawingml/2006/table">
            <a:tbl>
              <a:tblPr/>
              <a:tblGrid>
                <a:gridCol w="2371725"/>
                <a:gridCol w="4324350"/>
                <a:gridCol w="4276725"/>
              </a:tblGrid>
              <a:tr h="695325">
                <a:tc>
                  <a:txBody>
                    <a:bodyPr/>
                    <a:lstStyle/>
                    <a:p>
                      <a:r>
                        <a:rPr sz="1800" b="1">
                          <a:solidFill>
                            <a:srgbClr val="FFFFFF"/>
                          </a:solidFill>
                          <a:latin typeface="Arial"/>
                          <a:ea typeface="Arial"/>
                          <a:cs typeface="Arial"/>
                        </a:rPr>
                        <a:t>Rôle et moment</a:t>
                      </a:r>
                    </a:p>
                  </a:txBody>
                  <a:tcPr marL="91440" marR="91440" marT="45720" marB="45720">
                    <a:solidFill>
                      <a:srgbClr val="28725F"/>
                    </a:solidFill>
                  </a:tcPr>
                </a:tc>
                <a:tc>
                  <a:txBody>
                    <a:bodyPr/>
                    <a:lstStyle/>
                    <a:p>
                      <a:r>
                        <a:rPr sz="1800" b="1">
                          <a:solidFill>
                            <a:srgbClr val="FFFFFF"/>
                          </a:solidFill>
                          <a:latin typeface="Arial"/>
                          <a:ea typeface="Arial"/>
                          <a:cs typeface="Arial"/>
                        </a:rPr>
                        <a:t>Atelier prévu</a:t>
                      </a:r>
                    </a:p>
                  </a:txBody>
                  <a:tcPr marL="91440" marR="91440" marT="45720" marB="45720">
                    <a:solidFill>
                      <a:srgbClr val="28725F"/>
                    </a:solidFill>
                  </a:tcPr>
                </a:tc>
                <a:tc>
                  <a:txBody>
                    <a:bodyPr/>
                    <a:lstStyle/>
                    <a:p>
                      <a:r>
                        <a:rPr sz="1800" b="1">
                          <a:solidFill>
                            <a:srgbClr val="FFFFFF"/>
                          </a:solidFill>
                          <a:latin typeface="Arial"/>
                          <a:ea typeface="Arial"/>
                          <a:cs typeface="Arial"/>
                        </a:rPr>
                        <a:t>Critère de réussite</a:t>
                      </a:r>
                    </a:p>
                  </a:txBody>
                  <a:tcPr marL="91440" marR="91440" marT="45720" marB="45720">
                    <a:solidFill>
                      <a:srgbClr val="28725F"/>
                    </a:solidFill>
                  </a:tcPr>
                </a:tc>
              </a:tr>
              <a:tr h="695325">
                <a:tc>
                  <a:txBody>
                    <a:bodyPr/>
                    <a:lstStyle/>
                    <a:p>
                      <a:r>
                        <a:rPr sz="1800" b="0">
                          <a:solidFill>
                            <a:srgbClr val="18312D"/>
                          </a:solidFill>
                          <a:latin typeface="Arial"/>
                          <a:ea typeface="Arial"/>
                          <a:cs typeface="Arial"/>
                        </a:rPr>
                        <a:t>CP, J3</a:t>
                      </a:r>
                    </a:p>
                  </a:txBody>
                  <a:tcPr marL="91440" marR="91440" marT="45720" marB="45720">
                    <a:solidFill>
                      <a:srgbClr val="E9EEE4"/>
                    </a:solidFill>
                  </a:tcPr>
                </a:tc>
                <a:tc>
                  <a:txBody>
                    <a:bodyPr/>
                    <a:lstStyle/>
                    <a:p>
                      <a:r>
                        <a:rPr sz="1800" b="0">
                          <a:solidFill>
                            <a:srgbClr val="18312D"/>
                          </a:solidFill>
                          <a:latin typeface="Arial"/>
                          <a:ea typeface="Arial"/>
                          <a:cs typeface="Arial"/>
                        </a:rPr>
                        <a:t>Tableau de bord : 1 h</a:t>
                      </a:r>
                    </a:p>
                  </a:txBody>
                  <a:tcPr marL="91440" marR="91440" marT="45720" marB="45720">
                    <a:solidFill>
                      <a:srgbClr val="E9EEE4"/>
                    </a:solidFill>
                  </a:tcPr>
                </a:tc>
                <a:tc>
                  <a:txBody>
                    <a:bodyPr/>
                    <a:lstStyle/>
                    <a:p>
                      <a:r>
                        <a:rPr sz="1800" b="0">
                          <a:solidFill>
                            <a:srgbClr val="18312D"/>
                          </a:solidFill>
                          <a:latin typeface="Arial"/>
                          <a:ea typeface="Arial"/>
                          <a:cs typeface="Arial"/>
                        </a:rPr>
                        <a:t>Expliquer un écart recalculé.</a:t>
                      </a:r>
                    </a:p>
                  </a:txBody>
                  <a:tcPr marL="91440" marR="91440" marT="45720" marB="45720">
                    <a:solidFill>
                      <a:srgbClr val="E9EEE4"/>
                    </a:solidFill>
                  </a:tcPr>
                </a:tc>
              </a:tr>
              <a:tr h="695325">
                <a:tc>
                  <a:txBody>
                    <a:bodyPr/>
                    <a:lstStyle/>
                    <a:p>
                      <a:r>
                        <a:rPr sz="1800" b="0">
                          <a:solidFill>
                            <a:srgbClr val="18312D"/>
                          </a:solidFill>
                          <a:latin typeface="Arial"/>
                          <a:ea typeface="Arial"/>
                          <a:cs typeface="Arial"/>
                        </a:rPr>
                        <a:t>DEV, J9-J12</a:t>
                      </a:r>
                    </a:p>
                  </a:txBody>
                  <a:tcPr marL="91440" marR="91440" marT="45720" marB="45720">
                    <a:solidFill>
                      <a:srgbClr val="F5F3EA"/>
                    </a:solidFill>
                  </a:tcPr>
                </a:tc>
                <a:tc>
                  <a:txBody>
                    <a:bodyPr/>
                    <a:lstStyle/>
                    <a:p>
                      <a:r>
                        <a:rPr sz="1800" b="0">
                          <a:solidFill>
                            <a:srgbClr val="18312D"/>
                          </a:solidFill>
                          <a:latin typeface="Arial"/>
                          <a:ea typeface="Arial"/>
                          <a:cs typeface="Arial"/>
                        </a:rPr>
                        <a:t>Concurrence : 2 h</a:t>
                      </a:r>
                    </a:p>
                  </a:txBody>
                  <a:tcPr marL="91440" marR="91440" marT="45720" marB="45720">
                    <a:solidFill>
                      <a:srgbClr val="F5F3EA"/>
                    </a:solidFill>
                  </a:tcPr>
                </a:tc>
                <a:tc>
                  <a:txBody>
                    <a:bodyPr/>
                    <a:lstStyle/>
                    <a:p>
                      <a:r>
                        <a:rPr sz="1800" b="0">
                          <a:solidFill>
                            <a:srgbClr val="18312D"/>
                          </a:solidFill>
                          <a:latin typeface="Arial"/>
                          <a:ea typeface="Arial"/>
                          <a:cs typeface="Arial"/>
                        </a:rPr>
                        <a:t>Une place, une inscription acceptée.</a:t>
                      </a:r>
                    </a:p>
                  </a:txBody>
                  <a:tcPr marL="91440" marR="91440" marT="45720" marB="45720">
                    <a:solidFill>
                      <a:srgbClr val="F5F3EA"/>
                    </a:solidFill>
                  </a:tcPr>
                </a:tc>
              </a:tr>
              <a:tr h="695325">
                <a:tc>
                  <a:txBody>
                    <a:bodyPr/>
                    <a:lstStyle/>
                    <a:p>
                      <a:r>
                        <a:rPr sz="1800" b="0">
                          <a:solidFill>
                            <a:srgbClr val="18312D"/>
                          </a:solidFill>
                          <a:latin typeface="Arial"/>
                          <a:ea typeface="Arial"/>
                          <a:cs typeface="Arial"/>
                        </a:rPr>
                        <a:t>Camille, J10-J14</a:t>
                      </a:r>
                    </a:p>
                  </a:txBody>
                  <a:tcPr marL="91440" marR="91440" marT="45720" marB="45720">
                    <a:solidFill>
                      <a:srgbClr val="E9EEE4"/>
                    </a:solidFill>
                  </a:tcPr>
                </a:tc>
                <a:tc>
                  <a:txBody>
                    <a:bodyPr/>
                    <a:lstStyle/>
                    <a:p>
                      <a:r>
                        <a:rPr sz="1800" b="0">
                          <a:solidFill>
                            <a:srgbClr val="18312D"/>
                          </a:solidFill>
                          <a:latin typeface="Arial"/>
                          <a:ea typeface="Arial"/>
                          <a:cs typeface="Arial"/>
                        </a:rPr>
                        <a:t>Recette : 2 h. Clavier : 1 h.</a:t>
                      </a:r>
                    </a:p>
                  </a:txBody>
                  <a:tcPr marL="91440" marR="91440" marT="45720" marB="45720">
                    <a:solidFill>
                      <a:srgbClr val="E9EEE4"/>
                    </a:solidFill>
                  </a:tcPr>
                </a:tc>
                <a:tc>
                  <a:txBody>
                    <a:bodyPr/>
                    <a:lstStyle/>
                    <a:p>
                      <a:r>
                        <a:rPr sz="1800" b="0">
                          <a:solidFill>
                            <a:srgbClr val="18312D"/>
                          </a:solidFill>
                          <a:latin typeface="Arial"/>
                          <a:ea typeface="Arial"/>
                          <a:cs typeface="Arial"/>
                        </a:rPr>
                        <a:t>Rejouer un cas sans aide.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4FBA11B2-A641-4766-A6B6-C959B9D1FAF2}"/>
              </a:ext>
            </a:extLst>
          </p:cNvPr>
          <p:cNvSpPr>
            <a:spLocks xmlns:a="http://schemas.openxmlformats.org/drawingml/2006/main" noGrp="1"/>
          </p:cNvSpPr>
          <p:nvPr/>
        </p:nvSpPr>
        <p:spPr>
          <a:xfrm xmlns:a="http://schemas.openxmlformats.org/drawingml/2006/main">
            <a:off x="685800" y="517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Camille : consignes écrites et démonstration sous-titrée.</a:t>
            </a:r>
          </a:p>
        </p:txBody>
      </p:sp>
      <p:sp>
        <p:nvSpPr>
          <p:cNvPr id="6" name="">
            <a:extLst xmlns:a="http://schemas.openxmlformats.org/drawingml/2006/main">
              <a:ext uri="{FF2B5EF4-FFF2-40B4-BE49-F238E27FC236}">
                <a16:creationId xmlns:a16="http://schemas.microsoft.com/office/drawing/2014/main" id="{AB1A360A-D537-4447-9802-862C2501A6DA}"/>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À J12, compétence critique indisponible : demande RH à arbitrer.</a:t>
            </a:r>
          </a:p>
        </p:txBody>
      </p:sp>
    </p:spTree>
    <p:extLst>
      <p:ext uri="{BB962C8B-B14F-4D97-AF65-F5344CB8AC3E}">
        <p14:creationId xmlns:p14="http://schemas.microsoft.com/office/powerpoint/2010/main" val="2135901258"/>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599B7C-0DEB-4D4B-9245-B23ABC0D97A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CR02 : une décision à J10</a:t>
            </a:r>
          </a:p>
        </p:txBody>
      </p:sp>
      <p:sp>
        <p:nvSpPr>
          <p:cNvPr id="2" name="">
            <a:extLst xmlns:a="http://schemas.openxmlformats.org/drawingml/2006/main">
              <a:ext uri="{FF2B5EF4-FFF2-40B4-BE49-F238E27FC236}">
                <a16:creationId xmlns:a16="http://schemas.microsoft.com/office/drawing/2014/main" id="{E70B02E8-134B-4457-8520-078965CD33D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comptes rendus simulés    20:30 à 22:00    17</a:t>
            </a:r>
          </a:p>
        </p:txBody>
      </p:sp>
      <p:graphicFrame>
        <p:nvGraphicFramePr>
          <p:cNvPr id="8" name=""/>
          <p:cNvGraphicFramePr/>
          <p:nvPr/>
        </p:nvGraphicFramePr>
        <p:xfrm>
          <a:off xmlns:a="http://schemas.openxmlformats.org/drawingml/2006/main" x="609600" y="1847850"/>
          <a:ext xmlns:a="http://schemas.openxmlformats.org/drawingml/2006/main" cx="10972800" cy="3524250"/>
        </p:xfrm>
        <a:graphic xmlns:a="http://schemas.openxmlformats.org/drawingml/2006/main">
          <a:graphicData uri="http://schemas.openxmlformats.org/drawingml/2006/table">
            <a:tbl>
              <a:tblPr/>
              <a:tblGrid>
                <a:gridCol w="2381250"/>
                <a:gridCol w="8591550"/>
              </a:tblGrid>
              <a:tr h="704850">
                <a:tc>
                  <a:txBody>
                    <a:bodyPr/>
                    <a:lstStyle/>
                    <a:p>
                      <a:r>
                        <a:rPr sz="1800" b="1">
                          <a:solidFill>
                            <a:srgbClr val="FFFFFF"/>
                          </a:solidFill>
                          <a:latin typeface="Arial"/>
                          <a:ea typeface="Arial"/>
                          <a:cs typeface="Arial"/>
                        </a:rPr>
                        <a:t>CR02 à J10</a:t>
                      </a:r>
                    </a:p>
                  </a:txBody>
                  <a:tcPr marL="91440" marR="91440" marT="45720" marB="45720">
                    <a:solidFill>
                      <a:srgbClr val="28725F"/>
                    </a:solidFill>
                  </a:tcPr>
                </a:tc>
                <a:tc>
                  <a:txBody>
                    <a:bodyPr/>
                    <a:lstStyle/>
                    <a:p>
                      <a:r>
                        <a:rPr sz="1800" b="1">
                          <a:solidFill>
                            <a:srgbClr val="FFFFFF"/>
                          </a:solidFill>
                          <a:latin typeface="Arial"/>
                          <a:ea typeface="Arial"/>
                          <a:cs typeface="Arial"/>
                        </a:rPr>
                        <a:t>Extrait du compte rendu fictif</a:t>
                      </a:r>
                    </a:p>
                  </a:txBody>
                  <a:tcPr marL="91440" marR="91440" marT="45720" marB="45720">
                    <a:solidFill>
                      <a:srgbClr val="28725F"/>
                    </a:solidFill>
                  </a:tcPr>
                </a:tc>
              </a:tr>
              <a:tr h="704850">
                <a:tc>
                  <a:txBody>
                    <a:bodyPr/>
                    <a:lstStyle/>
                    <a:p>
                      <a:r>
                        <a:rPr sz="1800" b="0">
                          <a:solidFill>
                            <a:srgbClr val="18312D"/>
                          </a:solidFill>
                          <a:latin typeface="Arial"/>
                          <a:ea typeface="Arial"/>
                          <a:cs typeface="Arial"/>
                        </a:rPr>
                        <a:t>Écart</a:t>
                      </a:r>
                    </a:p>
                  </a:txBody>
                  <a:tcPr marL="91440" marR="91440" marT="45720" marB="45720">
                    <a:solidFill>
                      <a:srgbClr val="E9EEE4"/>
                    </a:solidFill>
                  </a:tcPr>
                </a:tc>
                <a:tc>
                  <a:txBody>
                    <a:bodyPr/>
                    <a:lstStyle/>
                    <a:p>
                      <a:r>
                        <a:rPr sz="1800" b="0">
                          <a:solidFill>
                            <a:srgbClr val="18312D"/>
                          </a:solidFill>
                          <a:latin typeface="Arial"/>
                          <a:ea typeface="Arial"/>
                          <a:cs typeface="Arial"/>
                        </a:rPr>
                        <a:t>Événements J11 à J12. Prévision : 4 465 €.</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Décision client</a:t>
                      </a:r>
                    </a:p>
                  </a:txBody>
                  <a:tcPr marL="91440" marR="91440" marT="45720" marB="45720">
                    <a:solidFill>
                      <a:srgbClr val="F5F3EA"/>
                    </a:solidFill>
                  </a:tcPr>
                </a:tc>
                <a:tc>
                  <a:txBody>
                    <a:bodyPr/>
                    <a:lstStyle/>
                    <a:p>
                      <a:r>
                        <a:rPr sz="1800" b="0">
                          <a:solidFill>
                            <a:srgbClr val="18312D"/>
                          </a:solidFill>
                          <a:latin typeface="Arial"/>
                          <a:ea typeface="Arial"/>
                          <a:cs typeface="Arial"/>
                        </a:rPr>
                        <a:t>Reporter les topos, maintenir les critères de recette.</a:t>
                      </a:r>
                    </a:p>
                  </a:txBody>
                  <a:tcPr marL="91440" marR="91440" marT="45720" marB="45720">
                    <a:solidFill>
                      <a:srgbClr val="F5F3EA"/>
                    </a:solidFill>
                  </a:tcPr>
                </a:tc>
              </a:tr>
              <a:tr h="704850">
                <a:tc>
                  <a:txBody>
                    <a:bodyPr/>
                    <a:lstStyle/>
                    <a:p>
                      <a:r>
                        <a:rPr sz="1800" b="0">
                          <a:solidFill>
                            <a:srgbClr val="18312D"/>
                          </a:solidFill>
                          <a:latin typeface="Arial"/>
                          <a:ea typeface="Arial"/>
                          <a:cs typeface="Arial"/>
                        </a:rPr>
                        <a:t>Actions</a:t>
                      </a:r>
                    </a:p>
                  </a:txBody>
                  <a:tcPr marL="91440" marR="91440" marT="45720" marB="45720">
                    <a:solidFill>
                      <a:srgbClr val="E9EEE4"/>
                    </a:solidFill>
                  </a:tcPr>
                </a:tc>
                <a:tc>
                  <a:txBody>
                    <a:bodyPr/>
                    <a:lstStyle/>
                    <a:p>
                      <a:r>
                        <a:rPr sz="1800" b="0">
                          <a:solidFill>
                            <a:srgbClr val="18312D"/>
                          </a:solidFill>
                          <a:latin typeface="Arial"/>
                          <a:ea typeface="Arial"/>
                          <a:cs typeface="Arial"/>
                        </a:rPr>
                        <a:t>DEV : T06 à J12. QA : recette à J14. CP : restitution J15.</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Suite</a:t>
                      </a:r>
                    </a:p>
                  </a:txBody>
                  <a:tcPr marL="91440" marR="91440" marT="45720" marB="45720">
                    <a:solidFill>
                      <a:srgbClr val="F5F3EA"/>
                    </a:solidFill>
                  </a:tcPr>
                </a:tc>
                <a:tc>
                  <a:txBody>
                    <a:bodyPr/>
                    <a:lstStyle/>
                    <a:p>
                      <a:r>
                        <a:rPr sz="1800" b="0">
                          <a:solidFill>
                            <a:srgbClr val="18312D"/>
                          </a:solidFill>
                          <a:latin typeface="Arial"/>
                          <a:ea typeface="Arial"/>
                          <a:cs typeface="Arial"/>
                        </a:rPr>
                        <a:t>Claire Martin, Altitude Grimpe. Validation du parcours à J15.</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6DF2CA54-2A16-452E-A05A-42A8A384199F}"/>
              </a:ext>
            </a:extLst>
          </p:cNvPr>
          <p:cNvSpPr>
            <a:spLocks xmlns:a="http://schemas.openxmlformats.org/drawingml/2006/main" noGrp="1"/>
          </p:cNvSpPr>
          <p:nvPr/>
        </p:nvSpPr>
        <p:spPr>
          <a:xfrm xmlns:a="http://schemas.openxmlformats.org/drawingml/2006/main">
            <a:off x="685800" y="55816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Ressource partagée : A07, compte rendu CR02 et critères.</a:t>
            </a:r>
          </a:p>
        </p:txBody>
      </p:sp>
      <p:sp>
        <p:nvSpPr>
          <p:cNvPr id="5" name="">
            <a:extLst xmlns:a="http://schemas.openxmlformats.org/drawingml/2006/main">
              <a:ext uri="{FF2B5EF4-FFF2-40B4-BE49-F238E27FC236}">
                <a16:creationId xmlns:a16="http://schemas.microsoft.com/office/drawing/2014/main" id="{0688F953-850E-453C-B881-0195B8A6547A}"/>
              </a:ext>
            </a:extLst>
          </p:cNvPr>
          <p:cNvSpPr>
            <a:spLocks xmlns:a="http://schemas.openxmlformats.org/drawingml/2006/main" noGrp="1"/>
          </p:cNvSpPr>
          <p:nvPr/>
        </p:nvSpPr>
        <p:spPr>
          <a:xfrm xmlns:a="http://schemas.openxmlformats.org/drawingml/2006/main">
            <a:off x="685800" y="60293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12D"/>
                </a:solidFill>
                <a:latin typeface="Arial"/>
                <a:ea typeface="Arial"/>
                <a:cs typeface="Arial"/>
              </a:defRPr>
            </a:pPr>
            <a:r>
              <a:rPr sz="1725" b="0">
                <a:solidFill>
                  <a:srgbClr val="18312D"/>
                </a:solidFill>
                <a:latin typeface="Arial"/>
                <a:ea typeface="Arial"/>
                <a:cs typeface="Arial"/>
              </a:rPr>
              <a:t>J3 : périmètre. J10 : écarts. J15 : validation.</a:t>
            </a:r>
          </a:p>
        </p:txBody>
      </p:sp>
    </p:spTree>
    <p:extLst>
      <p:ext uri="{BB962C8B-B14F-4D97-AF65-F5344CB8AC3E}">
        <p14:creationId xmlns:p14="http://schemas.microsoft.com/office/powerpoint/2010/main" val="792334755"/>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22CD5E-2C6A-46E4-8F09-6A6E0D88914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Mesurer la satisfaction et agir</a:t>
            </a:r>
          </a:p>
        </p:txBody>
      </p:sp>
      <p:sp>
        <p:nvSpPr>
          <p:cNvPr id="2" name="">
            <a:extLst xmlns:a="http://schemas.openxmlformats.org/drawingml/2006/main">
              <a:ext uri="{FF2B5EF4-FFF2-40B4-BE49-F238E27FC236}">
                <a16:creationId xmlns:a16="http://schemas.microsoft.com/office/drawing/2014/main" id="{CC2F9751-857C-4880-99CE-611BA5DD62D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aucun résultat client réel disponible    22:00 à 23:00    18</a:t>
            </a:r>
          </a:p>
        </p:txBody>
      </p:sp>
      <p:sp>
        <p:nvSpPr>
          <p:cNvPr id="3" name="">
            <a:extLst xmlns:a="http://schemas.openxmlformats.org/drawingml/2006/main">
              <a:ext uri="{FF2B5EF4-FFF2-40B4-BE49-F238E27FC236}">
                <a16:creationId xmlns:a16="http://schemas.microsoft.com/office/drawing/2014/main" id="{1655853D-C49D-4460-8CBD-3C7BB8A49ADF}"/>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Protocole proposé. Résultats réels non mesurés.</a:t>
            </a:r>
          </a:p>
        </p:txBody>
      </p:sp>
      <p:graphicFrame>
        <p:nvGraphicFramePr>
          <p:cNvPr id="10" name=""/>
          <p:cNvGraphicFramePr/>
          <p:nvPr/>
        </p:nvGraphicFramePr>
        <p:xfrm>
          <a:off xmlns:a="http://schemas.openxmlformats.org/drawingml/2006/main" x="609600" y="2066925"/>
          <a:ext xmlns:a="http://schemas.openxmlformats.org/drawingml/2006/main" cx="10972800" cy="3248025"/>
        </p:xfrm>
        <a:graphic xmlns:a="http://schemas.openxmlformats.org/drawingml/2006/main">
          <a:graphicData uri="http://schemas.openxmlformats.org/drawingml/2006/table">
            <a:tbl>
              <a:tblPr/>
              <a:tblGrid>
                <a:gridCol w="2990850"/>
                <a:gridCol w="5372100"/>
                <a:gridCol w="2609850"/>
              </a:tblGrid>
              <a:tr h="649605">
                <a:tc>
                  <a:txBody>
                    <a:bodyPr/>
                    <a:lstStyle/>
                    <a:p>
                      <a:r>
                        <a:rPr sz="1800" b="1">
                          <a:solidFill>
                            <a:srgbClr val="FFFFFF"/>
                          </a:solidFill>
                          <a:latin typeface="Arial"/>
                          <a:ea typeface="Arial"/>
                          <a:cs typeface="Arial"/>
                        </a:rPr>
                        <a:t>Indicateur</a:t>
                      </a:r>
                    </a:p>
                  </a:txBody>
                  <a:tcPr marL="91440" marR="91440" marT="45720" marB="45720">
                    <a:solidFill>
                      <a:srgbClr val="28725F"/>
                    </a:solidFill>
                  </a:tcPr>
                </a:tc>
                <a:tc>
                  <a:txBody>
                    <a:bodyPr/>
                    <a:lstStyle/>
                    <a:p>
                      <a:r>
                        <a:rPr sz="1800" b="1">
                          <a:solidFill>
                            <a:srgbClr val="FFFFFF"/>
                          </a:solidFill>
                          <a:latin typeface="Arial"/>
                          <a:ea typeface="Arial"/>
                          <a:cs typeface="Arial"/>
                        </a:rPr>
                        <a:t>Calcul ou méthode</a:t>
                      </a:r>
                    </a:p>
                  </a:txBody>
                  <a:tcPr marL="91440" marR="91440" marT="45720" marB="45720">
                    <a:solidFill>
                      <a:srgbClr val="28725F"/>
                    </a:solidFill>
                  </a:tcPr>
                </a:tc>
                <a:tc>
                  <a:txBody>
                    <a:bodyPr/>
                    <a:lstStyle/>
                    <a:p>
                      <a:r>
                        <a:rPr sz="1800" b="1">
                          <a:solidFill>
                            <a:srgbClr val="FFFFFF"/>
                          </a:solidFill>
                          <a:latin typeface="Arial"/>
                          <a:ea typeface="Arial"/>
                          <a:cs typeface="Arial"/>
                        </a:rPr>
                        <a:t>Seuil visé</a:t>
                      </a:r>
                    </a:p>
                  </a:txBody>
                  <a:tcPr marL="91440" marR="91440" marT="45720" marB="45720">
                    <a:solidFill>
                      <a:srgbClr val="28725F"/>
                    </a:solidFill>
                  </a:tcPr>
                </a:tc>
              </a:tr>
              <a:tr h="649605">
                <a:tc>
                  <a:txBody>
                    <a:bodyPr/>
                    <a:lstStyle/>
                    <a:p>
                      <a:r>
                        <a:rPr sz="1800" b="0">
                          <a:solidFill>
                            <a:srgbClr val="18312D"/>
                          </a:solidFill>
                          <a:latin typeface="Arial"/>
                          <a:ea typeface="Arial"/>
                          <a:cs typeface="Arial"/>
                        </a:rPr>
                        <a:t>Critères critiques</a:t>
                      </a:r>
                    </a:p>
                  </a:txBody>
                  <a:tcPr marL="91440" marR="91440" marT="45720" marB="45720">
                    <a:solidFill>
                      <a:srgbClr val="E9EEE4"/>
                    </a:solidFill>
                  </a:tcPr>
                </a:tc>
                <a:tc>
                  <a:txBody>
                    <a:bodyPr/>
                    <a:lstStyle/>
                    <a:p>
                      <a:r>
                        <a:rPr sz="1800" b="0">
                          <a:solidFill>
                            <a:srgbClr val="18312D"/>
                          </a:solidFill>
                          <a:latin typeface="Arial"/>
                          <a:ea typeface="Arial"/>
                          <a:cs typeface="Arial"/>
                        </a:rPr>
                        <a:t>Acceptés / évalués</a:t>
                      </a:r>
                    </a:p>
                  </a:txBody>
                  <a:tcPr marL="91440" marR="91440" marT="45720" marB="45720">
                    <a:solidFill>
                      <a:srgbClr val="E9EEE4"/>
                    </a:solidFill>
                  </a:tcPr>
                </a:tc>
                <a:tc>
                  <a:txBody>
                    <a:bodyPr/>
                    <a:lstStyle/>
                    <a:p>
                      <a:r>
                        <a:rPr sz="1800" b="0">
                          <a:solidFill>
                            <a:srgbClr val="18312D"/>
                          </a:solidFill>
                          <a:latin typeface="Arial"/>
                          <a:ea typeface="Arial"/>
                          <a:cs typeface="Arial"/>
                        </a:rPr>
                        <a:t>100 %</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Parcours sans aide</a:t>
                      </a:r>
                    </a:p>
                  </a:txBody>
                  <a:tcPr marL="91440" marR="91440" marT="45720" marB="45720">
                    <a:solidFill>
                      <a:srgbClr val="F5F3EA"/>
                    </a:solidFill>
                  </a:tcPr>
                </a:tc>
                <a:tc>
                  <a:txBody>
                    <a:bodyPr/>
                    <a:lstStyle/>
                    <a:p>
                      <a:r>
                        <a:rPr sz="1800" b="0">
                          <a:solidFill>
                            <a:srgbClr val="18312D"/>
                          </a:solidFill>
                          <a:latin typeface="Arial"/>
                          <a:ea typeface="Arial"/>
                          <a:cs typeface="Arial"/>
                        </a:rPr>
                        <a:t>Réussis sans aide / tentés</a:t>
                      </a:r>
                    </a:p>
                  </a:txBody>
                  <a:tcPr marL="91440" marR="91440" marT="45720" marB="45720">
                    <a:solidFill>
                      <a:srgbClr val="F5F3EA"/>
                    </a:solidFill>
                  </a:tcPr>
                </a:tc>
                <a:tc>
                  <a:txBody>
                    <a:bodyPr/>
                    <a:lstStyle/>
                    <a:p>
                      <a:r>
                        <a:rPr sz="1800" b="0">
                          <a:solidFill>
                            <a:srgbClr val="18312D"/>
                          </a:solidFill>
                          <a:latin typeface="Arial"/>
                          <a:ea typeface="Arial"/>
                          <a:cs typeface="Arial"/>
                        </a:rPr>
                        <a:t>Au moins 80 %</a:t>
                      </a:r>
                    </a:p>
                  </a:txBody>
                  <a:tcPr marL="91440" marR="91440" marT="45720" marB="45720">
                    <a:solidFill>
                      <a:srgbClr val="F5F3EA"/>
                    </a:solidFill>
                  </a:tcPr>
                </a:tc>
              </a:tr>
              <a:tr h="649605">
                <a:tc>
                  <a:txBody>
                    <a:bodyPr/>
                    <a:lstStyle/>
                    <a:p>
                      <a:r>
                        <a:rPr sz="1800" b="0">
                          <a:solidFill>
                            <a:srgbClr val="18312D"/>
                          </a:solidFill>
                          <a:latin typeface="Arial"/>
                          <a:ea typeface="Arial"/>
                          <a:cs typeface="Arial"/>
                        </a:rPr>
                        <a:t>Utilité perçue</a:t>
                      </a:r>
                    </a:p>
                  </a:txBody>
                  <a:tcPr marL="91440" marR="91440" marT="45720" marB="45720">
                    <a:solidFill>
                      <a:srgbClr val="E9EEE4"/>
                    </a:solidFill>
                  </a:tcPr>
                </a:tc>
                <a:tc>
                  <a:txBody>
                    <a:bodyPr/>
                    <a:lstStyle/>
                    <a:p>
                      <a:r>
                        <a:rPr sz="1800" b="0">
                          <a:solidFill>
                            <a:srgbClr val="18312D"/>
                          </a:solidFill>
                          <a:latin typeface="Arial"/>
                          <a:ea typeface="Arial"/>
                          <a:cs typeface="Arial"/>
                        </a:rPr>
                        <a:t>Moyenne des notes, avec effectif</a:t>
                      </a:r>
                    </a:p>
                  </a:txBody>
                  <a:tcPr marL="91440" marR="91440" marT="45720" marB="45720">
                    <a:solidFill>
                      <a:srgbClr val="E9EEE4"/>
                    </a:solidFill>
                  </a:tcPr>
                </a:tc>
                <a:tc>
                  <a:txBody>
                    <a:bodyPr/>
                    <a:lstStyle/>
                    <a:p>
                      <a:r>
                        <a:rPr sz="1800" b="0">
                          <a:solidFill>
                            <a:srgbClr val="18312D"/>
                          </a:solidFill>
                          <a:latin typeface="Arial"/>
                          <a:ea typeface="Arial"/>
                          <a:cs typeface="Arial"/>
                        </a:rPr>
                        <a:t>Au moins 4/5</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Blocages critiques</a:t>
                      </a:r>
                    </a:p>
                  </a:txBody>
                  <a:tcPr marL="91440" marR="91440" marT="45720" marB="45720">
                    <a:solidFill>
                      <a:srgbClr val="F5F3EA"/>
                    </a:solidFill>
                  </a:tcPr>
                </a:tc>
                <a:tc>
                  <a:txBody>
                    <a:bodyPr/>
                    <a:lstStyle/>
                    <a:p>
                      <a:r>
                        <a:rPr sz="1800" b="0">
                          <a:solidFill>
                            <a:srgbClr val="18312D"/>
                          </a:solidFill>
                          <a:latin typeface="Arial"/>
                          <a:ea typeface="Arial"/>
                          <a:cs typeface="Arial"/>
                        </a:rPr>
                        <a:t>Nombre de tâches empêchées</a:t>
                      </a:r>
                    </a:p>
                  </a:txBody>
                  <a:tcPr marL="91440" marR="91440" marT="45720" marB="45720">
                    <a:solidFill>
                      <a:srgbClr val="F5F3EA"/>
                    </a:solidFill>
                  </a:tcPr>
                </a:tc>
                <a:tc>
                  <a:txBody>
                    <a:bodyPr/>
                    <a:lstStyle/>
                    <a:p>
                      <a:r>
                        <a:rPr sz="1800" b="0">
                          <a:solidFill>
                            <a:srgbClr val="18312D"/>
                          </a:solidFill>
                          <a:latin typeface="Arial"/>
                          <a:ea typeface="Arial"/>
                          <a:cs typeface="Arial"/>
                        </a:rPr>
                        <a:t>0 ouvert</a:t>
                      </a:r>
                    </a:p>
                  </a:txBody>
                  <a:tcPr marL="91440" marR="91440" marT="45720" marB="45720">
                    <a:solidFill>
                      <a:srgbClr val="F5F3EA"/>
                    </a:solidFill>
                  </a:tcPr>
                </a:tc>
              </a:tr>
            </a:tbl>
          </a:graphicData>
        </a:graphic>
      </p:graphicFrame>
      <p:sp>
        <p:nvSpPr>
          <p:cNvPr id="5" name="">
            <a:extLst xmlns:a="http://schemas.openxmlformats.org/drawingml/2006/main">
              <a:ext uri="{FF2B5EF4-FFF2-40B4-BE49-F238E27FC236}">
                <a16:creationId xmlns:a16="http://schemas.microsoft.com/office/drawing/2014/main" id="{516BAC90-C7B6-48E4-AE91-F30EBAC9ECAA}"/>
              </a:ext>
            </a:extLst>
          </p:cNvPr>
          <p:cNvSpPr>
            <a:spLocks xmlns:a="http://schemas.openxmlformats.org/drawingml/2006/main" noGrp="1"/>
          </p:cNvSpPr>
          <p:nvPr/>
        </p:nvSpPr>
        <p:spPr>
          <a:xfrm xmlns:a="http://schemas.openxmlformats.org/drawingml/2006/main">
            <a:off x="685800" y="56102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25F"/>
                </a:solidFill>
                <a:latin typeface="Arial"/>
                <a:ea typeface="Arial"/>
                <a:cs typeface="Arial"/>
              </a:defRPr>
            </a:pPr>
            <a:r>
              <a:rPr sz="1875" b="1">
                <a:solidFill>
                  <a:srgbClr val="28725F"/>
                </a:solidFill>
                <a:latin typeface="Arial"/>
                <a:ea typeface="Arial"/>
                <a:cs typeface="Arial"/>
              </a:rPr>
              <a:t>J15 : 2 grimpeurs et 1 club prévus. Date et effectif à relever.</a:t>
            </a:r>
          </a:p>
        </p:txBody>
      </p:sp>
      <p:sp>
        <p:nvSpPr>
          <p:cNvPr id="6" name="">
            <a:extLst xmlns:a="http://schemas.openxmlformats.org/drawingml/2006/main">
              <a:ext uri="{FF2B5EF4-FFF2-40B4-BE49-F238E27FC236}">
                <a16:creationId xmlns:a16="http://schemas.microsoft.com/office/drawing/2014/main" id="{58687DE4-2B7B-4CCA-BB23-C502AD2C74CC}"/>
              </a:ext>
            </a:extLst>
          </p:cNvPr>
          <p:cNvSpPr>
            <a:spLocks xmlns:a="http://schemas.openxmlformats.org/drawingml/2006/main" noGrp="1"/>
          </p:cNvSpPr>
          <p:nvPr/>
        </p:nvSpPr>
        <p:spPr>
          <a:xfrm xmlns:a="http://schemas.openxmlformats.org/drawingml/2006/main">
            <a:off x="685800" y="60674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Sous le seuil : qualifier, affecter une correction, vérifier à nouveau.</a:t>
            </a:r>
          </a:p>
        </p:txBody>
      </p:sp>
    </p:spTree>
    <p:extLst>
      <p:ext uri="{BB962C8B-B14F-4D97-AF65-F5344CB8AC3E}">
        <p14:creationId xmlns:p14="http://schemas.microsoft.com/office/powerpoint/2010/main" val="844834243"/>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d910fca2af24c49"/>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365173-18EF-49E1-B8E6-AF9D7F7BAFB8}"/>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8161A913-BDFF-4A97-B4DA-5A84B4A7986A}"/>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134D6F8F-C4A9-45FA-9BF1-DBF0A2E23ABA}"/>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E3A23E21-383D-4040-A01D-B5A3BDDA323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C3.4.2, séquence de six minutes    23:00 à 23:30    19</a:t>
            </a:r>
          </a:p>
        </p:txBody>
      </p:sp>
    </p:spTree>
    <p:extLst>
      <p:ext uri="{BB962C8B-B14F-4D97-AF65-F5344CB8AC3E}">
        <p14:creationId xmlns:p14="http://schemas.microsoft.com/office/powerpoint/2010/main" val="637236848"/>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28468E-7CE7-46F5-8CDD-465CE031862B}"/>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D8B6B3ED-CB72-407A-BEE4-16C3632E31EE}"/>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5202e326d214c82"/>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7FD7E8-63D5-4EF7-B8AB-E15C0DDDF64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23:30 à 26:30    20</a:t>
            </a:r>
          </a:p>
        </p:txBody>
      </p:sp>
    </p:spTree>
    <p:extLst>
      <p:ext uri="{BB962C8B-B14F-4D97-AF65-F5344CB8AC3E}">
        <p14:creationId xmlns:p14="http://schemas.microsoft.com/office/powerpoint/2010/main" val="443414811"/>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D63DBD-3A2B-4A5B-8C8C-66D37F4F227B}"/>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3D4A1101-01A9-4726-929B-D73D0EDAF27F}"/>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7f160e2cd474349"/>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9FE200E-6134-4A4A-89F0-CE1069540CE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26:30 à 29:00    21</a:t>
            </a:r>
          </a:p>
        </p:txBody>
      </p:sp>
    </p:spTree>
    <p:extLst>
      <p:ext uri="{BB962C8B-B14F-4D97-AF65-F5344CB8AC3E}">
        <p14:creationId xmlns:p14="http://schemas.microsoft.com/office/powerpoint/2010/main" val="2092460933"/>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2697B8-54C6-4220-90A4-80FF9C95668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critères de validation du parcours</a:t>
            </a:r>
          </a:p>
        </p:txBody>
      </p:sp>
      <p:sp>
        <p:nvSpPr>
          <p:cNvPr id="2" name="">
            <a:extLst xmlns:a="http://schemas.openxmlformats.org/drawingml/2006/main">
              <a:ext uri="{FF2B5EF4-FFF2-40B4-BE49-F238E27FC236}">
                <a16:creationId xmlns:a16="http://schemas.microsoft.com/office/drawing/2014/main" id="{66572A2B-0A02-476C-9F81-030524BE2F2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décision attendue après démonstration    29:00 à 30:00    22</a:t>
            </a:r>
          </a:p>
        </p:txBody>
      </p:sp>
      <p:graphicFrame>
        <p:nvGraphicFramePr>
          <p:cNvPr id="8" name=""/>
          <p:cNvGraphicFramePr/>
          <p:nvPr/>
        </p:nvGraphicFramePr>
        <p:xfrm>
          <a:off xmlns:a="http://schemas.openxmlformats.org/drawingml/2006/main" x="609600" y="1809750"/>
          <a:ext xmlns:a="http://schemas.openxmlformats.org/drawingml/2006/main" cx="10972800" cy="3362325"/>
        </p:xfrm>
        <a:graphic xmlns:a="http://schemas.openxmlformats.org/drawingml/2006/main">
          <a:graphicData uri="http://schemas.openxmlformats.org/drawingml/2006/table">
            <a:tbl>
              <a:tblPr/>
              <a:tblGrid>
                <a:gridCol w="3105150"/>
                <a:gridCol w="7867650"/>
              </a:tblGrid>
              <a:tr h="672465">
                <a:tc>
                  <a:txBody>
                    <a:bodyPr/>
                    <a:lstStyle/>
                    <a:p>
                      <a:r>
                        <a:rPr sz="1875" b="1">
                          <a:solidFill>
                            <a:srgbClr val="FFFFFF"/>
                          </a:solidFill>
                          <a:latin typeface="Arial"/>
                          <a:ea typeface="Arial"/>
                          <a:cs typeface="Arial"/>
                        </a:rPr>
                        <a:t>Critère à valider</a:t>
                      </a:r>
                    </a:p>
                  </a:txBody>
                  <a:tcPr marL="91440" marR="91440" marT="45720" marB="45720">
                    <a:solidFill>
                      <a:srgbClr val="28725F"/>
                    </a:solidFill>
                  </a:tcPr>
                </a:tc>
                <a:tc>
                  <a:txBody>
                    <a:bodyPr/>
                    <a:lstStyle/>
                    <a:p>
                      <a:r>
                        <a:rPr sz="1875" b="1">
                          <a:solidFill>
                            <a:srgbClr val="FFFFFF"/>
                          </a:solidFill>
                          <a:latin typeface="Arial"/>
                          <a:ea typeface="Arial"/>
                          <a:cs typeface="Arial"/>
                        </a:rPr>
                        <a:t>Constat attendu pendant la démonstration</a:t>
                      </a:r>
                    </a:p>
                  </a:txBody>
                  <a:tcPr marL="91440" marR="91440" marT="45720" marB="45720">
                    <a:solidFill>
                      <a:srgbClr val="28725F"/>
                    </a:solidFill>
                  </a:tcPr>
                </a:tc>
              </a:tr>
              <a:tr h="672465">
                <a:tc>
                  <a:txBody>
                    <a:bodyPr/>
                    <a:lstStyle/>
                    <a:p>
                      <a:r>
                        <a:rPr sz="1875" b="0">
                          <a:solidFill>
                            <a:srgbClr val="18312D"/>
                          </a:solidFill>
                          <a:latin typeface="Arial"/>
                          <a:ea typeface="Arial"/>
                          <a:cs typeface="Arial"/>
                        </a:rPr>
                        <a:t>Partenaire</a:t>
                      </a:r>
                    </a:p>
                  </a:txBody>
                  <a:tcPr marL="91440" marR="91440" marT="45720" marB="45720">
                    <a:solidFill>
                      <a:srgbClr val="E9EEE4"/>
                    </a:solidFill>
                  </a:tcPr>
                </a:tc>
                <a:tc>
                  <a:txBody>
                    <a:bodyPr/>
                    <a:lstStyle/>
                    <a:p>
                      <a:r>
                        <a:rPr sz="1875" b="0">
                          <a:solidFill>
                            <a:srgbClr val="18312D"/>
                          </a:solidFill>
                          <a:latin typeface="Arial"/>
                          <a:ea typeface="Arial"/>
                          <a:cs typeface="Arial"/>
                        </a:rPr>
                        <a:t>Filtres cohérents et état de demande compréhensible.</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Inscription</a:t>
                      </a:r>
                    </a:p>
                  </a:txBody>
                  <a:tcPr marL="91440" marR="91440" marT="45720" marB="45720">
                    <a:solidFill>
                      <a:srgbClr val="F5F3EA"/>
                    </a:solidFill>
                  </a:tcPr>
                </a:tc>
                <a:tc>
                  <a:txBody>
                    <a:bodyPr/>
                    <a:lstStyle/>
                    <a:p>
                      <a:r>
                        <a:rPr sz="1875" b="0">
                          <a:solidFill>
                            <a:srgbClr val="18312D"/>
                          </a:solidFill>
                          <a:latin typeface="Arial"/>
                          <a:ea typeface="Arial"/>
                          <a:cs typeface="Arial"/>
                        </a:rPr>
                        <a:t>Confirmation et capacité respectée.</a:t>
                      </a:r>
                    </a:p>
                  </a:txBody>
                  <a:tcPr marL="91440" marR="91440" marT="45720" marB="45720">
                    <a:solidFill>
                      <a:srgbClr val="F5F3EA"/>
                    </a:solidFill>
                  </a:tcPr>
                </a:tc>
              </a:tr>
              <a:tr h="672465">
                <a:tc>
                  <a:txBody>
                    <a:bodyPr/>
                    <a:lstStyle/>
                    <a:p>
                      <a:r>
                        <a:rPr sz="1875" b="0">
                          <a:solidFill>
                            <a:srgbClr val="18312D"/>
                          </a:solidFill>
                          <a:latin typeface="Arial"/>
                          <a:ea typeface="Arial"/>
                          <a:cs typeface="Arial"/>
                        </a:rPr>
                        <a:t>Organisation club</a:t>
                      </a:r>
                    </a:p>
                  </a:txBody>
                  <a:tcPr marL="91440" marR="91440" marT="45720" marB="45720">
                    <a:solidFill>
                      <a:srgbClr val="E9EEE4"/>
                    </a:solidFill>
                  </a:tcPr>
                </a:tc>
                <a:tc>
                  <a:txBody>
                    <a:bodyPr/>
                    <a:lstStyle/>
                    <a:p>
                      <a:r>
                        <a:rPr sz="1875" b="0">
                          <a:solidFill>
                            <a:srgbClr val="18312D"/>
                          </a:solidFill>
                          <a:latin typeface="Arial"/>
                          <a:ea typeface="Arial"/>
                          <a:cs typeface="Arial"/>
                        </a:rPr>
                        <a:t>Participant visible et commandes autorisées.</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Utilisation</a:t>
                      </a:r>
                    </a:p>
                  </a:txBody>
                  <a:tcPr marL="91440" marR="91440" marT="45720" marB="45720">
                    <a:solidFill>
                      <a:srgbClr val="F5F3EA"/>
                    </a:solidFill>
                  </a:tcPr>
                </a:tc>
                <a:tc>
                  <a:txBody>
                    <a:bodyPr/>
                    <a:lstStyle/>
                    <a:p>
                      <a:r>
                        <a:rPr sz="1875" b="0">
                          <a:solidFill>
                            <a:srgbClr val="18312D"/>
                          </a:solidFill>
                          <a:latin typeface="Arial"/>
                          <a:ea typeface="Arial"/>
                          <a:cs typeface="Arial"/>
                        </a:rPr>
                        <a:t>Commandes nommées, parcours au clavier.</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192FE307-2927-4DC8-928C-3C84CBC7599E}"/>
              </a:ext>
            </a:extLst>
          </p:cNvPr>
          <p:cNvSpPr>
            <a:spLocks xmlns:a="http://schemas.openxmlformats.org/drawingml/2006/main" noGrp="1"/>
          </p:cNvSpPr>
          <p:nvPr/>
        </p:nvSpPr>
        <p:spPr>
          <a:xfrm xmlns:a="http://schemas.openxmlformats.org/drawingml/2006/main">
            <a:off x="685800" y="5457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Décision : accepté, accepté avec réserve ou refusé.</a:t>
            </a:r>
          </a:p>
        </p:txBody>
      </p:sp>
      <p:sp>
        <p:nvSpPr>
          <p:cNvPr id="5" name="">
            <a:extLst xmlns:a="http://schemas.openxmlformats.org/drawingml/2006/main">
              <a:ext uri="{FF2B5EF4-FFF2-40B4-BE49-F238E27FC236}">
                <a16:creationId xmlns:a16="http://schemas.microsoft.com/office/drawing/2014/main" id="{6BE6BF50-CC62-4A77-ABD9-0BDFB4EED600}"/>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Réserve : action, responsable, échéance. Transmission au Bloc 4.</a:t>
            </a:r>
          </a:p>
        </p:txBody>
      </p:sp>
    </p:spTree>
    <p:extLst>
      <p:ext uri="{BB962C8B-B14F-4D97-AF65-F5344CB8AC3E}">
        <p14:creationId xmlns:p14="http://schemas.microsoft.com/office/powerpoint/2010/main" val="115821760"/>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A892E9-26FD-4875-9DBB-65C9BCC3A9E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responsabilités du lot</a:t>
            </a:r>
          </a:p>
        </p:txBody>
      </p:sp>
      <p:sp>
        <p:nvSpPr>
          <p:cNvPr id="2" name="">
            <a:extLst xmlns:a="http://schemas.openxmlformats.org/drawingml/2006/main">
              <a:ext uri="{FF2B5EF4-FFF2-40B4-BE49-F238E27FC236}">
                <a16:creationId xmlns:a16="http://schemas.microsoft.com/office/drawing/2014/main" id="{1EA06B8E-57D0-43DF-AF7E-70292F8A15A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organisation fictive    Questions du jury    23</a:t>
            </a:r>
          </a:p>
        </p:txBody>
      </p:sp>
      <p:graphicFrame>
        <p:nvGraphicFramePr>
          <p:cNvPr id="7" name=""/>
          <p:cNvGraphicFramePr/>
          <p:nvPr/>
        </p:nvGraphicFramePr>
        <p:xfrm>
          <a:off xmlns:a="http://schemas.openxmlformats.org/drawingml/2006/main" x="609600" y="1714500"/>
          <a:ext xmlns:a="http://schemas.openxmlformats.org/drawingml/2006/main" cx="10972800" cy="4019550"/>
        </p:xfrm>
        <a:graphic xmlns:a="http://schemas.openxmlformats.org/drawingml/2006/main">
          <a:graphicData uri="http://schemas.openxmlformats.org/drawingml/2006/table">
            <a:tbl>
              <a:tblPr/>
              <a:tblGrid>
                <a:gridCol w="6019800"/>
                <a:gridCol w="1238250"/>
                <a:gridCol w="1238250"/>
                <a:gridCol w="1238250"/>
                <a:gridCol w="1238250"/>
              </a:tblGrid>
              <a:tr h="502444">
                <a:tc>
                  <a:txBody>
                    <a:bodyPr/>
                    <a:lstStyle/>
                    <a:p>
                      <a:r>
                        <a:rPr sz="1800" b="1">
                          <a:solidFill>
                            <a:srgbClr val="FFFFFF"/>
                          </a:solidFill>
                          <a:latin typeface="Arial"/>
                          <a:ea typeface="Arial"/>
                          <a:cs typeface="Arial"/>
                        </a:rPr>
                        <a:t>Activité</a:t>
                      </a:r>
                    </a:p>
                  </a:txBody>
                  <a:tcPr marL="91440" marR="91440" marT="45720" marB="45720">
                    <a:solidFill>
                      <a:srgbClr val="28725F"/>
                    </a:solidFill>
                  </a:tcPr>
                </a:tc>
                <a:tc>
                  <a:txBody>
                    <a:bodyPr/>
                    <a:lstStyle/>
                    <a:p>
                      <a:r>
                        <a:rPr sz="1800" b="1">
                          <a:solidFill>
                            <a:srgbClr val="FFFFFF"/>
                          </a:solidFill>
                          <a:latin typeface="Arial"/>
                          <a:ea typeface="Arial"/>
                          <a:cs typeface="Arial"/>
                        </a:rPr>
                        <a:t>CP</a:t>
                      </a:r>
                    </a:p>
                  </a:txBody>
                  <a:tcPr marL="91440" marR="91440" marT="45720" marB="45720">
                    <a:solidFill>
                      <a:srgbClr val="28725F"/>
                    </a:solidFill>
                  </a:tcPr>
                </a:tc>
                <a:tc>
                  <a:txBody>
                    <a:bodyPr/>
                    <a:lstStyle/>
                    <a:p>
                      <a:r>
                        <a:rPr sz="1800" b="1">
                          <a:solidFill>
                            <a:srgbClr val="FFFFFF"/>
                          </a:solidFill>
                          <a:latin typeface="Arial"/>
                          <a:ea typeface="Arial"/>
                          <a:cs typeface="Arial"/>
                        </a:rPr>
                        <a:t>DEV</a:t>
                      </a:r>
                    </a:p>
                  </a:txBody>
                  <a:tcPr marL="91440" marR="91440" marT="45720" marB="45720">
                    <a:solidFill>
                      <a:srgbClr val="28725F"/>
                    </a:solidFill>
                  </a:tcPr>
                </a:tc>
                <a:tc>
                  <a:txBody>
                    <a:bodyPr/>
                    <a:lstStyle/>
                    <a:p>
                      <a:r>
                        <a:rPr sz="1800" b="1">
                          <a:solidFill>
                            <a:srgbClr val="FFFFFF"/>
                          </a:solidFill>
                          <a:latin typeface="Arial"/>
                          <a:ea typeface="Arial"/>
                          <a:cs typeface="Arial"/>
                        </a:rPr>
                        <a:t>QA</a:t>
                      </a:r>
                    </a:p>
                  </a:txBody>
                  <a:tcPr marL="91440" marR="91440" marT="45720" marB="45720">
                    <a:solidFill>
                      <a:srgbClr val="28725F"/>
                    </a:solidFill>
                  </a:tcPr>
                </a:tc>
                <a:tc>
                  <a:txBody>
                    <a:bodyPr/>
                    <a:lstStyle/>
                    <a:p>
                      <a:r>
                        <a:rPr sz="1800" b="1">
                          <a:solidFill>
                            <a:srgbClr val="FFFFFF"/>
                          </a:solidFill>
                          <a:latin typeface="Arial"/>
                          <a:ea typeface="Arial"/>
                          <a:cs typeface="Arial"/>
                        </a:rPr>
                        <a:t>Client</a:t>
                      </a:r>
                    </a:p>
                  </a:txBody>
                  <a:tcPr marL="91440" marR="91440" marT="45720" marB="45720">
                    <a:solidFill>
                      <a:srgbClr val="28725F"/>
                    </a:solidFill>
                  </a:tcPr>
                </a:tc>
              </a:tr>
              <a:tr h="502444">
                <a:tc>
                  <a:txBody>
                    <a:bodyPr/>
                    <a:lstStyle/>
                    <a:p>
                      <a:r>
                        <a:rPr sz="1800" b="0">
                          <a:solidFill>
                            <a:srgbClr val="18312D"/>
                          </a:solidFill>
                          <a:latin typeface="Arial"/>
                          <a:ea typeface="Arial"/>
                          <a:cs typeface="Arial"/>
                        </a:rPr>
                        <a:t>Périmètre et critères</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Planification et affectation</a:t>
                      </a:r>
                    </a:p>
                  </a:txBody>
                  <a:tcPr marL="91440" marR="91440" marT="45720" marB="45720">
                    <a:solidFill>
                      <a:srgbClr val="F5F3EA"/>
                    </a:solidFill>
                  </a:tcPr>
                </a:tc>
                <a:tc>
                  <a:txBody>
                    <a:bodyPr/>
                    <a:lstStyle/>
                    <a:p>
                      <a:r>
                        <a:rPr sz="1800" b="0">
                          <a:solidFill>
                            <a:srgbClr val="18312D"/>
                          </a:solidFill>
                          <a:latin typeface="Arial"/>
                          <a:ea typeface="Arial"/>
                          <a:cs typeface="Arial"/>
                        </a:rPr>
                        <a:t>A/R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I</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Réalisation</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Recette des parcours</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Corrections</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Arbitrage délai, coût, périmètre</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Acceptation de la démonstration</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E4C8836E-83A7-4861-AD74-4789B6DC04B6}"/>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R : réalise. A : décide. C : consulté. I : informé. QA : Camille.</a:t>
            </a:r>
          </a:p>
        </p:txBody>
      </p:sp>
    </p:spTree>
    <p:extLst>
      <p:ext uri="{BB962C8B-B14F-4D97-AF65-F5344CB8AC3E}">
        <p14:creationId xmlns:p14="http://schemas.microsoft.com/office/powerpoint/2010/main" val="125313018"/>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093A3F5-7B0C-4FA5-B5C0-30D05FA0D27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sensibilité du budget et de la capacité</a:t>
            </a:r>
          </a:p>
        </p:txBody>
      </p:sp>
      <p:sp>
        <p:nvSpPr>
          <p:cNvPr id="2" name="">
            <a:extLst xmlns:a="http://schemas.openxmlformats.org/drawingml/2006/main">
              <a:ext uri="{FF2B5EF4-FFF2-40B4-BE49-F238E27FC236}">
                <a16:creationId xmlns:a16="http://schemas.microsoft.com/office/drawing/2014/main" id="{7B116916-514B-4346-80B3-A66440C2450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scénarios pédagogiques    Questions du jury    24</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952750"/>
                <a:gridCol w="2286000"/>
                <a:gridCol w="2143125"/>
                <a:gridCol w="3590925"/>
              </a:tblGrid>
              <a:tr h="682625">
                <a:tc>
                  <a:txBody>
                    <a:bodyPr/>
                    <a:lstStyle/>
                    <a:p>
                      <a:r>
                        <a:rPr sz="1800" b="1">
                          <a:solidFill>
                            <a:srgbClr val="FFFFFF"/>
                          </a:solidFill>
                          <a:latin typeface="Arial"/>
                          <a:ea typeface="Arial"/>
                          <a:cs typeface="Arial"/>
                        </a:rPr>
                        <a:t>Hypothèse</a:t>
                      </a:r>
                    </a:p>
                  </a:txBody>
                  <a:tcPr marL="91440" marR="91440" marT="45720" marB="45720">
                    <a:solidFill>
                      <a:srgbClr val="28725F"/>
                    </a:solidFill>
                  </a:tcPr>
                </a:tc>
                <a:tc>
                  <a:txBody>
                    <a:bodyPr/>
                    <a:lstStyle/>
                    <a:p>
                      <a:r>
                        <a:rPr sz="1800" b="1">
                          <a:solidFill>
                            <a:srgbClr val="FFFFFF"/>
                          </a:solidFill>
                          <a:latin typeface="Arial"/>
                          <a:ea typeface="Arial"/>
                          <a:cs typeface="Arial"/>
                        </a:rPr>
                        <a:t>Prévision</a:t>
                      </a:r>
                    </a:p>
                  </a:txBody>
                  <a:tcPr marL="91440" marR="91440" marT="45720" marB="45720">
                    <a:solidFill>
                      <a:srgbClr val="28725F"/>
                    </a:solidFill>
                  </a:tcPr>
                </a:tc>
                <a:tc>
                  <a:txBody>
                    <a:bodyPr/>
                    <a:lstStyle/>
                    <a:p>
                      <a:r>
                        <a:rPr sz="1800" b="1">
                          <a:solidFill>
                            <a:srgbClr val="FFFFFF"/>
                          </a:solidFill>
                          <a:latin typeface="Arial"/>
                          <a:ea typeface="Arial"/>
                          <a:cs typeface="Arial"/>
                        </a:rPr>
                        <a:t>Marge</a:t>
                      </a:r>
                    </a:p>
                  </a:txBody>
                  <a:tcPr marL="91440" marR="91440" marT="45720" marB="45720">
                    <a:solidFill>
                      <a:srgbClr val="28725F"/>
                    </a:solidFill>
                  </a:tcPr>
                </a:tc>
                <a:tc>
                  <a:txBody>
                    <a:bodyPr/>
                    <a:lstStyle/>
                    <a:p>
                      <a:r>
                        <a:rPr sz="1800" b="1">
                          <a:solidFill>
                            <a:srgbClr val="FFFFFF"/>
                          </a:solidFill>
                          <a:latin typeface="Arial"/>
                          <a:ea typeface="Arial"/>
                          <a:cs typeface="Arial"/>
                        </a:rPr>
                        <a:t>Capacité</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J10</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c>
                  <a:txBody>
                    <a:bodyPr/>
                    <a:lstStyle/>
                    <a:p>
                      <a:r>
                        <a:rPr sz="1800" b="0">
                          <a:solidFill>
                            <a:srgbClr val="18312D"/>
                          </a:solidFill>
                          <a:latin typeface="Arial"/>
                          <a:ea typeface="Arial"/>
                          <a:cs typeface="Arial"/>
                        </a:rPr>
                        <a:t>232 €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QA +6 h</a:t>
                      </a:r>
                    </a:p>
                  </a:txBody>
                  <a:tcPr marL="91440" marR="91440" marT="45720" marB="45720">
                    <a:solidFill>
                      <a:srgbClr val="F5F3EA"/>
                    </a:solidFill>
                  </a:tcPr>
                </a:tc>
                <a:tc>
                  <a:txBody>
                    <a:bodyPr/>
                    <a:lstStyle/>
                    <a:p>
                      <a:r>
                        <a:rPr sz="1800" b="0">
                          <a:solidFill>
                            <a:srgbClr val="18312D"/>
                          </a:solidFill>
                          <a:latin typeface="Arial"/>
                          <a:ea typeface="Arial"/>
                          <a:cs typeface="Arial"/>
                        </a:rPr>
                        <a:t>4 645 €</a:t>
                      </a:r>
                    </a:p>
                  </a:txBody>
                  <a:tcPr marL="91440" marR="91440" marT="45720" marB="45720">
                    <a:solidFill>
                      <a:srgbClr val="F5F3EA"/>
                    </a:solidFill>
                  </a:tcPr>
                </a:tc>
                <a:tc>
                  <a:txBody>
                    <a:bodyPr/>
                    <a:lstStyle/>
                    <a:p>
                      <a:r>
                        <a:rPr sz="1800" b="0">
                          <a:solidFill>
                            <a:srgbClr val="18312D"/>
                          </a:solidFill>
                          <a:latin typeface="Arial"/>
                          <a:ea typeface="Arial"/>
                          <a:cs typeface="Arial"/>
                        </a:rPr>
                        <a:t>52 €</a:t>
                      </a:r>
                    </a:p>
                  </a:txBody>
                  <a:tcPr marL="91440" marR="91440" marT="45720" marB="45720">
                    <a:solidFill>
                      <a:srgbClr val="F5F3EA"/>
                    </a:solidFill>
                  </a:tcPr>
                </a:tc>
                <a:tc>
                  <a:txBody>
                    <a:bodyPr/>
                    <a:lstStyle/>
                    <a:p>
                      <a:r>
                        <a:rPr sz="1800" b="0">
                          <a:solidFill>
                            <a:srgbClr val="18312D"/>
                          </a:solidFill>
                          <a:latin typeface="Arial"/>
                          <a:ea typeface="Arial"/>
                          <a:cs typeface="Arial"/>
                        </a:rPr>
                        <a:t>Respectée</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DEV +8 h</a:t>
                      </a:r>
                    </a:p>
                  </a:txBody>
                  <a:tcPr marL="91440" marR="91440" marT="45720" marB="45720">
                    <a:solidFill>
                      <a:srgbClr val="E9EEE4"/>
                    </a:solidFill>
                  </a:tcPr>
                </a:tc>
                <a:tc>
                  <a:txBody>
                    <a:bodyPr/>
                    <a:lstStyle/>
                    <a:p>
                      <a:r>
                        <a:rPr sz="1800" b="0">
                          <a:solidFill>
                            <a:srgbClr val="18312D"/>
                          </a:solidFill>
                          <a:latin typeface="Arial"/>
                          <a:ea typeface="Arial"/>
                          <a:cs typeface="Arial"/>
                        </a:rPr>
                        <a:t>4 745 €</a:t>
                      </a:r>
                    </a:p>
                  </a:txBody>
                  <a:tcPr marL="91440" marR="91440" marT="45720" marB="45720">
                    <a:solidFill>
                      <a:srgbClr val="E9EEE4"/>
                    </a:solidFill>
                  </a:tcPr>
                </a:tc>
                <a:tc>
                  <a:txBody>
                    <a:bodyPr/>
                    <a:lstStyle/>
                    <a:p>
                      <a:r>
                        <a:rPr sz="1800" b="0">
                          <a:solidFill>
                            <a:srgbClr val="18312D"/>
                          </a:solidFill>
                          <a:latin typeface="Arial"/>
                          <a:ea typeface="Arial"/>
                          <a:cs typeface="Arial"/>
                        </a:rPr>
                        <a:t>−48 €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CP +2 h</a:t>
                      </a:r>
                    </a:p>
                  </a:txBody>
                  <a:tcPr marL="91440" marR="91440" marT="45720" marB="45720">
                    <a:solidFill>
                      <a:srgbClr val="F5F3EA"/>
                    </a:solidFill>
                  </a:tcPr>
                </a:tc>
                <a:tc>
                  <a:txBody>
                    <a:bodyPr/>
                    <a:lstStyle/>
                    <a:p>
                      <a:r>
                        <a:rPr sz="1800" b="0">
                          <a:solidFill>
                            <a:srgbClr val="18312D"/>
                          </a:solidFill>
                          <a:latin typeface="Arial"/>
                          <a:ea typeface="Arial"/>
                          <a:cs typeface="Arial"/>
                        </a:rPr>
                        <a:t>4 555 €</a:t>
                      </a:r>
                    </a:p>
                  </a:txBody>
                  <a:tcPr marL="91440" marR="91440" marT="45720" marB="45720">
                    <a:solidFill>
                      <a:srgbClr val="F5F3EA"/>
                    </a:solidFill>
                  </a:tcPr>
                </a:tc>
                <a:tc>
                  <a:txBody>
                    <a:bodyPr/>
                    <a:lstStyle/>
                    <a:p>
                      <a:r>
                        <a:rPr sz="1800" b="0">
                          <a:solidFill>
                            <a:srgbClr val="18312D"/>
                          </a:solidFill>
                          <a:latin typeface="Arial"/>
                          <a:ea typeface="Arial"/>
                          <a:cs typeface="Arial"/>
                        </a:rPr>
                        <a:t>142 €</a:t>
                      </a:r>
                    </a:p>
                  </a:txBody>
                  <a:tcPr marL="91440" marR="91440" marT="45720" marB="45720">
                    <a:solidFill>
                      <a:srgbClr val="F5F3EA"/>
                    </a:solidFill>
                  </a:tcPr>
                </a:tc>
                <a:tc>
                  <a:txBody>
                    <a:bodyPr/>
                    <a:lstStyle/>
                    <a:p>
                      <a:r>
                        <a:rPr sz="1800" b="0">
                          <a:solidFill>
                            <a:srgbClr val="18312D"/>
                          </a:solidFill>
                          <a:latin typeface="Arial"/>
                          <a:ea typeface="Arial"/>
                          <a:cs typeface="Arial"/>
                        </a:rPr>
                        <a:t>CP : 31 / 30 h</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Topos +16 h</a:t>
                      </a:r>
                    </a:p>
                  </a:txBody>
                  <a:tcPr marL="91440" marR="91440" marT="45720" marB="45720">
                    <a:solidFill>
                      <a:srgbClr val="E9EEE4"/>
                    </a:solidFill>
                  </a:tcPr>
                </a:tc>
                <a:tc>
                  <a:txBody>
                    <a:bodyPr/>
                    <a:lstStyle/>
                    <a:p>
                      <a:r>
                        <a:rPr sz="1800" b="0">
                          <a:solidFill>
                            <a:srgbClr val="18312D"/>
                          </a:solidFill>
                          <a:latin typeface="Arial"/>
                          <a:ea typeface="Arial"/>
                          <a:cs typeface="Arial"/>
                        </a:rPr>
                        <a:t>5 005 €</a:t>
                      </a:r>
                    </a:p>
                  </a:txBody>
                  <a:tcPr marL="91440" marR="91440" marT="45720" marB="45720">
                    <a:solidFill>
                      <a:srgbClr val="E9EEE4"/>
                    </a:solidFill>
                  </a:tcPr>
                </a:tc>
                <a:tc>
                  <a:txBody>
                    <a:bodyPr/>
                    <a:lstStyle/>
                    <a:p>
                      <a:r>
                        <a:rPr sz="1800" b="0">
                          <a:solidFill>
                            <a:srgbClr val="18312D"/>
                          </a:solidFill>
                          <a:latin typeface="Arial"/>
                          <a:ea typeface="Arial"/>
                          <a:cs typeface="Arial"/>
                        </a:rPr>
                        <a:t>−308 €</a:t>
                      </a:r>
                    </a:p>
                  </a:txBody>
                  <a:tcPr marL="91440" marR="91440" marT="45720" marB="45720">
                    <a:solidFill>
                      <a:srgbClr val="E9EEE4"/>
                    </a:solidFill>
                  </a:tcPr>
                </a:tc>
                <a:tc>
                  <a:txBody>
                    <a:bodyPr/>
                    <a:lstStyle/>
                    <a:p>
                      <a:r>
                        <a:rPr sz="1800" b="0">
                          <a:solidFill>
                            <a:srgbClr val="18312D"/>
                          </a:solidFill>
                          <a:latin typeface="Arial"/>
                          <a:ea typeface="Arial"/>
                          <a:cs typeface="Arial"/>
                        </a:rPr>
                        <a:t>DEV : 76 / 72 h</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1386186149"/>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85755B-1440-4645-9416-67A66B5B106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demande de renfort aux RH</a:t>
            </a:r>
          </a:p>
        </p:txBody>
      </p:sp>
      <p:sp>
        <p:nvSpPr>
          <p:cNvPr id="2" name="">
            <a:extLst xmlns:a="http://schemas.openxmlformats.org/drawingml/2006/main">
              <a:ext uri="{FF2B5EF4-FFF2-40B4-BE49-F238E27FC236}">
                <a16:creationId xmlns:a16="http://schemas.microsoft.com/office/drawing/2014/main" id="{3D09FC93-7B5D-473A-B3DA-C9E0523C13A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demande et devis pédagogiques    Questions du jury    25</a:t>
            </a:r>
          </a:p>
        </p:txBody>
      </p:sp>
      <p:graphicFrame>
        <p:nvGraphicFramePr>
          <p:cNvPr id="7" name=""/>
          <p:cNvGraphicFramePr/>
          <p:nvPr/>
        </p:nvGraphicFramePr>
        <p:xfrm>
          <a:off xmlns:a="http://schemas.openxmlformats.org/drawingml/2006/main" x="609600" y="1733550"/>
          <a:ext xmlns:a="http://schemas.openxmlformats.org/drawingml/2006/main" cx="10972800" cy="4057650"/>
        </p:xfrm>
        <a:graphic xmlns:a="http://schemas.openxmlformats.org/drawingml/2006/main">
          <a:graphicData uri="http://schemas.openxmlformats.org/drawingml/2006/table">
            <a:tbl>
              <a:tblPr/>
              <a:tblGrid>
                <a:gridCol w="3333750"/>
                <a:gridCol w="7639050"/>
              </a:tblGrid>
              <a:tr h="676275">
                <a:tc>
                  <a:txBody>
                    <a:bodyPr/>
                    <a:lstStyle/>
                    <a:p>
                      <a:r>
                        <a:rPr sz="1800" b="1">
                          <a:solidFill>
                            <a:srgbClr val="FFFFFF"/>
                          </a:solidFill>
                          <a:latin typeface="Arial"/>
                          <a:ea typeface="Arial"/>
                          <a:cs typeface="Arial"/>
                        </a:rPr>
                        <a:t>Demande conditionnelle</a:t>
                      </a:r>
                    </a:p>
                  </a:txBody>
                  <a:tcPr marL="91440" marR="91440" marT="45720" marB="45720">
                    <a:solidFill>
                      <a:srgbClr val="28725F"/>
                    </a:solidFill>
                  </a:tcPr>
                </a:tc>
                <a:tc>
                  <a:txBody>
                    <a:bodyPr/>
                    <a:lstStyle/>
                    <a:p>
                      <a:r>
                        <a:rPr sz="1800" b="1">
                          <a:solidFill>
                            <a:srgbClr val="FFFFFF"/>
                          </a:solidFill>
                          <a:latin typeface="Arial"/>
                          <a:ea typeface="Arial"/>
                          <a:cs typeface="Arial"/>
                        </a:rPr>
                        <a:t>Fiche préparée par CP, non envoyée</a:t>
                      </a:r>
                    </a:p>
                  </a:txBody>
                  <a:tcPr marL="91440" marR="91440" marT="45720" marB="45720">
                    <a:solidFill>
                      <a:srgbClr val="28725F"/>
                    </a:solidFill>
                  </a:tcPr>
                </a:tc>
              </a:tr>
              <a:tr h="676275">
                <a:tc>
                  <a:txBody>
                    <a:bodyPr/>
                    <a:lstStyle/>
                    <a:p>
                      <a:r>
                        <a:rPr sz="1800" b="0">
                          <a:solidFill>
                            <a:srgbClr val="18312D"/>
                          </a:solidFill>
                          <a:latin typeface="Arial"/>
                          <a:ea typeface="Arial"/>
                          <a:cs typeface="Arial"/>
                        </a:rPr>
                        <a:t>Déclencheur à J12</a:t>
                      </a:r>
                    </a:p>
                  </a:txBody>
                  <a:tcPr marL="91440" marR="91440" marT="45720" marB="45720">
                    <a:solidFill>
                      <a:srgbClr val="E9EEE4"/>
                    </a:solidFill>
                  </a:tcPr>
                </a:tc>
                <a:tc>
                  <a:txBody>
                    <a:bodyPr/>
                    <a:lstStyle/>
                    <a:p>
                      <a:r>
                        <a:rPr sz="1800" b="0">
                          <a:solidFill>
                            <a:srgbClr val="18312D"/>
                          </a:solidFill>
                          <a:latin typeface="Arial"/>
                          <a:ea typeface="Arial"/>
                          <a:cs typeface="Arial"/>
                        </a:rPr>
                        <a:t>Compétence critique encore indisponible après formation.</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Mission et délai</a:t>
                      </a:r>
                    </a:p>
                  </a:txBody>
                  <a:tcPr marL="91440" marR="91440" marT="45720" marB="45720">
                    <a:solidFill>
                      <a:srgbClr val="F5F3EA"/>
                    </a:solidFill>
                  </a:tcPr>
                </a:tc>
                <a:tc>
                  <a:txBody>
                    <a:bodyPr/>
                    <a:lstStyle/>
                    <a:p>
                      <a:r>
                        <a:rPr sz="1800" b="0">
                          <a:solidFill>
                            <a:srgbClr val="18312D"/>
                          </a:solidFill>
                          <a:latin typeface="Arial"/>
                          <a:ea typeface="Arial"/>
                          <a:cs typeface="Arial"/>
                        </a:rPr>
                        <a:t>Renfort QA de 4 h à J12-J13, recette transmissible à Camille.</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Sélection et accueil</a:t>
                      </a:r>
                    </a:p>
                  </a:txBody>
                  <a:tcPr marL="91440" marR="91440" marT="45720" marB="45720">
                    <a:solidFill>
                      <a:srgbClr val="E9EEE4"/>
                    </a:solidFill>
                  </a:tcPr>
                </a:tc>
                <a:tc>
                  <a:txBody>
                    <a:bodyPr/>
                    <a:lstStyle/>
                    <a:p>
                      <a:r>
                        <a:rPr sz="1800" b="0">
                          <a:solidFill>
                            <a:srgbClr val="18312D"/>
                          </a:solidFill>
                          <a:latin typeface="Arial"/>
                          <a:ea typeface="Arial"/>
                          <a:cs typeface="Arial"/>
                        </a:rPr>
                        <a:t>Exercice accessible. Disponibilité à confirmer. Accueil CP : 0,5 h.</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Chiffrage de la variante</a:t>
                      </a:r>
                    </a:p>
                  </a:txBody>
                  <a:tcPr marL="91440" marR="91440" marT="45720" marB="45720">
                    <a:solidFill>
                      <a:srgbClr val="F5F3EA"/>
                    </a:solidFill>
                  </a:tcPr>
                </a:tc>
                <a:tc>
                  <a:txBody>
                    <a:bodyPr/>
                    <a:lstStyle/>
                    <a:p>
                      <a:r>
                        <a:rPr sz="1800" b="0">
                          <a:solidFill>
                            <a:srgbClr val="18312D"/>
                          </a:solidFill>
                          <a:latin typeface="Arial"/>
                          <a:ea typeface="Arial"/>
                          <a:cs typeface="Arial"/>
                        </a:rPr>
                        <a:t>180 € de renfort + 22,50 € CP = 202,50 € supplémentaires.</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Arbitrage avant engagement</a:t>
                      </a:r>
                    </a:p>
                  </a:txBody>
                  <a:tcPr marL="91440" marR="91440" marT="45720" marB="45720">
                    <a:solidFill>
                      <a:srgbClr val="E9EEE4"/>
                    </a:solidFill>
                  </a:tcPr>
                </a:tc>
                <a:tc>
                  <a:txBody>
                    <a:bodyPr/>
                    <a:lstStyle/>
                    <a:p>
                      <a:r>
                        <a:rPr sz="1800" b="0">
                          <a:solidFill>
                            <a:srgbClr val="18312D"/>
                          </a:solidFill>
                          <a:latin typeface="Arial"/>
                          <a:ea typeface="Arial"/>
                          <a:cs typeface="Arial"/>
                        </a:rPr>
                        <a:t>Prévision : 4 667,50 €. Marge : 29,50 €. CP : 29,5/30 h.</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15FE2181-9E4D-4C9C-9569-87E8DC016FE3}"/>
              </a:ext>
            </a:extLst>
          </p:cNvPr>
          <p:cNvSpPr>
            <a:spLocks xmlns:a="http://schemas.openxmlformats.org/drawingml/2006/main" noGrp="1"/>
          </p:cNvSpPr>
          <p:nvPr/>
        </p:nvSpPr>
        <p:spPr>
          <a:xfrm xmlns:a="http://schemas.openxmlformats.org/drawingml/2006/main">
            <a:off x="685800" y="59912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8725F"/>
                </a:solidFill>
                <a:latin typeface="Arial"/>
                <a:ea typeface="Arial"/>
                <a:cs typeface="Arial"/>
              </a:defRPr>
            </a:pPr>
            <a:r>
              <a:rPr sz="1800" b="1">
                <a:solidFill>
                  <a:srgbClr val="28725F"/>
                </a:solidFill>
                <a:latin typeface="Arial"/>
                <a:ea typeface="Arial"/>
                <a:cs typeface="Arial"/>
              </a:rPr>
              <a:t>Variante indépendante, non activée dans le classeur de base.</a:t>
            </a:r>
          </a:p>
        </p:txBody>
      </p:sp>
    </p:spTree>
    <p:extLst>
      <p:ext uri="{BB962C8B-B14F-4D97-AF65-F5344CB8AC3E}">
        <p14:creationId xmlns:p14="http://schemas.microsoft.com/office/powerpoint/2010/main" val="14105633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2026-09-15T07:42:47.1910000Z</dcterms:created>
  <dcterms:modified xsi:type="dcterms:W3CDTF">2026-09-15T07:42:47.1910000Z</dcterms:modified>
</coreProperties>
</file>