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Charge estimée</c:v>
                </c:pt>
              </c:strCache>
            </c:strRef>
          </c:tx>
          <c:spPr>
            <a:solidFill>
              <a:srgbClr val="286957"/>
            </a:solidFill>
            <a:ln>
              <a:noFill/>
            </a:ln>
          </c:spPr>
          <c:cat>
            <c:strRef>
              <c:f>Sheet1!$A$2:$A$10</c:f>
              <c:strCache>
                <c:ptCount val="9"/>
                <c:pt idx="0">
                  <c:v>Cadrage / UX</c:v>
                </c:pt>
                <c:pt idx="1">
                  <c:v>Setup technique</c:v>
                </c:pt>
                <c:pt idx="2">
                  <c:v>Auth / sécurité</c:v>
                </c:pt>
                <c:pt idx="3">
                  <c:v>Profils</c:v>
                </c:pt>
                <c:pt idx="4">
                  <c:v>Feed social</c:v>
                </c:pt>
                <c:pt idx="5">
                  <c:v>Répertoire</c:v>
                </c:pt>
                <c:pt idx="6">
                  <c:v>Topos</c:v>
                </c:pt>
                <c:pt idx="7">
                  <c:v>Événements</c:v>
                </c:pt>
                <c:pt idx="8">
                  <c:v>Tests / access. / doc.</c:v>
                </c:pt>
              </c:strCache>
            </c:strRef>
          </c:cat>
          <c:val>
            <c:numRef>
              <c:f>Sheet1!$B$2:$B$10</c:f>
              <c:numCache>
                <c:formatCode>General</c:formatCode>
                <c:ptCount val="9"/>
                <c:pt idx="0">
                  <c:v>8</c:v>
                </c:pt>
                <c:pt idx="1">
                  <c:v>6</c:v>
                </c:pt>
                <c:pt idx="2">
                  <c:v>10</c:v>
                </c:pt>
                <c:pt idx="3">
                  <c:v>9</c:v>
                </c:pt>
                <c:pt idx="4">
                  <c:v>12</c:v>
                </c:pt>
                <c:pt idx="5">
                  <c:v>10</c:v>
                </c:pt>
                <c:pt idx="6">
                  <c:v>9</c:v>
                </c:pt>
                <c:pt idx="7">
                  <c:v>8</c:v>
                </c:pt>
                <c:pt idx="8">
                  <c:v>10</c:v>
                </c:pt>
              </c:numCache>
            </c:numRef>
          </c:val>
        </c:ser>
        <c:dLbls>
          <c:numFmt formatCode="0&quot; j-h&quot;" sourceLinked="0"/>
          <c:txPr>
            <a:bodyPr/>
            <a:lstStyle/>
            <a:p>
              <a:pPr>
                <a:defRPr sz="1700" b="1">
                  <a:solidFill>
                    <a:srgbClr val="12332D"/>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14.0"/>
          <c:min val="0.0"/>
        </c:scaling>
        <c:delete val="0"/>
        <c:axPos val="b"/>
        <c:majorGridlines>
          <c:spPr>
            <a:ln w="7620">
              <a:solidFill>
                <a:srgbClr val="DDE3D9"/>
              </a:solidFill>
            </a:ln>
          </c:spPr>
        </c:majorGridlines>
        <c:numFmt formatCode="0&quot; j-h&quot;"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Tickets</c:v>
                </c:pt>
              </c:strCache>
            </c:strRef>
          </c:tx>
          <c:spPr>
            <a:solidFill>
              <a:srgbClr val="286957"/>
            </a:solidFill>
            <a:ln>
              <a:noFill/>
            </a:ln>
          </c:spPr>
          <c:cat>
            <c:strRef>
              <c:f>Sheet1!$A$2:$A$5</c:f>
              <c:strCache>
                <c:ptCount val="4"/>
                <c:pt idx="0">
                  <c:v>Terminé</c:v>
                </c:pt>
                <c:pt idx="1">
                  <c:v>En cours</c:v>
                </c:pt>
                <c:pt idx="2">
                  <c:v>À faire</c:v>
                </c:pt>
                <c:pt idx="3">
                  <c:v>Backlog</c:v>
                </c:pt>
              </c:strCache>
            </c:strRef>
          </c:cat>
          <c:val>
            <c:numRef>
              <c:f>Sheet1!$B$2:$B$5</c:f>
              <c:numCache>
                <c:formatCode>General</c:formatCode>
                <c:ptCount val="4"/>
                <c:pt idx="0">
                  <c:v>12</c:v>
                </c:pt>
                <c:pt idx="1">
                  <c:v>1</c:v>
                </c:pt>
                <c:pt idx="2">
                  <c:v>4</c:v>
                </c:pt>
                <c:pt idx="3">
                  <c:v>7</c:v>
                </c:pt>
              </c:numCache>
            </c:numRef>
          </c:val>
        </c:ser>
        <c:dLbls>
          <c:numFmt formatCode="0" sourceLinked="0"/>
          <c:txPr>
            <a:bodyPr/>
            <a:lstStyle/>
            <a:p>
              <a:pPr>
                <a:defRPr sz="1700" b="1">
                  <a:solidFill>
                    <a:srgbClr val="12332D"/>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14.0"/>
          <c:min val="0.0"/>
        </c:scaling>
        <c:delete val="0"/>
        <c:axPos val="b"/>
        <c:majorGridlines>
          <c:spPr>
            <a:ln w="7620">
              <a:solidFill>
                <a:srgbClr val="DDE3D9"/>
              </a:solidFill>
            </a:ln>
          </c:spPr>
        </c:majorGridlines>
        <c:numFmt formatCode="0"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stacked"/>
        <c:ser>
          <c:idx val="0"/>
          <c:order val="0"/>
          <c:tx>
            <c:strRef>
              <c:f>Sheet1!$B$1</c:f>
              <c:strCache>
                <c:ptCount val="1"/>
                <c:pt idx="0">
                  <c:v>Début</c:v>
                </c:pt>
              </c:strCache>
            </c:strRef>
          </c:tx>
          <c:spPr>
            <a:noFill/>
            <a:ln>
              <a:noFill/>
            </a:ln>
          </c:spPr>
          <c:cat>
            <c:strRef>
              <c:f>Sheet1!$A$2:$A$7</c:f>
              <c:strCache>
                <c:ptCount val="6"/>
                <c:pt idx="0">
                  <c:v>Étude</c:v>
                </c:pt>
                <c:pt idx="1">
                  <c:v>Mesure</c:v>
                </c:pt>
                <c:pt idx="2">
                  <c:v>Conception</c:v>
                </c:pt>
                <c:pt idx="3">
                  <c:v>Réalisation</c:v>
                </c:pt>
                <c:pt idx="4">
                  <c:v>Recette</c:v>
                </c:pt>
                <c:pt idx="5">
                  <c:v>Restitution</c:v>
                </c:pt>
              </c:strCache>
            </c:strRef>
          </c:cat>
          <c:val>
            <c:numRef>
              <c:f>Sheet1!$B$2:$B$7</c:f>
              <c:numCache>
                <c:formatCode>General</c:formatCode>
                <c:ptCount val="6"/>
                <c:pt idx="0">
                  <c:v>1</c:v>
                </c:pt>
                <c:pt idx="1">
                  <c:v>1</c:v>
                </c:pt>
                <c:pt idx="2">
                  <c:v>2</c:v>
                </c:pt>
                <c:pt idx="3">
                  <c:v>3</c:v>
                </c:pt>
                <c:pt idx="4">
                  <c:v>10</c:v>
                </c:pt>
                <c:pt idx="5">
                  <c:v>14</c:v>
                </c:pt>
              </c:numCache>
            </c:numRef>
          </c:val>
        </c:ser>
        <c:ser>
          <c:idx val="1"/>
          <c:order val="1"/>
          <c:tx>
            <c:strRef>
              <c:f>Sheet1!$C$1</c:f>
              <c:strCache>
                <c:ptCount val="1"/>
                <c:pt idx="0">
                  <c:v>Durée</c:v>
                </c:pt>
              </c:strCache>
            </c:strRef>
          </c:tx>
          <c:spPr>
            <a:solidFill>
              <a:srgbClr val="286957"/>
            </a:solidFill>
            <a:ln>
              <a:noFill/>
            </a:ln>
          </c:spPr>
          <c:cat>
            <c:strRef>
              <c:f>Sheet1!$A$2:$A$7</c:f>
              <c:strCache>
                <c:ptCount val="6"/>
                <c:pt idx="0">
                  <c:v>Étude</c:v>
                </c:pt>
                <c:pt idx="1">
                  <c:v>Mesure</c:v>
                </c:pt>
                <c:pt idx="2">
                  <c:v>Conception</c:v>
                </c:pt>
                <c:pt idx="3">
                  <c:v>Réalisation</c:v>
                </c:pt>
                <c:pt idx="4">
                  <c:v>Recette</c:v>
                </c:pt>
                <c:pt idx="5">
                  <c:v>Restitution</c:v>
                </c:pt>
              </c:strCache>
            </c:strRef>
          </c:cat>
          <c:val>
            <c:numRef>
              <c:f>Sheet1!$C$2:$C$7</c:f>
              <c:numCache>
                <c:formatCode>General</c:formatCode>
                <c:ptCount val="6"/>
                <c:pt idx="0">
                  <c:v>1</c:v>
                </c:pt>
                <c:pt idx="1">
                  <c:v>2</c:v>
                </c:pt>
                <c:pt idx="2">
                  <c:v>2</c:v>
                </c:pt>
                <c:pt idx="3">
                  <c:v>9</c:v>
                </c:pt>
                <c:pt idx="4">
                  <c:v>4</c:v>
                </c:pt>
                <c:pt idx="5">
                  <c:v>1</c:v>
                </c:pt>
              </c:numCache>
            </c:numRef>
          </c:val>
        </c:ser>
        <c:gapWidth val="65"/>
        <c:overlap val="100"/>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15.0"/>
          <c:min val="1.0"/>
        </c:scaling>
        <c:delete val="0"/>
        <c:axPos val="b"/>
        <c:majorGridlines>
          <c:spPr>
            <a:ln w="7620">
              <a:solidFill>
                <a:srgbClr val="DDE3D9"/>
              </a:solidFill>
            </a:ln>
          </c:spPr>
        </c:majorGridlines>
        <c:numFmt formatCode="&quot;J&quot;0"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Écart de charge</c:v>
                </c:pt>
              </c:strCache>
            </c:strRef>
          </c:tx>
          <c:spPr>
            <a:solidFill>
              <a:srgbClr val="286957"/>
            </a:solidFill>
            <a:ln>
              <a:noFill/>
            </a:ln>
          </c:spPr>
          <c:dPt>
            <c:idx val="0"/>
            <c:spPr>
              <a:solidFill>
                <a:srgbClr val="B64E2E"/>
              </a:solidFill>
              <a:ln>
                <a:noFill/>
              </a:ln>
            </c:spPr>
          </c:dPt>
          <c:dPt>
            <c:idx val="1"/>
            <c:spPr>
              <a:solidFill>
                <a:srgbClr val="B64E2E"/>
              </a:solidFill>
              <a:ln>
                <a:noFill/>
              </a:ln>
            </c:spPr>
          </c:dPt>
          <c:dPt>
            <c:idx val="2"/>
            <c:spPr>
              <a:solidFill>
                <a:srgbClr val="B64E2E"/>
              </a:solidFill>
              <a:ln>
                <a:noFill/>
              </a:ln>
            </c:spPr>
          </c:dPt>
          <c:dPt>
            <c:idx val="3"/>
            <c:spPr>
              <a:solidFill>
                <a:srgbClr val="B64E2E"/>
              </a:solidFill>
              <a:ln>
                <a:noFill/>
              </a:ln>
            </c:spPr>
          </c:dPt>
          <c:dPt>
            <c:idx val="4"/>
            <c:spPr>
              <a:solidFill>
                <a:srgbClr val="286957"/>
              </a:solidFill>
              <a:ln>
                <a:noFill/>
              </a:ln>
            </c:spPr>
          </c:dPt>
          <c:cat>
            <c:strRef>
              <c:f>Sheet1!$A$2:$A$6</c:f>
              <c:strCache>
                <c:ptCount val="5"/>
                <c:pt idx="0">
                  <c:v>Planning</c:v>
                </c:pt>
                <c:pt idx="1">
                  <c:v>Accès</c:v>
                </c:pt>
                <c:pt idx="2">
                  <c:v>Événements</c:v>
                </c:pt>
                <c:pt idx="3">
                  <c:v>Recette</c:v>
                </c:pt>
                <c:pt idx="4">
                  <c:v>Corrections</c:v>
                </c:pt>
              </c:strCache>
            </c:strRef>
          </c:cat>
          <c:val>
            <c:numRef>
              <c:f>Sheet1!$B$2:$B$6</c:f>
              <c:numCache>
                <c:formatCode>General</c:formatCode>
                <c:ptCount val="5"/>
                <c:pt idx="0">
                  <c:v>1</c:v>
                </c:pt>
                <c:pt idx="1">
                  <c:v>2</c:v>
                </c:pt>
                <c:pt idx="2">
                  <c:v>2</c:v>
                </c:pt>
                <c:pt idx="3">
                  <c:v>2</c:v>
                </c:pt>
                <c:pt idx="4">
                  <c:v>-2</c:v>
                </c:pt>
              </c:numCache>
            </c:numRef>
          </c:val>
        </c:ser>
        <c:dLbls>
          <c:numFmt formatCode="+0&quot; h&quot;;-0&quot; h&quot;" sourceLinked="0"/>
          <c:txPr>
            <a:bodyPr/>
            <a:lstStyle/>
            <a:p>
              <a:pPr>
                <a:defRPr sz="1700" b="1">
                  <a:solidFill>
                    <a:srgbClr val="12332D"/>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3.0"/>
          <c:min val="-3.0"/>
        </c:scaling>
        <c:delete val="0"/>
        <c:axPos val="b"/>
        <c:majorGridlines>
          <c:spPr>
            <a:ln w="7620">
              <a:solidFill>
                <a:srgbClr val="DDE3D9"/>
              </a:solidFill>
            </a:ln>
          </c:spPr>
        </c:majorGridlines>
        <c:numFmt formatCode="+0&quot; h&quot;;-0&quot; h&quot;"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Budget</c:v>
                </c:pt>
              </c:strCache>
            </c:strRef>
          </c:tx>
          <c:spPr>
            <a:solidFill>
              <a:srgbClr val="D8F28B"/>
            </a:solidFill>
            <a:ln>
              <a:noFill/>
            </a:ln>
          </c:spPr>
          <c:dPt>
            <c:idx val="0"/>
            <c:spPr>
              <a:solidFill>
                <a:srgbClr val="87A38D"/>
              </a:solidFill>
              <a:ln>
                <a:noFill/>
              </a:ln>
            </c:spPr>
          </c:dPt>
          <c:dPt>
            <c:idx val="1"/>
            <c:spPr>
              <a:solidFill>
                <a:srgbClr val="D8F28B"/>
              </a:solidFill>
              <a:ln>
                <a:noFill/>
              </a:ln>
            </c:spPr>
          </c:dPt>
          <c:dPt>
            <c:idx val="2"/>
            <c:spPr>
              <a:solidFill>
                <a:srgbClr val="C7D6CB"/>
              </a:solidFill>
              <a:ln>
                <a:noFill/>
              </a:ln>
            </c:spPr>
          </c:dPt>
          <c:cat>
            <c:strRef>
              <c:f>Sheet1!$A$2:$A$4</c:f>
              <c:strCache>
                <c:ptCount val="3"/>
                <c:pt idx="0">
                  <c:v>Initial</c:v>
                </c:pt>
                <c:pt idx="1">
                  <c:v>Prévision</c:v>
                </c:pt>
                <c:pt idx="2">
                  <c:v>Plafond</c:v>
                </c:pt>
              </c:strCache>
            </c:strRef>
          </c:cat>
          <c:val>
            <c:numRef>
              <c:f>Sheet1!$B$2:$B$4</c:f>
              <c:numCache>
                <c:formatCode>General</c:formatCode>
                <c:ptCount val="3"/>
                <c:pt idx="0">
                  <c:v>4270</c:v>
                </c:pt>
                <c:pt idx="1">
                  <c:v>4465</c:v>
                </c:pt>
                <c:pt idx="2">
                  <c:v>4697</c:v>
                </c:pt>
              </c:numCache>
            </c:numRef>
          </c:val>
        </c:ser>
        <c:dLbls>
          <c:numFmt formatCode="0&quot; €&quot;" sourceLinked="0"/>
          <c:txPr>
            <a:bodyPr/>
            <a:lstStyle/>
            <a:p>
              <a:pPr>
                <a:defRPr sz="1700" b="1">
                  <a:solidFill>
                    <a:srgbClr val="FFFFFF"/>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C7D6CB"/>
                </a:solidFill>
                <a:latin typeface="Arial"/>
              </a:defRPr>
            </a:pPr>
          </a:p>
        </c:txPr>
        <c:crossAx val="-2113994440"/>
        <c:crosses val="autoZero"/>
        <c:auto val="1"/>
        <c:lblAlgn val="ctr"/>
        <c:lblOffset val="100"/>
        <c:noMultiLvlLbl val="0"/>
      </c:catAx>
      <c:valAx>
        <c:axId val="-2113994440"/>
        <c:scaling>
          <c:max val="5500.0"/>
          <c:min val="0.0"/>
        </c:scaling>
        <c:delete val="0"/>
        <c:axPos val="b"/>
        <c:majorGridlines>
          <c:spPr>
            <a:ln w="7620">
              <a:solidFill>
                <a:srgbClr val="1C453B"/>
              </a:solidFill>
            </a:ln>
          </c:spPr>
        </c:majorGridlines>
        <c:numFmt formatCode="0&quot; €&quot;" sourceLinked="0"/>
        <c:majorTickMark val="out"/>
        <c:minorTickMark val="none"/>
        <c:tickLblPos val="nextTo"/>
        <c:spPr>
          <a:ln>
            <a:noFill/>
          </a:ln>
        </c:spPr>
        <c:txPr>
          <a:bodyPr/>
          <a:lstStyle/>
          <a:p>
            <a:pPr>
              <a:defRPr sz="1200">
                <a:solidFill>
                  <a:srgbClr val="C7D6CB"/>
                </a:solidFill>
                <a:latin typeface="Arial"/>
              </a:defRPr>
            </a:pPr>
          </a:p>
        </c:txPr>
        <c:crossAx val="-2068027336"/>
        <c:crosses val="autoZero"/>
      </c:valAx>
      <c:spPr>
        <a:noFill/>
        <a:ln>
          <a:noFill/>
        </a:ln>
      </c:spPr>
    </c:plotArea>
    <c:dispBlanksAs val="gap"/>
  </c:chart>
  <c:txPr>
    <a:bodyPr/>
    <a:lstStyle/>
    <a:p>
      <a:pPr>
        <a:defRPr sz="1600">
          <a:solidFill>
            <a:srgbClr val="FFFFFF"/>
          </a:solidFill>
          <a:latin typeface="Arial"/>
        </a:defRPr>
      </a:pPr>
      <a:endParaRPr lang="en-US"/>
    </a:p>
  </c:txPr>
  <c:externalData r:id="rId1">
    <c:autoUpdate val="0"/>
  </c:externalData>
  <c:spPr>
    <a:noFill/>
    <a:ln>
      <a:noFill/>
    </a:ln>
  </c:spPr>
</c:chartSpace>
</file>

<file path=ppt/charts/chart6.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stacked"/>
        <c:ser>
          <c:idx val="0"/>
          <c:order val="0"/>
          <c:tx>
            <c:strRef>
              <c:f>Sheet1!$B$1</c:f>
              <c:strCache>
                <c:ptCount val="1"/>
                <c:pt idx="0">
                  <c:v>Charge</c:v>
                </c:pt>
              </c:strCache>
            </c:strRef>
          </c:tx>
          <c:spPr>
            <a:solidFill>
              <a:srgbClr val="85A689"/>
            </a:solidFill>
            <a:ln>
              <a:noFill/>
            </a:ln>
          </c:spPr>
          <c:cat>
            <c:strRef>
              <c:f>Sheet1!$A$2:$A$4</c:f>
              <c:strCache>
                <c:ptCount val="3"/>
                <c:pt idx="0">
                  <c:v>CP</c:v>
                </c:pt>
                <c:pt idx="1">
                  <c:v>DEV</c:v>
                </c:pt>
                <c:pt idx="2">
                  <c:v>QA</c:v>
                </c:pt>
              </c:strCache>
            </c:strRef>
          </c:cat>
          <c:val>
            <c:numRef>
              <c:f>Sheet1!$B$2:$B$4</c:f>
              <c:numCache>
                <c:formatCode>General</c:formatCode>
                <c:ptCount val="3"/>
                <c:pt idx="0">
                  <c:v>29</c:v>
                </c:pt>
                <c:pt idx="1">
                  <c:v>64</c:v>
                </c:pt>
                <c:pt idx="2">
                  <c:v>24</c:v>
                </c:pt>
              </c:numCache>
            </c:numRef>
          </c:val>
        </c:ser>
        <c:ser>
          <c:idx val="1"/>
          <c:order val="1"/>
          <c:tx>
            <c:strRef>
              <c:f>Sheet1!$C$1</c:f>
              <c:strCache>
                <c:ptCount val="1"/>
                <c:pt idx="0">
                  <c:v>Marge</c:v>
                </c:pt>
              </c:strCache>
            </c:strRef>
          </c:tx>
          <c:spPr>
            <a:solidFill>
              <a:srgbClr val="DAE5D1"/>
            </a:solidFill>
            <a:ln>
              <a:noFill/>
            </a:ln>
          </c:spPr>
          <c:cat>
            <c:strRef>
              <c:f>Sheet1!$A$2:$A$4</c:f>
              <c:strCache>
                <c:ptCount val="3"/>
                <c:pt idx="0">
                  <c:v>CP</c:v>
                </c:pt>
                <c:pt idx="1">
                  <c:v>DEV</c:v>
                </c:pt>
                <c:pt idx="2">
                  <c:v>QA</c:v>
                </c:pt>
              </c:strCache>
            </c:strRef>
          </c:cat>
          <c:val>
            <c:numRef>
              <c:f>Sheet1!$C$2:$C$4</c:f>
              <c:numCache>
                <c:formatCode>General</c:formatCode>
                <c:ptCount val="3"/>
                <c:pt idx="0">
                  <c:v>1</c:v>
                </c:pt>
                <c:pt idx="1">
                  <c:v>8</c:v>
                </c:pt>
                <c:pt idx="2">
                  <c:v>6</c:v>
                </c:pt>
              </c:numCache>
            </c:numRef>
          </c:val>
        </c:ser>
        <c:dLbls>
          <c:numFmt formatCode="0&quot; h&quot;" sourceLinked="0"/>
          <c:txPr>
            <a:bodyPr/>
            <a:lstStyle/>
            <a:p>
              <a:pPr>
                <a:defRPr sz="1700" b="1">
                  <a:solidFill>
                    <a:srgbClr val="12332D"/>
                  </a:solidFill>
                  <a:latin typeface="Arial"/>
                </a:defRPr>
              </a:pPr>
            </a:p>
          </c:txPr>
          <c:dLblPos val="ctr"/>
          <c:showLegendKey val="0"/>
          <c:showVal val="1"/>
          <c:showCatName val="0"/>
          <c:showSerName val="0"/>
          <c:showPercent val="0"/>
          <c:showBubbleSize val="0"/>
          <c:showLeaderLines val="1"/>
        </c:dLbls>
        <c:gapWidth val="65"/>
        <c:overlap val="100"/>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80.0"/>
          <c:min val="0.0"/>
        </c:scaling>
        <c:delete val="0"/>
        <c:axPos val="b"/>
        <c:majorGridlines>
          <c:spPr>
            <a:ln w="7620">
              <a:solidFill>
                <a:srgbClr val="DDE3D9"/>
              </a:solidFill>
            </a:ln>
          </c:spPr>
        </c:majorGridlines>
        <c:numFmt formatCode="0&quot; h&quot;"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legend>
      <c:legendPos val="b"/>
      <c:overlay val="0"/>
      <c:txPr>
        <a:bodyPr/>
        <a:lstStyle/>
        <a:p>
          <a:pPr>
            <a:defRPr sz="1300">
              <a:latin typeface="Arial"/>
            </a:defRPr>
          </a:pPr>
        </a:p>
      </c:txPr>
    </c:legend>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7.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Coût</c:v>
                </c:pt>
              </c:strCache>
            </c:strRef>
          </c:tx>
          <c:spPr>
            <a:solidFill>
              <a:srgbClr val="286957"/>
            </a:solidFill>
            <a:ln>
              <a:noFill/>
            </a:ln>
          </c:spPr>
          <c:dPt>
            <c:idx val="0"/>
            <c:spPr>
              <a:solidFill>
                <a:srgbClr val="286957"/>
              </a:solidFill>
              <a:ln>
                <a:noFill/>
              </a:ln>
            </c:spPr>
          </c:dPt>
          <c:dPt>
            <c:idx val="1"/>
            <c:spPr>
              <a:solidFill>
                <a:srgbClr val="B64E2E"/>
              </a:solidFill>
              <a:ln>
                <a:noFill/>
              </a:ln>
            </c:spPr>
          </c:dPt>
          <c:dPt>
            <c:idx val="2"/>
            <c:spPr>
              <a:solidFill>
                <a:srgbClr val="A7BA9C"/>
              </a:solidFill>
              <a:ln>
                <a:noFill/>
              </a:ln>
            </c:spPr>
          </c:dPt>
          <c:cat>
            <c:strRef>
              <c:f>Sheet1!$A$2:$A$4</c:f>
              <c:strCache>
                <c:ptCount val="3"/>
                <c:pt idx="0">
                  <c:v>Lot engagé</c:v>
                </c:pt>
                <c:pt idx="1">
                  <c:v>Avec demande</c:v>
                </c:pt>
                <c:pt idx="2">
                  <c:v>Plafond</c:v>
                </c:pt>
              </c:strCache>
            </c:strRef>
          </c:cat>
          <c:val>
            <c:numRef>
              <c:f>Sheet1!$B$2:$B$4</c:f>
              <c:numCache>
                <c:formatCode>General</c:formatCode>
                <c:ptCount val="3"/>
                <c:pt idx="0">
                  <c:v>4465</c:v>
                </c:pt>
                <c:pt idx="1">
                  <c:v>5005</c:v>
                </c:pt>
                <c:pt idx="2">
                  <c:v>4697</c:v>
                </c:pt>
              </c:numCache>
            </c:numRef>
          </c:val>
        </c:ser>
        <c:dLbls>
          <c:numFmt formatCode="0&quot; €&quot;" sourceLinked="0"/>
          <c:txPr>
            <a:bodyPr/>
            <a:lstStyle/>
            <a:p>
              <a:pPr>
                <a:defRPr sz="1700" b="1">
                  <a:solidFill>
                    <a:srgbClr val="12332D"/>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6000.0"/>
          <c:min val="0.0"/>
        </c:scaling>
        <c:delete val="0"/>
        <c:axPos val="b"/>
        <c:majorGridlines>
          <c:spPr>
            <a:ln w="7620">
              <a:solidFill>
                <a:srgbClr val="DDE3D9"/>
              </a:solidFill>
            </a:ln>
          </c:spPr>
        </c:majorGridlines>
        <c:numFmt formatCode="0&quot; €&quot;"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00:00 à 00:30. Durée prévue : 00:30.</a:t>
            </a:r>
          </a:p>
          <a:p/>
          <a:p>
            <a:r>
              <a:t>TEXTE ORAL</a:t>
            </a:r>
          </a:p>
          <a:p>
            <a:r>
              <a:t>Bonjour, je suis Dorian Joly. Je vais présenter le pilotage de Spity, une application destinée à la communauté de l'escalade. Mon fil conducteur est la préparation d'une sortie, depuis la recherche d'un partenaire jusqu'à l'inscription à un événement. Je présenterai l'organisation du projet, les décisions de pilotage, puis une démonstration du logiciel.</a:t>
            </a:r>
          </a:p>
          <a:p/>
          <a:p>
            <a:r>
              <a:t>TRANSITION</a:t>
            </a:r>
          </a:p>
          <a:p>
            <a:r>
              <a:t>Je commence par le besoin auquel répond le produit.</a:t>
            </a:r>
          </a:p>
          <a:p/>
          <a:p>
            <a:r>
              <a:t>SOURCE ET NATURE</a:t>
            </a:r>
          </a:p>
          <a:p>
            <a:r>
              <a:t>RNCP39583, Bloc 3. Référentiel RNCP39583, p. 11 à 14. Photo de marque du dépôt, illustration sans lien avec une équipe réelle.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00:30 à 01:00. Durée prévue : 00:30.</a:t>
            </a:r>
          </a:p>
          <a:p/>
          <a:p>
            <a:r>
              <a:t>TEXTE ORAL</a:t>
            </a:r>
          </a:p>
          <a:p>
            <a:r>
              <a:t>Je commence par le besoin et le projet Spity. Je présente ensuite l'organisation du travail, puis le suivi et les décisions prises dans le scénario. J'explique comment accompagner l'équipe et échanger avec le client. À vingt-trois minutes, je passe à l'application pour montrer le parcours, puis faire le bilan des critères vérifiés.</a:t>
            </a:r>
          </a:p>
          <a:p/>
          <a:p>
            <a:r>
              <a:t>GESTE OU MANIPULATION</a:t>
            </a:r>
          </a:p>
          <a:p>
            <a:r>
              <a:t>Annoncer les cinq parties sans détailler encore les chiffres.</a:t>
            </a:r>
          </a:p>
          <a:p/>
          <a:p>
            <a:r>
              <a:t>TRANSITION</a:t>
            </a:r>
          </a:p>
          <a:p>
            <a:r>
              <a:t>Je commence par le besoin utilisateur.</a:t>
            </a:r>
          </a:p>
          <a:p/>
          <a:p>
            <a:r>
              <a:t>SOURCE ET NATURE</a:t>
            </a:r>
          </a:p>
          <a:p>
            <a:r>
              <a:t>Le déroulé de la présentation. Ordre du support et repères de répétition. Trente minutes, dont six minutes de démonstration.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01:00 à 02:00. Durée prévue : 01:00.</a:t>
            </a:r>
          </a:p>
          <a:p/>
          <a:p>
            <a:r>
              <a:t>TEXTE ORAL</a:t>
            </a:r>
          </a:p>
          <a:p>
            <a:r>
              <a:t>Je reprends le commanditaire du Bloc 1 : le Collectif Altitude Grimpe, association fictive représentée par Claire Martin. Le cadre reste une zone pilote autour de Lyon et Grenoble. Son besoin est de centraliser des usages aujourd'hui dispersés : trouver un partenaire, consulter les lieux et organiser des sorties.</a:t>
            </a:r>
          </a:p>
          <a:p/>
          <a:p>
            <a:r>
              <a:t>Pour cette soutenance, je retiens le parcours déjà développé dans le Bloc 2. Le grimpeur recherche une personne compatible et rejoint un événement. Le club organise cette sortie et retrouve les participants autorisés. Ce choix relie le besoin initial à un résultat démontrable. La capture montre le répertoire de lieux du produit local. Elle illustre le contexte géographique, sans prétendre que toutes les fonctions de la vision initiale sont validées.</a:t>
            </a:r>
          </a:p>
          <a:p/>
          <a:p>
            <a:r>
              <a:t>GESTE OU MANIPULATION</a:t>
            </a:r>
          </a:p>
          <a:p/>
          <a:p/>
          <a:p>
            <a:r>
              <a:t>TRANSITION</a:t>
            </a:r>
          </a:p>
          <a:p>
            <a:r>
              <a:t>Je distingue maintenant la durée réelle du projet et le scénario de pilotage.</a:t>
            </a:r>
          </a:p>
          <a:p/>
          <a:p>
            <a:r>
              <a:t>SOURCE ET NATURE</a:t>
            </a:r>
          </a:p>
          <a:p>
            <a:r>
              <a:t>B1, commanditaire fictif et produit réel. B1 : C1.1.1, p. 2 ; C1.4.1, p. 4-5. B2 : 16_DOSSIER_FINAL_BC02, F01-F10. Capture locale du 15 septembre 2026, données de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02:00 à 03:00. Durée prévue : 01:00.</a:t>
            </a:r>
          </a:p>
          <a:p/>
          <a:p>
            <a:r>
              <a:t>TEXTE ORAL</a:t>
            </a:r>
          </a:p>
          <a:p>
            <a:r>
              <a:t>J'ai développé Spity sur un an. C'est la durée réelle du projet, depuis son démarrage jusqu'à la version présentée. Le découpage affiché reprend les neuf lots du Bloc 1.</a:t>
            </a:r>
          </a:p>
          <a:p/>
          <a:p>
            <a:r>
              <a:t>Les quatre-vingt-deux jours-homme correspondent à une estimation de charge du MVP. Ils ne mesurent pas mon temps réellement passé. Une quantité de travail estimée et une durée calendaire sont deux informations différentes. Je ne transforme donc pas cette estimation en calendrier réel.</a:t>
            </a:r>
          </a:p>
          <a:p/>
          <a:p>
            <a:r>
              <a:t>Pour illustrer le Bloc 3, je présente ensuite un scénario fictif de préparation de démonstration sur quinze jours ouvrés, à partir du logiciel existant. J1 à J15 sont les jours de cet exercice. Les charges, les réunions et le budget associés restent des hypothèses pédagogiques.</a:t>
            </a:r>
          </a:p>
          <a:p/>
          <a:p>
            <a:r>
              <a:t>GESTE OU MANIPULATION</a:t>
            </a:r>
          </a:p>
          <a:p>
            <a:r>
              <a:t>Montrer un an de développement réel, puis distinguer la charge estimée et les quinze jours fictifs.</a:t>
            </a:r>
          </a:p>
          <a:p/>
          <a:p>
            <a:r>
              <a:t>TRANSITION</a:t>
            </a:r>
          </a:p>
          <a:p>
            <a:r>
              <a:t>Je choisis une méthode adaptée au suivi de ce travail.</a:t>
            </a:r>
          </a:p>
          <a:p/>
          <a:p>
            <a:r>
              <a:t>SOURCE ET NATURE</a:t>
            </a:r>
          </a:p>
          <a:p>
            <a:r>
              <a:t>Durée réelle déclarée par le candidat ; estimation B1 et scénario fictif B3 distincts. Durée d'un an confirmée par Dorian le 15 septembre 2026. Dates exactes et temps passé non fournis. Diaporama B1 p. 21 : neuf lots, 82 j-h estimés. Cas B3 : quinze jours ouvrés fictifs.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03:00 à 04:30. Durée prévue : 01:30.</a:t>
            </a:r>
          </a:p>
          <a:p/>
          <a:p>
            <a:r>
              <a:t>TEXTE ORAL</a:t>
            </a:r>
          </a:p>
          <a:p>
            <a:r>
              <a:t>Pour suivre le projet, le scénario combine un tableau Kanban dans Linear et des réunions inspirées de Scrum. Le tableau limite la réalisation à deux tâches simultanées. Les critères de recette conditionnent le passage à terminé. Les réunions donnent un rythme commun aux échanges.</a:t>
            </a:r>
          </a:p>
          <a:p/>
          <a:p>
            <a:r>
              <a:t>À J3, le planning précise l'objectif du lot, les tâches retenues et la capacité disponible. Chaque jour, le daily dure dix minutes : où en sommes-nous, quel obstacle faut-il lever et quelle action adapter ? Le diagnostic technique se poursuit ensuite avec les personnes concernées. À J10 et J15, la review confronte les parcours aux attentes du client. Après la dernière revue, la rétrospective choisit une amélioration de notre fonctionnement.</a:t>
            </a:r>
          </a:p>
          <a:p/>
          <a:p>
            <a:r>
              <a:t>Cette organisation est adaptée au lot de quinze jours. Elle ne revendique pas l'application complète du cadre Scrum. Linear conserve ses données réellement observées : douze tickets terminés sur vingt-quatre non annulés, sans pondération. Les dépendances médias, API et formulaire restent visibles. A05 détaille les réunions et A07 conserve les comptes rendus du cas. Une réunion doit conduire à une action retrouvable.</a:t>
            </a:r>
          </a:p>
          <a:p/>
          <a:p>
            <a:r>
              <a:t>GESTE OU MANIPULATION</a:t>
            </a:r>
          </a:p>
          <a:p>
            <a:r>
              <a:t>Associer chaque rituel à son objectif et à sa trace. Distinguer le flux Linear observé des réunions du scénario.</a:t>
            </a:r>
          </a:p>
          <a:p/>
          <a:p>
            <a:r>
              <a:t>TRANSITION</a:t>
            </a:r>
          </a:p>
          <a:p>
            <a:r>
              <a:t>Le planning montre les phases et les rendez-vous du lot.</a:t>
            </a:r>
          </a:p>
          <a:p/>
          <a:p>
            <a:r>
              <a:t>SOURCE ET NATURE</a:t>
            </a:r>
          </a:p>
          <a:p>
            <a:r>
              <a:t>Linear observé et réunions du scénario fictif. A01/A05/A07 ; rituels.json. Linear observé le 14 septembre 2026. Guide Scrum 2020, p. 9-10 : https://scrumguides.org/docs/scrumguide/v2020/2020-Scrum-Guide-French.pdf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04:30 à 06:00. Durée prévue : 01:30.</a:t>
            </a:r>
          </a:p>
          <a:p/>
          <a:p>
            <a:r>
              <a:t>TEXTE ORAL</a:t>
            </a:r>
          </a:p>
          <a:p>
            <a:r>
              <a:t>Ce planning est un exercice fictif de préparation de démonstration sur quinze jours ouvrés. Le développement réel de Spity a duré un an. L'étude cadre le besoin. La mesure transforme ce besoin en critères observables, par exemple une seule inscription acceptée sur la dernière place. La conception fixe les responsabilités et les moyens. La réalisation fournit les parcours, la recette mesure leur conformité et la restitution prépare la décision du client.</a:t>
            </a:r>
          </a:p>
          <a:p/>
          <a:p>
            <a:r>
              <a:t>Le diagramme à barres rend les chevauchements lisibles. Il complète le tableau Kanban et les réunions sans imposer que toutes les activités attendent la fin de la précédente. QA peut préparer et tester les fonctions déjà disponibles. La clôture de la recette dépend toutefois de la stabilisation des événements et des corrections. La démonstration reste prévue à J15, après la recette J14.</a:t>
            </a:r>
          </a:p>
          <a:p/>
          <a:p>
            <a:r>
              <a:t>Je conserve les dates initiales dans le classeur pour mesurer les dérives. À J10, les événements sont prévus à J12 au lieu de J11 et la recette à J14 au lieu de J13. Chaque glissement vaut un jour. Ce décalage de date est distinct de l'augmentation de charge. A01 conserve les dix tâches et les trente activités estimées sont détaillées dans A09.</a:t>
            </a:r>
          </a:p>
          <a:p/>
          <a:p>
            <a:r>
              <a:t>GESTE OU MANIPULATION</a:t>
            </a:r>
          </a:p>
          <a:p>
            <a:r>
              <a:t>Lire la phase Mesure, les chevauchements puis les dates initiales et revues.</a:t>
            </a:r>
          </a:p>
          <a:p/>
          <a:p>
            <a:r>
              <a:t>TRANSITION</a:t>
            </a:r>
          </a:p>
          <a:p>
            <a:r>
              <a:t>La répartition des missions permet de tenir ces engagements.</a:t>
            </a:r>
          </a:p>
          <a:p/>
          <a:p>
            <a:r>
              <a:t>SOURCE ET NATURE</a:t>
            </a:r>
          </a:p>
          <a:p>
            <a:r>
              <a:t>C.3.1, planning fictif du lot à J10. A01, A03, A09 et Planning. Étude T01, mesure T02, conception T03, réalisation T04-T06, recette T07/T10, restitution T09. A05 : planning J3, reviews J10/J15 et rétrospective J15. Graphique des intervalles de phases à J10, entre les jours relatifs indiqués. Les jalons complets restent dans A01.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06:00 à 07:00. Durée prévue : 01:00.</a:t>
            </a:r>
          </a:p>
          <a:p/>
          <a:p>
            <a:r>
              <a:t>TEXTE ORAL</a:t>
            </a:r>
          </a:p>
          <a:p>
            <a:r>
              <a:t>Dans le scénario, le chef de projet organise, le développeur réalise et Camille prépare les tests. QA signifie assurance qualité ; son rôle consiste ici à vérifier les parcours et leurs critères. Camille est une testeuse malentendante fictive. Elle intervient sur T02 et T07, selon ses compétences, avec vingt-quatre heures prévues pour trente disponibles.</a:t>
            </a:r>
          </a:p>
          <a:p/>
          <a:p>
            <a:r>
              <a:t>Les consignes sont écrites, les réunions sous-titrées et les décisions accessibles après chaque échange. Une heure de préparation est déjà comprise dans le pilotage. Le tableau des responsabilités précise qui réalise et qui décide.</a:t>
            </a:r>
          </a:p>
          <a:p/>
          <a:p>
            <a:r>
              <a:t>Nous utilisons un ordinateur, un navigateur et une base locale pour développer et tester. Linear suit les tâches, Git conserve les versions et les documents partagés gardent les décisions. Le budget présenté ensuite valorise les moyens du cas.</a:t>
            </a:r>
          </a:p>
          <a:p/>
          <a:p>
            <a:r>
              <a:t>GESTE OU MANIPULATION</a:t>
            </a:r>
          </a:p>
          <a:p>
            <a:r>
              <a:t>Présenter les trois rôles et identifier les missions T02/T07 de Camille. Distinguer sa capacité de sa charge prévue.</a:t>
            </a:r>
          </a:p>
          <a:p/>
          <a:p>
            <a:r>
              <a:t>TRANSITION</a:t>
            </a:r>
          </a:p>
          <a:p>
            <a:r>
              <a:t>Je vérifie ensuite les écarts de charge avant d'engager le reste du lot.</a:t>
            </a:r>
          </a:p>
          <a:p/>
          <a:p>
            <a:r>
              <a:t>SOURCE ET NATURE</a:t>
            </a:r>
          </a:p>
          <a:p>
            <a:r>
              <a:t>C.3.1, équipe et situation fictives. A02 ; donnees/inclusion.json. Camille est un personnage fictif. C.3.1 : référentiel RNCP39583, p. 11-12. Capacités et charges du cas conservées. A02 : moyens matériels, logiciels et collaboration. Rôles CP/DEV/QA/CL du scénario.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07:00 à 08:30. Durée prévue : 01:30.</a:t>
            </a:r>
          </a:p>
          <a:p/>
          <a:p>
            <a:r>
              <a:t>TEXTE ORAL</a:t>
            </a:r>
          </a:p>
          <a:p>
            <a:r>
              <a:t>Les chiffres du lot reposent maintenant sur trente activités détaillées, regroupées dans dix tâches. Chaque ligne décrit un travail identifiable, son estimation initiale, son consommé simulé à J10 et son reste à faire. Les trente estimations initiales totalisent cent douze heures. Le consommé atteint soixante-dix-sept heures et le reste à faire quarante heures. La prévision totale devient donc cent dix-sept heures.</a:t>
            </a:r>
          </a:p>
          <a:p/>
          <a:p>
            <a:r>
              <a:t>Le graphique explique les cinq heures supplémentaires. La clarification des dépendances ajoute une heure de pilotage. Les contrôles d'accès ajoutent deux heures, la stabilisation des événements deux heures et la recette deux heures. En sens inverse, la réestimation des corrections retire deux heures. Cette économie reste une hypothèse à surveiller, elle ne justifie pas de réduire les critères de validation.</a:t>
            </a:r>
          </a:p>
          <a:p/>
          <a:p>
            <a:r>
              <a:t>Je conserve la référence initiale et les causes d'écart pour rendre la décision traçable. Les heures sont des données du scénario, pas des temps saisis dans Linear. Les soixante-dix-sept heures consommées ne donnent pas non plus un pourcentage de fonctionnalités terminées. Pour décider, je rapproche ce consommé des livrables vérifiés et des contrôles encore nécessaires. Les dates évoluent aussi : événements J11 à J12, recette J13 à J14. Dans les deux cas, le retard prévu vaut un jour.</a:t>
            </a:r>
          </a:p>
          <a:p/>
          <a:p>
            <a:r>
              <a:t>GESTE OU MANIPULATION</a:t>
            </a:r>
          </a:p>
          <a:p>
            <a:r>
              <a:t>Lire chaque cause de variation puis montrer le total net de cinq heures.</a:t>
            </a:r>
          </a:p>
          <a:p/>
          <a:p>
            <a:r>
              <a:t>TRANSITION</a:t>
            </a:r>
          </a:p>
          <a:p>
            <a:r>
              <a:t>Ces heures ont un effet différent sur le budget selon le rôle concerné.</a:t>
            </a:r>
          </a:p>
          <a:p/>
          <a:p>
            <a:r>
              <a:t>SOURCE ET NATURE</a:t>
            </a:r>
          </a:p>
          <a:p>
            <a:r>
              <a:t>C3.2.1, simulation pédagogique. A09, section 4 et 5 ; donnees/pilotage.json, 30 estimateDetails ; classeur Estimations et Planning. Simulation pédagogique, sans relevés horaires réels.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08:30 à 10:00. Durée prévue : 01:30.</a:t>
            </a:r>
          </a:p>
          <a:p/>
          <a:p>
            <a:r>
              <a:t>TEXTE ORAL</a:t>
            </a:r>
          </a:p>
          <a:p>
            <a:r>
              <a:t>Je conserve le budget présenté dans le diaporama du Bloc 1 : quarante-quatre mille deux cent cinquante euros. Il comprend quatre-vingt-deux jours-homme à quatre cent cinquante euros, soit trente-six mille neuf cents euros de développement, puis les postes de lancement détaillés en annexe.</a:t>
            </a:r>
          </a:p>
          <a:p/>
          <a:p>
            <a:r>
              <a:t>Le graphique suit un périmètre plus limité : notre cas de préparation de démonstration, valorisé en heures par rôle. La référence de ce lot est de quatre mille deux cent soixante-dix euros. À J10, sa prévision atteint quatre mille quatre cent soixante-cinq euros. L'écart de cent quatre-vingt-quinze euros représente environ quatre virgule six pour cent.</a:t>
            </a:r>
          </a:p>
          <a:p/>
          <a:p>
            <a:r>
              <a:t>La réserve de quatre cent vingt-sept euros porte le plafond du lot à quatre mille six cent quatre-vingt-dix-sept euros. Il reste deux cent trente-deux euros de marge. Toute demande est examinée avec cette marge et la capacité des rôles.</a:t>
            </a:r>
          </a:p>
          <a:p/>
          <a:p>
            <a:r>
              <a:t>Le classeur détaille ces calculs. Les charges du cas sont simulées : elles ne prouvent pas une consommation du budget global. Je conserve les unités et les périmètres pour éviter d'additionner des montants qui recouvrent des travaux communs.</a:t>
            </a:r>
          </a:p>
          <a:p/>
          <a:p>
            <a:r>
              <a:t>GESTE OU MANIPULATION</a:t>
            </a:r>
          </a:p>
          <a:p>
            <a:r>
              <a:t>Comparer les barres du budget initial, de la prévision et du plafond. Expliquer les 232 euros de marge.</a:t>
            </a:r>
          </a:p>
          <a:p/>
          <a:p>
            <a:r>
              <a:t>TRANSITION</a:t>
            </a:r>
          </a:p>
          <a:p>
            <a:r>
              <a:t>La marge financière doit être lue avec la disponibilité de chaque rôle.</a:t>
            </a:r>
          </a:p>
          <a:p/>
          <a:p>
            <a:r>
              <a:t>SOURCE ET NATURE</a:t>
            </a:r>
          </a:p>
          <a:p>
            <a:r>
              <a:t>C3.2.1, montants fictifs en euros. Diaporama B1, p. 21-22 : 82 j-h, 450 EUR/j, total 44 250 EUR. A03, A09 et classeur : cas B3 distinct. reference-bloc-01.json et COHERENCE_INTER_BLOCS.md.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10:00 à 11:00. Durée prévue : 01:00.</a:t>
            </a:r>
          </a:p>
          <a:p/>
          <a:p>
            <a:r>
              <a:t>TEXTE ORAL</a:t>
            </a:r>
          </a:p>
          <a:p>
            <a:r>
              <a:t>La charge totale reste inférieure à la capacité globale, mais cette somme peut masquer une tension sur un rôle. Le chef de projet est à vingt-neuf heures pour trente disponibles. Il ne conserve qu'une heure de marge. Le développeur dispose de huit heures et QA de six heures.</a:t>
            </a:r>
          </a:p>
          <a:p/>
          <a:p>
            <a:r>
              <a:t>Ces heures ne sont pas librement interchangeables. Transférer une tâche suppose de vérifier la compétence de la personne et l'effet sur la qualité. Le développeur doit pouvoir corriger son travail, tandis que QA conserve un regard sur sa validation. Je protège donc le temps d'arbitrage du chef de projet et je limite les demandes supplémentaires. Le suivi par rôle rend cette décision plus précise qu'un simple total d'heures disponibles. CP dépasse l'alerte de 90 %. QA était déjà chargé de la recette.</a:t>
            </a:r>
          </a:p>
          <a:p/>
          <a:p>
            <a:r>
              <a:t>TRANSITION</a:t>
            </a:r>
          </a:p>
          <a:p>
            <a:r>
              <a:t>Je relie ensuite ces points de vigilance à un registre des risques.</a:t>
            </a:r>
          </a:p>
          <a:p/>
          <a:p>
            <a:r>
              <a:t>SOURCE ET NATURE</a:t>
            </a:r>
          </a:p>
          <a:p>
            <a:r>
              <a:t>C3.2.1, simulation pédagogique. A03. Classeur Pilotage, charges à terminaison.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11:00 à 12:00. Durée prévue : 01:00.</a:t>
            </a:r>
          </a:p>
          <a:p/>
          <a:p>
            <a:r>
              <a:t>TEXTE ORAL</a:t>
            </a:r>
          </a:p>
          <a:p>
            <a:r>
              <a:t>Le registre complet contient cinq risques. Je présente ici ceux qui influencent directement la restitution. Le premier concerne la disponibilité de la démonstration. La réponse consiste à vérifier l'environnement avant l'oral et à conserver des captures datées.</a:t>
            </a:r>
          </a:p>
          <a:p/>
          <a:p>
            <a:r>
              <a:t>Le deuxième concerne la surcharge du chef de projet. Le seuil de quatre-vingt-dix pour cent déclenche une revue de la charge. Le troisième concerne une demande nouvelle qui dépasse la capacité ou le budget. Elle impose un arbitrage avant engagement.</a:t>
            </a:r>
          </a:p>
          <a:p/>
          <a:p>
            <a:r>
              <a:t>Chaque risque possède un responsable, un déclencheur et une réponse. Le score de probabilité et d'impact aide à prioriser, mais la décision doit aussi examiner la conséquence concrète pour le projet. Une couleur seule ne dit pas ce que l'équipe doit faire.</a:t>
            </a:r>
          </a:p>
          <a:p/>
          <a:p>
            <a:r>
              <a:t>TRANSITION</a:t>
            </a:r>
          </a:p>
          <a:p>
            <a:r>
              <a:t>Je vais illustrer cette logique de décision avec un changement réel du projet.</a:t>
            </a:r>
          </a:p>
          <a:p/>
          <a:p>
            <a:r>
              <a:t>SOURCE ET NATURE</a:t>
            </a:r>
          </a:p>
          <a:p>
            <a:r>
              <a:t>C3.2.1, extrait du registre fictif. A03, registre des cinq risques.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12:00 à 13:30. Durée prévue : 01:30.</a:t>
            </a:r>
          </a:p>
          <a:p/>
          <a:p>
            <a:r>
              <a:t>TEXTE ORAL</a:t>
            </a:r>
          </a:p>
          <a:p>
            <a:r>
              <a:t>Cet exemple part d'un problème technique documenté dans le Bloc 2. Les compilations du serveur de développement perturbaient la recette navigateur. Il fallait rendre les tests plus proches du logiciel livré.</a:t>
            </a:r>
          </a:p>
          <a:p/>
          <a:p>
            <a:r>
              <a:t>Je compare trois options. Augmenter les délais ou ajouter des tentatives est rapide, mais peut masquer la cause. Préchauffer les routes réduit les compilations pendant les tests, à condition d'avoir préparé toutes les routes utiles. Tester le serveur standalone issu du build demande une construction préalable, mais rapproche la recette du livrable.</a:t>
            </a:r>
          </a:p>
          <a:p/>
          <a:p>
            <a:r>
              <a:t>Le commit visible dans Git retient cette troisième option et ajuste aussi localhost pour les sessions. Le dossier historique rapporte une exécution réussie après consolidation. La comparaison des options est mon analyse rétrospective ; elle n'est pas un compte rendu rédigé le jour de la décision. Les résultats gardent leur version et leur date.</a:t>
            </a:r>
          </a:p>
          <a:p/>
          <a:p>
            <a:r>
              <a:t>Ce cas montre comment je justifie un choix : je pars du problème, j'examine les conséquences des options et je relie la solution au résultat attendu.</a:t>
            </a:r>
          </a:p>
          <a:p/>
          <a:p>
            <a:r>
              <a:t>GESTE OU MANIPULATION</a:t>
            </a:r>
          </a:p>
          <a:p>
            <a:r>
              <a:t>Comparer oralement les trois options. Mettre en avant le standalone et le commit qui atteste le choix.</a:t>
            </a:r>
          </a:p>
          <a:p/>
          <a:p>
            <a:r>
              <a:t>TRANSITION</a:t>
            </a:r>
          </a:p>
          <a:p>
            <a:r>
              <a:t>Un arbitrage peut aussi porter sur le périmètre plutôt que sur un choix technique.</a:t>
            </a:r>
          </a:p>
          <a:p/>
          <a:p>
            <a:r>
              <a:t>SOURCE ET NATURE</a:t>
            </a:r>
          </a:p>
          <a:p>
            <a:r>
              <a:t>C3.2.2, fait Git et analyse rétrospective. A04. git show 689e59d. Cahier de recettes Bloc 2, consolidation standalone. B2 : 19_RETOUR_EXPERIENCE_ET_CHOIX_TECHNIQUES, section 8. L’arbitrage B3 reprend le même événement et en explicite le raisonnement de pilotage.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13:30 à 15:00. Durée prévue : 01:30.</a:t>
            </a:r>
          </a:p>
          <a:p/>
          <a:p>
            <a:r>
              <a:t>TEXTE ORAL</a:t>
            </a:r>
          </a:p>
          <a:p>
            <a:r>
              <a:t>À J10, le client fictif demande un lot supplémentaire de contributions aux topos. Il s'agit d'une demande pédagogique, distincte de l'état actuel du code. Son estimation est de douze heures de développement et de quatre heures de recette, soit cinq cent quarante euros.</a:t>
            </a:r>
          </a:p>
          <a:p/>
          <a:p>
            <a:r>
              <a:t>L'ajout porterait la prévision à cinq mille cinq euros, au-dessus du plafond de trois cent huit euros. Il porterait également la charge du développeur à soixante-seize heures pour soixante-douze disponibles. La difficulté concerne donc à la fois le budget et la capacité.</a:t>
            </a:r>
          </a:p>
          <a:p/>
          <a:p>
            <a:r>
              <a:t>Je compare l'ajout, le retrait d'une partie de la recette et le report. Réduire la recette ferait perdre des contrôles sur le périmètre déjà engagé. Le scénario retient le report du lot supplémentaire. Le client fictif valide cette décision dans le compte rendu J10. Les critères restent dans le backlog pour une estimation ultérieure. Cette réponse explique ce qui peut être livré, à quel moment, et pourquoi la demande ne peut pas simplement être ajoutée sans conséquence.</a:t>
            </a:r>
          </a:p>
          <a:p/>
          <a:p>
            <a:r>
              <a:t>GESTE OU MANIPULATION</a:t>
            </a:r>
          </a:p>
          <a:p>
            <a:r>
              <a:t>Montrer le rattachement de la demande au contexte SPI-22, puis comparer les coûts et la capacité DEV.</a:t>
            </a:r>
          </a:p>
          <a:p/>
          <a:p>
            <a:r>
              <a:t>TRANSITION</a:t>
            </a:r>
          </a:p>
          <a:p>
            <a:r>
              <a:t>Pour appliquer cette décision, je dois aussi la faire comprendre à l’équipe.</a:t>
            </a:r>
          </a:p>
          <a:p/>
          <a:p>
            <a:r>
              <a:t>SOURCE ET NATURE</a:t>
            </a:r>
          </a:p>
          <a:p>
            <a:r>
              <a:t>C3.2.2, demande fictive à J10. A04 et CR02 dans A07. Simulation explicitement distincte du code actuel. B1 : diaporama p. 20-21, topos Should dans la vision cible. Le report concerne ce lot pédagogique ; il ne supprime pas la fonctionnalité du projet. Linear SPI-22 est observé en Backlog au 14 septembre. Le chiffrage additionnel 12 h DEV et 4 h QA est une hypothèse du lot, pas une estimation extraite de ce ticket.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15:00 à 16:30. Durée prévue : 01:30.</a:t>
            </a:r>
          </a:p>
          <a:p/>
          <a:p>
            <a:r>
              <a:t>TEXTE ORAL</a:t>
            </a:r>
          </a:p>
          <a:p>
            <a:r>
              <a:t>Le développeur souhaite ajouter une fonction alors que Camille attend une version stable. Leurs besoins sont différents : faire évoluer le produit et vérifier le périmètre engagé. Je demande les faits, les impacts et l'aide nécessaire avant de choisir une réponse.</a:t>
            </a:r>
          </a:p>
          <a:p/>
          <a:p>
            <a:r>
              <a:t>La posture participative sert à comparer leurs propositions. La posture persuasive permet d'expliquer au client les conséquences du report. Je reste directif sur les critères critiques de livraison : on ne valide pas une capacité non vérifiée. La délégation porte sur un résultat et un contrôle. DEV choisit l'implémentation ; Camille choisit les cas de recette dans les critères convenus.</a:t>
            </a:r>
          </a:p>
          <a:p/>
          <a:p>
            <a:r>
              <a:t>Une réponse seulement directive ferait taire le désaccord sans traiter sa cause. Une discussion sans échéance consommerait la faible marge du chef de projet. Je retiens quinze minutes, avec les options préparées par écrit, une autorité de décision identifiée et une prochaine action datée. La rétrospective J15 complète cette analyse : nous séparons le daily des diagnostics techniques. CP vérifie cette amélioration aux trois premiers points du prochain lot. Cette décision appartient au scénario fictif.</a:t>
            </a:r>
          </a:p>
          <a:p/>
          <a:p>
            <a:r>
              <a:t>GESTE OU MANIPULATION</a:t>
            </a:r>
          </a:p>
          <a:p>
            <a:r>
              <a:t>Associer chaque style à une action, puis expliquer la limite d’une réponse seulement directive.</a:t>
            </a:r>
          </a:p>
          <a:p/>
          <a:p>
            <a:r>
              <a:t>TRANSITION</a:t>
            </a:r>
          </a:p>
          <a:p>
            <a:r>
              <a:t>Ces échanges doivent être accessibles à toute l’équipe.</a:t>
            </a:r>
          </a:p>
          <a:p/>
          <a:p>
            <a:r>
              <a:t>SOURCE ET NATURE</a:t>
            </a:r>
          </a:p>
          <a:p>
            <a:r>
              <a:t>C3.3.1, situation managériale fictive. A05, situation de désaccord, styles et analyse critique. Illustration fictive conservée. A05, RT01 : amélioration du daily lors de la rétrospective J15. Illustration fictive générée avec ImageGen, visuels/equipe-illustration.png. Aucune personne réelle représentée.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16:30 à 18:00. Durée prévue : 01:30.</a:t>
            </a:r>
          </a:p>
          <a:p/>
          <a:p>
            <a:r>
              <a:t>TEXTE ORAL</a:t>
            </a:r>
          </a:p>
          <a:p>
            <a:r>
              <a:t>Camille est notre testeuse QA malentendante fictive. Nous convenons de supports écrits, de sous-titres testés et d'une seule personne qui parle à la fois. La synthèse conserve l'action, le responsable et l'échéance. La formation utilise des consignes écrites et une démonstration sous-titrée.</a:t>
            </a:r>
          </a:p>
          <a:p/>
          <a:p>
            <a:r>
              <a:t>Dans le même scénario, le développeur travaille depuis Montréal, tandis que CP et Camille sont à Paris. L'invitation indique les deux fuseaux et propose un créneau commun. Comme la maîtrise du français peut varier, j'utilise un résumé simple et un glossaire français-anglais. DEV peut transmettre son avis par écrit avant la décision. Je ne déduis pas un accord du silence ou d'une différence de style d'expression.</a:t>
            </a:r>
          </a:p>
          <a:p/>
          <a:p>
            <a:r>
              <a:t>Le contrôle porte sur l'accès à l'information : reformuler une consigne à J3, retrouver une décision à J10, réaliser un cas sans aide à J14. Les résultats restent à constater. Si les sous-titres ou une formulation ne suffisent pas, je reprends par écrit et ajuste les modalités avec la personne. Le compte rendu partagé devient la référence commune.</a:t>
            </a:r>
          </a:p>
          <a:p/>
          <a:p>
            <a:r>
              <a:t>GESTE OU MANIPULATION</a:t>
            </a:r>
          </a:p>
          <a:p>
            <a:r>
              <a:t>Présenter les adaptations de Camille puis le cas Paris/Montréal et le contrôle commun.</a:t>
            </a:r>
          </a:p>
          <a:p/>
          <a:p>
            <a:r>
              <a:t>TRANSITION</a:t>
            </a:r>
          </a:p>
          <a:p>
            <a:r>
              <a:t>Je compare ensuite les compétences disponibles aux besoins du projet.</a:t>
            </a:r>
          </a:p>
          <a:p/>
          <a:p>
            <a:r>
              <a:t>SOURCE ET NATURE</a:t>
            </a:r>
          </a:p>
          <a:p>
            <a:r>
              <a:t>C3.3.1, handicap et contexte international simulés. A02/A05/A06 ; inclusion.json et consolidation.json. Camille et le contexte Paris/Montréal sont fictifs ; aucune nationalité ou situation réelle inférée.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18:00 à 19:00. Durée prévue : 01:00.</a:t>
            </a:r>
          </a:p>
          <a:p/>
          <a:p>
            <a:r>
              <a:t>TEXTE ORAL</a:t>
            </a:r>
          </a:p>
          <a:p>
            <a:r>
              <a:t>Cette grille compare une compétence précise à un niveau attendu. Zéro signifie non abordé, un réalisé avec accompagnement, deux autonome sur un cas courant et trois capable de traiter les cas complexes. Les niveaux sont ceux de l'exercice fictif, pas des évaluations réelles des personnes.</a:t>
            </a:r>
          </a:p>
          <a:p/>
          <a:p>
            <a:r>
              <a:t>Le chef de projet progresse sur le suivi des écarts. DEV doit sécuriser les inscriptions concurrentes. Camille doit rendre la recette navigateur et le contrôle clavier reproductibles. L'animation et le développement typé sont maintenus au niveau deux dans le cas.</a:t>
            </a:r>
          </a:p>
          <a:p/>
          <a:p>
            <a:r>
              <a:t>Je commente l'écart avec un exemple observable : expliquer pourquoi une seule demande obtient la dernière place. Une note globale par personne masquerait ce besoin. L'objectif reste la compétence utile au projet, indépendamment de la situation de handicap.</a:t>
            </a:r>
          </a:p>
          <a:p/>
          <a:p>
            <a:r>
              <a:t>GESTE OU MANIPULATION</a:t>
            </a:r>
          </a:p>
          <a:p>
            <a:r>
              <a:t>Commenter une ligne complète : rôle, compétence, niveau actuel et cible.</a:t>
            </a:r>
          </a:p>
          <a:p/>
          <a:p>
            <a:r>
              <a:t>TRANSITION</a:t>
            </a:r>
          </a:p>
          <a:p>
            <a:r>
              <a:t>Chaque écart conduit à une action de formation ciblée.</a:t>
            </a:r>
          </a:p>
          <a:p/>
          <a:p>
            <a:r>
              <a:t>SOURCE ET NATURE</a:t>
            </a:r>
          </a:p>
          <a:p>
            <a:r>
              <a:t>C3.3.2, niveaux hypothétiques du cas. A06 : six compétences et échelle 0-3. Besoins et niveaux simulés.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19:00 à 20:30. Durée prévue : 01:30.</a:t>
            </a:r>
          </a:p>
          <a:p/>
          <a:p>
            <a:r>
              <a:t>TEXTE ORAL</a:t>
            </a:r>
          </a:p>
          <a:p>
            <a:r>
              <a:t>Les six heures de formation sont déjà comprises dans les tâches. À J3, le chef de projet consacre une heure au tableau de bord et doit expliquer un écart recalculé. DEV dispose de deux heures pendant T06, entre J9 et J12, pour pratiquer les inscriptions concurrentes. Camille dispose de trois heures dans T07, entre J10 et J14 : deux pour la recette navigateur et une pour le clavier.</a:t>
            </a:r>
          </a:p>
          <a:p/>
          <a:p>
            <a:r>
              <a:t>Les ateliers commencent par une pratique accompagnée, puis un cas autonome. Camille reçoit des consignes écrites et une démonstration sous-titrée. Si le support est inaccessible, on le corrige ; si la difficulté reste technique, on ajuste l'accompagnement. Soixante euros de ressources sont prévus dans le budget fictif.</a:t>
            </a:r>
          </a:p>
          <a:p/>
          <a:p>
            <a:r>
              <a:t>À J12, si une compétence critique reste indisponible, CP prépare une demande de renfort aux RH. La fiche précise mission, délai, exercice de sélection et coût maximal. L'annexe présente une variante chiffrée qui doit être arbitrée avant engagement. Elle n'est pas activée dans le budget de base et aucune demande réelle n'est envoyée.</a:t>
            </a:r>
          </a:p>
          <a:p/>
          <a:p>
            <a:r>
              <a:t>GESTE OU MANIPULATION</a:t>
            </a:r>
          </a:p>
          <a:p>
            <a:r>
              <a:t>Lire les trois actions et leurs critères de réussite, puis indiquer le déclencheur RH.</a:t>
            </a:r>
          </a:p>
          <a:p/>
          <a:p>
            <a:r>
              <a:t>TRANSITION</a:t>
            </a:r>
          </a:p>
          <a:p>
            <a:r>
              <a:t>Le client reçoit ensuite un compte rendu qui permet de décider.</a:t>
            </a:r>
          </a:p>
          <a:p/>
          <a:p>
            <a:r>
              <a:t>SOURCE ET NATURE</a:t>
            </a:r>
          </a:p>
          <a:p>
            <a:r>
              <a:t>C3.3.2, formations et besoin RH simulés. A06 et consolidation.json. Formation CP 1 h/T03, DEV 2 h/T06, QA 3 h/T07. Variante RH séparée, annexe 25.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20:30 à 22:00. Durée prévue : 01:30.</a:t>
            </a:r>
          </a:p>
          <a:p/>
          <a:p>
            <a:r>
              <a:t>TEXTE ORAL</a:t>
            </a:r>
          </a:p>
          <a:p>
            <a:r>
              <a:t>La review est un échange sur le produit avec Claire Martin, pour le Collectif Altitude Grimpe. Dans le scénario, nous regardons les parcours disponibles et leurs critères, puis nous adaptons les priorités. Le planning J3 fixe le périmètre. Les reviews J10 et J15 organisent les retours intermédiaires puis la validation du parcours démontré.</a:t>
            </a:r>
          </a:p>
          <a:p/>
          <a:p>
            <a:r>
              <a:t>À J10, le matching est disponible dans le cas, mais les événements restent à stabiliser. Leur fin glisse de J11 à J12. La prévision atteint quatre mille quatre cent soixante-cinq euros, avec deux cent trente-deux euros sous le plafond. La nouvelle demande de contributions aux topos dépasserait le budget et la capacité DEV. Le client fictif retient son report, en conservant les critères de recette.</a:t>
            </a:r>
          </a:p>
          <a:p/>
          <a:p>
            <a:r>
              <a:t>CR02 garde la trace de cette décision. DEV termine T06 à J12, Camille clôt la recette après corrections à J14 et CP prépare la validation J15. Le document partagé relie l'écart, le choix et la prochaine action. La rétrospective examine ensuite notre façon de travailler, tandis que la review porte sur le produit. Les comptes rendus décrivent un exercice pédagogique, sans accord client réel attesté.</a:t>
            </a:r>
          </a:p>
          <a:p/>
          <a:p>
            <a:r>
              <a:t>GESTE OU MANIPULATION</a:t>
            </a:r>
          </a:p>
          <a:p>
            <a:r>
              <a:t>Montrer le résultat présenté, la décision issue du retour client et les actions datées.</a:t>
            </a:r>
          </a:p>
          <a:p/>
          <a:p>
            <a:r>
              <a:t>TRANSITION</a:t>
            </a:r>
          </a:p>
          <a:p>
            <a:r>
              <a:t>Les retours du client sont aussi suivis par un protocole de satisfaction.</a:t>
            </a:r>
          </a:p>
          <a:p/>
          <a:p>
            <a:r>
              <a:t>SOURCE ET NATURE</a:t>
            </a:r>
          </a:p>
          <a:p>
            <a:r>
              <a:t>C3.4.1, comptes rendus simulés. A05, protocole des reviews ; A07, CR02 ; rituels.json. Compte rendu et accord client fictifs.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22:00 à 23:00. Durée prévue : 01:00.</a:t>
            </a:r>
          </a:p>
          <a:p/>
          <a:p>
            <a:r>
              <a:t>TEXTE ORAL</a:t>
            </a:r>
          </a:p>
          <a:p>
            <a:r>
              <a:t>À J15, je prévois une session pilote fictive avec deux grimpeurs et un représentant de club. Aucun participant n'a réellement été recruté pour cette mesure. Les résultats restent non mesurés.</a:t>
            </a:r>
          </a:p>
          <a:p/>
          <a:p>
            <a:r>
              <a:t>Je relève la part de critères critiques acceptés, avec une cible de cent pour cent. Je compte les parcours réussis sans aide, avec une cible de quatre-vingts pour cent. L'utilité attendue est au moins quatre sur cinq et aucun blocage critique ne doit rester ouvert.</a:t>
            </a:r>
          </a:p>
          <a:p/>
          <a:p>
            <a:r>
              <a:t>Chaque résultat indique sa date, son effectif et sa méthode. Un faible effectif ne représente pas tous les utilisateurs. Sous le seuil, je qualifie l'obstacle, affecte une correction et vérifie le parcours à nouveau. Les tests techniques ne remplacent pas cette appréciation du besoin par les utilisateurs.</a:t>
            </a:r>
          </a:p>
          <a:p/>
          <a:p>
            <a:r>
              <a:t>GESTE OU MANIPULATION</a:t>
            </a:r>
          </a:p>
          <a:p>
            <a:r>
              <a:t>Lire un indicateur avec son calcul et son seuil, puis expliquer l’action déclenchée.</a:t>
            </a:r>
          </a:p>
          <a:p/>
          <a:p>
            <a:r>
              <a:t>TRANSITION</a:t>
            </a:r>
          </a:p>
          <a:p>
            <a:r>
              <a:t>Je montre maintenant le parcours qui sera évalué.</a:t>
            </a:r>
          </a:p>
          <a:p/>
          <a:p>
            <a:r>
              <a:t>SOURCE ET NATURE</a:t>
            </a:r>
          </a:p>
          <a:p>
            <a:r>
              <a:t>C3.4.1, aucun résultat client réel disponible. A07 : définitions, seuils et questionnaire ; consolidation.json : effectif prévu uniquement, résultats null.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23:00 à 23:30. Durée prévue : 00:30.</a:t>
            </a:r>
          </a:p>
          <a:p/>
          <a:p>
            <a:r>
              <a:t>TEXTE ORAL</a:t>
            </a:r>
          </a:p>
          <a:p>
            <a:r>
              <a:t>Je passe à la démonstration locale, sur le même parcours grimpeur et club que dans le Bloc 2. Les comptes contiennent des données fictives. Je montre d'abord la recherche d'un partenaire, puis les inscriptions et les participants côté club. Comme le rappelle le Bloc 4, une validation locale ne prouve pas une mise à jour de la production.</a:t>
            </a:r>
          </a:p>
          <a:p/>
          <a:p>
            <a:r>
              <a:t>GESTE OU MANIPULATION</a:t>
            </a:r>
          </a:p>
          <a:p>
            <a:r>
              <a:t>Ouvrir les deux sessions déjà connectées. Lancer le chronomètre de démonstration.</a:t>
            </a:r>
          </a:p>
          <a:p/>
          <a:p>
            <a:r>
              <a:t>TRANSITION</a:t>
            </a:r>
          </a:p>
          <a:p>
            <a:r>
              <a:t>Je commence avec le compte grimpeur.</a:t>
            </a:r>
          </a:p>
          <a:p/>
          <a:p>
            <a:r>
              <a:t>SOURCE ET NATURE</a:t>
            </a:r>
          </a:p>
          <a:p>
            <a:r>
              <a:t>C3.4.2, séquence de six minutes. A08 et preuves/verification.json. B2 : F03-F08. B4 : B4-C421-02 et dossier-jury/01_CADRAGE_PROJET, distinction local, staging et production. État de production historique non réactualisé. Photo de marque existante escalade-falaise-gros-plan.jpeg, illustration de la pratique.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23:30 à 26:30. Durée prévue : 03:00.</a:t>
            </a:r>
          </a:p>
          <a:p/>
          <a:p>
            <a:r>
              <a:t>TEXTE ORAL</a:t>
            </a:r>
          </a:p>
          <a:p>
            <a:r>
              <a:t>Je suis connecté en tant que grimpeur. Le profil donne les informations utiles pour ma pratique. Dans la recherche de partenaires, les filtres permettent de réduire les résultats. Je montre un filtre et j'explique ce qui change dans la liste. L'état de la demande permet ensuite de savoir si un échange est déjà engagé.</a:t>
            </a:r>
          </a:p>
          <a:p/>
          <a:p>
            <a:r>
              <a:t>Je rejoins maintenant la page des événements. Je lis la date, le lieu et la capacité avant de m'inscrire. Je vérifie que l'interface confirme l'inscription et que l'état affiché reste cohérent. Si le compte était déjà inscrit, je l'annonce et j'utilise l'événement préparé pour la répétition.</a:t>
            </a:r>
          </a:p>
          <a:p/>
          <a:p>
            <a:r>
              <a:t>Je décris le résultat du point de vue de l'utilisateur : il sait quelle sortie il rejoint et peut retrouver son inscription. Je vais vérifier ce même résultat depuis le rôle club.</a:t>
            </a:r>
          </a:p>
          <a:p/>
          <a:p>
            <a:r>
              <a:t>GESTE OU MANIPULATION</a:t>
            </a:r>
          </a:p>
          <a:p>
            <a:r>
              <a:t>0:00–0:40 : profil. 0:40–1:35 : filtre et demande. 1:35–2:40 : événement et inscription. 2:40–3:00 : confirmation. Laisser le navigateur affiché pendant les manipulations. La capture sert de secours.</a:t>
            </a:r>
          </a:p>
          <a:p/>
          <a:p>
            <a:r>
              <a:t>TRANSITION</a:t>
            </a:r>
          </a:p>
          <a:p>
            <a:r>
              <a:t>Je bascule sur la session du club organisateur.</a:t>
            </a:r>
          </a:p>
          <a:p/>
          <a:p>
            <a:r>
              <a:t>SOURCE ET NATURE</a:t>
            </a:r>
          </a:p>
          <a:p>
            <a:r>
              <a:t>C3.4.2, application locale et données de test. Capture réelle du 15 septembre 2026. A08, recette navigateur datée.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26:30 à 29:00. Durée prévue : 02:30.</a:t>
            </a:r>
          </a:p>
          <a:p/>
          <a:p>
            <a:r>
              <a:t>TEXTE ORAL</a:t>
            </a:r>
          </a:p>
          <a:p>
            <a:r>
              <a:t>Je suis maintenant connecté avec le rôle club. Je retrouve l'événement et je consulte les participants. L'inscription effectuée côté grimpeur doit apparaître de façon cohérente. Les commandes de gestion correspondent au rôle de l'organisateur.</a:t>
            </a:r>
          </a:p>
          <a:p/>
          <a:p>
            <a:r>
              <a:t>Je montre aussi un passage au clavier sur les commandes utiles. Les règles de capacité et les refus d'accès disposent de scénarios de recette identifiés. Si je ne reproduis pas un contrôle en direct, je précise la preuve de test utilisée et sa date.</a:t>
            </a:r>
          </a:p>
          <a:p/>
          <a:p>
            <a:r>
              <a:t>Je termine en reprenant les critères annoncés : un partenaire recherché, un état de demande compréhensible, une inscription cohérente et un participant visible pour le club. Je distingue les critères vérifiés de ceux qui restent hors du parcours. La validation attendue porte sur ce périmètre explicite, avec ses réserves éventuelles.</a:t>
            </a:r>
          </a:p>
          <a:p/>
          <a:p>
            <a:r>
              <a:t>GESTE OU MANIPULATION</a:t>
            </a:r>
          </a:p>
          <a:p>
            <a:r>
              <a:t>0:00–1:15 : événement, commandes et participants. 1:15–2:00 : clavier et portée des preuves de capacité. 2:00–2:30 : critères et réserves. En cas d’incident, annoncer le contrôle non revalidé et utiliser la capture datée.</a:t>
            </a:r>
          </a:p>
          <a:p/>
          <a:p>
            <a:r>
              <a:t>TRANSITION</a:t>
            </a:r>
          </a:p>
          <a:p>
            <a:r>
              <a:t>Je reviens au bilan du pilotage.</a:t>
            </a:r>
          </a:p>
          <a:p/>
          <a:p>
            <a:r>
              <a:t>SOURCE ET NATURE</a:t>
            </a:r>
          </a:p>
          <a:p>
            <a:r>
              <a:t>C3.4.2, application locale et données de test. Capture réelle du 15 septembre 2026. A08 et preuves/verification.json.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29:00 à 30:00. Durée prévue : 01:00.</a:t>
            </a:r>
          </a:p>
          <a:p/>
          <a:p>
            <a:r>
              <a:t>TEXTE ORAL</a:t>
            </a:r>
          </a:p>
          <a:p>
            <a:r>
              <a:t>Je termine par les critères annoncés : trouver un partenaire adapté, comprendre l'état de la demande, confirmer une inscription et retrouver le participant côté club. Je rappelle les contrôles montrés au clavier ainsi que la portée des preuves de capacité.</a:t>
            </a:r>
          </a:p>
          <a:p/>
          <a:p>
            <a:r>
              <a:t>Pour chacun, la décision attendue est accepté, accepté avec réserve ou refusé. Le constat doit correspondre à ce qui a réellement été observé pendant la démonstration. Si une fonction n'a pas été parcourue ou un contrôle a échoué, je l'indique et je conserve la réserve avec son responsable et sa prochaine vérification.</a:t>
            </a:r>
          </a:p>
          <a:p/>
          <a:p>
            <a:r>
              <a:t>Je demande alors si ce périmètre répond aux critères convenus. Les réserves alimentent le suivi de maintenance du Bloc 4 avec la version identifiée. Aucun accord réel n'est prérempli au nom du client.</a:t>
            </a:r>
          </a:p>
          <a:p/>
          <a:p>
            <a:r>
              <a:t>GESTE OU MANIPULATION</a:t>
            </a:r>
          </a:p>
          <a:p>
            <a:r>
              <a:t>Demander la décision sur les critères. Terminer à 30:00.</a:t>
            </a:r>
          </a:p>
          <a:p/>
          <a:p>
            <a:r>
              <a:t>TRANSITION</a:t>
            </a:r>
          </a:p>
          <a:p>
            <a:r>
              <a:t>Je suis prêt à répondre aux questions et à retrouver les preuves.</a:t>
            </a:r>
          </a:p>
          <a:p/>
          <a:p>
            <a:r>
              <a:t>SOURCE ET NATURE</a:t>
            </a:r>
          </a:p>
          <a:p>
            <a:r>
              <a:t>C3.4.2, décision attendue après démonstration. A07 grille de validation ; A08 ; Bloc 4 suivi des réserves et anomalies.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30:00 à 30:00. Durée prévue : 00:00.</a:t>
            </a:r>
          </a:p>
          <a:p/>
          <a:p>
            <a:r>
              <a:t>TEXTE ORAL</a:t>
            </a:r>
          </a:p>
          <a:p>
            <a:r>
              <a:t>La matrice RACI distingue réalisation, décision, consultation et information. Une seule autorité A est retenue par activité. Camille est le rôle QA fictif. Les aménagements modifient les échanges, sans retirer sa responsabilité de recette.</a:t>
            </a:r>
          </a:p>
          <a:p/>
          <a:p>
            <a:r>
              <a:t>SOURCE ET NATURE</a:t>
            </a:r>
          </a:p>
          <a:p>
            <a:r>
              <a:t>Annexe, organisation fictive. A02, matrice RACI du scénario.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30:00 à 30:00. Durée prévue : 00:00.</a:t>
            </a:r>
          </a:p>
          <a:p/>
          <a:p>
            <a:r>
              <a:t>TEXTE ORAL</a:t>
            </a:r>
          </a:p>
          <a:p>
            <a:r>
              <a:t>Chaque ligne ajoute une hypothèse isolée à la prévision J10. Six heures QA consomment cent quatre-vingts euros et laissent cinquante-deux euros de marge. Huit heures DEV dépassent le budget de quarante-huit euros, malgré une capacité encore respectée. Deux heures CP conservent cent quarante-deux euros de marge mais portent sa charge à trente et une heures pour trente heures disponibles. La demande topo dépasse les deux contraintes. Les lignes ne se cumulent pas. Les formules de la feuille Pilotage permettent de modifier les heures supplémentaires et de vérifier les effets.</a:t>
            </a:r>
          </a:p>
          <a:p/>
          <a:p>
            <a:r>
              <a:t>GESTE OU MANIPULATION</a:t>
            </a:r>
          </a:p>
          <a:p>
            <a:r>
              <a:t>Choisir un scénario dans le tableau et expliquer séparément la contrainte budgétaire et la capacité.</a:t>
            </a:r>
          </a:p>
          <a:p/>
          <a:p>
            <a:r>
              <a:t>SOURCE ET NATURE</a:t>
            </a:r>
          </a:p>
          <a:p>
            <a:r>
              <a:t>Annexe, scénarios pédagogiques. A09 section 6 ; classeur Pilotage, sensibilité ; donnees/pilotage.json. Taux et capacités fictifs du lot.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30:00 à 30:00. Durée prévue : 00:00.</a:t>
            </a:r>
          </a:p>
          <a:p/>
          <a:p>
            <a:r>
              <a:t>TEXTE ORAL</a:t>
            </a:r>
          </a:p>
          <a:p>
            <a:r>
              <a:t>Si une compétence critique reste indisponible à J12, le scénario prévoit une demande au service RH fictif. Quatre heures de spécialiste à 45 euros ajoutent 180 euros, et une demi-heure de CP ajoute 22,50 euros. La prévision de cette variante devient 4 667,50 euros, soit 29,50 euros sous le plafond. La disponibilité J12-J13, le devis et le résultat attendu restent à confirmer. Cette variante indépendante n’est ni activée dans le classeur de base ni présentée comme une embauche réelle.</a:t>
            </a:r>
          </a:p>
          <a:p/>
          <a:p>
            <a:r>
              <a:t>SOURCE ET NATURE</a:t>
            </a:r>
          </a:p>
          <a:p>
            <a:r>
              <a:t>Annexe, demande et devis pédagogiques. A06 et consolidation.json, variante RH non activée.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SOUTENANCE · SEPTEMBRE 2026</a:t>
            </a:r>
          </a:p>
        </p:txBody>
      </p:sp>
      <p:cxnSp>
        <p:nvCxnSpPr>
          <p:cNvPr id="4" name="Connector 3"/>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6" name="TextBox 5"/>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01</a:t>
            </a:r>
          </a:p>
        </p:txBody>
      </p:sp>
      <p:pic>
        <p:nvPicPr>
          <p:cNvPr id="7" name="Picture 6" descr="escalade-falaise-coucher-soleil"/>
          <p:cNvPicPr>
            <a:picLocks noChangeAspect="1"/>
          </p:cNvPicPr>
          <p:nvPr/>
        </p:nvPicPr>
        <p:blipFill>
          <a:blip r:embed="rId3"/>
          <a:srcRect t="7143" b="7143"/>
          <a:stretch>
            <a:fillRect/>
          </a:stretch>
        </p:blipFill>
        <p:spPr>
          <a:xfrm>
            <a:off x="7909560" y="0"/>
            <a:ext cx="6720840" cy="7680960"/>
          </a:xfrm>
          <a:prstGeom prst="rect">
            <a:avLst/>
          </a:prstGeom>
        </p:spPr>
      </p:pic>
      <p:sp>
        <p:nvSpPr>
          <p:cNvPr id="8" name="Rounded Rectangle 7"/>
          <p:cNvSpPr/>
          <p:nvPr/>
        </p:nvSpPr>
        <p:spPr>
          <a:xfrm>
            <a:off x="640080" y="1417320"/>
            <a:ext cx="2743200" cy="3291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476756"/>
            <a:ext cx="2505456" cy="219456"/>
          </a:xfrm>
          <a:prstGeom prst="rect">
            <a:avLst/>
          </a:prstGeom>
          <a:noFill/>
        </p:spPr>
        <p:txBody>
          <a:bodyPr wrap="square" lIns="0" rIns="0" tIns="0" bIns="0">
            <a:spAutoFit/>
          </a:bodyPr>
          <a:lstStyle/>
          <a:p>
            <a:pPr algn="l">
              <a:spcAft>
                <a:spcPts val="400"/>
              </a:spcAft>
              <a:defRPr sz="1000" b="1">
                <a:solidFill>
                  <a:srgbClr val="D8F28B"/>
                </a:solidFill>
                <a:latin typeface="Arial"/>
              </a:defRPr>
            </a:pPr>
            <a:r>
              <a:t>COORDONNER &amp; PILOTER</a:t>
            </a:r>
          </a:p>
        </p:txBody>
      </p:sp>
      <p:sp>
        <p:nvSpPr>
          <p:cNvPr id="10" name="TextBox 9"/>
          <p:cNvSpPr txBox="1"/>
          <p:nvPr/>
        </p:nvSpPr>
        <p:spPr>
          <a:xfrm>
            <a:off x="594360" y="2084831"/>
            <a:ext cx="7315200" cy="3200400"/>
          </a:xfrm>
          <a:prstGeom prst="rect">
            <a:avLst/>
          </a:prstGeom>
          <a:noFill/>
        </p:spPr>
        <p:txBody>
          <a:bodyPr wrap="square" lIns="0" rIns="0" tIns="0" bIns="0">
            <a:spAutoFit/>
          </a:bodyPr>
          <a:lstStyle/>
          <a:p>
            <a:pPr algn="l">
              <a:spcAft>
                <a:spcPts val="400"/>
              </a:spcAft>
              <a:defRPr sz="6400" b="1">
                <a:solidFill>
                  <a:srgbClr val="FFFFFF"/>
                </a:solidFill>
                <a:latin typeface="Arial"/>
              </a:defRPr>
            </a:pPr>
            <a:r>
              <a:t>Un projet.</a:t>
            </a:r>
          </a:p>
          <a:p>
            <a:pPr algn="l">
              <a:spcAft>
                <a:spcPts val="400"/>
              </a:spcAft>
              <a:defRPr sz="6400" b="1">
                <a:solidFill>
                  <a:srgbClr val="FFFFFF"/>
                </a:solidFill>
                <a:latin typeface="Arial"/>
              </a:defRPr>
            </a:pPr>
            <a:r>
              <a:t>Une équipe.</a:t>
            </a:r>
          </a:p>
          <a:p>
            <a:pPr algn="l">
              <a:spcAft>
                <a:spcPts val="400"/>
              </a:spcAft>
              <a:defRPr sz="6400" b="1">
                <a:solidFill>
                  <a:srgbClr val="FFFFFF"/>
                </a:solidFill>
                <a:latin typeface="Arial"/>
              </a:defRPr>
            </a:pPr>
            <a:r>
              <a:t>Un cap.</a:t>
            </a:r>
          </a:p>
        </p:txBody>
      </p:sp>
      <p:sp>
        <p:nvSpPr>
          <p:cNvPr id="11" name="TextBox 10"/>
          <p:cNvSpPr txBox="1"/>
          <p:nvPr/>
        </p:nvSpPr>
        <p:spPr>
          <a:xfrm>
            <a:off x="640080" y="5696712"/>
            <a:ext cx="6766560" cy="731520"/>
          </a:xfrm>
          <a:prstGeom prst="rect">
            <a:avLst/>
          </a:prstGeom>
          <a:noFill/>
        </p:spPr>
        <p:txBody>
          <a:bodyPr wrap="square" lIns="0" rIns="0" tIns="0" bIns="0">
            <a:spAutoFit/>
          </a:bodyPr>
          <a:lstStyle/>
          <a:p>
            <a:pPr algn="l">
              <a:spcAft>
                <a:spcPts val="400"/>
              </a:spcAft>
              <a:defRPr sz="2400" b="0">
                <a:solidFill>
                  <a:srgbClr val="C7D6CB"/>
                </a:solidFill>
                <a:latin typeface="Arial"/>
              </a:defRPr>
            </a:pPr>
            <a:r>
              <a:t>Spity, le lien entre grimpeurs et clubs.</a:t>
            </a:r>
          </a:p>
        </p:txBody>
      </p:sp>
      <p:sp>
        <p:nvSpPr>
          <p:cNvPr id="12" name="TextBox 11"/>
          <p:cNvSpPr txBox="1"/>
          <p:nvPr/>
        </p:nvSpPr>
        <p:spPr>
          <a:xfrm>
            <a:off x="640080" y="6720840"/>
            <a:ext cx="3657600" cy="365760"/>
          </a:xfrm>
          <a:prstGeom prst="rect">
            <a:avLst/>
          </a:prstGeom>
          <a:noFill/>
        </p:spPr>
        <p:txBody>
          <a:bodyPr wrap="square" lIns="0" rIns="0" tIns="0" bIns="0">
            <a:spAutoFit/>
          </a:bodyPr>
          <a:lstStyle/>
          <a:p>
            <a:pPr algn="l">
              <a:spcAft>
                <a:spcPts val="400"/>
              </a:spcAft>
              <a:defRPr sz="2000" b="1">
                <a:solidFill>
                  <a:srgbClr val="D8F28B"/>
                </a:solidFill>
                <a:latin typeface="Arial"/>
              </a:defRPr>
            </a:pPr>
            <a:r>
              <a:t>Dorian Joly</a:t>
            </a:r>
          </a:p>
        </p:txBody>
      </p:sp>
      <p:sp>
        <p:nvSpPr>
          <p:cNvPr id="13" name="TextBox 12"/>
          <p:cNvSpPr txBox="1"/>
          <p:nvPr/>
        </p:nvSpPr>
        <p:spPr>
          <a:xfrm>
            <a:off x="9144000" y="7086600"/>
            <a:ext cx="4846320" cy="365760"/>
          </a:xfrm>
          <a:prstGeom prst="rect">
            <a:avLst/>
          </a:prstGeom>
          <a:noFill/>
        </p:spPr>
        <p:txBody>
          <a:bodyPr wrap="square" lIns="0" rIns="0" tIns="0" bIns="0">
            <a:spAutoFit/>
          </a:bodyPr>
          <a:lstStyle/>
          <a:p>
            <a:pPr algn="r">
              <a:spcAft>
                <a:spcPts val="400"/>
              </a:spcAft>
              <a:defRPr sz="1700" b="1">
                <a:solidFill>
                  <a:srgbClr val="FFFFFF"/>
                </a:solidFill>
                <a:latin typeface="Arial"/>
              </a:defRPr>
            </a:pPr>
            <a:r>
              <a:t>30 min · démonstration incluse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LE PARCOURS DE LA PRÉSENTATION</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FFFFFF"/>
                </a:solidFill>
                <a:latin typeface="Arial"/>
              </a:defRPr>
            </a:pPr>
            <a:r>
              <a:t>Sommaire</a:t>
            </a:r>
          </a:p>
        </p:txBody>
      </p:sp>
      <p:cxnSp>
        <p:nvCxnSpPr>
          <p:cNvPr id="5" name="Connector 4"/>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7" name="TextBox 6"/>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02</a:t>
            </a:r>
          </a:p>
        </p:txBody>
      </p:sp>
      <p:sp>
        <p:nvSpPr>
          <p:cNvPr id="8" name="TextBox 7"/>
          <p:cNvSpPr txBox="1"/>
          <p:nvPr/>
        </p:nvSpPr>
        <p:spPr>
          <a:xfrm>
            <a:off x="685800" y="2651760"/>
            <a:ext cx="3657600" cy="868680"/>
          </a:xfrm>
          <a:prstGeom prst="rect">
            <a:avLst/>
          </a:prstGeom>
          <a:noFill/>
        </p:spPr>
        <p:txBody>
          <a:bodyPr wrap="square" lIns="0" rIns="0" tIns="0" bIns="0">
            <a:spAutoFit/>
          </a:bodyPr>
          <a:lstStyle/>
          <a:p>
            <a:pPr algn="l">
              <a:spcAft>
                <a:spcPts val="400"/>
              </a:spcAft>
              <a:defRPr sz="5600" b="1">
                <a:solidFill>
                  <a:srgbClr val="D8F28B"/>
                </a:solidFill>
                <a:latin typeface="Arial"/>
              </a:defRPr>
            </a:pPr>
            <a:r>
              <a:t>30</a:t>
            </a:r>
          </a:p>
        </p:txBody>
      </p:sp>
      <p:sp>
        <p:nvSpPr>
          <p:cNvPr id="9" name="TextBox 8"/>
          <p:cNvSpPr txBox="1"/>
          <p:nvPr/>
        </p:nvSpPr>
        <p:spPr>
          <a:xfrm>
            <a:off x="685800" y="3584448"/>
            <a:ext cx="3657600" cy="548640"/>
          </a:xfrm>
          <a:prstGeom prst="rect">
            <a:avLst/>
          </a:prstGeom>
          <a:noFill/>
        </p:spPr>
        <p:txBody>
          <a:bodyPr wrap="square" lIns="0" rIns="0" tIns="0" bIns="0">
            <a:spAutoFit/>
          </a:bodyPr>
          <a:lstStyle/>
          <a:p>
            <a:pPr algn="l">
              <a:spcAft>
                <a:spcPts val="400"/>
              </a:spcAft>
              <a:defRPr sz="2000" b="1">
                <a:solidFill>
                  <a:srgbClr val="FFFFFF"/>
                </a:solidFill>
                <a:latin typeface="Arial"/>
              </a:defRPr>
            </a:pPr>
            <a:r>
              <a:t>minutes pour présenter</a:t>
            </a:r>
          </a:p>
        </p:txBody>
      </p:sp>
      <p:sp>
        <p:nvSpPr>
          <p:cNvPr id="10" name="TextBox 9"/>
          <p:cNvSpPr txBox="1"/>
          <p:nvPr/>
        </p:nvSpPr>
        <p:spPr>
          <a:xfrm>
            <a:off x="685800" y="4315968"/>
            <a:ext cx="3657600" cy="1005840"/>
          </a:xfrm>
          <a:prstGeom prst="rect">
            <a:avLst/>
          </a:prstGeom>
          <a:noFill/>
        </p:spPr>
        <p:txBody>
          <a:bodyPr wrap="square" lIns="0" rIns="0" tIns="0" bIns="0">
            <a:spAutoFit/>
          </a:bodyPr>
          <a:lstStyle/>
          <a:p>
            <a:pPr algn="l">
              <a:spcAft>
                <a:spcPts val="400"/>
              </a:spcAft>
              <a:defRPr sz="1600" b="0">
                <a:solidFill>
                  <a:srgbClr val="C7D6CB"/>
                </a:solidFill>
                <a:latin typeface="Arial"/>
              </a:defRPr>
            </a:pPr>
            <a:r>
              <a:t>24 min d’explications</a:t>
            </a:r>
          </a:p>
          <a:p>
            <a:pPr algn="l">
              <a:spcAft>
                <a:spcPts val="400"/>
              </a:spcAft>
              <a:defRPr sz="1600" b="0">
                <a:solidFill>
                  <a:srgbClr val="C7D6CB"/>
                </a:solidFill>
                <a:latin typeface="Arial"/>
              </a:defRPr>
            </a:pPr>
            <a:r>
              <a:t>6 min de démonstration</a:t>
            </a:r>
          </a:p>
        </p:txBody>
      </p:sp>
      <p:sp>
        <p:nvSpPr>
          <p:cNvPr id="11" name="TextBox 10"/>
          <p:cNvSpPr txBox="1"/>
          <p:nvPr/>
        </p:nvSpPr>
        <p:spPr>
          <a:xfrm>
            <a:off x="5120640" y="2423160"/>
            <a:ext cx="640080" cy="45720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01</a:t>
            </a:r>
          </a:p>
        </p:txBody>
      </p:sp>
      <p:sp>
        <p:nvSpPr>
          <p:cNvPr id="12" name="TextBox 11"/>
          <p:cNvSpPr txBox="1"/>
          <p:nvPr/>
        </p:nvSpPr>
        <p:spPr>
          <a:xfrm>
            <a:off x="5943600" y="2423160"/>
            <a:ext cx="5212080" cy="438912"/>
          </a:xfrm>
          <a:prstGeom prst="rect">
            <a:avLst/>
          </a:prstGeom>
          <a:noFill/>
        </p:spPr>
        <p:txBody>
          <a:bodyPr wrap="square" lIns="0" rIns="0" tIns="0" bIns="0">
            <a:spAutoFit/>
          </a:bodyPr>
          <a:lstStyle/>
          <a:p>
            <a:pPr algn="l">
              <a:spcAft>
                <a:spcPts val="400"/>
              </a:spcAft>
              <a:defRPr sz="2400" b="1">
                <a:solidFill>
                  <a:srgbClr val="FFFFFF"/>
                </a:solidFill>
                <a:latin typeface="Arial"/>
              </a:defRPr>
            </a:pPr>
            <a:r>
              <a:t>Le projet Spity</a:t>
            </a:r>
          </a:p>
        </p:txBody>
      </p:sp>
      <p:sp>
        <p:nvSpPr>
          <p:cNvPr id="13" name="TextBox 12"/>
          <p:cNvSpPr txBox="1"/>
          <p:nvPr/>
        </p:nvSpPr>
        <p:spPr>
          <a:xfrm>
            <a:off x="11430000" y="2514600"/>
            <a:ext cx="242316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01:00 à 03:00</a:t>
            </a:r>
          </a:p>
        </p:txBody>
      </p:sp>
      <p:cxnSp>
        <p:nvCxnSpPr>
          <p:cNvPr id="14" name="Connector 13"/>
          <p:cNvCxnSpPr/>
          <p:nvPr/>
        </p:nvCxnSpPr>
        <p:spPr>
          <a:xfrm>
            <a:off x="5943600" y="3017520"/>
            <a:ext cx="790956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120640" y="3255264"/>
            <a:ext cx="640080" cy="45720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02</a:t>
            </a:r>
          </a:p>
        </p:txBody>
      </p:sp>
      <p:sp>
        <p:nvSpPr>
          <p:cNvPr id="16" name="TextBox 15"/>
          <p:cNvSpPr txBox="1"/>
          <p:nvPr/>
        </p:nvSpPr>
        <p:spPr>
          <a:xfrm>
            <a:off x="5943600" y="3255264"/>
            <a:ext cx="5212080" cy="438912"/>
          </a:xfrm>
          <a:prstGeom prst="rect">
            <a:avLst/>
          </a:prstGeom>
          <a:noFill/>
        </p:spPr>
        <p:txBody>
          <a:bodyPr wrap="square" lIns="0" rIns="0" tIns="0" bIns="0">
            <a:spAutoFit/>
          </a:bodyPr>
          <a:lstStyle/>
          <a:p>
            <a:pPr algn="l">
              <a:spcAft>
                <a:spcPts val="400"/>
              </a:spcAft>
              <a:defRPr sz="2400" b="1">
                <a:solidFill>
                  <a:srgbClr val="FFFFFF"/>
                </a:solidFill>
                <a:latin typeface="Arial"/>
              </a:defRPr>
            </a:pPr>
            <a:r>
              <a:t>Organiser le travail</a:t>
            </a:r>
          </a:p>
        </p:txBody>
      </p:sp>
      <p:sp>
        <p:nvSpPr>
          <p:cNvPr id="17" name="TextBox 16"/>
          <p:cNvSpPr txBox="1"/>
          <p:nvPr/>
        </p:nvSpPr>
        <p:spPr>
          <a:xfrm>
            <a:off x="11430000" y="3346704"/>
            <a:ext cx="242316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03:00 à 07:00</a:t>
            </a:r>
          </a:p>
        </p:txBody>
      </p:sp>
      <p:cxnSp>
        <p:nvCxnSpPr>
          <p:cNvPr id="18" name="Connector 17"/>
          <p:cNvCxnSpPr/>
          <p:nvPr/>
        </p:nvCxnSpPr>
        <p:spPr>
          <a:xfrm>
            <a:off x="5943600" y="3849624"/>
            <a:ext cx="790956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120640" y="4087368"/>
            <a:ext cx="640080" cy="45720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03</a:t>
            </a:r>
          </a:p>
        </p:txBody>
      </p:sp>
      <p:sp>
        <p:nvSpPr>
          <p:cNvPr id="20" name="TextBox 19"/>
          <p:cNvSpPr txBox="1"/>
          <p:nvPr/>
        </p:nvSpPr>
        <p:spPr>
          <a:xfrm>
            <a:off x="5943600" y="4087368"/>
            <a:ext cx="5212080" cy="438912"/>
          </a:xfrm>
          <a:prstGeom prst="rect">
            <a:avLst/>
          </a:prstGeom>
          <a:noFill/>
        </p:spPr>
        <p:txBody>
          <a:bodyPr wrap="square" lIns="0" rIns="0" tIns="0" bIns="0">
            <a:spAutoFit/>
          </a:bodyPr>
          <a:lstStyle/>
          <a:p>
            <a:pPr algn="l">
              <a:spcAft>
                <a:spcPts val="400"/>
              </a:spcAft>
              <a:defRPr sz="2400" b="1">
                <a:solidFill>
                  <a:srgbClr val="FFFFFF"/>
                </a:solidFill>
                <a:latin typeface="Arial"/>
              </a:defRPr>
            </a:pPr>
            <a:r>
              <a:t>Suivre et décider</a:t>
            </a:r>
          </a:p>
        </p:txBody>
      </p:sp>
      <p:sp>
        <p:nvSpPr>
          <p:cNvPr id="21" name="TextBox 20"/>
          <p:cNvSpPr txBox="1"/>
          <p:nvPr/>
        </p:nvSpPr>
        <p:spPr>
          <a:xfrm>
            <a:off x="11430000" y="4178807"/>
            <a:ext cx="242316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07:00 à 15:00</a:t>
            </a:r>
          </a:p>
        </p:txBody>
      </p:sp>
      <p:cxnSp>
        <p:nvCxnSpPr>
          <p:cNvPr id="22" name="Connector 21"/>
          <p:cNvCxnSpPr/>
          <p:nvPr/>
        </p:nvCxnSpPr>
        <p:spPr>
          <a:xfrm>
            <a:off x="5943600" y="4681728"/>
            <a:ext cx="790956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120640" y="4919472"/>
            <a:ext cx="640080" cy="45720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04</a:t>
            </a:r>
          </a:p>
        </p:txBody>
      </p:sp>
      <p:sp>
        <p:nvSpPr>
          <p:cNvPr id="24" name="TextBox 23"/>
          <p:cNvSpPr txBox="1"/>
          <p:nvPr/>
        </p:nvSpPr>
        <p:spPr>
          <a:xfrm>
            <a:off x="5943600" y="4919472"/>
            <a:ext cx="5212080" cy="438912"/>
          </a:xfrm>
          <a:prstGeom prst="rect">
            <a:avLst/>
          </a:prstGeom>
          <a:noFill/>
        </p:spPr>
        <p:txBody>
          <a:bodyPr wrap="square" lIns="0" rIns="0" tIns="0" bIns="0">
            <a:spAutoFit/>
          </a:bodyPr>
          <a:lstStyle/>
          <a:p>
            <a:pPr algn="l">
              <a:spcAft>
                <a:spcPts val="400"/>
              </a:spcAft>
              <a:defRPr sz="2400" b="1">
                <a:solidFill>
                  <a:srgbClr val="FFFFFF"/>
                </a:solidFill>
                <a:latin typeface="Arial"/>
              </a:defRPr>
            </a:pPr>
            <a:r>
              <a:t>L'équipe et le client</a:t>
            </a:r>
          </a:p>
        </p:txBody>
      </p:sp>
      <p:sp>
        <p:nvSpPr>
          <p:cNvPr id="25" name="TextBox 24"/>
          <p:cNvSpPr txBox="1"/>
          <p:nvPr/>
        </p:nvSpPr>
        <p:spPr>
          <a:xfrm>
            <a:off x="11430000" y="5010912"/>
            <a:ext cx="242316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15:00 à 23:00</a:t>
            </a:r>
          </a:p>
        </p:txBody>
      </p:sp>
      <p:cxnSp>
        <p:nvCxnSpPr>
          <p:cNvPr id="26" name="Connector 25"/>
          <p:cNvCxnSpPr/>
          <p:nvPr/>
        </p:nvCxnSpPr>
        <p:spPr>
          <a:xfrm>
            <a:off x="5943600" y="5513832"/>
            <a:ext cx="790956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120640" y="5751576"/>
            <a:ext cx="640080" cy="45720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05</a:t>
            </a:r>
          </a:p>
        </p:txBody>
      </p:sp>
      <p:sp>
        <p:nvSpPr>
          <p:cNvPr id="28" name="TextBox 27"/>
          <p:cNvSpPr txBox="1"/>
          <p:nvPr/>
        </p:nvSpPr>
        <p:spPr>
          <a:xfrm>
            <a:off x="5943600" y="5751576"/>
            <a:ext cx="5212080" cy="438912"/>
          </a:xfrm>
          <a:prstGeom prst="rect">
            <a:avLst/>
          </a:prstGeom>
          <a:noFill/>
        </p:spPr>
        <p:txBody>
          <a:bodyPr wrap="square" lIns="0" rIns="0" tIns="0" bIns="0">
            <a:spAutoFit/>
          </a:bodyPr>
          <a:lstStyle/>
          <a:p>
            <a:pPr algn="l">
              <a:spcAft>
                <a:spcPts val="400"/>
              </a:spcAft>
              <a:defRPr sz="2400" b="1">
                <a:solidFill>
                  <a:srgbClr val="FFFFFF"/>
                </a:solidFill>
                <a:latin typeface="Arial"/>
              </a:defRPr>
            </a:pPr>
            <a:r>
              <a:t>Démontrer et valider</a:t>
            </a:r>
          </a:p>
        </p:txBody>
      </p:sp>
      <p:sp>
        <p:nvSpPr>
          <p:cNvPr id="29" name="TextBox 28"/>
          <p:cNvSpPr txBox="1"/>
          <p:nvPr/>
        </p:nvSpPr>
        <p:spPr>
          <a:xfrm>
            <a:off x="11430000" y="5843016"/>
            <a:ext cx="242316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23:00 à 30:00</a:t>
            </a:r>
          </a:p>
        </p:txBody>
      </p:sp>
      <p:cxnSp>
        <p:nvCxnSpPr>
          <p:cNvPr id="30" name="Connector 29"/>
          <p:cNvCxnSpPr/>
          <p:nvPr/>
        </p:nvCxnSpPr>
        <p:spPr>
          <a:xfrm>
            <a:off x="5943600" y="6345936"/>
            <a:ext cx="790956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94360" y="6995160"/>
            <a:ext cx="50292" cy="384048"/>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D8F28B"/>
                </a:solidFill>
                <a:latin typeface="Arial"/>
              </a:defRPr>
            </a:pPr>
            <a:r>
              <a:t>Du besoin utilisateur à la décision de validation.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01 / LE PROJET SPITY</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Relier les grimpeurs. Simplifier les sorties.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Le besoin du commanditaire fictif : Collectif Altitude Grimpe.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03</a:t>
            </a:r>
          </a:p>
        </p:txBody>
      </p:sp>
      <p:sp>
        <p:nvSpPr>
          <p:cNvPr id="9" name="Rounded Rectangle 8"/>
          <p:cNvSpPr/>
          <p:nvPr/>
        </p:nvSpPr>
        <p:spPr>
          <a:xfrm>
            <a:off x="640080" y="2606040"/>
            <a:ext cx="164592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665476"/>
            <a:ext cx="140817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GRIMPEUR</a:t>
            </a:r>
          </a:p>
        </p:txBody>
      </p:sp>
      <p:sp>
        <p:nvSpPr>
          <p:cNvPr id="11" name="TextBox 10"/>
          <p:cNvSpPr txBox="1"/>
          <p:nvPr/>
        </p:nvSpPr>
        <p:spPr>
          <a:xfrm>
            <a:off x="640080" y="3127248"/>
            <a:ext cx="5212080" cy="548640"/>
          </a:xfrm>
          <a:prstGeom prst="rect">
            <a:avLst/>
          </a:prstGeom>
          <a:noFill/>
        </p:spPr>
        <p:txBody>
          <a:bodyPr wrap="square" lIns="0" rIns="0" tIns="0" bIns="0">
            <a:spAutoFit/>
          </a:bodyPr>
          <a:lstStyle/>
          <a:p>
            <a:pPr algn="l">
              <a:spcAft>
                <a:spcPts val="400"/>
              </a:spcAft>
              <a:defRPr sz="2700" b="1">
                <a:solidFill>
                  <a:srgbClr val="12332D"/>
                </a:solidFill>
                <a:latin typeface="Arial"/>
              </a:defRPr>
            </a:pPr>
            <a:r>
              <a:t>Trouver un partenaire</a:t>
            </a:r>
          </a:p>
        </p:txBody>
      </p:sp>
      <p:sp>
        <p:nvSpPr>
          <p:cNvPr id="12" name="TextBox 11"/>
          <p:cNvSpPr txBox="1"/>
          <p:nvPr/>
        </p:nvSpPr>
        <p:spPr>
          <a:xfrm>
            <a:off x="640080" y="3675887"/>
            <a:ext cx="5212080" cy="73152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Un niveau adapté, une discipline</a:t>
            </a:r>
          </a:p>
          <a:p>
            <a:pPr algn="l">
              <a:spcAft>
                <a:spcPts val="400"/>
              </a:spcAft>
              <a:defRPr sz="1800" b="0">
                <a:solidFill>
                  <a:srgbClr val="5C6C65"/>
                </a:solidFill>
                <a:latin typeface="Arial"/>
              </a:defRPr>
            </a:pPr>
            <a:r>
              <a:t>commune, une sortie à rejoindre.</a:t>
            </a:r>
          </a:p>
        </p:txBody>
      </p:sp>
      <p:sp>
        <p:nvSpPr>
          <p:cNvPr id="13" name="Rounded Rectangle 12"/>
          <p:cNvSpPr/>
          <p:nvPr/>
        </p:nvSpPr>
        <p:spPr>
          <a:xfrm>
            <a:off x="640080" y="4480560"/>
            <a:ext cx="164592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539996"/>
            <a:ext cx="140817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CLUB</a:t>
            </a:r>
          </a:p>
        </p:txBody>
      </p:sp>
      <p:sp>
        <p:nvSpPr>
          <p:cNvPr id="15" name="TextBox 14"/>
          <p:cNvSpPr txBox="1"/>
          <p:nvPr/>
        </p:nvSpPr>
        <p:spPr>
          <a:xfrm>
            <a:off x="640080" y="5001768"/>
            <a:ext cx="5212080" cy="548640"/>
          </a:xfrm>
          <a:prstGeom prst="rect">
            <a:avLst/>
          </a:prstGeom>
          <a:noFill/>
        </p:spPr>
        <p:txBody>
          <a:bodyPr wrap="square" lIns="0" rIns="0" tIns="0" bIns="0">
            <a:spAutoFit/>
          </a:bodyPr>
          <a:lstStyle/>
          <a:p>
            <a:pPr algn="l">
              <a:spcAft>
                <a:spcPts val="400"/>
              </a:spcAft>
              <a:defRPr sz="2700" b="1">
                <a:solidFill>
                  <a:srgbClr val="12332D"/>
                </a:solidFill>
                <a:latin typeface="Arial"/>
              </a:defRPr>
            </a:pPr>
            <a:r>
              <a:t>Organiser une sortie</a:t>
            </a:r>
          </a:p>
        </p:txBody>
      </p:sp>
      <p:sp>
        <p:nvSpPr>
          <p:cNvPr id="16" name="TextBox 15"/>
          <p:cNvSpPr txBox="1"/>
          <p:nvPr/>
        </p:nvSpPr>
        <p:spPr>
          <a:xfrm>
            <a:off x="640080" y="5550408"/>
            <a:ext cx="5212080" cy="73152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Publier un événement, gérer les</a:t>
            </a:r>
          </a:p>
          <a:p>
            <a:pPr algn="l">
              <a:spcAft>
                <a:spcPts val="400"/>
              </a:spcAft>
              <a:defRPr sz="1800" b="0">
                <a:solidFill>
                  <a:srgbClr val="5C6C65"/>
                </a:solidFill>
                <a:latin typeface="Arial"/>
              </a:defRPr>
            </a:pPr>
            <a:r>
              <a:t>places et retrouver les participants.</a:t>
            </a:r>
          </a:p>
        </p:txBody>
      </p:sp>
      <p:sp>
        <p:nvSpPr>
          <p:cNvPr id="17" name="Rounded Rectangle 16"/>
          <p:cNvSpPr/>
          <p:nvPr/>
        </p:nvSpPr>
        <p:spPr>
          <a:xfrm>
            <a:off x="6263640" y="2450592"/>
            <a:ext cx="7772400" cy="4407408"/>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eux-2026-09-15"/>
          <p:cNvPicPr>
            <a:picLocks noChangeAspect="1"/>
          </p:cNvPicPr>
          <p:nvPr/>
        </p:nvPicPr>
        <p:blipFill>
          <a:blip r:embed="rId3"/>
          <a:stretch>
            <a:fillRect/>
          </a:stretch>
        </p:blipFill>
        <p:spPr>
          <a:xfrm>
            <a:off x="7213518" y="2587752"/>
            <a:ext cx="5872642" cy="4078224"/>
          </a:xfrm>
          <a:prstGeom prst="rect">
            <a:avLst/>
          </a:prstGeom>
        </p:spPr>
      </p:pic>
      <p:sp>
        <p:nvSpPr>
          <p:cNvPr id="19" name="Rectangle 18"/>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Un parcours démontré : partenaire → événement → inscription.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01 / LE PROJET SPITY</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Spity : un an de développement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Un projet développé sur une année. Les barres présentent la charge estimée dans le Bloc 1.</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04</a:t>
            </a:r>
          </a:p>
        </p:txBody>
      </p:sp>
      <p:graphicFrame>
        <p:nvGraphicFramePr>
          <p:cNvPr id="9" name="Chart 8"/>
          <p:cNvGraphicFramePr>
            <a:graphicFrameLocks noGrp="1"/>
          </p:cNvGraphicFramePr>
          <p:nvPr/>
        </p:nvGraphicFramePr>
        <p:xfrm>
          <a:off x="548640" y="2377440"/>
          <a:ext cx="9601200" cy="4343400"/>
        </p:xfrm>
        <a:graphic>
          <a:graphicData uri="http://schemas.openxmlformats.org/drawingml/2006/chart">
            <c:chart xmlns:c="http://schemas.openxmlformats.org/drawingml/2006/chart" r:id="rId3"/>
          </a:graphicData>
        </a:graphic>
      </p:graphicFrame>
      <p:sp>
        <p:nvSpPr>
          <p:cNvPr id="10" name="Rounded Rectangle 9"/>
          <p:cNvSpPr/>
          <p:nvPr/>
        </p:nvSpPr>
        <p:spPr>
          <a:xfrm>
            <a:off x="10561320" y="2468880"/>
            <a:ext cx="3474720" cy="4251960"/>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35640" y="2816352"/>
            <a:ext cx="288036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1 an</a:t>
            </a:r>
          </a:p>
        </p:txBody>
      </p:sp>
      <p:sp>
        <p:nvSpPr>
          <p:cNvPr id="12" name="TextBox 11"/>
          <p:cNvSpPr txBox="1"/>
          <p:nvPr/>
        </p:nvSpPr>
        <p:spPr>
          <a:xfrm>
            <a:off x="10835640" y="3749039"/>
            <a:ext cx="288036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durée réelle du projet</a:t>
            </a:r>
          </a:p>
        </p:txBody>
      </p:sp>
      <p:sp>
        <p:nvSpPr>
          <p:cNvPr id="13" name="TextBox 12"/>
          <p:cNvSpPr txBox="1"/>
          <p:nvPr/>
        </p:nvSpPr>
        <p:spPr>
          <a:xfrm>
            <a:off x="10835640" y="4818888"/>
            <a:ext cx="2834640" cy="457200"/>
          </a:xfrm>
          <a:prstGeom prst="rect">
            <a:avLst/>
          </a:prstGeom>
          <a:noFill/>
        </p:spPr>
        <p:txBody>
          <a:bodyPr wrap="square" lIns="0" rIns="0" tIns="0" bIns="0">
            <a:spAutoFit/>
          </a:bodyPr>
          <a:lstStyle/>
          <a:p>
            <a:pPr algn="l">
              <a:spcAft>
                <a:spcPts val="400"/>
              </a:spcAft>
              <a:defRPr sz="2200" b="1">
                <a:solidFill>
                  <a:srgbClr val="12332D"/>
                </a:solidFill>
                <a:latin typeface="Arial"/>
              </a:defRPr>
            </a:pPr>
            <a:r>
              <a:t>82 j-h estimés</a:t>
            </a:r>
          </a:p>
        </p:txBody>
      </p:sp>
      <p:sp>
        <p:nvSpPr>
          <p:cNvPr id="14" name="TextBox 13"/>
          <p:cNvSpPr txBox="1"/>
          <p:nvPr/>
        </p:nvSpPr>
        <p:spPr>
          <a:xfrm>
            <a:off x="10835640" y="5449824"/>
            <a:ext cx="2834640" cy="77724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Charge estimée du MVP.</a:t>
            </a:r>
          </a:p>
          <a:p>
            <a:pPr algn="l">
              <a:spcAft>
                <a:spcPts val="400"/>
              </a:spcAft>
              <a:defRPr sz="1700" b="0">
                <a:solidFill>
                  <a:srgbClr val="5C6C65"/>
                </a:solidFill>
                <a:latin typeface="Arial"/>
              </a:defRPr>
            </a:pPr>
            <a:r>
              <a:t>Référence de cadrage B1.</a:t>
            </a:r>
          </a:p>
        </p:txBody>
      </p:sp>
      <p:sp>
        <p:nvSpPr>
          <p:cNvPr id="15" name="Rectangle 14"/>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La suite : un scénario fictif de préparation sur 15 jours, à partir de Spity déjà développé.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02 / ORGANISER LE TRAVAIL</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Un flux visible, des rendez-vous utiles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Linear : relevé réel. Kanban et rituels Scrum : scénario fictif de 15 jours.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05</a:t>
            </a:r>
          </a:p>
        </p:txBody>
      </p:sp>
      <p:graphicFrame>
        <p:nvGraphicFramePr>
          <p:cNvPr id="9" name="Chart 8"/>
          <p:cNvGraphicFramePr>
            <a:graphicFrameLocks noGrp="1"/>
          </p:cNvGraphicFramePr>
          <p:nvPr/>
        </p:nvGraphicFramePr>
        <p:xfrm>
          <a:off x="548640" y="2514600"/>
          <a:ext cx="6400800" cy="3383280"/>
        </p:xfrm>
        <a:graphic>
          <a:graphicData uri="http://schemas.openxmlformats.org/drawingml/2006/chart">
            <c:chart xmlns:c="http://schemas.openxmlformats.org/drawingml/2006/chart" r:id="rId3"/>
          </a:graphicData>
        </a:graphic>
      </p:graphicFrame>
      <p:sp>
        <p:nvSpPr>
          <p:cNvPr id="10" name="Rounded Rectangle 9"/>
          <p:cNvSpPr/>
          <p:nvPr/>
        </p:nvSpPr>
        <p:spPr>
          <a:xfrm>
            <a:off x="1005840" y="6217920"/>
            <a:ext cx="23774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6277356"/>
            <a:ext cx="21396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12 / 24 TERMINÉS</a:t>
            </a:r>
          </a:p>
        </p:txBody>
      </p:sp>
      <p:sp>
        <p:nvSpPr>
          <p:cNvPr id="12" name="TextBox 11"/>
          <p:cNvSpPr txBox="1"/>
          <p:nvPr/>
        </p:nvSpPr>
        <p:spPr>
          <a:xfrm>
            <a:off x="1005840" y="6629400"/>
            <a:ext cx="5669280" cy="320040"/>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Relevé du 14/09 · sans pondération</a:t>
            </a:r>
          </a:p>
        </p:txBody>
      </p:sp>
      <p:sp>
        <p:nvSpPr>
          <p:cNvPr id="13" name="Rounded Rectangle 12"/>
          <p:cNvSpPr/>
          <p:nvPr/>
        </p:nvSpPr>
        <p:spPr>
          <a:xfrm>
            <a:off x="7360920" y="2468880"/>
            <a:ext cx="6675120" cy="8503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71231" y="2615184"/>
            <a:ext cx="2651760" cy="34747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Planning</a:t>
            </a:r>
          </a:p>
        </p:txBody>
      </p:sp>
      <p:sp>
        <p:nvSpPr>
          <p:cNvPr id="15" name="TextBox 14"/>
          <p:cNvSpPr txBox="1"/>
          <p:nvPr/>
        </p:nvSpPr>
        <p:spPr>
          <a:xfrm>
            <a:off x="10972800" y="2633472"/>
            <a:ext cx="2743200" cy="274320"/>
          </a:xfrm>
          <a:prstGeom prst="rect">
            <a:avLst/>
          </a:prstGeom>
          <a:noFill/>
        </p:spPr>
        <p:txBody>
          <a:bodyPr wrap="square" lIns="0" rIns="0" tIns="0" bIns="0">
            <a:spAutoFit/>
          </a:bodyPr>
          <a:lstStyle/>
          <a:p>
            <a:pPr algn="r">
              <a:spcAft>
                <a:spcPts val="400"/>
              </a:spcAft>
              <a:defRPr sz="1400" b="1">
                <a:solidFill>
                  <a:srgbClr val="286957"/>
                </a:solidFill>
                <a:latin typeface="Arial"/>
              </a:defRPr>
            </a:pPr>
            <a:r>
              <a:t>J3</a:t>
            </a:r>
          </a:p>
        </p:txBody>
      </p:sp>
      <p:sp>
        <p:nvSpPr>
          <p:cNvPr id="16" name="TextBox 15"/>
          <p:cNvSpPr txBox="1"/>
          <p:nvPr/>
        </p:nvSpPr>
        <p:spPr>
          <a:xfrm>
            <a:off x="7571231" y="2990088"/>
            <a:ext cx="6035040" cy="237744"/>
          </a:xfrm>
          <a:prstGeom prst="rect">
            <a:avLst/>
          </a:prstGeom>
          <a:noFill/>
        </p:spPr>
        <p:txBody>
          <a:bodyPr wrap="square" lIns="0" rIns="0" tIns="0" bIns="0">
            <a:spAutoFit/>
          </a:bodyPr>
          <a:lstStyle/>
          <a:p>
            <a:pPr algn="l">
              <a:spcAft>
                <a:spcPts val="400"/>
              </a:spcAft>
              <a:defRPr sz="1400" b="0">
                <a:solidFill>
                  <a:srgbClr val="5C6C65"/>
                </a:solidFill>
                <a:latin typeface="Arial"/>
              </a:defRPr>
            </a:pPr>
            <a:r>
              <a:t>Objectif, tâches et capacité</a:t>
            </a:r>
          </a:p>
        </p:txBody>
      </p:sp>
      <p:sp>
        <p:nvSpPr>
          <p:cNvPr id="17" name="Rounded Rectangle 16"/>
          <p:cNvSpPr/>
          <p:nvPr/>
        </p:nvSpPr>
        <p:spPr>
          <a:xfrm>
            <a:off x="7360920" y="3456432"/>
            <a:ext cx="6675120" cy="8503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3602736"/>
            <a:ext cx="2651760" cy="34747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Daily</a:t>
            </a:r>
          </a:p>
        </p:txBody>
      </p:sp>
      <p:sp>
        <p:nvSpPr>
          <p:cNvPr id="19" name="TextBox 18"/>
          <p:cNvSpPr txBox="1"/>
          <p:nvPr/>
        </p:nvSpPr>
        <p:spPr>
          <a:xfrm>
            <a:off x="10972800" y="3621024"/>
            <a:ext cx="2743200" cy="274320"/>
          </a:xfrm>
          <a:prstGeom prst="rect">
            <a:avLst/>
          </a:prstGeom>
          <a:noFill/>
        </p:spPr>
        <p:txBody>
          <a:bodyPr wrap="square" lIns="0" rIns="0" tIns="0" bIns="0">
            <a:spAutoFit/>
          </a:bodyPr>
          <a:lstStyle/>
          <a:p>
            <a:pPr algn="r">
              <a:spcAft>
                <a:spcPts val="400"/>
              </a:spcAft>
              <a:defRPr sz="1400" b="1">
                <a:solidFill>
                  <a:srgbClr val="286957"/>
                </a:solidFill>
                <a:latin typeface="Arial"/>
              </a:defRPr>
            </a:pPr>
            <a:r>
              <a:t>10 min / jour</a:t>
            </a:r>
          </a:p>
        </p:txBody>
      </p:sp>
      <p:sp>
        <p:nvSpPr>
          <p:cNvPr id="20" name="TextBox 19"/>
          <p:cNvSpPr txBox="1"/>
          <p:nvPr/>
        </p:nvSpPr>
        <p:spPr>
          <a:xfrm>
            <a:off x="7571231" y="3977640"/>
            <a:ext cx="6035040" cy="237744"/>
          </a:xfrm>
          <a:prstGeom prst="rect">
            <a:avLst/>
          </a:prstGeom>
          <a:noFill/>
        </p:spPr>
        <p:txBody>
          <a:bodyPr wrap="square" lIns="0" rIns="0" tIns="0" bIns="0">
            <a:spAutoFit/>
          </a:bodyPr>
          <a:lstStyle/>
          <a:p>
            <a:pPr algn="l">
              <a:spcAft>
                <a:spcPts val="400"/>
              </a:spcAft>
              <a:defRPr sz="1400" b="0">
                <a:solidFill>
                  <a:srgbClr val="5C6C65"/>
                </a:solidFill>
                <a:latin typeface="Arial"/>
              </a:defRPr>
            </a:pPr>
            <a:r>
              <a:t>Avancement, obstacle, action</a:t>
            </a:r>
          </a:p>
        </p:txBody>
      </p:sp>
      <p:sp>
        <p:nvSpPr>
          <p:cNvPr id="21" name="Rounded Rectangle 20"/>
          <p:cNvSpPr/>
          <p:nvPr/>
        </p:nvSpPr>
        <p:spPr>
          <a:xfrm>
            <a:off x="7360920" y="4443984"/>
            <a:ext cx="6675120" cy="8503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590288"/>
            <a:ext cx="2651760" cy="34747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Review</a:t>
            </a:r>
          </a:p>
        </p:txBody>
      </p:sp>
      <p:sp>
        <p:nvSpPr>
          <p:cNvPr id="23" name="TextBox 22"/>
          <p:cNvSpPr txBox="1"/>
          <p:nvPr/>
        </p:nvSpPr>
        <p:spPr>
          <a:xfrm>
            <a:off x="10972800" y="4608576"/>
            <a:ext cx="2743200" cy="274320"/>
          </a:xfrm>
          <a:prstGeom prst="rect">
            <a:avLst/>
          </a:prstGeom>
          <a:noFill/>
        </p:spPr>
        <p:txBody>
          <a:bodyPr wrap="square" lIns="0" rIns="0" tIns="0" bIns="0">
            <a:spAutoFit/>
          </a:bodyPr>
          <a:lstStyle/>
          <a:p>
            <a:pPr algn="r">
              <a:spcAft>
                <a:spcPts val="400"/>
              </a:spcAft>
              <a:defRPr sz="1400" b="1">
                <a:solidFill>
                  <a:srgbClr val="286957"/>
                </a:solidFill>
                <a:latin typeface="Arial"/>
              </a:defRPr>
            </a:pPr>
            <a:r>
              <a:t>J10 et J15</a:t>
            </a:r>
          </a:p>
        </p:txBody>
      </p:sp>
      <p:sp>
        <p:nvSpPr>
          <p:cNvPr id="24" name="TextBox 23"/>
          <p:cNvSpPr txBox="1"/>
          <p:nvPr/>
        </p:nvSpPr>
        <p:spPr>
          <a:xfrm>
            <a:off x="7571231" y="4965192"/>
            <a:ext cx="6035040" cy="237744"/>
          </a:xfrm>
          <a:prstGeom prst="rect">
            <a:avLst/>
          </a:prstGeom>
          <a:noFill/>
        </p:spPr>
        <p:txBody>
          <a:bodyPr wrap="square" lIns="0" rIns="0" tIns="0" bIns="0">
            <a:spAutoFit/>
          </a:bodyPr>
          <a:lstStyle/>
          <a:p>
            <a:pPr algn="l">
              <a:spcAft>
                <a:spcPts val="400"/>
              </a:spcAft>
              <a:defRPr sz="1400" b="0">
                <a:solidFill>
                  <a:srgbClr val="5C6C65"/>
                </a:solidFill>
                <a:latin typeface="Arial"/>
              </a:defRPr>
            </a:pPr>
            <a:r>
              <a:t>Parcours et retour client</a:t>
            </a:r>
          </a:p>
        </p:txBody>
      </p:sp>
      <p:sp>
        <p:nvSpPr>
          <p:cNvPr id="25" name="Rounded Rectangle 24"/>
          <p:cNvSpPr/>
          <p:nvPr/>
        </p:nvSpPr>
        <p:spPr>
          <a:xfrm>
            <a:off x="7360920" y="5431536"/>
            <a:ext cx="6675120" cy="8503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5577840"/>
            <a:ext cx="2651760" cy="34747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Rétrospective</a:t>
            </a:r>
          </a:p>
        </p:txBody>
      </p:sp>
      <p:sp>
        <p:nvSpPr>
          <p:cNvPr id="27" name="TextBox 26"/>
          <p:cNvSpPr txBox="1"/>
          <p:nvPr/>
        </p:nvSpPr>
        <p:spPr>
          <a:xfrm>
            <a:off x="10972800" y="5596128"/>
            <a:ext cx="2743200" cy="274320"/>
          </a:xfrm>
          <a:prstGeom prst="rect">
            <a:avLst/>
          </a:prstGeom>
          <a:noFill/>
        </p:spPr>
        <p:txBody>
          <a:bodyPr wrap="square" lIns="0" rIns="0" tIns="0" bIns="0">
            <a:spAutoFit/>
          </a:bodyPr>
          <a:lstStyle/>
          <a:p>
            <a:pPr algn="r">
              <a:spcAft>
                <a:spcPts val="400"/>
              </a:spcAft>
              <a:defRPr sz="1400" b="1">
                <a:solidFill>
                  <a:srgbClr val="286957"/>
                </a:solidFill>
                <a:latin typeface="Arial"/>
              </a:defRPr>
            </a:pPr>
            <a:r>
              <a:t>J15</a:t>
            </a:r>
          </a:p>
        </p:txBody>
      </p:sp>
      <p:sp>
        <p:nvSpPr>
          <p:cNvPr id="28" name="TextBox 27"/>
          <p:cNvSpPr txBox="1"/>
          <p:nvPr/>
        </p:nvSpPr>
        <p:spPr>
          <a:xfrm>
            <a:off x="7571231" y="5952744"/>
            <a:ext cx="6035040" cy="237744"/>
          </a:xfrm>
          <a:prstGeom prst="rect">
            <a:avLst/>
          </a:prstGeom>
          <a:noFill/>
        </p:spPr>
        <p:txBody>
          <a:bodyPr wrap="square" lIns="0" rIns="0" tIns="0" bIns="0">
            <a:spAutoFit/>
          </a:bodyPr>
          <a:lstStyle/>
          <a:p>
            <a:pPr algn="l">
              <a:spcAft>
                <a:spcPts val="400"/>
              </a:spcAft>
              <a:defRPr sz="1400" b="0">
                <a:solidFill>
                  <a:srgbClr val="5C6C65"/>
                </a:solidFill>
                <a:latin typeface="Arial"/>
              </a:defRPr>
            </a:pPr>
            <a:r>
              <a:t>Une amélioration à suivre</a:t>
            </a:r>
          </a:p>
        </p:txBody>
      </p:sp>
      <p:sp>
        <p:nvSpPr>
          <p:cNvPr id="29" name="Rectangle 28"/>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2 tâches en réalisation au maximum. Une réunion produit une action retrouvable.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02 / ORGANISER LE TRAVAIL</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Scénario fictif : 15 jours de préparation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Développement réel : 1 an. J1 à J15 désignent uniquement les jours ouvrés de cet exercice.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06</a:t>
            </a:r>
          </a:p>
        </p:txBody>
      </p:sp>
      <p:graphicFrame>
        <p:nvGraphicFramePr>
          <p:cNvPr id="9" name="Chart 8"/>
          <p:cNvGraphicFramePr>
            <a:graphicFrameLocks noGrp="1"/>
          </p:cNvGraphicFramePr>
          <p:nvPr/>
        </p:nvGraphicFramePr>
        <p:xfrm>
          <a:off x="594360" y="2423160"/>
          <a:ext cx="9784080" cy="4114800"/>
        </p:xfrm>
        <a:graphic>
          <a:graphicData uri="http://schemas.openxmlformats.org/drawingml/2006/chart">
            <c:chart xmlns:c="http://schemas.openxmlformats.org/drawingml/2006/chart" r:id="rId3"/>
          </a:graphicData>
        </a:graphic>
      </p:graphicFrame>
      <p:sp>
        <p:nvSpPr>
          <p:cNvPr id="10" name="Rounded Rectangle 9"/>
          <p:cNvSpPr/>
          <p:nvPr/>
        </p:nvSpPr>
        <p:spPr>
          <a:xfrm>
            <a:off x="10835640" y="263347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54512" y="269290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J3</a:t>
            </a:r>
          </a:p>
        </p:txBody>
      </p:sp>
      <p:sp>
        <p:nvSpPr>
          <p:cNvPr id="12" name="TextBox 11"/>
          <p:cNvSpPr txBox="1"/>
          <p:nvPr/>
        </p:nvSpPr>
        <p:spPr>
          <a:xfrm>
            <a:off x="10835640" y="3035808"/>
            <a:ext cx="3108960" cy="384048"/>
          </a:xfrm>
          <a:prstGeom prst="rect">
            <a:avLst/>
          </a:prstGeom>
          <a:noFill/>
        </p:spPr>
        <p:txBody>
          <a:bodyPr wrap="square" lIns="0" rIns="0" tIns="0" bIns="0">
            <a:spAutoFit/>
          </a:bodyPr>
          <a:lstStyle/>
          <a:p>
            <a:pPr algn="l">
              <a:spcAft>
                <a:spcPts val="400"/>
              </a:spcAft>
              <a:defRPr sz="1800" b="1">
                <a:solidFill>
                  <a:srgbClr val="12332D"/>
                </a:solidFill>
                <a:latin typeface="Arial"/>
              </a:defRPr>
            </a:pPr>
            <a:r>
              <a:t>Périmètre et critères</a:t>
            </a:r>
          </a:p>
        </p:txBody>
      </p:sp>
      <p:sp>
        <p:nvSpPr>
          <p:cNvPr id="13" name="Rounded Rectangle 12"/>
          <p:cNvSpPr/>
          <p:nvPr/>
        </p:nvSpPr>
        <p:spPr>
          <a:xfrm>
            <a:off x="10835640" y="360273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54512" y="366217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J10</a:t>
            </a:r>
          </a:p>
        </p:txBody>
      </p:sp>
      <p:sp>
        <p:nvSpPr>
          <p:cNvPr id="15" name="TextBox 14"/>
          <p:cNvSpPr txBox="1"/>
          <p:nvPr/>
        </p:nvSpPr>
        <p:spPr>
          <a:xfrm>
            <a:off x="10835640" y="4005072"/>
            <a:ext cx="3108960" cy="384048"/>
          </a:xfrm>
          <a:prstGeom prst="rect">
            <a:avLst/>
          </a:prstGeom>
          <a:noFill/>
        </p:spPr>
        <p:txBody>
          <a:bodyPr wrap="square" lIns="0" rIns="0" tIns="0" bIns="0">
            <a:spAutoFit/>
          </a:bodyPr>
          <a:lstStyle/>
          <a:p>
            <a:pPr algn="l">
              <a:spcAft>
                <a:spcPts val="400"/>
              </a:spcAft>
              <a:defRPr sz="1800" b="1">
                <a:solidFill>
                  <a:srgbClr val="12332D"/>
                </a:solidFill>
                <a:latin typeface="Arial"/>
              </a:defRPr>
            </a:pPr>
            <a:r>
              <a:t>Écarts et arbitrages</a:t>
            </a:r>
          </a:p>
        </p:txBody>
      </p:sp>
      <p:sp>
        <p:nvSpPr>
          <p:cNvPr id="16" name="Rounded Rectangle 15"/>
          <p:cNvSpPr/>
          <p:nvPr/>
        </p:nvSpPr>
        <p:spPr>
          <a:xfrm>
            <a:off x="10835640" y="457200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54512" y="463143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J14</a:t>
            </a:r>
          </a:p>
        </p:txBody>
      </p:sp>
      <p:sp>
        <p:nvSpPr>
          <p:cNvPr id="18" name="TextBox 17"/>
          <p:cNvSpPr txBox="1"/>
          <p:nvPr/>
        </p:nvSpPr>
        <p:spPr>
          <a:xfrm>
            <a:off x="10835640" y="4974336"/>
            <a:ext cx="3108960" cy="384048"/>
          </a:xfrm>
          <a:prstGeom prst="rect">
            <a:avLst/>
          </a:prstGeom>
          <a:noFill/>
        </p:spPr>
        <p:txBody>
          <a:bodyPr wrap="square" lIns="0" rIns="0" tIns="0" bIns="0">
            <a:spAutoFit/>
          </a:bodyPr>
          <a:lstStyle/>
          <a:p>
            <a:pPr algn="l">
              <a:spcAft>
                <a:spcPts val="400"/>
              </a:spcAft>
              <a:defRPr sz="1800" b="1">
                <a:solidFill>
                  <a:srgbClr val="12332D"/>
                </a:solidFill>
                <a:latin typeface="Arial"/>
              </a:defRPr>
            </a:pPr>
            <a:r>
              <a:t>Recette terminée</a:t>
            </a:r>
          </a:p>
        </p:txBody>
      </p:sp>
      <p:sp>
        <p:nvSpPr>
          <p:cNvPr id="19" name="Rounded Rectangle 18"/>
          <p:cNvSpPr/>
          <p:nvPr/>
        </p:nvSpPr>
        <p:spPr>
          <a:xfrm>
            <a:off x="10835640" y="5541264"/>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54512" y="5600700"/>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J15</a:t>
            </a:r>
          </a:p>
        </p:txBody>
      </p:sp>
      <p:sp>
        <p:nvSpPr>
          <p:cNvPr id="21" name="TextBox 20"/>
          <p:cNvSpPr txBox="1"/>
          <p:nvPr/>
        </p:nvSpPr>
        <p:spPr>
          <a:xfrm>
            <a:off x="10835640" y="5943600"/>
            <a:ext cx="3108960" cy="384048"/>
          </a:xfrm>
          <a:prstGeom prst="rect">
            <a:avLst/>
          </a:prstGeom>
          <a:noFill/>
        </p:spPr>
        <p:txBody>
          <a:bodyPr wrap="square" lIns="0" rIns="0" tIns="0" bIns="0">
            <a:spAutoFit/>
          </a:bodyPr>
          <a:lstStyle/>
          <a:p>
            <a:pPr algn="l">
              <a:spcAft>
                <a:spcPts val="400"/>
              </a:spcAft>
              <a:defRPr sz="1800" b="1">
                <a:solidFill>
                  <a:srgbClr val="12332D"/>
                </a:solidFill>
                <a:latin typeface="Arial"/>
              </a:defRPr>
            </a:pPr>
            <a:r>
              <a:t>Démonstration</a:t>
            </a:r>
          </a:p>
        </p:txBody>
      </p:sp>
      <p:sp>
        <p:nvSpPr>
          <p:cNvPr id="22" name="Rectangle 21"/>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Sur le logiciel existant : préciser les critères, stabiliser les parcours, tester et démontrer.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02 / ORGANISER LE TRAVAIL</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Des missions claires, des moyens adaptés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Équipe et capacités du scénario. QA signifie assurance qualité.</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07</a:t>
            </a:r>
          </a:p>
        </p:txBody>
      </p:sp>
      <p:sp>
        <p:nvSpPr>
          <p:cNvPr id="9" name="Rounded Rectangle 8"/>
          <p:cNvSpPr/>
          <p:nvPr/>
        </p:nvSpPr>
        <p:spPr>
          <a:xfrm>
            <a:off x="594360" y="2514600"/>
            <a:ext cx="4251960" cy="3474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8" y="274320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80263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CP</a:t>
            </a:r>
          </a:p>
        </p:txBody>
      </p:sp>
      <p:sp>
        <p:nvSpPr>
          <p:cNvPr id="12" name="TextBox 11"/>
          <p:cNvSpPr txBox="1"/>
          <p:nvPr/>
        </p:nvSpPr>
        <p:spPr>
          <a:xfrm>
            <a:off x="841248" y="3246120"/>
            <a:ext cx="3657600" cy="749808"/>
          </a:xfrm>
          <a:prstGeom prst="rect">
            <a:avLst/>
          </a:prstGeom>
          <a:noFill/>
        </p:spPr>
        <p:txBody>
          <a:bodyPr wrap="square" lIns="0" rIns="0" tIns="0" bIns="0">
            <a:spAutoFit/>
          </a:bodyPr>
          <a:lstStyle/>
          <a:p>
            <a:pPr algn="l">
              <a:spcAft>
                <a:spcPts val="400"/>
              </a:spcAft>
              <a:defRPr sz="4700" b="1">
                <a:solidFill>
                  <a:srgbClr val="286957"/>
                </a:solidFill>
                <a:latin typeface="Arial"/>
              </a:defRPr>
            </a:pPr>
            <a:r>
              <a:t>30 h</a:t>
            </a:r>
          </a:p>
        </p:txBody>
      </p:sp>
      <p:sp>
        <p:nvSpPr>
          <p:cNvPr id="13" name="TextBox 12"/>
          <p:cNvSpPr txBox="1"/>
          <p:nvPr/>
        </p:nvSpPr>
        <p:spPr>
          <a:xfrm>
            <a:off x="841248" y="4114800"/>
            <a:ext cx="3657600" cy="457200"/>
          </a:xfrm>
          <a:prstGeom prst="rect">
            <a:avLst/>
          </a:prstGeom>
          <a:noFill/>
        </p:spPr>
        <p:txBody>
          <a:bodyPr wrap="square" lIns="0" rIns="0" tIns="0" bIns="0">
            <a:spAutoFit/>
          </a:bodyPr>
          <a:lstStyle/>
          <a:p>
            <a:pPr algn="l">
              <a:spcAft>
                <a:spcPts val="400"/>
              </a:spcAft>
              <a:defRPr sz="2400" b="1">
                <a:solidFill>
                  <a:srgbClr val="12332D"/>
                </a:solidFill>
                <a:latin typeface="Arial"/>
              </a:defRPr>
            </a:pPr>
            <a:r>
              <a:t>Chef de projet</a:t>
            </a:r>
          </a:p>
        </p:txBody>
      </p:sp>
      <p:sp>
        <p:nvSpPr>
          <p:cNvPr id="14" name="TextBox 13"/>
          <p:cNvSpPr txBox="1"/>
          <p:nvPr/>
        </p:nvSpPr>
        <p:spPr>
          <a:xfrm>
            <a:off x="841248" y="4736592"/>
            <a:ext cx="3776472" cy="109728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Organiser le travail</a:t>
            </a:r>
          </a:p>
          <a:p>
            <a:pPr algn="l">
              <a:spcAft>
                <a:spcPts val="400"/>
              </a:spcAft>
              <a:defRPr sz="1700" b="0">
                <a:solidFill>
                  <a:srgbClr val="5C6C65"/>
                </a:solidFill>
                <a:latin typeface="Arial"/>
              </a:defRPr>
            </a:pPr>
            <a:r>
              <a:t>Arbitrer les demandes</a:t>
            </a:r>
          </a:p>
          <a:p>
            <a:pPr algn="l">
              <a:spcAft>
                <a:spcPts val="400"/>
              </a:spcAft>
              <a:defRPr sz="1700" b="0">
                <a:solidFill>
                  <a:srgbClr val="5C6C65"/>
                </a:solidFill>
                <a:latin typeface="Arial"/>
              </a:defRPr>
            </a:pPr>
            <a:r>
              <a:t>Préparer la validation</a:t>
            </a:r>
          </a:p>
        </p:txBody>
      </p:sp>
      <p:sp>
        <p:nvSpPr>
          <p:cNvPr id="15" name="Rounded Rectangle 14"/>
          <p:cNvSpPr/>
          <p:nvPr/>
        </p:nvSpPr>
        <p:spPr>
          <a:xfrm>
            <a:off x="5184648" y="2514600"/>
            <a:ext cx="4251960" cy="3474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31536" y="274320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7" y="280263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DEV</a:t>
            </a:r>
          </a:p>
        </p:txBody>
      </p:sp>
      <p:sp>
        <p:nvSpPr>
          <p:cNvPr id="18" name="TextBox 17"/>
          <p:cNvSpPr txBox="1"/>
          <p:nvPr/>
        </p:nvSpPr>
        <p:spPr>
          <a:xfrm>
            <a:off x="5431536" y="3246120"/>
            <a:ext cx="3657600" cy="749808"/>
          </a:xfrm>
          <a:prstGeom prst="rect">
            <a:avLst/>
          </a:prstGeom>
          <a:noFill/>
        </p:spPr>
        <p:txBody>
          <a:bodyPr wrap="square" lIns="0" rIns="0" tIns="0" bIns="0">
            <a:spAutoFit/>
          </a:bodyPr>
          <a:lstStyle/>
          <a:p>
            <a:pPr algn="l">
              <a:spcAft>
                <a:spcPts val="400"/>
              </a:spcAft>
              <a:defRPr sz="4700" b="1">
                <a:solidFill>
                  <a:srgbClr val="286957"/>
                </a:solidFill>
                <a:latin typeface="Arial"/>
              </a:defRPr>
            </a:pPr>
            <a:r>
              <a:t>72 h</a:t>
            </a:r>
          </a:p>
        </p:txBody>
      </p:sp>
      <p:sp>
        <p:nvSpPr>
          <p:cNvPr id="19" name="TextBox 18"/>
          <p:cNvSpPr txBox="1"/>
          <p:nvPr/>
        </p:nvSpPr>
        <p:spPr>
          <a:xfrm>
            <a:off x="5431536" y="4114800"/>
            <a:ext cx="3657600" cy="457200"/>
          </a:xfrm>
          <a:prstGeom prst="rect">
            <a:avLst/>
          </a:prstGeom>
          <a:noFill/>
        </p:spPr>
        <p:txBody>
          <a:bodyPr wrap="square" lIns="0" rIns="0" tIns="0" bIns="0">
            <a:spAutoFit/>
          </a:bodyPr>
          <a:lstStyle/>
          <a:p>
            <a:pPr algn="l">
              <a:spcAft>
                <a:spcPts val="400"/>
              </a:spcAft>
              <a:defRPr sz="2400" b="1">
                <a:solidFill>
                  <a:srgbClr val="12332D"/>
                </a:solidFill>
                <a:latin typeface="Arial"/>
              </a:defRPr>
            </a:pPr>
            <a:r>
              <a:t>Développeur</a:t>
            </a:r>
          </a:p>
        </p:txBody>
      </p:sp>
      <p:sp>
        <p:nvSpPr>
          <p:cNvPr id="20" name="TextBox 19"/>
          <p:cNvSpPr txBox="1"/>
          <p:nvPr/>
        </p:nvSpPr>
        <p:spPr>
          <a:xfrm>
            <a:off x="5431536" y="4736592"/>
            <a:ext cx="3776472" cy="109728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Réaliser les parcours</a:t>
            </a:r>
          </a:p>
          <a:p>
            <a:pPr algn="l">
              <a:spcAft>
                <a:spcPts val="400"/>
              </a:spcAft>
              <a:defRPr sz="1700" b="0">
                <a:solidFill>
                  <a:srgbClr val="5C6C65"/>
                </a:solidFill>
                <a:latin typeface="Arial"/>
              </a:defRPr>
            </a:pPr>
            <a:r>
              <a:t>Sécuriser les inscriptions</a:t>
            </a:r>
          </a:p>
          <a:p>
            <a:pPr algn="l">
              <a:spcAft>
                <a:spcPts val="400"/>
              </a:spcAft>
              <a:defRPr sz="1700" b="0">
                <a:solidFill>
                  <a:srgbClr val="5C6C65"/>
                </a:solidFill>
                <a:latin typeface="Arial"/>
              </a:defRPr>
            </a:pPr>
            <a:r>
              <a:t>Corriger les anomalies</a:t>
            </a:r>
          </a:p>
        </p:txBody>
      </p:sp>
      <p:sp>
        <p:nvSpPr>
          <p:cNvPr id="21" name="Rounded Rectangle 20"/>
          <p:cNvSpPr/>
          <p:nvPr/>
        </p:nvSpPr>
        <p:spPr>
          <a:xfrm>
            <a:off x="9774936" y="2514600"/>
            <a:ext cx="4251960" cy="3474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021824" y="274320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0696" y="280263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QA</a:t>
            </a:r>
          </a:p>
        </p:txBody>
      </p:sp>
      <p:sp>
        <p:nvSpPr>
          <p:cNvPr id="24" name="TextBox 23"/>
          <p:cNvSpPr txBox="1"/>
          <p:nvPr/>
        </p:nvSpPr>
        <p:spPr>
          <a:xfrm>
            <a:off x="10021824" y="3246120"/>
            <a:ext cx="3657600" cy="749808"/>
          </a:xfrm>
          <a:prstGeom prst="rect">
            <a:avLst/>
          </a:prstGeom>
          <a:noFill/>
        </p:spPr>
        <p:txBody>
          <a:bodyPr wrap="square" lIns="0" rIns="0" tIns="0" bIns="0">
            <a:spAutoFit/>
          </a:bodyPr>
          <a:lstStyle/>
          <a:p>
            <a:pPr algn="l">
              <a:spcAft>
                <a:spcPts val="400"/>
              </a:spcAft>
              <a:defRPr sz="4700" b="1">
                <a:solidFill>
                  <a:srgbClr val="286957"/>
                </a:solidFill>
                <a:latin typeface="Arial"/>
              </a:defRPr>
            </a:pPr>
            <a:r>
              <a:t>30 h</a:t>
            </a:r>
          </a:p>
        </p:txBody>
      </p:sp>
      <p:sp>
        <p:nvSpPr>
          <p:cNvPr id="25" name="TextBox 24"/>
          <p:cNvSpPr txBox="1"/>
          <p:nvPr/>
        </p:nvSpPr>
        <p:spPr>
          <a:xfrm>
            <a:off x="10021824" y="4114800"/>
            <a:ext cx="3657600" cy="457200"/>
          </a:xfrm>
          <a:prstGeom prst="rect">
            <a:avLst/>
          </a:prstGeom>
          <a:noFill/>
        </p:spPr>
        <p:txBody>
          <a:bodyPr wrap="square" lIns="0" rIns="0" tIns="0" bIns="0">
            <a:spAutoFit/>
          </a:bodyPr>
          <a:lstStyle/>
          <a:p>
            <a:pPr algn="l">
              <a:spcAft>
                <a:spcPts val="400"/>
              </a:spcAft>
              <a:defRPr sz="2400" b="1">
                <a:solidFill>
                  <a:srgbClr val="12332D"/>
                </a:solidFill>
                <a:latin typeface="Arial"/>
              </a:defRPr>
            </a:pPr>
            <a:r>
              <a:t>Camille</a:t>
            </a:r>
          </a:p>
        </p:txBody>
      </p:sp>
      <p:sp>
        <p:nvSpPr>
          <p:cNvPr id="26" name="TextBox 25"/>
          <p:cNvSpPr txBox="1"/>
          <p:nvPr/>
        </p:nvSpPr>
        <p:spPr>
          <a:xfrm>
            <a:off x="10021824" y="4736592"/>
            <a:ext cx="3776472" cy="109728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Préparer les critères T02</a:t>
            </a:r>
          </a:p>
          <a:p>
            <a:pPr algn="l">
              <a:spcAft>
                <a:spcPts val="400"/>
              </a:spcAft>
              <a:defRPr sz="1700" b="0">
                <a:solidFill>
                  <a:srgbClr val="5C6C65"/>
                </a:solidFill>
                <a:latin typeface="Arial"/>
              </a:defRPr>
            </a:pPr>
            <a:r>
              <a:t>Recetter les parcours T07</a:t>
            </a:r>
          </a:p>
          <a:p>
            <a:pPr algn="l">
              <a:spcAft>
                <a:spcPts val="400"/>
              </a:spcAft>
              <a:defRPr sz="1700" b="0">
                <a:solidFill>
                  <a:srgbClr val="5C6C65"/>
                </a:solidFill>
                <a:latin typeface="Arial"/>
              </a:defRPr>
            </a:pPr>
            <a:r>
              <a:t>Consignes écrites et sous-titres</a:t>
            </a:r>
          </a:p>
        </p:txBody>
      </p:sp>
      <p:sp>
        <p:nvSpPr>
          <p:cNvPr id="27" name="TextBox 26"/>
          <p:cNvSpPr txBox="1"/>
          <p:nvPr/>
        </p:nvSpPr>
        <p:spPr>
          <a:xfrm>
            <a:off x="640080" y="6272784"/>
            <a:ext cx="13258800" cy="457200"/>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Camille : QA malentendante fictive · charge prévue de 24 h pour 30 h disponibles.</a:t>
            </a:r>
          </a:p>
        </p:txBody>
      </p:sp>
      <p:sp>
        <p:nvSpPr>
          <p:cNvPr id="28" name="Rectangle 27"/>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Ordinateur, navigateur, base locale. Linear : tâches. Git : versions. RACI : annexe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03 / SUIVRE ET DÉCIDER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Anticiper 5 heures de travail supplémentaires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À J10 : 77 h consommées + 40 h restantes = 117 h prévues à terminaison.</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08</a:t>
            </a:r>
          </a:p>
        </p:txBody>
      </p:sp>
      <p:graphicFrame>
        <p:nvGraphicFramePr>
          <p:cNvPr id="9" name="Chart 8"/>
          <p:cNvGraphicFramePr>
            <a:graphicFrameLocks noGrp="1"/>
          </p:cNvGraphicFramePr>
          <p:nvPr/>
        </p:nvGraphicFramePr>
        <p:xfrm>
          <a:off x="640080" y="2468880"/>
          <a:ext cx="8869680" cy="4160520"/>
        </p:xfrm>
        <a:graphic>
          <a:graphicData uri="http://schemas.openxmlformats.org/drawingml/2006/chart">
            <c:chart xmlns:c="http://schemas.openxmlformats.org/drawingml/2006/chart" r:id="rId3"/>
          </a:graphicData>
        </a:graphic>
      </p:graphicFrame>
      <p:sp>
        <p:nvSpPr>
          <p:cNvPr id="10" name="TextBox 9"/>
          <p:cNvSpPr txBox="1"/>
          <p:nvPr/>
        </p:nvSpPr>
        <p:spPr>
          <a:xfrm>
            <a:off x="10149840" y="2697480"/>
            <a:ext cx="365760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+5 h</a:t>
            </a:r>
          </a:p>
        </p:txBody>
      </p:sp>
      <p:sp>
        <p:nvSpPr>
          <p:cNvPr id="11" name="TextBox 10"/>
          <p:cNvSpPr txBox="1"/>
          <p:nvPr/>
        </p:nvSpPr>
        <p:spPr>
          <a:xfrm>
            <a:off x="10149840" y="3630168"/>
            <a:ext cx="365760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112 h → 117 h</a:t>
            </a:r>
          </a:p>
        </p:txBody>
      </p:sp>
      <p:cxnSp>
        <p:nvCxnSpPr>
          <p:cNvPr id="12" name="Connector 11"/>
          <p:cNvCxnSpPr/>
          <p:nvPr/>
        </p:nvCxnSpPr>
        <p:spPr>
          <a:xfrm>
            <a:off x="10149840" y="4544568"/>
            <a:ext cx="38404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149840" y="4800600"/>
            <a:ext cx="3657600" cy="457200"/>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Deux dates décalées</a:t>
            </a:r>
          </a:p>
        </p:txBody>
      </p:sp>
      <p:sp>
        <p:nvSpPr>
          <p:cNvPr id="14" name="TextBox 13"/>
          <p:cNvSpPr txBox="1"/>
          <p:nvPr/>
        </p:nvSpPr>
        <p:spPr>
          <a:xfrm>
            <a:off x="10149840" y="5431536"/>
            <a:ext cx="3749039" cy="1051560"/>
          </a:xfrm>
          <a:prstGeom prst="rect">
            <a:avLst/>
          </a:prstGeom>
          <a:noFill/>
        </p:spPr>
        <p:txBody>
          <a:bodyPr wrap="square" lIns="0" rIns="0" tIns="0" bIns="0">
            <a:spAutoFit/>
          </a:bodyPr>
          <a:lstStyle/>
          <a:p>
            <a:pPr algn="l">
              <a:spcAft>
                <a:spcPts val="400"/>
              </a:spcAft>
              <a:defRPr sz="1900" b="0">
                <a:solidFill>
                  <a:srgbClr val="5C6C65"/>
                </a:solidFill>
                <a:latin typeface="Arial"/>
              </a:defRPr>
            </a:pPr>
            <a:r>
              <a:t>Événements : J11 → J12</a:t>
            </a:r>
          </a:p>
          <a:p>
            <a:pPr algn="l">
              <a:spcAft>
                <a:spcPts val="400"/>
              </a:spcAft>
              <a:defRPr sz="1900" b="0">
                <a:solidFill>
                  <a:srgbClr val="5C6C65"/>
                </a:solidFill>
                <a:latin typeface="Arial"/>
              </a:defRPr>
            </a:pPr>
            <a:r>
              <a:t>Recette : J13 → J14</a:t>
            </a:r>
          </a:p>
        </p:txBody>
      </p:sp>
      <p:sp>
        <p:nvSpPr>
          <p:cNvPr id="15" name="Rectangle 14"/>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Chaque glissement vaut un jour. Un écart de charge ne se confond pas avec un retard.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03 / SUIVRE ET DÉCIDER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FFFFFF"/>
                </a:solidFill>
                <a:latin typeface="Arial"/>
              </a:defRPr>
            </a:pPr>
            <a:r>
              <a:t>Une dérive visible. Une marge encore disponible.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Budget du lot pédagogique ; distinct du budget global B1 de 44 250 €.</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09</a:t>
            </a:r>
          </a:p>
        </p:txBody>
      </p:sp>
      <p:graphicFrame>
        <p:nvGraphicFramePr>
          <p:cNvPr id="9" name="Chart 8"/>
          <p:cNvGraphicFramePr>
            <a:graphicFrameLocks noGrp="1"/>
          </p:cNvGraphicFramePr>
          <p:nvPr/>
        </p:nvGraphicFramePr>
        <p:xfrm>
          <a:off x="594360" y="2606040"/>
          <a:ext cx="8961120" cy="3337560"/>
        </p:xfrm>
        <a:graphic>
          <a:graphicData uri="http://schemas.openxmlformats.org/drawingml/2006/chart">
            <c:chart xmlns:c="http://schemas.openxmlformats.org/drawingml/2006/chart" r:id="rId3"/>
          </a:graphicData>
        </a:graphic>
      </p:graphicFrame>
      <p:sp>
        <p:nvSpPr>
          <p:cNvPr id="10" name="TextBox 9"/>
          <p:cNvSpPr txBox="1"/>
          <p:nvPr/>
        </p:nvSpPr>
        <p:spPr>
          <a:xfrm>
            <a:off x="10058400" y="2743200"/>
            <a:ext cx="3977639" cy="868680"/>
          </a:xfrm>
          <a:prstGeom prst="rect">
            <a:avLst/>
          </a:prstGeom>
          <a:noFill/>
        </p:spPr>
        <p:txBody>
          <a:bodyPr wrap="square" lIns="0" rIns="0" tIns="0" bIns="0">
            <a:spAutoFit/>
          </a:bodyPr>
          <a:lstStyle/>
          <a:p>
            <a:pPr algn="l">
              <a:spcAft>
                <a:spcPts val="400"/>
              </a:spcAft>
              <a:defRPr sz="5600" b="1">
                <a:solidFill>
                  <a:srgbClr val="D8F28B"/>
                </a:solidFill>
                <a:latin typeface="Arial"/>
              </a:defRPr>
            </a:pPr>
            <a:r>
              <a:t>232 €</a:t>
            </a:r>
          </a:p>
        </p:txBody>
      </p:sp>
      <p:sp>
        <p:nvSpPr>
          <p:cNvPr id="11" name="TextBox 10"/>
          <p:cNvSpPr txBox="1"/>
          <p:nvPr/>
        </p:nvSpPr>
        <p:spPr>
          <a:xfrm>
            <a:off x="10058400" y="3675887"/>
            <a:ext cx="3977639" cy="548640"/>
          </a:xfrm>
          <a:prstGeom prst="rect">
            <a:avLst/>
          </a:prstGeom>
          <a:noFill/>
        </p:spPr>
        <p:txBody>
          <a:bodyPr wrap="square" lIns="0" rIns="0" tIns="0" bIns="0">
            <a:spAutoFit/>
          </a:bodyPr>
          <a:lstStyle/>
          <a:p>
            <a:pPr algn="l">
              <a:spcAft>
                <a:spcPts val="400"/>
              </a:spcAft>
              <a:defRPr sz="2000" b="1">
                <a:solidFill>
                  <a:srgbClr val="FFFFFF"/>
                </a:solidFill>
                <a:latin typeface="Arial"/>
              </a:defRPr>
            </a:pPr>
            <a:r>
              <a:t>de marge sous le plafond</a:t>
            </a:r>
          </a:p>
        </p:txBody>
      </p:sp>
      <p:sp>
        <p:nvSpPr>
          <p:cNvPr id="12" name="TextBox 11"/>
          <p:cNvSpPr txBox="1"/>
          <p:nvPr/>
        </p:nvSpPr>
        <p:spPr>
          <a:xfrm>
            <a:off x="10058400" y="4407408"/>
            <a:ext cx="3977639" cy="1005840"/>
          </a:xfrm>
          <a:prstGeom prst="rect">
            <a:avLst/>
          </a:prstGeom>
          <a:noFill/>
        </p:spPr>
        <p:txBody>
          <a:bodyPr wrap="square" lIns="0" rIns="0" tIns="0" bIns="0">
            <a:spAutoFit/>
          </a:bodyPr>
          <a:lstStyle/>
          <a:p>
            <a:pPr algn="l">
              <a:spcAft>
                <a:spcPts val="400"/>
              </a:spcAft>
              <a:defRPr sz="1600" b="0">
                <a:solidFill>
                  <a:srgbClr val="C7D6CB"/>
                </a:solidFill>
                <a:latin typeface="Arial"/>
              </a:defRPr>
            </a:pPr>
            <a:r>
              <a:t>+195 € par rapport</a:t>
            </a:r>
          </a:p>
          <a:p>
            <a:pPr algn="l">
              <a:spcAft>
                <a:spcPts val="400"/>
              </a:spcAft>
              <a:defRPr sz="1600" b="0">
                <a:solidFill>
                  <a:srgbClr val="C7D6CB"/>
                </a:solidFill>
                <a:latin typeface="Arial"/>
              </a:defRPr>
            </a:pPr>
            <a:r>
              <a:t>à la référence de 4 270 €</a:t>
            </a:r>
          </a:p>
        </p:txBody>
      </p:sp>
      <p:sp>
        <p:nvSpPr>
          <p:cNvPr id="13" name="Rectangle 12"/>
          <p:cNvSpPr/>
          <p:nvPr/>
        </p:nvSpPr>
        <p:spPr>
          <a:xfrm>
            <a:off x="594360" y="6995160"/>
            <a:ext cx="50292" cy="384048"/>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D8F28B"/>
                </a:solidFill>
                <a:latin typeface="Arial"/>
              </a:defRPr>
            </a:pPr>
            <a:r>
              <a:t>La réserve absorbe l’écart ; elle ne le fait pas disparaître.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03 / SUIVRE ET DÉCIDER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Le point de tension : la capacité du chef de projet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La charge se compare à la capacité de chaque rôle, pas seulement au total de l’équipe.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10</a:t>
            </a:r>
          </a:p>
        </p:txBody>
      </p:sp>
      <p:graphicFrame>
        <p:nvGraphicFramePr>
          <p:cNvPr id="9" name="Chart 8"/>
          <p:cNvGraphicFramePr>
            <a:graphicFrameLocks noGrp="1"/>
          </p:cNvGraphicFramePr>
          <p:nvPr/>
        </p:nvGraphicFramePr>
        <p:xfrm>
          <a:off x="594360" y="2697480"/>
          <a:ext cx="9235440" cy="3566160"/>
        </p:xfrm>
        <a:graphic>
          <a:graphicData uri="http://schemas.openxmlformats.org/drawingml/2006/chart">
            <c:chart xmlns:c="http://schemas.openxmlformats.org/drawingml/2006/chart" r:id="rId3"/>
          </a:graphicData>
        </a:graphic>
      </p:graphicFrame>
      <p:sp>
        <p:nvSpPr>
          <p:cNvPr id="10" name="TextBox 9"/>
          <p:cNvSpPr txBox="1"/>
          <p:nvPr/>
        </p:nvSpPr>
        <p:spPr>
          <a:xfrm>
            <a:off x="10241280" y="2706624"/>
            <a:ext cx="365760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96,7 %</a:t>
            </a:r>
          </a:p>
        </p:txBody>
      </p:sp>
      <p:sp>
        <p:nvSpPr>
          <p:cNvPr id="11" name="TextBox 10"/>
          <p:cNvSpPr txBox="1"/>
          <p:nvPr/>
        </p:nvSpPr>
        <p:spPr>
          <a:xfrm>
            <a:off x="10241280" y="3639312"/>
            <a:ext cx="365760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de la capacité CP</a:t>
            </a:r>
          </a:p>
        </p:txBody>
      </p:sp>
      <p:sp>
        <p:nvSpPr>
          <p:cNvPr id="12" name="TextBox 11"/>
          <p:cNvSpPr txBox="1"/>
          <p:nvPr/>
        </p:nvSpPr>
        <p:spPr>
          <a:xfrm>
            <a:off x="10241280" y="4599432"/>
            <a:ext cx="3657600" cy="502920"/>
          </a:xfrm>
          <a:prstGeom prst="rect">
            <a:avLst/>
          </a:prstGeom>
          <a:noFill/>
        </p:spPr>
        <p:txBody>
          <a:bodyPr wrap="square" lIns="0" rIns="0" tIns="0" bIns="0">
            <a:spAutoFit/>
          </a:bodyPr>
          <a:lstStyle/>
          <a:p>
            <a:pPr algn="l">
              <a:spcAft>
                <a:spcPts val="400"/>
              </a:spcAft>
              <a:defRPr sz="2700" b="1">
                <a:solidFill>
                  <a:srgbClr val="B64E2E"/>
                </a:solidFill>
                <a:latin typeface="Arial"/>
              </a:defRPr>
            </a:pPr>
            <a:r>
              <a:t>1 h de marge</a:t>
            </a:r>
          </a:p>
        </p:txBody>
      </p:sp>
      <p:sp>
        <p:nvSpPr>
          <p:cNvPr id="13" name="TextBox 12"/>
          <p:cNvSpPr txBox="1"/>
          <p:nvPr/>
        </p:nvSpPr>
        <p:spPr>
          <a:xfrm>
            <a:off x="10241280" y="5248656"/>
            <a:ext cx="3657600" cy="128016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Alerte au-delà de 90 %.</a:t>
            </a:r>
          </a:p>
          <a:p>
            <a:pPr algn="l">
              <a:spcAft>
                <a:spcPts val="400"/>
              </a:spcAft>
              <a:defRPr sz="1800" b="0">
                <a:solidFill>
                  <a:srgbClr val="5C6C65"/>
                </a:solidFill>
                <a:latin typeface="Arial"/>
              </a:defRPr>
            </a:pPr>
            <a:r>
              <a:t>Limiter les demandes.</a:t>
            </a:r>
          </a:p>
          <a:p>
            <a:pPr algn="l">
              <a:spcAft>
                <a:spcPts val="400"/>
              </a:spcAft>
              <a:defRPr sz="1800" b="0">
                <a:solidFill>
                  <a:srgbClr val="5C6C65"/>
                </a:solidFill>
                <a:latin typeface="Arial"/>
              </a:defRPr>
            </a:pPr>
            <a:r>
              <a:t>Protéger les arbitrages.</a:t>
            </a:r>
          </a:p>
        </p:txBody>
      </p:sp>
      <p:sp>
        <p:nvSpPr>
          <p:cNvPr id="14" name="Rectangle 13"/>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CP : 29/30 h · DEV : 64/72 h · QA : 24/30 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03 / SUIVRE ET DÉCIDER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Repérer le risque. Déclencher une action.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Chaque risque possède un responsable, un déclencheur et une réponse dans A03.</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11</a:t>
            </a:r>
          </a:p>
        </p:txBody>
      </p:sp>
      <p:sp>
        <p:nvSpPr>
          <p:cNvPr id="9" name="TextBox 8"/>
          <p:cNvSpPr txBox="1"/>
          <p:nvPr/>
        </p:nvSpPr>
        <p:spPr>
          <a:xfrm>
            <a:off x="731520" y="2377440"/>
            <a:ext cx="2743200" cy="320040"/>
          </a:xfrm>
          <a:prstGeom prst="rect">
            <a:avLst/>
          </a:prstGeom>
          <a:noFill/>
        </p:spPr>
        <p:txBody>
          <a:bodyPr wrap="square" lIns="0" rIns="0" tIns="0" bIns="0">
            <a:spAutoFit/>
          </a:bodyPr>
          <a:lstStyle/>
          <a:p>
            <a:pPr algn="l">
              <a:spcAft>
                <a:spcPts val="400"/>
              </a:spcAft>
              <a:defRPr sz="1200" b="1">
                <a:solidFill>
                  <a:srgbClr val="5C6C65"/>
                </a:solidFill>
                <a:latin typeface="Arial"/>
              </a:defRPr>
            </a:pPr>
            <a:r>
              <a:t>PROBABILITÉ</a:t>
            </a:r>
          </a:p>
        </p:txBody>
      </p:sp>
      <p:sp>
        <p:nvSpPr>
          <p:cNvPr id="10" name="Rounded Rectangle 9"/>
          <p:cNvSpPr/>
          <p:nvPr/>
        </p:nvSpPr>
        <p:spPr>
          <a:xfrm>
            <a:off x="1188720" y="2788920"/>
            <a:ext cx="1280160" cy="941832"/>
          </a:xfrm>
          <a:prstGeom prst="roundRect">
            <a:avLst>
              <a:gd name="adj" fmla="val 4000"/>
            </a:avLst>
          </a:prstGeom>
          <a:solidFill>
            <a:srgbClr val="D7E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60320" y="2788920"/>
            <a:ext cx="1280160" cy="941832"/>
          </a:xfrm>
          <a:prstGeom prst="roundRect">
            <a:avLst>
              <a:gd name="adj" fmla="val 4000"/>
            </a:avLst>
          </a:prstGeom>
          <a:solidFill>
            <a:srgbClr val="E9B1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931920" y="2788920"/>
            <a:ext cx="1280160" cy="941832"/>
          </a:xfrm>
          <a:prstGeom prst="roundRect">
            <a:avLst>
              <a:gd name="adj" fmla="val 4000"/>
            </a:avLst>
          </a:prstGeom>
          <a:solidFill>
            <a:srgbClr val="E9B1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81528"/>
            <a:ext cx="365760" cy="320040"/>
          </a:xfrm>
          <a:prstGeom prst="rect">
            <a:avLst/>
          </a:prstGeom>
          <a:noFill/>
        </p:spPr>
        <p:txBody>
          <a:bodyPr wrap="square" lIns="0" rIns="0" tIns="0" bIns="0">
            <a:spAutoFit/>
          </a:bodyPr>
          <a:lstStyle/>
          <a:p>
            <a:pPr algn="l">
              <a:spcAft>
                <a:spcPts val="400"/>
              </a:spcAft>
              <a:defRPr sz="1700" b="1">
                <a:solidFill>
                  <a:srgbClr val="12332D"/>
                </a:solidFill>
                <a:latin typeface="Arial"/>
              </a:defRPr>
            </a:pPr>
            <a:r>
              <a:t>3</a:t>
            </a:r>
          </a:p>
        </p:txBody>
      </p:sp>
      <p:sp>
        <p:nvSpPr>
          <p:cNvPr id="14" name="Rounded Rectangle 13"/>
          <p:cNvSpPr/>
          <p:nvPr/>
        </p:nvSpPr>
        <p:spPr>
          <a:xfrm>
            <a:off x="1188720" y="3822191"/>
            <a:ext cx="1280160" cy="941832"/>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560320" y="3822191"/>
            <a:ext cx="1280160" cy="941832"/>
          </a:xfrm>
          <a:prstGeom prst="roundRect">
            <a:avLst>
              <a:gd name="adj" fmla="val 4000"/>
            </a:avLst>
          </a:prstGeom>
          <a:solidFill>
            <a:srgbClr val="D7E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931920" y="3822191"/>
            <a:ext cx="1280160" cy="941832"/>
          </a:xfrm>
          <a:prstGeom prst="roundRect">
            <a:avLst>
              <a:gd name="adj" fmla="val 4000"/>
            </a:avLst>
          </a:prstGeom>
          <a:solidFill>
            <a:srgbClr val="E9B1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114800"/>
            <a:ext cx="365760" cy="320040"/>
          </a:xfrm>
          <a:prstGeom prst="rect">
            <a:avLst/>
          </a:prstGeom>
          <a:noFill/>
        </p:spPr>
        <p:txBody>
          <a:bodyPr wrap="square" lIns="0" rIns="0" tIns="0" bIns="0">
            <a:spAutoFit/>
          </a:bodyPr>
          <a:lstStyle/>
          <a:p>
            <a:pPr algn="l">
              <a:spcAft>
                <a:spcPts val="400"/>
              </a:spcAft>
              <a:defRPr sz="1700" b="1">
                <a:solidFill>
                  <a:srgbClr val="12332D"/>
                </a:solidFill>
                <a:latin typeface="Arial"/>
              </a:defRPr>
            </a:pPr>
            <a:r>
              <a:t>2</a:t>
            </a:r>
          </a:p>
        </p:txBody>
      </p:sp>
      <p:sp>
        <p:nvSpPr>
          <p:cNvPr id="18" name="Rounded Rectangle 17"/>
          <p:cNvSpPr/>
          <p:nvPr/>
        </p:nvSpPr>
        <p:spPr>
          <a:xfrm>
            <a:off x="1188720" y="4855464"/>
            <a:ext cx="1280160" cy="941832"/>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560320" y="4855464"/>
            <a:ext cx="1280160" cy="941832"/>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931920" y="4855464"/>
            <a:ext cx="1280160" cy="941832"/>
          </a:xfrm>
          <a:prstGeom prst="roundRect">
            <a:avLst>
              <a:gd name="adj" fmla="val 4000"/>
            </a:avLst>
          </a:prstGeom>
          <a:solidFill>
            <a:srgbClr val="D7E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148072"/>
            <a:ext cx="365760" cy="320040"/>
          </a:xfrm>
          <a:prstGeom prst="rect">
            <a:avLst/>
          </a:prstGeom>
          <a:noFill/>
        </p:spPr>
        <p:txBody>
          <a:bodyPr wrap="square" lIns="0" rIns="0" tIns="0" bIns="0">
            <a:spAutoFit/>
          </a:bodyPr>
          <a:lstStyle/>
          <a:p>
            <a:pPr algn="l">
              <a:spcAft>
                <a:spcPts val="400"/>
              </a:spcAft>
              <a:defRPr sz="1700" b="1">
                <a:solidFill>
                  <a:srgbClr val="12332D"/>
                </a:solidFill>
                <a:latin typeface="Arial"/>
              </a:defRPr>
            </a:pPr>
            <a:r>
              <a:t>1</a:t>
            </a:r>
          </a:p>
        </p:txBody>
      </p:sp>
      <p:sp>
        <p:nvSpPr>
          <p:cNvPr id="22" name="TextBox 21"/>
          <p:cNvSpPr txBox="1"/>
          <p:nvPr/>
        </p:nvSpPr>
        <p:spPr>
          <a:xfrm>
            <a:off x="1673352" y="6016752"/>
            <a:ext cx="365760" cy="365760"/>
          </a:xfrm>
          <a:prstGeom prst="rect">
            <a:avLst/>
          </a:prstGeom>
          <a:noFill/>
        </p:spPr>
        <p:txBody>
          <a:bodyPr wrap="square" lIns="0" rIns="0" tIns="0" bIns="0">
            <a:spAutoFit/>
          </a:bodyPr>
          <a:lstStyle/>
          <a:p>
            <a:pPr algn="l">
              <a:spcAft>
                <a:spcPts val="400"/>
              </a:spcAft>
              <a:defRPr sz="1700" b="1">
                <a:solidFill>
                  <a:srgbClr val="12332D"/>
                </a:solidFill>
                <a:latin typeface="Arial"/>
              </a:defRPr>
            </a:pPr>
            <a:r>
              <a:t>1</a:t>
            </a:r>
          </a:p>
        </p:txBody>
      </p:sp>
      <p:sp>
        <p:nvSpPr>
          <p:cNvPr id="23" name="TextBox 22"/>
          <p:cNvSpPr txBox="1"/>
          <p:nvPr/>
        </p:nvSpPr>
        <p:spPr>
          <a:xfrm>
            <a:off x="3044952" y="6016752"/>
            <a:ext cx="365760" cy="365760"/>
          </a:xfrm>
          <a:prstGeom prst="rect">
            <a:avLst/>
          </a:prstGeom>
          <a:noFill/>
        </p:spPr>
        <p:txBody>
          <a:bodyPr wrap="square" lIns="0" rIns="0" tIns="0" bIns="0">
            <a:spAutoFit/>
          </a:bodyPr>
          <a:lstStyle/>
          <a:p>
            <a:pPr algn="l">
              <a:spcAft>
                <a:spcPts val="400"/>
              </a:spcAft>
              <a:defRPr sz="1700" b="1">
                <a:solidFill>
                  <a:srgbClr val="12332D"/>
                </a:solidFill>
                <a:latin typeface="Arial"/>
              </a:defRPr>
            </a:pPr>
            <a:r>
              <a:t>2</a:t>
            </a:r>
          </a:p>
        </p:txBody>
      </p:sp>
      <p:sp>
        <p:nvSpPr>
          <p:cNvPr id="24" name="TextBox 23"/>
          <p:cNvSpPr txBox="1"/>
          <p:nvPr/>
        </p:nvSpPr>
        <p:spPr>
          <a:xfrm>
            <a:off x="4416552" y="6016752"/>
            <a:ext cx="365760" cy="365760"/>
          </a:xfrm>
          <a:prstGeom prst="rect">
            <a:avLst/>
          </a:prstGeom>
          <a:noFill/>
        </p:spPr>
        <p:txBody>
          <a:bodyPr wrap="square" lIns="0" rIns="0" tIns="0" bIns="0">
            <a:spAutoFit/>
          </a:bodyPr>
          <a:lstStyle/>
          <a:p>
            <a:pPr algn="l">
              <a:spcAft>
                <a:spcPts val="400"/>
              </a:spcAft>
              <a:defRPr sz="1700" b="1">
                <a:solidFill>
                  <a:srgbClr val="12332D"/>
                </a:solidFill>
                <a:latin typeface="Arial"/>
              </a:defRPr>
            </a:pPr>
            <a:r>
              <a:t>3</a:t>
            </a:r>
          </a:p>
        </p:txBody>
      </p:sp>
      <p:sp>
        <p:nvSpPr>
          <p:cNvPr id="25" name="TextBox 24"/>
          <p:cNvSpPr txBox="1"/>
          <p:nvPr/>
        </p:nvSpPr>
        <p:spPr>
          <a:xfrm>
            <a:off x="4242816" y="3063240"/>
            <a:ext cx="914400" cy="36576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R01</a:t>
            </a:r>
          </a:p>
        </p:txBody>
      </p:sp>
      <p:sp>
        <p:nvSpPr>
          <p:cNvPr id="26" name="TextBox 25"/>
          <p:cNvSpPr txBox="1"/>
          <p:nvPr/>
        </p:nvSpPr>
        <p:spPr>
          <a:xfrm>
            <a:off x="4005072" y="3950208"/>
            <a:ext cx="1216152" cy="658368"/>
          </a:xfrm>
          <a:prstGeom prst="rect">
            <a:avLst/>
          </a:prstGeom>
          <a:noFill/>
        </p:spPr>
        <p:txBody>
          <a:bodyPr wrap="square" lIns="0" rIns="0" tIns="0" bIns="0">
            <a:spAutoFit/>
          </a:bodyPr>
          <a:lstStyle/>
          <a:p>
            <a:pPr algn="l">
              <a:spcAft>
                <a:spcPts val="400"/>
              </a:spcAft>
              <a:defRPr sz="1400" b="1">
                <a:solidFill>
                  <a:srgbClr val="12332D"/>
                </a:solidFill>
                <a:latin typeface="Arial"/>
              </a:defRPr>
            </a:pPr>
            <a:r>
              <a:t>R02 · R03</a:t>
            </a:r>
          </a:p>
          <a:p>
            <a:pPr algn="l">
              <a:spcAft>
                <a:spcPts val="400"/>
              </a:spcAft>
              <a:defRPr sz="1400" b="1">
                <a:solidFill>
                  <a:srgbClr val="12332D"/>
                </a:solidFill>
                <a:latin typeface="Arial"/>
              </a:defRPr>
            </a:pPr>
            <a:r>
              <a:t>R04 · R05</a:t>
            </a:r>
          </a:p>
        </p:txBody>
      </p:sp>
      <p:sp>
        <p:nvSpPr>
          <p:cNvPr id="27" name="TextBox 26"/>
          <p:cNvSpPr txBox="1"/>
          <p:nvPr/>
        </p:nvSpPr>
        <p:spPr>
          <a:xfrm>
            <a:off x="4389120" y="6400800"/>
            <a:ext cx="1371600" cy="274320"/>
          </a:xfrm>
          <a:prstGeom prst="rect">
            <a:avLst/>
          </a:prstGeom>
          <a:noFill/>
        </p:spPr>
        <p:txBody>
          <a:bodyPr wrap="square" lIns="0" rIns="0" tIns="0" bIns="0">
            <a:spAutoFit/>
          </a:bodyPr>
          <a:lstStyle/>
          <a:p>
            <a:pPr algn="l">
              <a:spcAft>
                <a:spcPts val="400"/>
              </a:spcAft>
              <a:defRPr sz="1200" b="1">
                <a:solidFill>
                  <a:srgbClr val="5C6C65"/>
                </a:solidFill>
                <a:latin typeface="Arial"/>
              </a:defRPr>
            </a:pPr>
            <a:r>
              <a:t>IMPACT</a:t>
            </a:r>
          </a:p>
        </p:txBody>
      </p:sp>
      <p:sp>
        <p:nvSpPr>
          <p:cNvPr id="28" name="Rounded Rectangle 27"/>
          <p:cNvSpPr/>
          <p:nvPr/>
        </p:nvSpPr>
        <p:spPr>
          <a:xfrm>
            <a:off x="6080760" y="251460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9632" y="257403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R01</a:t>
            </a:r>
          </a:p>
        </p:txBody>
      </p:sp>
      <p:sp>
        <p:nvSpPr>
          <p:cNvPr id="30" name="TextBox 29"/>
          <p:cNvSpPr txBox="1"/>
          <p:nvPr/>
        </p:nvSpPr>
        <p:spPr>
          <a:xfrm>
            <a:off x="7178040" y="2496312"/>
            <a:ext cx="6400800" cy="365760"/>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Démonstration</a:t>
            </a:r>
          </a:p>
        </p:txBody>
      </p:sp>
      <p:sp>
        <p:nvSpPr>
          <p:cNvPr id="31" name="TextBox 30"/>
          <p:cNvSpPr txBox="1"/>
          <p:nvPr/>
        </p:nvSpPr>
        <p:spPr>
          <a:xfrm>
            <a:off x="7178040" y="2880360"/>
            <a:ext cx="6858000" cy="36576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Sonde en échec → vérifier l’environnement.</a:t>
            </a:r>
          </a:p>
        </p:txBody>
      </p:sp>
      <p:sp>
        <p:nvSpPr>
          <p:cNvPr id="32" name="Rounded Rectangle 31"/>
          <p:cNvSpPr/>
          <p:nvPr/>
        </p:nvSpPr>
        <p:spPr>
          <a:xfrm>
            <a:off x="6080760" y="3310128"/>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99632" y="3369564"/>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R02</a:t>
            </a:r>
          </a:p>
        </p:txBody>
      </p:sp>
      <p:sp>
        <p:nvSpPr>
          <p:cNvPr id="34" name="TextBox 33"/>
          <p:cNvSpPr txBox="1"/>
          <p:nvPr/>
        </p:nvSpPr>
        <p:spPr>
          <a:xfrm>
            <a:off x="7178040" y="3291840"/>
            <a:ext cx="6400800" cy="365760"/>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Charge CP</a:t>
            </a:r>
          </a:p>
        </p:txBody>
      </p:sp>
      <p:sp>
        <p:nvSpPr>
          <p:cNvPr id="35" name="TextBox 34"/>
          <p:cNvSpPr txBox="1"/>
          <p:nvPr/>
        </p:nvSpPr>
        <p:spPr>
          <a:xfrm>
            <a:off x="7178040" y="3675888"/>
            <a:ext cx="6858000" cy="36576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Plus de 90 % → limiter les demandes.</a:t>
            </a:r>
          </a:p>
        </p:txBody>
      </p:sp>
      <p:sp>
        <p:nvSpPr>
          <p:cNvPr id="36" name="Rounded Rectangle 35"/>
          <p:cNvSpPr/>
          <p:nvPr/>
        </p:nvSpPr>
        <p:spPr>
          <a:xfrm>
            <a:off x="6080760" y="410565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99632" y="416509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R03</a:t>
            </a:r>
          </a:p>
        </p:txBody>
      </p:sp>
      <p:sp>
        <p:nvSpPr>
          <p:cNvPr id="38" name="TextBox 37"/>
          <p:cNvSpPr txBox="1"/>
          <p:nvPr/>
        </p:nvSpPr>
        <p:spPr>
          <a:xfrm>
            <a:off x="7178040" y="4087368"/>
            <a:ext cx="6400800" cy="365760"/>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Périmètre</a:t>
            </a:r>
          </a:p>
        </p:txBody>
      </p:sp>
      <p:sp>
        <p:nvSpPr>
          <p:cNvPr id="39" name="TextBox 38"/>
          <p:cNvSpPr txBox="1"/>
          <p:nvPr/>
        </p:nvSpPr>
        <p:spPr>
          <a:xfrm>
            <a:off x="7178040" y="4471416"/>
            <a:ext cx="6858000" cy="36576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Plafond dépassé → arbitrer avant engagement.</a:t>
            </a:r>
          </a:p>
        </p:txBody>
      </p:sp>
      <p:sp>
        <p:nvSpPr>
          <p:cNvPr id="40" name="Rounded Rectangle 39"/>
          <p:cNvSpPr/>
          <p:nvPr/>
        </p:nvSpPr>
        <p:spPr>
          <a:xfrm>
            <a:off x="6080760" y="4901183"/>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99632" y="4960620"/>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R04</a:t>
            </a:r>
          </a:p>
        </p:txBody>
      </p:sp>
      <p:sp>
        <p:nvSpPr>
          <p:cNvPr id="42" name="TextBox 41"/>
          <p:cNvSpPr txBox="1"/>
          <p:nvPr/>
        </p:nvSpPr>
        <p:spPr>
          <a:xfrm>
            <a:off x="7178040" y="4882896"/>
            <a:ext cx="6400800" cy="365760"/>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Inscriptions</a:t>
            </a:r>
          </a:p>
        </p:txBody>
      </p:sp>
      <p:sp>
        <p:nvSpPr>
          <p:cNvPr id="43" name="TextBox 42"/>
          <p:cNvSpPr txBox="1"/>
          <p:nvPr/>
        </p:nvSpPr>
        <p:spPr>
          <a:xfrm>
            <a:off x="7178040" y="5266944"/>
            <a:ext cx="6858000" cy="36576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Capacité incohérente → bloquer la validation.</a:t>
            </a:r>
          </a:p>
        </p:txBody>
      </p:sp>
      <p:sp>
        <p:nvSpPr>
          <p:cNvPr id="44" name="Rounded Rectangle 43"/>
          <p:cNvSpPr/>
          <p:nvPr/>
        </p:nvSpPr>
        <p:spPr>
          <a:xfrm>
            <a:off x="6080760" y="569671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99632" y="575614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R05</a:t>
            </a:r>
          </a:p>
        </p:txBody>
      </p:sp>
      <p:sp>
        <p:nvSpPr>
          <p:cNvPr id="46" name="TextBox 45"/>
          <p:cNvSpPr txBox="1"/>
          <p:nvPr/>
        </p:nvSpPr>
        <p:spPr>
          <a:xfrm>
            <a:off x="7178040" y="5678424"/>
            <a:ext cx="6400800" cy="365760"/>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Dépôt</a:t>
            </a:r>
          </a:p>
        </p:txBody>
      </p:sp>
      <p:sp>
        <p:nvSpPr>
          <p:cNvPr id="47" name="TextBox 46"/>
          <p:cNvSpPr txBox="1"/>
          <p:nvPr/>
        </p:nvSpPr>
        <p:spPr>
          <a:xfrm>
            <a:off x="7178040" y="6062472"/>
            <a:ext cx="6858000" cy="36576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Pièce manquante → contrôler la checklist.</a:t>
            </a:r>
          </a:p>
        </p:txBody>
      </p:sp>
      <p:sp>
        <p:nvSpPr>
          <p:cNvPr id="48" name="Rectangle 47"/>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Priorité : préserver une démonstration utilisable et un périmètre maîtrisé.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03 / ARBITRER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FFFFFF"/>
                </a:solidFill>
                <a:latin typeface="Arial"/>
              </a:defRPr>
            </a:pPr>
            <a:r>
              <a:t>Choisir un test proche du logiciel livré</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Problème documenté : les compilations du serveur de développement perturbent la recette.</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12</a:t>
            </a:r>
          </a:p>
        </p:txBody>
      </p:sp>
      <p:sp>
        <p:nvSpPr>
          <p:cNvPr id="9" name="Rounded Rectangle 8"/>
          <p:cNvSpPr/>
          <p:nvPr/>
        </p:nvSpPr>
        <p:spPr>
          <a:xfrm>
            <a:off x="594360" y="2633472"/>
            <a:ext cx="4251960" cy="361188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89504"/>
            <a:ext cx="2743200" cy="502920"/>
          </a:xfrm>
          <a:prstGeom prst="rect">
            <a:avLst/>
          </a:prstGeom>
          <a:noFill/>
        </p:spPr>
        <p:txBody>
          <a:bodyPr wrap="square" lIns="0" rIns="0" tIns="0" bIns="0">
            <a:spAutoFit/>
          </a:bodyPr>
          <a:lstStyle/>
          <a:p>
            <a:pPr algn="l">
              <a:spcAft>
                <a:spcPts val="400"/>
              </a:spcAft>
              <a:defRPr sz="3100" b="1">
                <a:solidFill>
                  <a:srgbClr val="D8F28B"/>
                </a:solidFill>
                <a:latin typeface="Arial"/>
              </a:defRPr>
            </a:pPr>
            <a:r>
              <a:t>01</a:t>
            </a:r>
          </a:p>
        </p:txBody>
      </p:sp>
      <p:sp>
        <p:nvSpPr>
          <p:cNvPr id="11" name="TextBox 10"/>
          <p:cNvSpPr txBox="1"/>
          <p:nvPr/>
        </p:nvSpPr>
        <p:spPr>
          <a:xfrm>
            <a:off x="868680" y="3721608"/>
            <a:ext cx="3703320" cy="576072"/>
          </a:xfrm>
          <a:prstGeom prst="rect">
            <a:avLst/>
          </a:prstGeom>
          <a:noFill/>
        </p:spPr>
        <p:txBody>
          <a:bodyPr wrap="square" lIns="0" rIns="0" tIns="0" bIns="0">
            <a:spAutoFit/>
          </a:bodyPr>
          <a:lstStyle/>
          <a:p>
            <a:pPr algn="l">
              <a:spcAft>
                <a:spcPts val="400"/>
              </a:spcAft>
              <a:defRPr sz="2900" b="1">
                <a:solidFill>
                  <a:srgbClr val="FFFFFF"/>
                </a:solidFill>
                <a:latin typeface="Arial"/>
              </a:defRPr>
            </a:pPr>
            <a:r>
              <a:t>Retries</a:t>
            </a:r>
          </a:p>
        </p:txBody>
      </p:sp>
      <p:sp>
        <p:nvSpPr>
          <p:cNvPr id="12" name="TextBox 11"/>
          <p:cNvSpPr txBox="1"/>
          <p:nvPr/>
        </p:nvSpPr>
        <p:spPr>
          <a:xfrm>
            <a:off x="868680" y="4590288"/>
            <a:ext cx="3703320" cy="694944"/>
          </a:xfrm>
          <a:prstGeom prst="rect">
            <a:avLst/>
          </a:prstGeom>
          <a:noFill/>
        </p:spPr>
        <p:txBody>
          <a:bodyPr wrap="square" lIns="0" rIns="0" tIns="0" bIns="0">
            <a:spAutoFit/>
          </a:bodyPr>
          <a:lstStyle/>
          <a:p>
            <a:pPr algn="l">
              <a:spcAft>
                <a:spcPts val="400"/>
              </a:spcAft>
              <a:defRPr sz="2000" b="1">
                <a:solidFill>
                  <a:srgbClr val="FFFFFF"/>
                </a:solidFill>
                <a:latin typeface="Arial"/>
              </a:defRPr>
            </a:pPr>
            <a:r>
              <a:t>Ajouter des tentatives</a:t>
            </a:r>
          </a:p>
        </p:txBody>
      </p:sp>
      <p:sp>
        <p:nvSpPr>
          <p:cNvPr id="13" name="TextBox 12"/>
          <p:cNvSpPr txBox="1"/>
          <p:nvPr/>
        </p:nvSpPr>
        <p:spPr>
          <a:xfrm>
            <a:off x="868680" y="5541264"/>
            <a:ext cx="3703320" cy="457200"/>
          </a:xfrm>
          <a:prstGeom prst="rect">
            <a:avLst/>
          </a:prstGeom>
          <a:noFill/>
        </p:spPr>
        <p:txBody>
          <a:bodyPr wrap="square" lIns="0" rIns="0" tIns="0" bIns="0">
            <a:spAutoFit/>
          </a:bodyPr>
          <a:lstStyle/>
          <a:p>
            <a:pPr algn="l">
              <a:spcAft>
                <a:spcPts val="400"/>
              </a:spcAft>
              <a:defRPr sz="1600" b="0">
                <a:solidFill>
                  <a:srgbClr val="C7D6CB"/>
                </a:solidFill>
                <a:latin typeface="Arial"/>
              </a:defRPr>
            </a:pPr>
            <a:r>
              <a:t>Risque de masquer la cause</a:t>
            </a:r>
          </a:p>
        </p:txBody>
      </p:sp>
      <p:sp>
        <p:nvSpPr>
          <p:cNvPr id="14" name="Rounded Rectangle 13"/>
          <p:cNvSpPr/>
          <p:nvPr/>
        </p:nvSpPr>
        <p:spPr>
          <a:xfrm>
            <a:off x="5184648" y="2633472"/>
            <a:ext cx="4251960" cy="361188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58968" y="2889504"/>
            <a:ext cx="2743200" cy="502920"/>
          </a:xfrm>
          <a:prstGeom prst="rect">
            <a:avLst/>
          </a:prstGeom>
          <a:noFill/>
        </p:spPr>
        <p:txBody>
          <a:bodyPr wrap="square" lIns="0" rIns="0" tIns="0" bIns="0">
            <a:spAutoFit/>
          </a:bodyPr>
          <a:lstStyle/>
          <a:p>
            <a:pPr algn="l">
              <a:spcAft>
                <a:spcPts val="400"/>
              </a:spcAft>
              <a:defRPr sz="3100" b="1">
                <a:solidFill>
                  <a:srgbClr val="D8F28B"/>
                </a:solidFill>
                <a:latin typeface="Arial"/>
              </a:defRPr>
            </a:pPr>
            <a:r>
              <a:t>02</a:t>
            </a:r>
          </a:p>
        </p:txBody>
      </p:sp>
      <p:sp>
        <p:nvSpPr>
          <p:cNvPr id="16" name="TextBox 15"/>
          <p:cNvSpPr txBox="1"/>
          <p:nvPr/>
        </p:nvSpPr>
        <p:spPr>
          <a:xfrm>
            <a:off x="5458968" y="3721608"/>
            <a:ext cx="3703320" cy="576072"/>
          </a:xfrm>
          <a:prstGeom prst="rect">
            <a:avLst/>
          </a:prstGeom>
          <a:noFill/>
        </p:spPr>
        <p:txBody>
          <a:bodyPr wrap="square" lIns="0" rIns="0" tIns="0" bIns="0">
            <a:spAutoFit/>
          </a:bodyPr>
          <a:lstStyle/>
          <a:p>
            <a:pPr algn="l">
              <a:spcAft>
                <a:spcPts val="400"/>
              </a:spcAft>
              <a:defRPr sz="2900" b="1">
                <a:solidFill>
                  <a:srgbClr val="FFFFFF"/>
                </a:solidFill>
                <a:latin typeface="Arial"/>
              </a:defRPr>
            </a:pPr>
            <a:r>
              <a:t>Préchauffage</a:t>
            </a:r>
          </a:p>
        </p:txBody>
      </p:sp>
      <p:sp>
        <p:nvSpPr>
          <p:cNvPr id="17" name="TextBox 16"/>
          <p:cNvSpPr txBox="1"/>
          <p:nvPr/>
        </p:nvSpPr>
        <p:spPr>
          <a:xfrm>
            <a:off x="5458968" y="4590288"/>
            <a:ext cx="3703320" cy="694944"/>
          </a:xfrm>
          <a:prstGeom prst="rect">
            <a:avLst/>
          </a:prstGeom>
          <a:noFill/>
        </p:spPr>
        <p:txBody>
          <a:bodyPr wrap="square" lIns="0" rIns="0" tIns="0" bIns="0">
            <a:spAutoFit/>
          </a:bodyPr>
          <a:lstStyle/>
          <a:p>
            <a:pPr algn="l">
              <a:spcAft>
                <a:spcPts val="400"/>
              </a:spcAft>
              <a:defRPr sz="2000" b="1">
                <a:solidFill>
                  <a:srgbClr val="FFFFFF"/>
                </a:solidFill>
                <a:latin typeface="Arial"/>
              </a:defRPr>
            </a:pPr>
            <a:r>
              <a:t>Réduire les compilations</a:t>
            </a:r>
          </a:p>
        </p:txBody>
      </p:sp>
      <p:sp>
        <p:nvSpPr>
          <p:cNvPr id="18" name="TextBox 17"/>
          <p:cNvSpPr txBox="1"/>
          <p:nvPr/>
        </p:nvSpPr>
        <p:spPr>
          <a:xfrm>
            <a:off x="5458968" y="5541264"/>
            <a:ext cx="3703320" cy="457200"/>
          </a:xfrm>
          <a:prstGeom prst="rect">
            <a:avLst/>
          </a:prstGeom>
          <a:noFill/>
        </p:spPr>
        <p:txBody>
          <a:bodyPr wrap="square" lIns="0" rIns="0" tIns="0" bIns="0">
            <a:spAutoFit/>
          </a:bodyPr>
          <a:lstStyle/>
          <a:p>
            <a:pPr algn="l">
              <a:spcAft>
                <a:spcPts val="400"/>
              </a:spcAft>
              <a:defRPr sz="1600" b="0">
                <a:solidFill>
                  <a:srgbClr val="C7D6CB"/>
                </a:solidFill>
                <a:latin typeface="Arial"/>
              </a:defRPr>
            </a:pPr>
            <a:r>
              <a:t>Routes à préparer</a:t>
            </a:r>
          </a:p>
        </p:txBody>
      </p:sp>
      <p:sp>
        <p:nvSpPr>
          <p:cNvPr id="19" name="Rounded Rectangle 18"/>
          <p:cNvSpPr/>
          <p:nvPr/>
        </p:nvSpPr>
        <p:spPr>
          <a:xfrm>
            <a:off x="9774936" y="2633472"/>
            <a:ext cx="4251960" cy="3611880"/>
          </a:xfrm>
          <a:prstGeom prst="roundRect">
            <a:avLst>
              <a:gd name="adj" fmla="val 4000"/>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49256" y="2889504"/>
            <a:ext cx="2743200" cy="502920"/>
          </a:xfrm>
          <a:prstGeom prst="rect">
            <a:avLst/>
          </a:prstGeom>
          <a:noFill/>
        </p:spPr>
        <p:txBody>
          <a:bodyPr wrap="square" lIns="0" rIns="0" tIns="0" bIns="0">
            <a:spAutoFit/>
          </a:bodyPr>
          <a:lstStyle/>
          <a:p>
            <a:pPr algn="l">
              <a:spcAft>
                <a:spcPts val="400"/>
              </a:spcAft>
              <a:defRPr sz="3100" b="1">
                <a:solidFill>
                  <a:srgbClr val="12332D"/>
                </a:solidFill>
                <a:latin typeface="Arial"/>
              </a:defRPr>
            </a:pPr>
            <a:r>
              <a:t>03</a:t>
            </a:r>
          </a:p>
        </p:txBody>
      </p:sp>
      <p:sp>
        <p:nvSpPr>
          <p:cNvPr id="21" name="TextBox 20"/>
          <p:cNvSpPr txBox="1"/>
          <p:nvPr/>
        </p:nvSpPr>
        <p:spPr>
          <a:xfrm>
            <a:off x="10049256" y="3721608"/>
            <a:ext cx="3703320" cy="576072"/>
          </a:xfrm>
          <a:prstGeom prst="rect">
            <a:avLst/>
          </a:prstGeom>
          <a:noFill/>
        </p:spPr>
        <p:txBody>
          <a:bodyPr wrap="square" lIns="0" rIns="0" tIns="0" bIns="0">
            <a:spAutoFit/>
          </a:bodyPr>
          <a:lstStyle/>
          <a:p>
            <a:pPr algn="l">
              <a:spcAft>
                <a:spcPts val="400"/>
              </a:spcAft>
              <a:defRPr sz="2900" b="1">
                <a:solidFill>
                  <a:srgbClr val="12332D"/>
                </a:solidFill>
                <a:latin typeface="Arial"/>
              </a:defRPr>
            </a:pPr>
            <a:r>
              <a:t>Standalone</a:t>
            </a:r>
          </a:p>
        </p:txBody>
      </p:sp>
      <p:sp>
        <p:nvSpPr>
          <p:cNvPr id="22" name="TextBox 21"/>
          <p:cNvSpPr txBox="1"/>
          <p:nvPr/>
        </p:nvSpPr>
        <p:spPr>
          <a:xfrm>
            <a:off x="10049256" y="4590288"/>
            <a:ext cx="3703320" cy="694944"/>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Tester le build livré</a:t>
            </a:r>
          </a:p>
        </p:txBody>
      </p:sp>
      <p:sp>
        <p:nvSpPr>
          <p:cNvPr id="23" name="TextBox 22"/>
          <p:cNvSpPr txBox="1"/>
          <p:nvPr/>
        </p:nvSpPr>
        <p:spPr>
          <a:xfrm>
            <a:off x="10049256" y="5541264"/>
            <a:ext cx="3703320" cy="457200"/>
          </a:xfrm>
          <a:prstGeom prst="rect">
            <a:avLst/>
          </a:prstGeom>
          <a:noFill/>
        </p:spPr>
        <p:txBody>
          <a:bodyPr wrap="square" lIns="0" rIns="0" tIns="0" bIns="0">
            <a:spAutoFit/>
          </a:bodyPr>
          <a:lstStyle/>
          <a:p>
            <a:pPr algn="l">
              <a:spcAft>
                <a:spcPts val="400"/>
              </a:spcAft>
              <a:defRPr sz="1600" b="0">
                <a:solidFill>
                  <a:srgbClr val="12332D"/>
                </a:solidFill>
                <a:latin typeface="Arial"/>
              </a:defRPr>
            </a:pPr>
            <a:r>
              <a:t>Construction préalable</a:t>
            </a:r>
          </a:p>
        </p:txBody>
      </p:sp>
      <p:sp>
        <p:nvSpPr>
          <p:cNvPr id="24" name="Rectangle 23"/>
          <p:cNvSpPr/>
          <p:nvPr/>
        </p:nvSpPr>
        <p:spPr>
          <a:xfrm>
            <a:off x="594360" y="6995160"/>
            <a:ext cx="50292" cy="384048"/>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D8F28B"/>
                </a:solidFill>
                <a:latin typeface="Arial"/>
              </a:defRPr>
            </a:pPr>
            <a:r>
              <a:t>Choix visible dans Git : 689e59d · 20 juillet 2026. Comparaison rétrospective.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03 / ARBITRER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Reporter les topos pour préserver le lot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Demande fictive à J10 : +12 h DEV et +4 h QA, soit +540 €.</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13</a:t>
            </a:r>
          </a:p>
        </p:txBody>
      </p:sp>
      <p:graphicFrame>
        <p:nvGraphicFramePr>
          <p:cNvPr id="9" name="Chart 8"/>
          <p:cNvGraphicFramePr>
            <a:graphicFrameLocks noGrp="1"/>
          </p:cNvGraphicFramePr>
          <p:nvPr/>
        </p:nvGraphicFramePr>
        <p:xfrm>
          <a:off x="594360" y="2624328"/>
          <a:ext cx="9235440" cy="3611880"/>
        </p:xfrm>
        <a:graphic>
          <a:graphicData uri="http://schemas.openxmlformats.org/drawingml/2006/chart">
            <c:chart xmlns:c="http://schemas.openxmlformats.org/drawingml/2006/chart" r:id="rId3"/>
          </a:graphicData>
        </a:graphic>
      </p:graphicFrame>
      <p:sp>
        <p:nvSpPr>
          <p:cNvPr id="10" name="Rounded Rectangle 9"/>
          <p:cNvSpPr/>
          <p:nvPr/>
        </p:nvSpPr>
        <p:spPr>
          <a:xfrm>
            <a:off x="10287000" y="2715768"/>
            <a:ext cx="28346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05872" y="2775204"/>
            <a:ext cx="25968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DÉCISION DU CAS</a:t>
            </a:r>
          </a:p>
        </p:txBody>
      </p:sp>
      <p:sp>
        <p:nvSpPr>
          <p:cNvPr id="12" name="TextBox 11"/>
          <p:cNvSpPr txBox="1"/>
          <p:nvPr/>
        </p:nvSpPr>
        <p:spPr>
          <a:xfrm>
            <a:off x="10241280" y="3429000"/>
            <a:ext cx="3657600" cy="868680"/>
          </a:xfrm>
          <a:prstGeom prst="rect">
            <a:avLst/>
          </a:prstGeom>
          <a:noFill/>
        </p:spPr>
        <p:txBody>
          <a:bodyPr wrap="square" lIns="0" rIns="0" tIns="0" bIns="0">
            <a:spAutoFit/>
          </a:bodyPr>
          <a:lstStyle/>
          <a:p>
            <a:pPr algn="l">
              <a:spcAft>
                <a:spcPts val="400"/>
              </a:spcAft>
              <a:defRPr sz="5200" b="1">
                <a:solidFill>
                  <a:srgbClr val="286957"/>
                </a:solidFill>
                <a:latin typeface="Arial"/>
              </a:defRPr>
            </a:pPr>
            <a:r>
              <a:t>Report</a:t>
            </a:r>
          </a:p>
        </p:txBody>
      </p:sp>
      <p:sp>
        <p:nvSpPr>
          <p:cNvPr id="13" name="TextBox 12"/>
          <p:cNvSpPr txBox="1"/>
          <p:nvPr/>
        </p:nvSpPr>
        <p:spPr>
          <a:xfrm>
            <a:off x="10241280" y="4572000"/>
            <a:ext cx="3749039" cy="1051560"/>
          </a:xfrm>
          <a:prstGeom prst="rect">
            <a:avLst/>
          </a:prstGeom>
          <a:noFill/>
        </p:spPr>
        <p:txBody>
          <a:bodyPr wrap="square" lIns="0" rIns="0" tIns="0" bIns="0">
            <a:spAutoFit/>
          </a:bodyPr>
          <a:lstStyle/>
          <a:p>
            <a:pPr algn="l">
              <a:spcAft>
                <a:spcPts val="400"/>
              </a:spcAft>
              <a:defRPr sz="2200" b="1">
                <a:solidFill>
                  <a:srgbClr val="B64E2E"/>
                </a:solidFill>
                <a:latin typeface="Arial"/>
              </a:defRPr>
            </a:pPr>
            <a:r>
              <a:t>−308 € de marge</a:t>
            </a:r>
          </a:p>
          <a:p>
            <a:pPr algn="l">
              <a:spcAft>
                <a:spcPts val="400"/>
              </a:spcAft>
              <a:defRPr sz="2200" b="1">
                <a:solidFill>
                  <a:srgbClr val="B64E2E"/>
                </a:solidFill>
                <a:latin typeface="Arial"/>
              </a:defRPr>
            </a:pPr>
            <a:r>
              <a:t>DEV : 76 h / 72 h</a:t>
            </a:r>
          </a:p>
        </p:txBody>
      </p:sp>
      <p:sp>
        <p:nvSpPr>
          <p:cNvPr id="14" name="TextBox 13"/>
          <p:cNvSpPr txBox="1"/>
          <p:nvPr/>
        </p:nvSpPr>
        <p:spPr>
          <a:xfrm>
            <a:off x="10241280" y="5824728"/>
            <a:ext cx="3749039" cy="73152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Les critères de recette</a:t>
            </a:r>
          </a:p>
          <a:p>
            <a:pPr algn="l">
              <a:spcAft>
                <a:spcPts val="400"/>
              </a:spcAft>
              <a:defRPr sz="1800" b="0">
                <a:solidFill>
                  <a:srgbClr val="5C6C65"/>
                </a:solidFill>
                <a:latin typeface="Arial"/>
              </a:defRPr>
            </a:pPr>
            <a:r>
              <a:t>restent inchangés.</a:t>
            </a:r>
          </a:p>
        </p:txBody>
      </p:sp>
      <p:sp>
        <p:nvSpPr>
          <p:cNvPr id="15" name="Rectangle 14"/>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Ajouter, réduire la recette ou reporter : la décision protège la qualité et la capacité.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04 / L’ÉQUIPE ET LE CLIENT</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FFFFFF"/>
                </a:solidFill>
                <a:latin typeface="Arial"/>
              </a:defRPr>
            </a:pPr>
            <a:r>
              <a:t>Adapter la posture à la situation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Cas fictif : DEV veut ajouter une fonction ; QA attend un parcours stable.</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14</a:t>
            </a:r>
          </a:p>
        </p:txBody>
      </p:sp>
      <p:sp>
        <p:nvSpPr>
          <p:cNvPr id="9" name="Rounded Rectangle 8"/>
          <p:cNvSpPr/>
          <p:nvPr/>
        </p:nvSpPr>
        <p:spPr>
          <a:xfrm>
            <a:off x="594360" y="2487168"/>
            <a:ext cx="6565392" cy="1572768"/>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70048"/>
            <a:ext cx="603504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PARTICIPATIF</a:t>
            </a:r>
          </a:p>
        </p:txBody>
      </p:sp>
      <p:sp>
        <p:nvSpPr>
          <p:cNvPr id="11" name="TextBox 10"/>
          <p:cNvSpPr txBox="1"/>
          <p:nvPr/>
        </p:nvSpPr>
        <p:spPr>
          <a:xfrm>
            <a:off x="822960" y="3090672"/>
            <a:ext cx="2377440" cy="548640"/>
          </a:xfrm>
          <a:prstGeom prst="rect">
            <a:avLst/>
          </a:prstGeom>
          <a:noFill/>
        </p:spPr>
        <p:txBody>
          <a:bodyPr wrap="square" lIns="0" rIns="0" tIns="0" bIns="0">
            <a:spAutoFit/>
          </a:bodyPr>
          <a:lstStyle/>
          <a:p>
            <a:pPr algn="l">
              <a:spcAft>
                <a:spcPts val="400"/>
              </a:spcAft>
              <a:defRPr sz="3000" b="1">
                <a:solidFill>
                  <a:srgbClr val="FFFFFF"/>
                </a:solidFill>
                <a:latin typeface="Arial"/>
              </a:defRPr>
            </a:pPr>
            <a:r>
              <a:t>Écouter</a:t>
            </a:r>
          </a:p>
        </p:txBody>
      </p:sp>
      <p:sp>
        <p:nvSpPr>
          <p:cNvPr id="12" name="TextBox 11"/>
          <p:cNvSpPr txBox="1"/>
          <p:nvPr/>
        </p:nvSpPr>
        <p:spPr>
          <a:xfrm>
            <a:off x="3337560" y="3099816"/>
            <a:ext cx="3520440" cy="731520"/>
          </a:xfrm>
          <a:prstGeom prst="rect">
            <a:avLst/>
          </a:prstGeom>
          <a:noFill/>
        </p:spPr>
        <p:txBody>
          <a:bodyPr wrap="square" lIns="0" rIns="0" tIns="0" bIns="0">
            <a:spAutoFit/>
          </a:bodyPr>
          <a:lstStyle/>
          <a:p>
            <a:pPr algn="l">
              <a:spcAft>
                <a:spcPts val="400"/>
              </a:spcAft>
              <a:defRPr sz="1900" b="0">
                <a:solidFill>
                  <a:srgbClr val="DCE6DA"/>
                </a:solidFill>
                <a:latin typeface="Arial"/>
              </a:defRPr>
            </a:pPr>
            <a:r>
              <a:t>Comparer les options et leurs impacts.</a:t>
            </a:r>
          </a:p>
        </p:txBody>
      </p:sp>
      <p:sp>
        <p:nvSpPr>
          <p:cNvPr id="13" name="Rounded Rectangle 12"/>
          <p:cNvSpPr/>
          <p:nvPr/>
        </p:nvSpPr>
        <p:spPr>
          <a:xfrm>
            <a:off x="7470648" y="2487168"/>
            <a:ext cx="6565392" cy="1572768"/>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670048"/>
            <a:ext cx="603504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PERSUASIF</a:t>
            </a:r>
          </a:p>
        </p:txBody>
      </p:sp>
      <p:sp>
        <p:nvSpPr>
          <p:cNvPr id="15" name="TextBox 14"/>
          <p:cNvSpPr txBox="1"/>
          <p:nvPr/>
        </p:nvSpPr>
        <p:spPr>
          <a:xfrm>
            <a:off x="7699248" y="3090672"/>
            <a:ext cx="2377440" cy="548640"/>
          </a:xfrm>
          <a:prstGeom prst="rect">
            <a:avLst/>
          </a:prstGeom>
          <a:noFill/>
        </p:spPr>
        <p:txBody>
          <a:bodyPr wrap="square" lIns="0" rIns="0" tIns="0" bIns="0">
            <a:spAutoFit/>
          </a:bodyPr>
          <a:lstStyle/>
          <a:p>
            <a:pPr algn="l">
              <a:spcAft>
                <a:spcPts val="400"/>
              </a:spcAft>
              <a:defRPr sz="3000" b="1">
                <a:solidFill>
                  <a:srgbClr val="FFFFFF"/>
                </a:solidFill>
                <a:latin typeface="Arial"/>
              </a:defRPr>
            </a:pPr>
            <a:r>
              <a:t>Expliquer</a:t>
            </a:r>
          </a:p>
        </p:txBody>
      </p:sp>
      <p:sp>
        <p:nvSpPr>
          <p:cNvPr id="16" name="TextBox 15"/>
          <p:cNvSpPr txBox="1"/>
          <p:nvPr/>
        </p:nvSpPr>
        <p:spPr>
          <a:xfrm>
            <a:off x="10213848" y="3099816"/>
            <a:ext cx="3520440" cy="731520"/>
          </a:xfrm>
          <a:prstGeom prst="rect">
            <a:avLst/>
          </a:prstGeom>
          <a:noFill/>
        </p:spPr>
        <p:txBody>
          <a:bodyPr wrap="square" lIns="0" rIns="0" tIns="0" bIns="0">
            <a:spAutoFit/>
          </a:bodyPr>
          <a:lstStyle/>
          <a:p>
            <a:pPr algn="l">
              <a:spcAft>
                <a:spcPts val="400"/>
              </a:spcAft>
              <a:defRPr sz="1900" b="0">
                <a:solidFill>
                  <a:srgbClr val="DCE6DA"/>
                </a:solidFill>
                <a:latin typeface="Arial"/>
              </a:defRPr>
            </a:pPr>
            <a:r>
              <a:t>Justifier le report auprès du client.</a:t>
            </a:r>
          </a:p>
        </p:txBody>
      </p:sp>
      <p:sp>
        <p:nvSpPr>
          <p:cNvPr id="17" name="Rounded Rectangle 16"/>
          <p:cNvSpPr/>
          <p:nvPr/>
        </p:nvSpPr>
        <p:spPr>
          <a:xfrm>
            <a:off x="594360" y="4270248"/>
            <a:ext cx="6565392" cy="1572768"/>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453128"/>
            <a:ext cx="603504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DIRECTIF</a:t>
            </a:r>
          </a:p>
        </p:txBody>
      </p:sp>
      <p:sp>
        <p:nvSpPr>
          <p:cNvPr id="19" name="TextBox 18"/>
          <p:cNvSpPr txBox="1"/>
          <p:nvPr/>
        </p:nvSpPr>
        <p:spPr>
          <a:xfrm>
            <a:off x="822960" y="4873752"/>
            <a:ext cx="2377440" cy="548640"/>
          </a:xfrm>
          <a:prstGeom prst="rect">
            <a:avLst/>
          </a:prstGeom>
          <a:noFill/>
        </p:spPr>
        <p:txBody>
          <a:bodyPr wrap="square" lIns="0" rIns="0" tIns="0" bIns="0">
            <a:spAutoFit/>
          </a:bodyPr>
          <a:lstStyle/>
          <a:p>
            <a:pPr algn="l">
              <a:spcAft>
                <a:spcPts val="400"/>
              </a:spcAft>
              <a:defRPr sz="3000" b="1">
                <a:solidFill>
                  <a:srgbClr val="FFFFFF"/>
                </a:solidFill>
                <a:latin typeface="Arial"/>
              </a:defRPr>
            </a:pPr>
            <a:r>
              <a:t>Fixer</a:t>
            </a:r>
          </a:p>
        </p:txBody>
      </p:sp>
      <p:sp>
        <p:nvSpPr>
          <p:cNvPr id="20" name="TextBox 19"/>
          <p:cNvSpPr txBox="1"/>
          <p:nvPr/>
        </p:nvSpPr>
        <p:spPr>
          <a:xfrm>
            <a:off x="3337560" y="4882896"/>
            <a:ext cx="3520440" cy="731520"/>
          </a:xfrm>
          <a:prstGeom prst="rect">
            <a:avLst/>
          </a:prstGeom>
          <a:noFill/>
        </p:spPr>
        <p:txBody>
          <a:bodyPr wrap="square" lIns="0" rIns="0" tIns="0" bIns="0">
            <a:spAutoFit/>
          </a:bodyPr>
          <a:lstStyle/>
          <a:p>
            <a:pPr algn="l">
              <a:spcAft>
                <a:spcPts val="400"/>
              </a:spcAft>
              <a:defRPr sz="1900" b="0">
                <a:solidFill>
                  <a:srgbClr val="DCE6DA"/>
                </a:solidFill>
                <a:latin typeface="Arial"/>
              </a:defRPr>
            </a:pPr>
            <a:r>
              <a:t>Maintenir les critères de livraison.</a:t>
            </a:r>
          </a:p>
        </p:txBody>
      </p:sp>
      <p:sp>
        <p:nvSpPr>
          <p:cNvPr id="21" name="Rounded Rectangle 20"/>
          <p:cNvSpPr/>
          <p:nvPr/>
        </p:nvSpPr>
        <p:spPr>
          <a:xfrm>
            <a:off x="7470648" y="4270248"/>
            <a:ext cx="6565392" cy="1572768"/>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453128"/>
            <a:ext cx="603504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DÉLÉGATIF</a:t>
            </a:r>
          </a:p>
        </p:txBody>
      </p:sp>
      <p:sp>
        <p:nvSpPr>
          <p:cNvPr id="23" name="TextBox 22"/>
          <p:cNvSpPr txBox="1"/>
          <p:nvPr/>
        </p:nvSpPr>
        <p:spPr>
          <a:xfrm>
            <a:off x="7699248" y="4873752"/>
            <a:ext cx="2377440" cy="548640"/>
          </a:xfrm>
          <a:prstGeom prst="rect">
            <a:avLst/>
          </a:prstGeom>
          <a:noFill/>
        </p:spPr>
        <p:txBody>
          <a:bodyPr wrap="square" lIns="0" rIns="0" tIns="0" bIns="0">
            <a:spAutoFit/>
          </a:bodyPr>
          <a:lstStyle/>
          <a:p>
            <a:pPr algn="l">
              <a:spcAft>
                <a:spcPts val="400"/>
              </a:spcAft>
              <a:defRPr sz="3000" b="1">
                <a:solidFill>
                  <a:srgbClr val="FFFFFF"/>
                </a:solidFill>
                <a:latin typeface="Arial"/>
              </a:defRPr>
            </a:pPr>
            <a:r>
              <a:t>Confier</a:t>
            </a:r>
          </a:p>
        </p:txBody>
      </p:sp>
      <p:sp>
        <p:nvSpPr>
          <p:cNvPr id="24" name="TextBox 23"/>
          <p:cNvSpPr txBox="1"/>
          <p:nvPr/>
        </p:nvSpPr>
        <p:spPr>
          <a:xfrm>
            <a:off x="10213848" y="4882896"/>
            <a:ext cx="3520440" cy="731520"/>
          </a:xfrm>
          <a:prstGeom prst="rect">
            <a:avLst/>
          </a:prstGeom>
          <a:noFill/>
        </p:spPr>
        <p:txBody>
          <a:bodyPr wrap="square" lIns="0" rIns="0" tIns="0" bIns="0">
            <a:spAutoFit/>
          </a:bodyPr>
          <a:lstStyle/>
          <a:p>
            <a:pPr algn="l">
              <a:spcAft>
                <a:spcPts val="400"/>
              </a:spcAft>
              <a:defRPr sz="1900" b="0">
                <a:solidFill>
                  <a:srgbClr val="DCE6DA"/>
                </a:solidFill>
                <a:latin typeface="Arial"/>
              </a:defRPr>
            </a:pPr>
            <a:r>
              <a:t>Donner un résultat et un contrôle.</a:t>
            </a:r>
          </a:p>
        </p:txBody>
      </p:sp>
      <p:sp>
        <p:nvSpPr>
          <p:cNvPr id="25" name="Rectangle 24"/>
          <p:cNvSpPr/>
          <p:nvPr/>
        </p:nvSpPr>
        <p:spPr>
          <a:xfrm>
            <a:off x="594360" y="6995160"/>
            <a:ext cx="50292" cy="384048"/>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D8F28B"/>
                </a:solidFill>
                <a:latin typeface="Arial"/>
              </a:defRPr>
            </a:pPr>
            <a:r>
              <a:t>Rétro J15 : sortir les diagnostics techniques du daily ; CP suit la prochaine action.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04 / L’ÉQUIPE ET LE CLIENT</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Une équipe à distance, des décisions accessibles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Camille, QA malentendante fictive · scénario Paris / Montréal.</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15</a:t>
            </a:r>
          </a:p>
        </p:txBody>
      </p:sp>
      <p:graphicFrame>
        <p:nvGraphicFramePr>
          <p:cNvPr id="9" name="Table 8"/>
          <p:cNvGraphicFramePr>
            <a:graphicFrameLocks noGrp="1"/>
          </p:cNvGraphicFramePr>
          <p:nvPr/>
        </p:nvGraphicFramePr>
        <p:xfrm>
          <a:off x="594360" y="2395728"/>
          <a:ext cx="13441680" cy="2697480"/>
        </p:xfrm>
        <a:graphic>
          <a:graphicData uri="http://schemas.openxmlformats.org/drawingml/2006/table">
            <a:tbl>
              <a:tblPr firstRow="1" bandRow="1">
                <a:tableStyleId>{5C22544A-7EE6-4342-B048-85BDC9FD1C3A}</a:tableStyleId>
              </a:tblPr>
              <a:tblGrid>
                <a:gridCol w="2834640"/>
                <a:gridCol w="10607040"/>
              </a:tblGrid>
              <a:tr h="674370">
                <a:tc>
                  <a:txBody>
                    <a:bodyPr/>
                    <a:lstStyle/>
                    <a:p>
                      <a:pPr>
                        <a:defRPr sz="2100" b="1">
                          <a:solidFill>
                            <a:srgbClr val="FFFFFF"/>
                          </a:solidFill>
                          <a:latin typeface="Arial"/>
                        </a:defRPr>
                      </a:pPr>
                      <a:r>
                        <a:t>Situation</a:t>
                      </a:r>
                    </a:p>
                  </a:txBody>
                  <a:tcPr marL="137160" marR="109728" marT="64008" marB="54864" anchor="ctr">
                    <a:solidFill>
                      <a:srgbClr val="12332D"/>
                    </a:solidFill>
                    <a:lnL>
                      <a:noFill/>
                    </a:lnL>
                    <a:lnR>
                      <a:noFill/>
                    </a:lnR>
                    <a:lnT>
                      <a:noFill/>
                    </a:lnT>
                    <a:lnB>
                      <a:noFill/>
                    </a:lnB>
                  </a:tcPr>
                </a:tc>
                <a:tc>
                  <a:txBody>
                    <a:bodyPr/>
                    <a:lstStyle/>
                    <a:p>
                      <a:pPr>
                        <a:defRPr sz="2100" b="1">
                          <a:solidFill>
                            <a:srgbClr val="FFFFFF"/>
                          </a:solidFill>
                          <a:latin typeface="Arial"/>
                        </a:defRPr>
                      </a:pPr>
                      <a:r>
                        <a:t>Aménagement retenu</a:t>
                      </a:r>
                    </a:p>
                  </a:txBody>
                  <a:tcPr marL="137160" marR="109728" marT="64008" marB="54864" anchor="ctr">
                    <a:solidFill>
                      <a:srgbClr val="12332D"/>
                    </a:solidFill>
                    <a:lnL>
                      <a:noFill/>
                    </a:lnL>
                    <a:lnR>
                      <a:noFill/>
                    </a:lnR>
                    <a:lnT>
                      <a:noFill/>
                    </a:lnT>
                    <a:lnB>
                      <a:noFill/>
                    </a:lnB>
                  </a:tcPr>
                </a:tc>
              </a:tr>
              <a:tr h="674370">
                <a:tc>
                  <a:txBody>
                    <a:bodyPr/>
                    <a:lstStyle/>
                    <a:p>
                      <a:pPr>
                        <a:defRPr sz="2100" b="1">
                          <a:solidFill>
                            <a:srgbClr val="12332D"/>
                          </a:solidFill>
                          <a:latin typeface="Arial"/>
                        </a:defRPr>
                      </a:pPr>
                      <a:r>
                        <a:t>Réunions</a:t>
                      </a:r>
                    </a:p>
                  </a:txBody>
                  <a:tcPr marL="137160" marR="109728" marT="64008" marB="54864" anchor="ctr">
                    <a:solidFill>
                      <a:srgbClr val="FFFFFF"/>
                    </a:solidFill>
                    <a:lnL>
                      <a:noFill/>
                    </a:lnL>
                    <a:lnR>
                      <a:noFill/>
                    </a:lnR>
                    <a:lnT>
                      <a:noFill/>
                    </a:lnT>
                    <a:lnB>
                      <a:noFill/>
                    </a:lnB>
                  </a:tcPr>
                </a:tc>
                <a:tc>
                  <a:txBody>
                    <a:bodyPr/>
                    <a:lstStyle/>
                    <a:p>
                      <a:pPr>
                        <a:defRPr sz="2100" b="0">
                          <a:solidFill>
                            <a:srgbClr val="12332D"/>
                          </a:solidFill>
                          <a:latin typeface="Arial"/>
                        </a:defRPr>
                      </a:pPr>
                      <a:r>
                        <a:t>Sous-titres testés ; une personne parle à la fois.</a:t>
                      </a:r>
                    </a:p>
                  </a:txBody>
                  <a:tcPr marL="137160" marR="109728" marT="64008" marB="54864" anchor="ctr">
                    <a:solidFill>
                      <a:srgbClr val="FFFFFF"/>
                    </a:solidFill>
                    <a:lnL>
                      <a:noFill/>
                    </a:lnL>
                    <a:lnR>
                      <a:noFill/>
                    </a:lnR>
                    <a:lnT>
                      <a:noFill/>
                    </a:lnT>
                    <a:lnB>
                      <a:noFill/>
                    </a:lnB>
                  </a:tcPr>
                </a:tc>
              </a:tr>
              <a:tr h="674370">
                <a:tc>
                  <a:txBody>
                    <a:bodyPr/>
                    <a:lstStyle/>
                    <a:p>
                      <a:pPr>
                        <a:defRPr sz="2100" b="1">
                          <a:solidFill>
                            <a:srgbClr val="12332D"/>
                          </a:solidFill>
                          <a:latin typeface="Arial"/>
                        </a:defRPr>
                      </a:pPr>
                      <a:r>
                        <a:t>Décisions</a:t>
                      </a:r>
                    </a:p>
                  </a:txBody>
                  <a:tcPr marL="137160" marR="109728" marT="64008" marB="54864" anchor="ctr">
                    <a:solidFill>
                      <a:srgbClr val="EBEFE6"/>
                    </a:solidFill>
                    <a:lnL>
                      <a:noFill/>
                    </a:lnL>
                    <a:lnR>
                      <a:noFill/>
                    </a:lnR>
                    <a:lnT>
                      <a:noFill/>
                    </a:lnT>
                    <a:lnB>
                      <a:noFill/>
                    </a:lnB>
                  </a:tcPr>
                </a:tc>
                <a:tc>
                  <a:txBody>
                    <a:bodyPr/>
                    <a:lstStyle/>
                    <a:p>
                      <a:pPr>
                        <a:defRPr sz="2100" b="0">
                          <a:solidFill>
                            <a:srgbClr val="12332D"/>
                          </a:solidFill>
                          <a:latin typeface="Arial"/>
                        </a:defRPr>
                      </a:pPr>
                      <a:r>
                        <a:t>Synthèse écrite, responsable et échéance.</a:t>
                      </a:r>
                    </a:p>
                  </a:txBody>
                  <a:tcPr marL="137160" marR="109728" marT="64008" marB="54864" anchor="ctr">
                    <a:solidFill>
                      <a:srgbClr val="EBEFE6"/>
                    </a:solidFill>
                    <a:lnL>
                      <a:noFill/>
                    </a:lnL>
                    <a:lnR>
                      <a:noFill/>
                    </a:lnR>
                    <a:lnT>
                      <a:noFill/>
                    </a:lnT>
                    <a:lnB>
                      <a:noFill/>
                    </a:lnB>
                  </a:tcPr>
                </a:tc>
              </a:tr>
              <a:tr h="674370">
                <a:tc>
                  <a:txBody>
                    <a:bodyPr/>
                    <a:lstStyle/>
                    <a:p>
                      <a:pPr>
                        <a:defRPr sz="2100" b="1">
                          <a:solidFill>
                            <a:srgbClr val="12332D"/>
                          </a:solidFill>
                          <a:latin typeface="Arial"/>
                        </a:defRPr>
                      </a:pPr>
                      <a:r>
                        <a:t>Formation</a:t>
                      </a:r>
                    </a:p>
                  </a:txBody>
                  <a:tcPr marL="137160" marR="109728" marT="64008" marB="54864" anchor="ctr">
                    <a:solidFill>
                      <a:srgbClr val="FFFFFF"/>
                    </a:solidFill>
                    <a:lnL>
                      <a:noFill/>
                    </a:lnL>
                    <a:lnR>
                      <a:noFill/>
                    </a:lnR>
                    <a:lnT>
                      <a:noFill/>
                    </a:lnT>
                    <a:lnB>
                      <a:noFill/>
                    </a:lnB>
                  </a:tcPr>
                </a:tc>
                <a:tc>
                  <a:txBody>
                    <a:bodyPr/>
                    <a:lstStyle/>
                    <a:p>
                      <a:pPr>
                        <a:defRPr sz="2100" b="0">
                          <a:solidFill>
                            <a:srgbClr val="12332D"/>
                          </a:solidFill>
                          <a:latin typeface="Arial"/>
                        </a:defRPr>
                      </a:pPr>
                      <a:r>
                        <a:t>Consignes écrites et démonstration sous-titrée.</a:t>
                      </a:r>
                    </a:p>
                  </a:txBody>
                  <a:tcPr marL="137160" marR="109728" marT="64008" marB="54864" anchor="ctr">
                    <a:solidFill>
                      <a:srgbClr val="FFFFFF"/>
                    </a:solidFill>
                    <a:lnL>
                      <a:noFill/>
                    </a:lnL>
                    <a:lnR>
                      <a:noFill/>
                    </a:lnR>
                    <a:lnT>
                      <a:noFill/>
                    </a:lnT>
                    <a:lnB>
                      <a:noFill/>
                    </a:lnB>
                  </a:tcPr>
                </a:tc>
              </a:tr>
            </a:tbl>
          </a:graphicData>
        </a:graphic>
      </p:graphicFrame>
      <p:sp>
        <p:nvSpPr>
          <p:cNvPr id="10" name="Rounded Rectangle 9"/>
          <p:cNvSpPr/>
          <p:nvPr/>
        </p:nvSpPr>
        <p:spPr>
          <a:xfrm>
            <a:off x="749808" y="553212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59155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J3</a:t>
            </a:r>
          </a:p>
        </p:txBody>
      </p:sp>
      <p:sp>
        <p:nvSpPr>
          <p:cNvPr id="12" name="TextBox 11"/>
          <p:cNvSpPr txBox="1"/>
          <p:nvPr/>
        </p:nvSpPr>
        <p:spPr>
          <a:xfrm>
            <a:off x="1911095" y="5522976"/>
            <a:ext cx="3291840" cy="457200"/>
          </a:xfrm>
          <a:prstGeom prst="rect">
            <a:avLst/>
          </a:prstGeom>
          <a:noFill/>
        </p:spPr>
        <p:txBody>
          <a:bodyPr wrap="square" lIns="0" rIns="0" tIns="0" bIns="0">
            <a:spAutoFit/>
          </a:bodyPr>
          <a:lstStyle/>
          <a:p>
            <a:pPr algn="l">
              <a:spcAft>
                <a:spcPts val="400"/>
              </a:spcAft>
              <a:defRPr sz="2200" b="1">
                <a:solidFill>
                  <a:srgbClr val="12332D"/>
                </a:solidFill>
                <a:latin typeface="Arial"/>
              </a:defRPr>
            </a:pPr>
            <a:r>
              <a:t>Comprendre</a:t>
            </a:r>
          </a:p>
        </p:txBody>
      </p:sp>
      <p:sp>
        <p:nvSpPr>
          <p:cNvPr id="13" name="Rounded Rectangle 12"/>
          <p:cNvSpPr/>
          <p:nvPr/>
        </p:nvSpPr>
        <p:spPr>
          <a:xfrm>
            <a:off x="5340096" y="553212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58968" y="559155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J10</a:t>
            </a:r>
          </a:p>
        </p:txBody>
      </p:sp>
      <p:sp>
        <p:nvSpPr>
          <p:cNvPr id="15" name="TextBox 14"/>
          <p:cNvSpPr txBox="1"/>
          <p:nvPr/>
        </p:nvSpPr>
        <p:spPr>
          <a:xfrm>
            <a:off x="6501383" y="5522976"/>
            <a:ext cx="3291840" cy="457200"/>
          </a:xfrm>
          <a:prstGeom prst="rect">
            <a:avLst/>
          </a:prstGeom>
          <a:noFill/>
        </p:spPr>
        <p:txBody>
          <a:bodyPr wrap="square" lIns="0" rIns="0" tIns="0" bIns="0">
            <a:spAutoFit/>
          </a:bodyPr>
          <a:lstStyle/>
          <a:p>
            <a:pPr algn="l">
              <a:spcAft>
                <a:spcPts val="400"/>
              </a:spcAft>
              <a:defRPr sz="2200" b="1">
                <a:solidFill>
                  <a:srgbClr val="12332D"/>
                </a:solidFill>
                <a:latin typeface="Arial"/>
              </a:defRPr>
            </a:pPr>
            <a:r>
              <a:t>Retrouver</a:t>
            </a:r>
          </a:p>
        </p:txBody>
      </p:sp>
      <p:sp>
        <p:nvSpPr>
          <p:cNvPr id="16" name="Rounded Rectangle 15"/>
          <p:cNvSpPr/>
          <p:nvPr/>
        </p:nvSpPr>
        <p:spPr>
          <a:xfrm>
            <a:off x="9930384" y="553212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49256" y="559155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J14</a:t>
            </a:r>
          </a:p>
        </p:txBody>
      </p:sp>
      <p:sp>
        <p:nvSpPr>
          <p:cNvPr id="18" name="TextBox 17"/>
          <p:cNvSpPr txBox="1"/>
          <p:nvPr/>
        </p:nvSpPr>
        <p:spPr>
          <a:xfrm>
            <a:off x="11091672" y="5522976"/>
            <a:ext cx="3291840" cy="457200"/>
          </a:xfrm>
          <a:prstGeom prst="rect">
            <a:avLst/>
          </a:prstGeom>
          <a:noFill/>
        </p:spPr>
        <p:txBody>
          <a:bodyPr wrap="square" lIns="0" rIns="0" tIns="0" bIns="0">
            <a:spAutoFit/>
          </a:bodyPr>
          <a:lstStyle/>
          <a:p>
            <a:pPr algn="l">
              <a:spcAft>
                <a:spcPts val="400"/>
              </a:spcAft>
              <a:defRPr sz="2200" b="1">
                <a:solidFill>
                  <a:srgbClr val="12332D"/>
                </a:solidFill>
                <a:latin typeface="Arial"/>
              </a:defRPr>
            </a:pPr>
            <a:r>
              <a:t>Réaliser sans aide</a:t>
            </a:r>
          </a:p>
        </p:txBody>
      </p:sp>
      <p:sp>
        <p:nvSpPr>
          <p:cNvPr id="19" name="TextBox 18"/>
          <p:cNvSpPr txBox="1"/>
          <p:nvPr/>
        </p:nvSpPr>
        <p:spPr>
          <a:xfrm>
            <a:off x="749808" y="6400800"/>
            <a:ext cx="13167360" cy="54864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Paris / Montréal : créneau commun avec fuseaux, avis écrits, glossaire FR/EN et reformulation.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04 / DÉVELOPPER LES COMPÉTENCES</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Cibler les écarts qui menacent le lot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Grille du scénario : niveau actuel, cible et justification commentée dans les notes.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16</a:t>
            </a:r>
          </a:p>
        </p:txBody>
      </p:sp>
      <p:graphicFrame>
        <p:nvGraphicFramePr>
          <p:cNvPr id="9" name="Table 8"/>
          <p:cNvGraphicFramePr>
            <a:graphicFrameLocks noGrp="1"/>
          </p:cNvGraphicFramePr>
          <p:nvPr/>
        </p:nvGraphicFramePr>
        <p:xfrm>
          <a:off x="594360" y="2423160"/>
          <a:ext cx="13441680" cy="4005071"/>
        </p:xfrm>
        <a:graphic>
          <a:graphicData uri="http://schemas.openxmlformats.org/drawingml/2006/table">
            <a:tbl>
              <a:tblPr firstRow="1" bandRow="1">
                <a:tableStyleId>{5C22544A-7EE6-4342-B048-85BDC9FD1C3A}</a:tableStyleId>
              </a:tblPr>
              <a:tblGrid>
                <a:gridCol w="2103120"/>
                <a:gridCol w="7772400"/>
                <a:gridCol w="1783080"/>
                <a:gridCol w="1783080"/>
              </a:tblGrid>
              <a:tr h="572153">
                <a:tc>
                  <a:txBody>
                    <a:bodyPr/>
                    <a:lstStyle/>
                    <a:p>
                      <a:pPr>
                        <a:defRPr sz="2000" b="1">
                          <a:solidFill>
                            <a:srgbClr val="FFFFFF"/>
                          </a:solidFill>
                          <a:latin typeface="Arial"/>
                        </a:defRPr>
                      </a:pPr>
                      <a:r>
                        <a:t>Rôle</a:t>
                      </a:r>
                    </a:p>
                  </a:txBody>
                  <a:tcPr marL="137160" marR="109728" marT="64008" marB="54864" anchor="ctr">
                    <a:solidFill>
                      <a:srgbClr val="12332D"/>
                    </a:solidFill>
                    <a:lnL>
                      <a:noFill/>
                    </a:lnL>
                    <a:lnR>
                      <a:noFill/>
                    </a:lnR>
                    <a:lnT>
                      <a:noFill/>
                    </a:lnT>
                    <a:lnB>
                      <a:noFill/>
                    </a:lnB>
                  </a:tcPr>
                </a:tc>
                <a:tc>
                  <a:txBody>
                    <a:bodyPr/>
                    <a:lstStyle/>
                    <a:p>
                      <a:pPr>
                        <a:defRPr sz="2000" b="1">
                          <a:solidFill>
                            <a:srgbClr val="FFFFFF"/>
                          </a:solidFill>
                          <a:latin typeface="Arial"/>
                        </a:defRPr>
                      </a:pPr>
                      <a:r>
                        <a:t>Compétence</a:t>
                      </a:r>
                    </a:p>
                  </a:txBody>
                  <a:tcPr marL="137160" marR="109728" marT="64008" marB="54864" anchor="ctr">
                    <a:solidFill>
                      <a:srgbClr val="12332D"/>
                    </a:solidFill>
                    <a:lnL>
                      <a:noFill/>
                    </a:lnL>
                    <a:lnR>
                      <a:noFill/>
                    </a:lnR>
                    <a:lnT>
                      <a:noFill/>
                    </a:lnT>
                    <a:lnB>
                      <a:noFill/>
                    </a:lnB>
                  </a:tcPr>
                </a:tc>
                <a:tc>
                  <a:txBody>
                    <a:bodyPr/>
                    <a:lstStyle/>
                    <a:p>
                      <a:pPr>
                        <a:defRPr sz="2000" b="1">
                          <a:solidFill>
                            <a:srgbClr val="FFFFFF"/>
                          </a:solidFill>
                          <a:latin typeface="Arial"/>
                        </a:defRPr>
                      </a:pPr>
                      <a:r>
                        <a:t>Actuel</a:t>
                      </a:r>
                    </a:p>
                  </a:txBody>
                  <a:tcPr marL="137160" marR="109728" marT="64008" marB="54864" anchor="ctr">
                    <a:solidFill>
                      <a:srgbClr val="12332D"/>
                    </a:solidFill>
                    <a:lnL>
                      <a:noFill/>
                    </a:lnL>
                    <a:lnR>
                      <a:noFill/>
                    </a:lnR>
                    <a:lnT>
                      <a:noFill/>
                    </a:lnT>
                    <a:lnB>
                      <a:noFill/>
                    </a:lnB>
                  </a:tcPr>
                </a:tc>
                <a:tc>
                  <a:txBody>
                    <a:bodyPr/>
                    <a:lstStyle/>
                    <a:p>
                      <a:pPr>
                        <a:defRPr sz="2000" b="1">
                          <a:solidFill>
                            <a:srgbClr val="FFFFFF"/>
                          </a:solidFill>
                          <a:latin typeface="Arial"/>
                        </a:defRPr>
                      </a:pPr>
                      <a:r>
                        <a:t>Cible</a:t>
                      </a:r>
                    </a:p>
                  </a:txBody>
                  <a:tcPr marL="137160" marR="109728" marT="64008" marB="54864" anchor="ctr">
                    <a:solidFill>
                      <a:srgbClr val="12332D"/>
                    </a:solidFill>
                    <a:lnL>
                      <a:noFill/>
                    </a:lnL>
                    <a:lnR>
                      <a:noFill/>
                    </a:lnR>
                    <a:lnT>
                      <a:noFill/>
                    </a:lnT>
                    <a:lnB>
                      <a:noFill/>
                    </a:lnB>
                  </a:tcPr>
                </a:tc>
              </a:tr>
              <a:tr h="572153">
                <a:tc>
                  <a:txBody>
                    <a:bodyPr/>
                    <a:lstStyle/>
                    <a:p>
                      <a:pPr>
                        <a:defRPr sz="2000" b="1">
                          <a:solidFill>
                            <a:srgbClr val="12332D"/>
                          </a:solidFill>
                          <a:latin typeface="Arial"/>
                        </a:defRPr>
                      </a:pPr>
                      <a:r>
                        <a:t>CP</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Planning et suivi des écarts</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1</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FFFFFF"/>
                    </a:solidFill>
                    <a:lnL>
                      <a:noFill/>
                    </a:lnL>
                    <a:lnR>
                      <a:noFill/>
                    </a:lnR>
                    <a:lnT>
                      <a:noFill/>
                    </a:lnT>
                    <a:lnB>
                      <a:noFill/>
                    </a:lnB>
                  </a:tcPr>
                </a:tc>
              </a:tr>
              <a:tr h="572153">
                <a:tc>
                  <a:txBody>
                    <a:bodyPr/>
                    <a:lstStyle/>
                    <a:p>
                      <a:pPr>
                        <a:defRPr sz="2000" b="1">
                          <a:solidFill>
                            <a:srgbClr val="12332D"/>
                          </a:solidFill>
                          <a:latin typeface="Arial"/>
                        </a:defRPr>
                      </a:pPr>
                      <a:r>
                        <a:t>CP</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Animation et arbitrage</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EBEFE6"/>
                    </a:solidFill>
                    <a:lnL>
                      <a:noFill/>
                    </a:lnL>
                    <a:lnR>
                      <a:noFill/>
                    </a:lnR>
                    <a:lnT>
                      <a:noFill/>
                    </a:lnT>
                    <a:lnB>
                      <a:noFill/>
                    </a:lnB>
                  </a:tcPr>
                </a:tc>
              </a:tr>
              <a:tr h="572153">
                <a:tc>
                  <a:txBody>
                    <a:bodyPr/>
                    <a:lstStyle/>
                    <a:p>
                      <a:pPr>
                        <a:defRPr sz="2000" b="1">
                          <a:solidFill>
                            <a:srgbClr val="12332D"/>
                          </a:solidFill>
                          <a:latin typeface="Arial"/>
                        </a:defRPr>
                      </a:pPr>
                      <a:r>
                        <a:t>DEV</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Développement typé et validation</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FFFFFF"/>
                    </a:solidFill>
                    <a:lnL>
                      <a:noFill/>
                    </a:lnL>
                    <a:lnR>
                      <a:noFill/>
                    </a:lnR>
                    <a:lnT>
                      <a:noFill/>
                    </a:lnT>
                    <a:lnB>
                      <a:noFill/>
                    </a:lnB>
                  </a:tcPr>
                </a:tc>
              </a:tr>
              <a:tr h="572153">
                <a:tc>
                  <a:txBody>
                    <a:bodyPr/>
                    <a:lstStyle/>
                    <a:p>
                      <a:pPr>
                        <a:defRPr sz="2000" b="1">
                          <a:solidFill>
                            <a:srgbClr val="12332D"/>
                          </a:solidFill>
                          <a:latin typeface="Arial"/>
                        </a:defRPr>
                      </a:pPr>
                      <a:r>
                        <a:t>DEV</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Transactions et concurrence</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1</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EBEFE6"/>
                    </a:solidFill>
                    <a:lnL>
                      <a:noFill/>
                    </a:lnL>
                    <a:lnR>
                      <a:noFill/>
                    </a:lnR>
                    <a:lnT>
                      <a:noFill/>
                    </a:lnT>
                    <a:lnB>
                      <a:noFill/>
                    </a:lnB>
                  </a:tcPr>
                </a:tc>
              </a:tr>
              <a:tr h="572153">
                <a:tc>
                  <a:txBody>
                    <a:bodyPr/>
                    <a:lstStyle/>
                    <a:p>
                      <a:pPr>
                        <a:defRPr sz="2000" b="1">
                          <a:solidFill>
                            <a:srgbClr val="12332D"/>
                          </a:solidFill>
                          <a:latin typeface="Arial"/>
                        </a:defRPr>
                      </a:pPr>
                      <a:r>
                        <a:t>Camille, QA</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Recette navigateur reproductible</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1</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FFFFFF"/>
                    </a:solidFill>
                    <a:lnL>
                      <a:noFill/>
                    </a:lnL>
                    <a:lnR>
                      <a:noFill/>
                    </a:lnR>
                    <a:lnT>
                      <a:noFill/>
                    </a:lnT>
                    <a:lnB>
                      <a:noFill/>
                    </a:lnB>
                  </a:tcPr>
                </a:tc>
              </a:tr>
              <a:tr h="572153">
                <a:tc>
                  <a:txBody>
                    <a:bodyPr/>
                    <a:lstStyle/>
                    <a:p>
                      <a:pPr>
                        <a:defRPr sz="2000" b="1">
                          <a:solidFill>
                            <a:srgbClr val="12332D"/>
                          </a:solidFill>
                          <a:latin typeface="Arial"/>
                        </a:defRPr>
                      </a:pPr>
                      <a:r>
                        <a:t>Camille, QA</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Clavier et formulaires</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1</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0 : non abordé · 1 : accompagné · 2 : autonome · 3 : cas complexes.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04 / DÉVELOPPER LES COMPÉTENCES</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Six heures pour renforcer l’autonomie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6 h incluses dans les tâches · 60 € de ressources complémentaires dans le scénario.</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17</a:t>
            </a:r>
          </a:p>
        </p:txBody>
      </p:sp>
      <p:sp>
        <p:nvSpPr>
          <p:cNvPr id="9" name="Rounded Rectangle 8"/>
          <p:cNvSpPr/>
          <p:nvPr/>
        </p:nvSpPr>
        <p:spPr>
          <a:xfrm>
            <a:off x="594360" y="2487168"/>
            <a:ext cx="4251960" cy="363016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2743200"/>
            <a:ext cx="19202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802636"/>
            <a:ext cx="16824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CP</a:t>
            </a:r>
          </a:p>
        </p:txBody>
      </p:sp>
      <p:sp>
        <p:nvSpPr>
          <p:cNvPr id="12" name="TextBox 11"/>
          <p:cNvSpPr txBox="1"/>
          <p:nvPr/>
        </p:nvSpPr>
        <p:spPr>
          <a:xfrm>
            <a:off x="841248" y="3264408"/>
            <a:ext cx="3566160" cy="320040"/>
          </a:xfrm>
          <a:prstGeom prst="rect">
            <a:avLst/>
          </a:prstGeom>
          <a:noFill/>
        </p:spPr>
        <p:txBody>
          <a:bodyPr wrap="square" lIns="0" rIns="0" tIns="0" bIns="0">
            <a:spAutoFit/>
          </a:bodyPr>
          <a:lstStyle/>
          <a:p>
            <a:pPr algn="l">
              <a:spcAft>
                <a:spcPts val="400"/>
              </a:spcAft>
              <a:defRPr sz="1600" b="1">
                <a:solidFill>
                  <a:srgbClr val="5C6C65"/>
                </a:solidFill>
                <a:latin typeface="Arial"/>
              </a:defRPr>
            </a:pPr>
            <a:r>
              <a:t>J3</a:t>
            </a:r>
          </a:p>
        </p:txBody>
      </p:sp>
      <p:sp>
        <p:nvSpPr>
          <p:cNvPr id="13" name="TextBox 12"/>
          <p:cNvSpPr txBox="1"/>
          <p:nvPr/>
        </p:nvSpPr>
        <p:spPr>
          <a:xfrm>
            <a:off x="841248" y="3767328"/>
            <a:ext cx="3566160" cy="777240"/>
          </a:xfrm>
          <a:prstGeom prst="rect">
            <a:avLst/>
          </a:prstGeom>
          <a:noFill/>
        </p:spPr>
        <p:txBody>
          <a:bodyPr wrap="square" lIns="0" rIns="0" tIns="0" bIns="0">
            <a:spAutoFit/>
          </a:bodyPr>
          <a:lstStyle/>
          <a:p>
            <a:pPr algn="l">
              <a:spcAft>
                <a:spcPts val="400"/>
              </a:spcAft>
              <a:defRPr sz="4800" b="1">
                <a:solidFill>
                  <a:srgbClr val="286957"/>
                </a:solidFill>
                <a:latin typeface="Arial"/>
              </a:defRPr>
            </a:pPr>
            <a:r>
              <a:t>1 h</a:t>
            </a:r>
          </a:p>
        </p:txBody>
      </p:sp>
      <p:sp>
        <p:nvSpPr>
          <p:cNvPr id="14" name="TextBox 13"/>
          <p:cNvSpPr txBox="1"/>
          <p:nvPr/>
        </p:nvSpPr>
        <p:spPr>
          <a:xfrm>
            <a:off x="841248" y="4636008"/>
            <a:ext cx="3749039" cy="54864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Tableau de bord</a:t>
            </a:r>
          </a:p>
        </p:txBody>
      </p:sp>
      <p:sp>
        <p:nvSpPr>
          <p:cNvPr id="15" name="TextBox 14"/>
          <p:cNvSpPr txBox="1"/>
          <p:nvPr/>
        </p:nvSpPr>
        <p:spPr>
          <a:xfrm>
            <a:off x="841248" y="5330952"/>
            <a:ext cx="3749039" cy="658368"/>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Expliquer un écart recalculé.</a:t>
            </a:r>
          </a:p>
        </p:txBody>
      </p:sp>
      <p:sp>
        <p:nvSpPr>
          <p:cNvPr id="16" name="Rounded Rectangle 15"/>
          <p:cNvSpPr/>
          <p:nvPr/>
        </p:nvSpPr>
        <p:spPr>
          <a:xfrm>
            <a:off x="5184648" y="2487168"/>
            <a:ext cx="4251960" cy="363016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13248" y="2743200"/>
            <a:ext cx="19202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2120" y="2802636"/>
            <a:ext cx="16824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DEV</a:t>
            </a:r>
          </a:p>
        </p:txBody>
      </p:sp>
      <p:sp>
        <p:nvSpPr>
          <p:cNvPr id="19" name="TextBox 18"/>
          <p:cNvSpPr txBox="1"/>
          <p:nvPr/>
        </p:nvSpPr>
        <p:spPr>
          <a:xfrm>
            <a:off x="5431536" y="3264408"/>
            <a:ext cx="3566160" cy="320040"/>
          </a:xfrm>
          <a:prstGeom prst="rect">
            <a:avLst/>
          </a:prstGeom>
          <a:noFill/>
        </p:spPr>
        <p:txBody>
          <a:bodyPr wrap="square" lIns="0" rIns="0" tIns="0" bIns="0">
            <a:spAutoFit/>
          </a:bodyPr>
          <a:lstStyle/>
          <a:p>
            <a:pPr algn="l">
              <a:spcAft>
                <a:spcPts val="400"/>
              </a:spcAft>
              <a:defRPr sz="1600" b="1">
                <a:solidFill>
                  <a:srgbClr val="5C6C65"/>
                </a:solidFill>
                <a:latin typeface="Arial"/>
              </a:defRPr>
            </a:pPr>
            <a:r>
              <a:t>J9–J12</a:t>
            </a:r>
          </a:p>
        </p:txBody>
      </p:sp>
      <p:sp>
        <p:nvSpPr>
          <p:cNvPr id="20" name="TextBox 19"/>
          <p:cNvSpPr txBox="1"/>
          <p:nvPr/>
        </p:nvSpPr>
        <p:spPr>
          <a:xfrm>
            <a:off x="5431536" y="3767328"/>
            <a:ext cx="3566160" cy="777240"/>
          </a:xfrm>
          <a:prstGeom prst="rect">
            <a:avLst/>
          </a:prstGeom>
          <a:noFill/>
        </p:spPr>
        <p:txBody>
          <a:bodyPr wrap="square" lIns="0" rIns="0" tIns="0" bIns="0">
            <a:spAutoFit/>
          </a:bodyPr>
          <a:lstStyle/>
          <a:p>
            <a:pPr algn="l">
              <a:spcAft>
                <a:spcPts val="400"/>
              </a:spcAft>
              <a:defRPr sz="4800" b="1">
                <a:solidFill>
                  <a:srgbClr val="286957"/>
                </a:solidFill>
                <a:latin typeface="Arial"/>
              </a:defRPr>
            </a:pPr>
            <a:r>
              <a:t>2 h</a:t>
            </a:r>
          </a:p>
        </p:txBody>
      </p:sp>
      <p:sp>
        <p:nvSpPr>
          <p:cNvPr id="21" name="TextBox 20"/>
          <p:cNvSpPr txBox="1"/>
          <p:nvPr/>
        </p:nvSpPr>
        <p:spPr>
          <a:xfrm>
            <a:off x="5431536" y="4636008"/>
            <a:ext cx="3749039" cy="54864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Concurrence</a:t>
            </a:r>
          </a:p>
        </p:txBody>
      </p:sp>
      <p:sp>
        <p:nvSpPr>
          <p:cNvPr id="22" name="TextBox 21"/>
          <p:cNvSpPr txBox="1"/>
          <p:nvPr/>
        </p:nvSpPr>
        <p:spPr>
          <a:xfrm>
            <a:off x="5431536" y="5330952"/>
            <a:ext cx="3749039" cy="658368"/>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Une place, une seule inscription acceptée.</a:t>
            </a:r>
          </a:p>
        </p:txBody>
      </p:sp>
      <p:sp>
        <p:nvSpPr>
          <p:cNvPr id="23" name="Rounded Rectangle 22"/>
          <p:cNvSpPr/>
          <p:nvPr/>
        </p:nvSpPr>
        <p:spPr>
          <a:xfrm>
            <a:off x="9774936" y="2487168"/>
            <a:ext cx="4251960" cy="363016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003536" y="2743200"/>
            <a:ext cx="19202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22408" y="2802636"/>
            <a:ext cx="16824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Camille, QA</a:t>
            </a:r>
          </a:p>
        </p:txBody>
      </p:sp>
      <p:sp>
        <p:nvSpPr>
          <p:cNvPr id="26" name="TextBox 25"/>
          <p:cNvSpPr txBox="1"/>
          <p:nvPr/>
        </p:nvSpPr>
        <p:spPr>
          <a:xfrm>
            <a:off x="10021824" y="3264408"/>
            <a:ext cx="3566160" cy="320040"/>
          </a:xfrm>
          <a:prstGeom prst="rect">
            <a:avLst/>
          </a:prstGeom>
          <a:noFill/>
        </p:spPr>
        <p:txBody>
          <a:bodyPr wrap="square" lIns="0" rIns="0" tIns="0" bIns="0">
            <a:spAutoFit/>
          </a:bodyPr>
          <a:lstStyle/>
          <a:p>
            <a:pPr algn="l">
              <a:spcAft>
                <a:spcPts val="400"/>
              </a:spcAft>
              <a:defRPr sz="1600" b="1">
                <a:solidFill>
                  <a:srgbClr val="5C6C65"/>
                </a:solidFill>
                <a:latin typeface="Arial"/>
              </a:defRPr>
            </a:pPr>
            <a:r>
              <a:t>J10–J14</a:t>
            </a:r>
          </a:p>
        </p:txBody>
      </p:sp>
      <p:sp>
        <p:nvSpPr>
          <p:cNvPr id="27" name="TextBox 26"/>
          <p:cNvSpPr txBox="1"/>
          <p:nvPr/>
        </p:nvSpPr>
        <p:spPr>
          <a:xfrm>
            <a:off x="10021824" y="3767328"/>
            <a:ext cx="3566160" cy="777240"/>
          </a:xfrm>
          <a:prstGeom prst="rect">
            <a:avLst/>
          </a:prstGeom>
          <a:noFill/>
        </p:spPr>
        <p:txBody>
          <a:bodyPr wrap="square" lIns="0" rIns="0" tIns="0" bIns="0">
            <a:spAutoFit/>
          </a:bodyPr>
          <a:lstStyle/>
          <a:p>
            <a:pPr algn="l">
              <a:spcAft>
                <a:spcPts val="400"/>
              </a:spcAft>
              <a:defRPr sz="4800" b="1">
                <a:solidFill>
                  <a:srgbClr val="286957"/>
                </a:solidFill>
                <a:latin typeface="Arial"/>
              </a:defRPr>
            </a:pPr>
            <a:r>
              <a:t>3 h</a:t>
            </a:r>
          </a:p>
        </p:txBody>
      </p:sp>
      <p:sp>
        <p:nvSpPr>
          <p:cNvPr id="28" name="TextBox 27"/>
          <p:cNvSpPr txBox="1"/>
          <p:nvPr/>
        </p:nvSpPr>
        <p:spPr>
          <a:xfrm>
            <a:off x="10021824" y="4636008"/>
            <a:ext cx="3749039" cy="54864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Recette + clavier</a:t>
            </a:r>
          </a:p>
        </p:txBody>
      </p:sp>
      <p:sp>
        <p:nvSpPr>
          <p:cNvPr id="29" name="TextBox 28"/>
          <p:cNvSpPr txBox="1"/>
          <p:nvPr/>
        </p:nvSpPr>
        <p:spPr>
          <a:xfrm>
            <a:off x="10021824" y="5330952"/>
            <a:ext cx="3749039" cy="658368"/>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Rejouer un cas sans aide.</a:t>
            </a:r>
          </a:p>
        </p:txBody>
      </p:sp>
      <p:sp>
        <p:nvSpPr>
          <p:cNvPr id="30" name="TextBox 29"/>
          <p:cNvSpPr txBox="1"/>
          <p:nvPr/>
        </p:nvSpPr>
        <p:spPr>
          <a:xfrm>
            <a:off x="685800" y="6419088"/>
            <a:ext cx="13258800" cy="457200"/>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Camille : 2 h de recette + 1 h de clavier ; consignes écrites et démonstration sous-titrée.</a:t>
            </a:r>
          </a:p>
        </p:txBody>
      </p:sp>
      <p:sp>
        <p:nvSpPr>
          <p:cNvPr id="31" name="Rectangle 30"/>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À J12 : si une compétence critique reste indisponible, arbitrer le besoin RH (annexe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04 / LE SUIVI CLIENT</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Transformer la review en décision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CR02 · J10 · compte rendu fictif avec Claire Martin, Collectif Altitude Grimpe.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18</a:t>
            </a:r>
          </a:p>
        </p:txBody>
      </p:sp>
      <p:sp>
        <p:nvSpPr>
          <p:cNvPr id="9" name="Rounded Rectangle 8"/>
          <p:cNvSpPr/>
          <p:nvPr/>
        </p:nvSpPr>
        <p:spPr>
          <a:xfrm>
            <a:off x="594360" y="2560320"/>
            <a:ext cx="4251960" cy="2788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34640"/>
            <a:ext cx="3749039" cy="274320"/>
          </a:xfrm>
          <a:prstGeom prst="rect">
            <a:avLst/>
          </a:prstGeom>
          <a:noFill/>
        </p:spPr>
        <p:txBody>
          <a:bodyPr wrap="square" lIns="0" rIns="0" tIns="0" bIns="0">
            <a:spAutoFit/>
          </a:bodyPr>
          <a:lstStyle/>
          <a:p>
            <a:pPr algn="l">
              <a:spcAft>
                <a:spcPts val="400"/>
              </a:spcAft>
              <a:defRPr sz="1200" b="1">
                <a:solidFill>
                  <a:srgbClr val="286957"/>
                </a:solidFill>
                <a:latin typeface="Arial"/>
              </a:defRPr>
            </a:pPr>
            <a:r>
              <a:t>01 / CONSTAT</a:t>
            </a:r>
          </a:p>
        </p:txBody>
      </p:sp>
      <p:sp>
        <p:nvSpPr>
          <p:cNvPr id="11" name="TextBox 10"/>
          <p:cNvSpPr txBox="1"/>
          <p:nvPr/>
        </p:nvSpPr>
        <p:spPr>
          <a:xfrm>
            <a:off x="822960" y="3447288"/>
            <a:ext cx="3749039" cy="731520"/>
          </a:xfrm>
          <a:prstGeom prst="rect">
            <a:avLst/>
          </a:prstGeom>
          <a:noFill/>
        </p:spPr>
        <p:txBody>
          <a:bodyPr wrap="square" lIns="0" rIns="0" tIns="0" bIns="0">
            <a:spAutoFit/>
          </a:bodyPr>
          <a:lstStyle/>
          <a:p>
            <a:pPr algn="l">
              <a:spcAft>
                <a:spcPts val="400"/>
              </a:spcAft>
              <a:defRPr sz="2500" b="1">
                <a:solidFill>
                  <a:srgbClr val="12332D"/>
                </a:solidFill>
                <a:latin typeface="Arial"/>
              </a:defRPr>
            </a:pPr>
            <a:r>
              <a:t>Un écart à traiter</a:t>
            </a:r>
          </a:p>
        </p:txBody>
      </p:sp>
      <p:sp>
        <p:nvSpPr>
          <p:cNvPr id="12" name="TextBox 11"/>
          <p:cNvSpPr txBox="1"/>
          <p:nvPr/>
        </p:nvSpPr>
        <p:spPr>
          <a:xfrm>
            <a:off x="822960" y="4334256"/>
            <a:ext cx="3749039" cy="832104"/>
          </a:xfrm>
          <a:prstGeom prst="rect">
            <a:avLst/>
          </a:prstGeom>
          <a:noFill/>
        </p:spPr>
        <p:txBody>
          <a:bodyPr wrap="square" lIns="0" rIns="0" tIns="0" bIns="0">
            <a:spAutoFit/>
          </a:bodyPr>
          <a:lstStyle/>
          <a:p>
            <a:pPr algn="l">
              <a:spcAft>
                <a:spcPts val="400"/>
              </a:spcAft>
              <a:defRPr sz="1900" b="0">
                <a:solidFill>
                  <a:srgbClr val="5C6C65"/>
                </a:solidFill>
                <a:latin typeface="Arial"/>
              </a:defRPr>
            </a:pPr>
            <a:r>
              <a:t>Événements : J11 → J12</a:t>
            </a:r>
          </a:p>
          <a:p>
            <a:pPr algn="l">
              <a:spcAft>
                <a:spcPts val="400"/>
              </a:spcAft>
              <a:defRPr sz="1900" b="0">
                <a:solidFill>
                  <a:srgbClr val="5C6C65"/>
                </a:solidFill>
                <a:latin typeface="Arial"/>
              </a:defRPr>
            </a:pPr>
            <a:r>
              <a:t>Prévision : 4 465 €</a:t>
            </a:r>
          </a:p>
        </p:txBody>
      </p:sp>
      <p:sp>
        <p:nvSpPr>
          <p:cNvPr id="13" name="Rounded Rectangle 12"/>
          <p:cNvSpPr/>
          <p:nvPr/>
        </p:nvSpPr>
        <p:spPr>
          <a:xfrm>
            <a:off x="5184648" y="2560320"/>
            <a:ext cx="4251960" cy="2788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13248" y="2834640"/>
            <a:ext cx="3749039" cy="274320"/>
          </a:xfrm>
          <a:prstGeom prst="rect">
            <a:avLst/>
          </a:prstGeom>
          <a:noFill/>
        </p:spPr>
        <p:txBody>
          <a:bodyPr wrap="square" lIns="0" rIns="0" tIns="0" bIns="0">
            <a:spAutoFit/>
          </a:bodyPr>
          <a:lstStyle/>
          <a:p>
            <a:pPr algn="l">
              <a:spcAft>
                <a:spcPts val="400"/>
              </a:spcAft>
              <a:defRPr sz="1200" b="1">
                <a:solidFill>
                  <a:srgbClr val="286957"/>
                </a:solidFill>
                <a:latin typeface="Arial"/>
              </a:defRPr>
            </a:pPr>
            <a:r>
              <a:t>02 / DÉCISION</a:t>
            </a:r>
          </a:p>
        </p:txBody>
      </p:sp>
      <p:sp>
        <p:nvSpPr>
          <p:cNvPr id="15" name="TextBox 14"/>
          <p:cNvSpPr txBox="1"/>
          <p:nvPr/>
        </p:nvSpPr>
        <p:spPr>
          <a:xfrm>
            <a:off x="5413248" y="3447288"/>
            <a:ext cx="3749039" cy="731520"/>
          </a:xfrm>
          <a:prstGeom prst="rect">
            <a:avLst/>
          </a:prstGeom>
          <a:noFill/>
        </p:spPr>
        <p:txBody>
          <a:bodyPr wrap="square" lIns="0" rIns="0" tIns="0" bIns="0">
            <a:spAutoFit/>
          </a:bodyPr>
          <a:lstStyle/>
          <a:p>
            <a:pPr algn="l">
              <a:spcAft>
                <a:spcPts val="400"/>
              </a:spcAft>
              <a:defRPr sz="2500" b="1">
                <a:solidFill>
                  <a:srgbClr val="12332D"/>
                </a:solidFill>
                <a:latin typeface="Arial"/>
              </a:defRPr>
            </a:pPr>
            <a:r>
              <a:t>Reporter les topos</a:t>
            </a:r>
          </a:p>
        </p:txBody>
      </p:sp>
      <p:sp>
        <p:nvSpPr>
          <p:cNvPr id="16" name="TextBox 15"/>
          <p:cNvSpPr txBox="1"/>
          <p:nvPr/>
        </p:nvSpPr>
        <p:spPr>
          <a:xfrm>
            <a:off x="5413248" y="4334256"/>
            <a:ext cx="3749039" cy="832104"/>
          </a:xfrm>
          <a:prstGeom prst="rect">
            <a:avLst/>
          </a:prstGeom>
          <a:noFill/>
        </p:spPr>
        <p:txBody>
          <a:bodyPr wrap="square" lIns="0" rIns="0" tIns="0" bIns="0">
            <a:spAutoFit/>
          </a:bodyPr>
          <a:lstStyle/>
          <a:p>
            <a:pPr algn="l">
              <a:spcAft>
                <a:spcPts val="400"/>
              </a:spcAft>
              <a:defRPr sz="1900" b="0">
                <a:solidFill>
                  <a:srgbClr val="5C6C65"/>
                </a:solidFill>
                <a:latin typeface="Arial"/>
              </a:defRPr>
            </a:pPr>
            <a:r>
              <a:t>Maintenir le périmètre</a:t>
            </a:r>
          </a:p>
          <a:p>
            <a:pPr algn="l">
              <a:spcAft>
                <a:spcPts val="400"/>
              </a:spcAft>
              <a:defRPr sz="1900" b="0">
                <a:solidFill>
                  <a:srgbClr val="5C6C65"/>
                </a:solidFill>
                <a:latin typeface="Arial"/>
              </a:defRPr>
            </a:pPr>
            <a:r>
              <a:t>et les critères de recette.</a:t>
            </a:r>
          </a:p>
        </p:txBody>
      </p:sp>
      <p:sp>
        <p:nvSpPr>
          <p:cNvPr id="17" name="Rounded Rectangle 16"/>
          <p:cNvSpPr/>
          <p:nvPr/>
        </p:nvSpPr>
        <p:spPr>
          <a:xfrm>
            <a:off x="9774936" y="2560320"/>
            <a:ext cx="4251960" cy="2788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03536" y="2834640"/>
            <a:ext cx="3749039" cy="274320"/>
          </a:xfrm>
          <a:prstGeom prst="rect">
            <a:avLst/>
          </a:prstGeom>
          <a:noFill/>
        </p:spPr>
        <p:txBody>
          <a:bodyPr wrap="square" lIns="0" rIns="0" tIns="0" bIns="0">
            <a:spAutoFit/>
          </a:bodyPr>
          <a:lstStyle/>
          <a:p>
            <a:pPr algn="l">
              <a:spcAft>
                <a:spcPts val="400"/>
              </a:spcAft>
              <a:defRPr sz="1200" b="1">
                <a:solidFill>
                  <a:srgbClr val="286957"/>
                </a:solidFill>
                <a:latin typeface="Arial"/>
              </a:defRPr>
            </a:pPr>
            <a:r>
              <a:t>03 / ACTIONS</a:t>
            </a:r>
          </a:p>
        </p:txBody>
      </p:sp>
      <p:sp>
        <p:nvSpPr>
          <p:cNvPr id="19" name="TextBox 18"/>
          <p:cNvSpPr txBox="1"/>
          <p:nvPr/>
        </p:nvSpPr>
        <p:spPr>
          <a:xfrm>
            <a:off x="10003536" y="3447288"/>
            <a:ext cx="3749039" cy="731520"/>
          </a:xfrm>
          <a:prstGeom prst="rect">
            <a:avLst/>
          </a:prstGeom>
          <a:noFill/>
        </p:spPr>
        <p:txBody>
          <a:bodyPr wrap="square" lIns="0" rIns="0" tIns="0" bIns="0">
            <a:spAutoFit/>
          </a:bodyPr>
          <a:lstStyle/>
          <a:p>
            <a:pPr algn="l">
              <a:spcAft>
                <a:spcPts val="400"/>
              </a:spcAft>
              <a:defRPr sz="2500" b="1">
                <a:solidFill>
                  <a:srgbClr val="12332D"/>
                </a:solidFill>
                <a:latin typeface="Arial"/>
              </a:defRPr>
            </a:pPr>
            <a:r>
              <a:t>Responsables et dates</a:t>
            </a:r>
          </a:p>
        </p:txBody>
      </p:sp>
      <p:sp>
        <p:nvSpPr>
          <p:cNvPr id="20" name="TextBox 19"/>
          <p:cNvSpPr txBox="1"/>
          <p:nvPr/>
        </p:nvSpPr>
        <p:spPr>
          <a:xfrm>
            <a:off x="10003536" y="4334256"/>
            <a:ext cx="3749039" cy="832104"/>
          </a:xfrm>
          <a:prstGeom prst="rect">
            <a:avLst/>
          </a:prstGeom>
          <a:noFill/>
        </p:spPr>
        <p:txBody>
          <a:bodyPr wrap="square" lIns="0" rIns="0" tIns="0" bIns="0">
            <a:spAutoFit/>
          </a:bodyPr>
          <a:lstStyle/>
          <a:p>
            <a:pPr algn="l">
              <a:spcAft>
                <a:spcPts val="400"/>
              </a:spcAft>
              <a:defRPr sz="1900" b="0">
                <a:solidFill>
                  <a:srgbClr val="5C6C65"/>
                </a:solidFill>
                <a:latin typeface="Arial"/>
              </a:defRPr>
            </a:pPr>
            <a:r>
              <a:t>DEV : T06 à J12</a:t>
            </a:r>
          </a:p>
          <a:p>
            <a:pPr algn="l">
              <a:spcAft>
                <a:spcPts val="400"/>
              </a:spcAft>
              <a:defRPr sz="1900" b="0">
                <a:solidFill>
                  <a:srgbClr val="5C6C65"/>
                </a:solidFill>
                <a:latin typeface="Arial"/>
              </a:defRPr>
            </a:pPr>
            <a:r>
              <a:t>QA : recette J14 · CP : J15</a:t>
            </a:r>
          </a:p>
        </p:txBody>
      </p:sp>
      <p:sp>
        <p:nvSpPr>
          <p:cNvPr id="21" name="Rounded Rectangle 20"/>
          <p:cNvSpPr/>
          <p:nvPr/>
        </p:nvSpPr>
        <p:spPr>
          <a:xfrm>
            <a:off x="822960" y="5916168"/>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5975604"/>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J3</a:t>
            </a:r>
          </a:p>
        </p:txBody>
      </p:sp>
      <p:sp>
        <p:nvSpPr>
          <p:cNvPr id="23" name="TextBox 22"/>
          <p:cNvSpPr txBox="1"/>
          <p:nvPr/>
        </p:nvSpPr>
        <p:spPr>
          <a:xfrm>
            <a:off x="1965960" y="5907024"/>
            <a:ext cx="3383280" cy="43891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Périmètre</a:t>
            </a:r>
          </a:p>
        </p:txBody>
      </p:sp>
      <p:sp>
        <p:nvSpPr>
          <p:cNvPr id="24" name="Rounded Rectangle 23"/>
          <p:cNvSpPr/>
          <p:nvPr/>
        </p:nvSpPr>
        <p:spPr>
          <a:xfrm>
            <a:off x="5394960" y="5916168"/>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13832" y="5975604"/>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J10</a:t>
            </a:r>
          </a:p>
        </p:txBody>
      </p:sp>
      <p:sp>
        <p:nvSpPr>
          <p:cNvPr id="26" name="TextBox 25"/>
          <p:cNvSpPr txBox="1"/>
          <p:nvPr/>
        </p:nvSpPr>
        <p:spPr>
          <a:xfrm>
            <a:off x="6537960" y="5907024"/>
            <a:ext cx="3383280" cy="43891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Review / CR02</a:t>
            </a:r>
          </a:p>
        </p:txBody>
      </p:sp>
      <p:sp>
        <p:nvSpPr>
          <p:cNvPr id="27" name="Rounded Rectangle 26"/>
          <p:cNvSpPr/>
          <p:nvPr/>
        </p:nvSpPr>
        <p:spPr>
          <a:xfrm>
            <a:off x="9966960" y="5916168"/>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85832" y="5975604"/>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J15</a:t>
            </a:r>
          </a:p>
        </p:txBody>
      </p:sp>
      <p:sp>
        <p:nvSpPr>
          <p:cNvPr id="29" name="TextBox 28"/>
          <p:cNvSpPr txBox="1"/>
          <p:nvPr/>
        </p:nvSpPr>
        <p:spPr>
          <a:xfrm>
            <a:off x="11109960" y="5907024"/>
            <a:ext cx="3383280" cy="43891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Validation / CR03</a:t>
            </a:r>
          </a:p>
        </p:txBody>
      </p:sp>
      <p:sp>
        <p:nvSpPr>
          <p:cNvPr id="30" name="Rectangle 29"/>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A07 centralise les comptes rendus et critères. La rétrospective suit la review J15.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04 / LE SUIVI CLIENT</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Mesurer la satisfaction pour agir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Protocole proposé à J15 : 2 grimpeurs et 1 club. Résultats réels non mesurés.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19</a:t>
            </a:r>
          </a:p>
        </p:txBody>
      </p:sp>
      <p:sp>
        <p:nvSpPr>
          <p:cNvPr id="9" name="Rounded Rectangle 8"/>
          <p:cNvSpPr/>
          <p:nvPr/>
        </p:nvSpPr>
        <p:spPr>
          <a:xfrm>
            <a:off x="594360" y="2651760"/>
            <a:ext cx="3127248" cy="34930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3008376"/>
            <a:ext cx="2743200" cy="850392"/>
          </a:xfrm>
          <a:prstGeom prst="rect">
            <a:avLst/>
          </a:prstGeom>
          <a:noFill/>
        </p:spPr>
        <p:txBody>
          <a:bodyPr wrap="square" lIns="0" rIns="0" tIns="0" bIns="0">
            <a:spAutoFit/>
          </a:bodyPr>
          <a:lstStyle/>
          <a:p>
            <a:pPr algn="l">
              <a:spcAft>
                <a:spcPts val="400"/>
              </a:spcAft>
              <a:defRPr sz="4000" b="1">
                <a:solidFill>
                  <a:srgbClr val="286957"/>
                </a:solidFill>
                <a:latin typeface="Arial"/>
              </a:defRPr>
            </a:pPr>
            <a:r>
              <a:t>100 %</a:t>
            </a:r>
          </a:p>
        </p:txBody>
      </p:sp>
      <p:sp>
        <p:nvSpPr>
          <p:cNvPr id="11" name="TextBox 10"/>
          <p:cNvSpPr txBox="1"/>
          <p:nvPr/>
        </p:nvSpPr>
        <p:spPr>
          <a:xfrm>
            <a:off x="795528" y="4133087"/>
            <a:ext cx="2743200" cy="91440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Critères critiques</a:t>
            </a:r>
          </a:p>
        </p:txBody>
      </p:sp>
      <p:sp>
        <p:nvSpPr>
          <p:cNvPr id="12" name="TextBox 11"/>
          <p:cNvSpPr txBox="1"/>
          <p:nvPr/>
        </p:nvSpPr>
        <p:spPr>
          <a:xfrm>
            <a:off x="795528" y="5303520"/>
            <a:ext cx="2743200" cy="68580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Acceptés / évalués</a:t>
            </a:r>
          </a:p>
        </p:txBody>
      </p:sp>
      <p:sp>
        <p:nvSpPr>
          <p:cNvPr id="13" name="Rounded Rectangle 12"/>
          <p:cNvSpPr/>
          <p:nvPr/>
        </p:nvSpPr>
        <p:spPr>
          <a:xfrm>
            <a:off x="4041648" y="2651760"/>
            <a:ext cx="3127248" cy="34930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42816" y="3008376"/>
            <a:ext cx="2743200" cy="850392"/>
          </a:xfrm>
          <a:prstGeom prst="rect">
            <a:avLst/>
          </a:prstGeom>
          <a:noFill/>
        </p:spPr>
        <p:txBody>
          <a:bodyPr wrap="square" lIns="0" rIns="0" tIns="0" bIns="0">
            <a:spAutoFit/>
          </a:bodyPr>
          <a:lstStyle/>
          <a:p>
            <a:pPr algn="l">
              <a:spcAft>
                <a:spcPts val="400"/>
              </a:spcAft>
              <a:defRPr sz="4000" b="1">
                <a:solidFill>
                  <a:srgbClr val="286957"/>
                </a:solidFill>
                <a:latin typeface="Arial"/>
              </a:defRPr>
            </a:pPr>
            <a:r>
              <a:t>≥ 80 %</a:t>
            </a:r>
          </a:p>
        </p:txBody>
      </p:sp>
      <p:sp>
        <p:nvSpPr>
          <p:cNvPr id="15" name="TextBox 14"/>
          <p:cNvSpPr txBox="1"/>
          <p:nvPr/>
        </p:nvSpPr>
        <p:spPr>
          <a:xfrm>
            <a:off x="4242816" y="4133087"/>
            <a:ext cx="2743200" cy="91440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Parcours sans aide</a:t>
            </a:r>
          </a:p>
        </p:txBody>
      </p:sp>
      <p:sp>
        <p:nvSpPr>
          <p:cNvPr id="16" name="TextBox 15"/>
          <p:cNvSpPr txBox="1"/>
          <p:nvPr/>
        </p:nvSpPr>
        <p:spPr>
          <a:xfrm>
            <a:off x="4242816" y="5303520"/>
            <a:ext cx="2743200" cy="68580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Réussis sans aide / tentés</a:t>
            </a:r>
          </a:p>
        </p:txBody>
      </p:sp>
      <p:sp>
        <p:nvSpPr>
          <p:cNvPr id="17" name="Rounded Rectangle 16"/>
          <p:cNvSpPr/>
          <p:nvPr/>
        </p:nvSpPr>
        <p:spPr>
          <a:xfrm>
            <a:off x="7488936" y="2651760"/>
            <a:ext cx="3127248" cy="34930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0104" y="3008376"/>
            <a:ext cx="2743200" cy="850392"/>
          </a:xfrm>
          <a:prstGeom prst="rect">
            <a:avLst/>
          </a:prstGeom>
          <a:noFill/>
        </p:spPr>
        <p:txBody>
          <a:bodyPr wrap="square" lIns="0" rIns="0" tIns="0" bIns="0">
            <a:spAutoFit/>
          </a:bodyPr>
          <a:lstStyle/>
          <a:p>
            <a:pPr algn="l">
              <a:spcAft>
                <a:spcPts val="400"/>
              </a:spcAft>
              <a:defRPr sz="4000" b="1">
                <a:solidFill>
                  <a:srgbClr val="286957"/>
                </a:solidFill>
                <a:latin typeface="Arial"/>
              </a:defRPr>
            </a:pPr>
            <a:r>
              <a:t>≥ 4/5</a:t>
            </a:r>
          </a:p>
        </p:txBody>
      </p:sp>
      <p:sp>
        <p:nvSpPr>
          <p:cNvPr id="19" name="TextBox 18"/>
          <p:cNvSpPr txBox="1"/>
          <p:nvPr/>
        </p:nvSpPr>
        <p:spPr>
          <a:xfrm>
            <a:off x="7690104" y="4133087"/>
            <a:ext cx="2743200" cy="91440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Utilité perçue</a:t>
            </a:r>
          </a:p>
        </p:txBody>
      </p:sp>
      <p:sp>
        <p:nvSpPr>
          <p:cNvPr id="20" name="TextBox 19"/>
          <p:cNvSpPr txBox="1"/>
          <p:nvPr/>
        </p:nvSpPr>
        <p:spPr>
          <a:xfrm>
            <a:off x="7690104" y="5303520"/>
            <a:ext cx="2743200" cy="68580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Moyenne des notes + effectif</a:t>
            </a:r>
          </a:p>
        </p:txBody>
      </p:sp>
      <p:sp>
        <p:nvSpPr>
          <p:cNvPr id="21" name="Rounded Rectangle 20"/>
          <p:cNvSpPr/>
          <p:nvPr/>
        </p:nvSpPr>
        <p:spPr>
          <a:xfrm>
            <a:off x="10936224" y="2651760"/>
            <a:ext cx="3127248" cy="34930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37392" y="3008376"/>
            <a:ext cx="2743200" cy="850392"/>
          </a:xfrm>
          <a:prstGeom prst="rect">
            <a:avLst/>
          </a:prstGeom>
          <a:noFill/>
        </p:spPr>
        <p:txBody>
          <a:bodyPr wrap="square" lIns="0" rIns="0" tIns="0" bIns="0">
            <a:spAutoFit/>
          </a:bodyPr>
          <a:lstStyle/>
          <a:p>
            <a:pPr algn="l">
              <a:spcAft>
                <a:spcPts val="400"/>
              </a:spcAft>
              <a:defRPr sz="4000" b="1">
                <a:solidFill>
                  <a:srgbClr val="286957"/>
                </a:solidFill>
                <a:latin typeface="Arial"/>
              </a:defRPr>
            </a:pPr>
            <a:r>
              <a:t>0</a:t>
            </a:r>
          </a:p>
        </p:txBody>
      </p:sp>
      <p:sp>
        <p:nvSpPr>
          <p:cNvPr id="23" name="TextBox 22"/>
          <p:cNvSpPr txBox="1"/>
          <p:nvPr/>
        </p:nvSpPr>
        <p:spPr>
          <a:xfrm>
            <a:off x="11137392" y="4133087"/>
            <a:ext cx="2743200" cy="91440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Blocage critique</a:t>
            </a:r>
          </a:p>
        </p:txBody>
      </p:sp>
      <p:sp>
        <p:nvSpPr>
          <p:cNvPr id="24" name="TextBox 23"/>
          <p:cNvSpPr txBox="1"/>
          <p:nvPr/>
        </p:nvSpPr>
        <p:spPr>
          <a:xfrm>
            <a:off x="11137392" y="5303520"/>
            <a:ext cx="2743200" cy="68580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Tâches empêchées encore ouvertes</a:t>
            </a:r>
          </a:p>
        </p:txBody>
      </p:sp>
      <p:sp>
        <p:nvSpPr>
          <p:cNvPr id="25" name="Rectangle 24"/>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Sous le seuil : qualifier le problème → affecter une correction → vérifier à nouveau.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05 / DÉMONTRER ET VALIDER</a:t>
            </a:r>
          </a:p>
        </p:txBody>
      </p:sp>
      <p:cxnSp>
        <p:nvCxnSpPr>
          <p:cNvPr id="4" name="Connector 3"/>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6" name="TextBox 5"/>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20</a:t>
            </a:r>
          </a:p>
        </p:txBody>
      </p:sp>
      <p:pic>
        <p:nvPicPr>
          <p:cNvPr id="7" name="Picture 6" descr="escalade-falaise-gros-plan"/>
          <p:cNvPicPr>
            <a:picLocks noChangeAspect="1"/>
          </p:cNvPicPr>
          <p:nvPr/>
        </p:nvPicPr>
        <p:blipFill>
          <a:blip r:embed="rId3"/>
          <a:srcRect l="21422" r="21422"/>
          <a:stretch>
            <a:fillRect/>
          </a:stretch>
        </p:blipFill>
        <p:spPr>
          <a:xfrm>
            <a:off x="8046720" y="0"/>
            <a:ext cx="6583680" cy="7680960"/>
          </a:xfrm>
          <a:prstGeom prst="rect">
            <a:avLst/>
          </a:prstGeom>
        </p:spPr>
      </p:pic>
      <p:sp>
        <p:nvSpPr>
          <p:cNvPr id="8" name="Rounded Rectangle 7"/>
          <p:cNvSpPr/>
          <p:nvPr/>
        </p:nvSpPr>
        <p:spPr>
          <a:xfrm>
            <a:off x="685800" y="1508760"/>
            <a:ext cx="3246120" cy="3291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568195"/>
            <a:ext cx="3008376" cy="219456"/>
          </a:xfrm>
          <a:prstGeom prst="rect">
            <a:avLst/>
          </a:prstGeom>
          <a:noFill/>
        </p:spPr>
        <p:txBody>
          <a:bodyPr wrap="square" lIns="0" rIns="0" tIns="0" bIns="0">
            <a:spAutoFit/>
          </a:bodyPr>
          <a:lstStyle/>
          <a:p>
            <a:pPr algn="l">
              <a:spcAft>
                <a:spcPts val="400"/>
              </a:spcAft>
              <a:defRPr sz="1000" b="1">
                <a:solidFill>
                  <a:srgbClr val="D8F28B"/>
                </a:solidFill>
                <a:latin typeface="Arial"/>
              </a:defRPr>
            </a:pPr>
            <a:r>
              <a:t>DÉMONSTRATION EN DIRECT</a:t>
            </a:r>
          </a:p>
        </p:txBody>
      </p:sp>
      <p:sp>
        <p:nvSpPr>
          <p:cNvPr id="10" name="TextBox 9"/>
          <p:cNvSpPr txBox="1"/>
          <p:nvPr/>
        </p:nvSpPr>
        <p:spPr>
          <a:xfrm>
            <a:off x="640080" y="2276856"/>
            <a:ext cx="7315200" cy="1965960"/>
          </a:xfrm>
          <a:prstGeom prst="rect">
            <a:avLst/>
          </a:prstGeom>
          <a:noFill/>
        </p:spPr>
        <p:txBody>
          <a:bodyPr wrap="square" lIns="0" rIns="0" tIns="0" bIns="0">
            <a:spAutoFit/>
          </a:bodyPr>
          <a:lstStyle/>
          <a:p>
            <a:pPr algn="l">
              <a:spcAft>
                <a:spcPts val="400"/>
              </a:spcAft>
              <a:defRPr sz="5400" b="1">
                <a:solidFill>
                  <a:srgbClr val="FFFFFF"/>
                </a:solidFill>
                <a:latin typeface="Arial"/>
              </a:defRPr>
            </a:pPr>
            <a:r>
              <a:t>Passer du suivi</a:t>
            </a:r>
          </a:p>
          <a:p>
            <a:pPr algn="l">
              <a:spcAft>
                <a:spcPts val="400"/>
              </a:spcAft>
              <a:defRPr sz="5400" b="1">
                <a:solidFill>
                  <a:srgbClr val="FFFFFF"/>
                </a:solidFill>
                <a:latin typeface="Arial"/>
              </a:defRPr>
            </a:pPr>
            <a:r>
              <a:t>à l’usage.</a:t>
            </a:r>
          </a:p>
        </p:txBody>
      </p:sp>
      <p:sp>
        <p:nvSpPr>
          <p:cNvPr id="11" name="TextBox 10"/>
          <p:cNvSpPr txBox="1"/>
          <p:nvPr/>
        </p:nvSpPr>
        <p:spPr>
          <a:xfrm>
            <a:off x="640080" y="4709160"/>
            <a:ext cx="5486400" cy="905256"/>
          </a:xfrm>
          <a:prstGeom prst="rect">
            <a:avLst/>
          </a:prstGeom>
          <a:noFill/>
        </p:spPr>
        <p:txBody>
          <a:bodyPr wrap="square" lIns="0" rIns="0" tIns="0" bIns="0">
            <a:spAutoFit/>
          </a:bodyPr>
          <a:lstStyle/>
          <a:p>
            <a:pPr algn="l">
              <a:spcAft>
                <a:spcPts val="400"/>
              </a:spcAft>
              <a:defRPr sz="6400" b="1">
                <a:solidFill>
                  <a:srgbClr val="D8F28B"/>
                </a:solidFill>
                <a:latin typeface="Arial"/>
              </a:defRPr>
            </a:pPr>
            <a:r>
              <a:t>6 min</a:t>
            </a:r>
          </a:p>
        </p:txBody>
      </p:sp>
      <p:sp>
        <p:nvSpPr>
          <p:cNvPr id="12" name="TextBox 11"/>
          <p:cNvSpPr txBox="1"/>
          <p:nvPr/>
        </p:nvSpPr>
        <p:spPr>
          <a:xfrm>
            <a:off x="685800" y="6172200"/>
            <a:ext cx="6675120" cy="950976"/>
          </a:xfrm>
          <a:prstGeom prst="rect">
            <a:avLst/>
          </a:prstGeom>
          <a:noFill/>
        </p:spPr>
        <p:txBody>
          <a:bodyPr wrap="square" lIns="0" rIns="0" tIns="0" bIns="0">
            <a:spAutoFit/>
          </a:bodyPr>
          <a:lstStyle/>
          <a:p>
            <a:pPr algn="l">
              <a:spcAft>
                <a:spcPts val="400"/>
              </a:spcAft>
              <a:defRPr sz="2500" b="0">
                <a:solidFill>
                  <a:srgbClr val="FFFFFF"/>
                </a:solidFill>
                <a:latin typeface="Arial"/>
              </a:defRPr>
            </a:pPr>
            <a:r>
              <a:t>Une session grimpeur.</a:t>
            </a:r>
          </a:p>
          <a:p>
            <a:pPr algn="l">
              <a:spcAft>
                <a:spcPts val="400"/>
              </a:spcAft>
              <a:defRPr sz="2500" b="0">
                <a:solidFill>
                  <a:srgbClr val="FFFFFF"/>
                </a:solidFill>
                <a:latin typeface="Arial"/>
              </a:defRPr>
            </a:pPr>
            <a:r>
              <a:t>Une session club.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05 / DÉMONSTRATION</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Trouver un partenaire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Parcours grimpeur</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21</a:t>
            </a:r>
          </a:p>
        </p:txBody>
      </p:sp>
      <p:sp>
        <p:nvSpPr>
          <p:cNvPr id="9" name="Rounded Rectangle 8"/>
          <p:cNvSpPr/>
          <p:nvPr/>
        </p:nvSpPr>
        <p:spPr>
          <a:xfrm>
            <a:off x="594360" y="2194560"/>
            <a:ext cx="8412480" cy="5340096"/>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atching-2026-09-15"/>
          <p:cNvPicPr>
            <a:picLocks noChangeAspect="1"/>
          </p:cNvPicPr>
          <p:nvPr/>
        </p:nvPicPr>
        <p:blipFill>
          <a:blip r:embed="rId3"/>
          <a:stretch>
            <a:fillRect/>
          </a:stretch>
        </p:blipFill>
        <p:spPr>
          <a:xfrm>
            <a:off x="1100571" y="2295144"/>
            <a:ext cx="7400056" cy="5138928"/>
          </a:xfrm>
          <a:prstGeom prst="rect">
            <a:avLst/>
          </a:prstGeom>
        </p:spPr>
      </p:pic>
      <p:sp>
        <p:nvSpPr>
          <p:cNvPr id="11" name="Rounded Rectangle 10"/>
          <p:cNvSpPr/>
          <p:nvPr/>
        </p:nvSpPr>
        <p:spPr>
          <a:xfrm>
            <a:off x="9784080" y="287121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02952" y="293065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01</a:t>
            </a:r>
          </a:p>
        </p:txBody>
      </p:sp>
      <p:sp>
        <p:nvSpPr>
          <p:cNvPr id="13" name="TextBox 12"/>
          <p:cNvSpPr txBox="1"/>
          <p:nvPr/>
        </p:nvSpPr>
        <p:spPr>
          <a:xfrm>
            <a:off x="9784080" y="3310128"/>
            <a:ext cx="4023360" cy="484632"/>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Profil</a:t>
            </a:r>
          </a:p>
        </p:txBody>
      </p:sp>
      <p:sp>
        <p:nvSpPr>
          <p:cNvPr id="14" name="Rounded Rectangle 13"/>
          <p:cNvSpPr/>
          <p:nvPr/>
        </p:nvSpPr>
        <p:spPr>
          <a:xfrm>
            <a:off x="9784080" y="4123944"/>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2952" y="4183380"/>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02</a:t>
            </a:r>
          </a:p>
        </p:txBody>
      </p:sp>
      <p:sp>
        <p:nvSpPr>
          <p:cNvPr id="16" name="TextBox 15"/>
          <p:cNvSpPr txBox="1"/>
          <p:nvPr/>
        </p:nvSpPr>
        <p:spPr>
          <a:xfrm>
            <a:off x="9784080" y="4562856"/>
            <a:ext cx="4023360" cy="484632"/>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Filtres</a:t>
            </a:r>
          </a:p>
        </p:txBody>
      </p:sp>
      <p:sp>
        <p:nvSpPr>
          <p:cNvPr id="17" name="Rounded Rectangle 16"/>
          <p:cNvSpPr/>
          <p:nvPr/>
        </p:nvSpPr>
        <p:spPr>
          <a:xfrm>
            <a:off x="9784080" y="537667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02952" y="543610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03</a:t>
            </a:r>
          </a:p>
        </p:txBody>
      </p:sp>
      <p:sp>
        <p:nvSpPr>
          <p:cNvPr id="19" name="TextBox 18"/>
          <p:cNvSpPr txBox="1"/>
          <p:nvPr/>
        </p:nvSpPr>
        <p:spPr>
          <a:xfrm>
            <a:off x="9784080" y="5815584"/>
            <a:ext cx="4023360" cy="484632"/>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Demande</a:t>
            </a:r>
          </a:p>
        </p:txBody>
      </p:sp>
      <p:sp>
        <p:nvSpPr>
          <p:cNvPr id="20" name="TextBox 19"/>
          <p:cNvSpPr txBox="1"/>
          <p:nvPr/>
        </p:nvSpPr>
        <p:spPr>
          <a:xfrm>
            <a:off x="9784080" y="7178040"/>
            <a:ext cx="4114800" cy="228600"/>
          </a:xfrm>
          <a:prstGeom prst="rect">
            <a:avLst/>
          </a:prstGeom>
          <a:noFill/>
        </p:spPr>
        <p:txBody>
          <a:bodyPr wrap="square" lIns="0" rIns="0" tIns="0" bIns="0">
            <a:spAutoFit/>
          </a:bodyPr>
          <a:lstStyle/>
          <a:p>
            <a:pPr algn="l">
              <a:spcAft>
                <a:spcPts val="400"/>
              </a:spcAft>
              <a:defRPr sz="1100" b="0">
                <a:solidFill>
                  <a:srgbClr val="5C6C65"/>
                </a:solidFill>
                <a:latin typeface="Arial"/>
              </a:defRPr>
            </a:pPr>
            <a:r>
              <a:t>Capture de secours · 15/09/2026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05 / DÉMONSTRATION</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Retrouver les participants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Parcours club</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22</a:t>
            </a:r>
          </a:p>
        </p:txBody>
      </p:sp>
      <p:sp>
        <p:nvSpPr>
          <p:cNvPr id="9" name="Rounded Rectangle 8"/>
          <p:cNvSpPr/>
          <p:nvPr/>
        </p:nvSpPr>
        <p:spPr>
          <a:xfrm>
            <a:off x="594360" y="2194560"/>
            <a:ext cx="8412480" cy="5340096"/>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venements-2026-09-15"/>
          <p:cNvPicPr>
            <a:picLocks noChangeAspect="1"/>
          </p:cNvPicPr>
          <p:nvPr/>
        </p:nvPicPr>
        <p:blipFill>
          <a:blip r:embed="rId3"/>
          <a:stretch>
            <a:fillRect/>
          </a:stretch>
        </p:blipFill>
        <p:spPr>
          <a:xfrm>
            <a:off x="1100571" y="2295144"/>
            <a:ext cx="7400056" cy="5138928"/>
          </a:xfrm>
          <a:prstGeom prst="rect">
            <a:avLst/>
          </a:prstGeom>
        </p:spPr>
      </p:pic>
      <p:sp>
        <p:nvSpPr>
          <p:cNvPr id="11" name="Rounded Rectangle 10"/>
          <p:cNvSpPr/>
          <p:nvPr/>
        </p:nvSpPr>
        <p:spPr>
          <a:xfrm>
            <a:off x="9784080" y="287121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02952" y="293065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01</a:t>
            </a:r>
          </a:p>
        </p:txBody>
      </p:sp>
      <p:sp>
        <p:nvSpPr>
          <p:cNvPr id="13" name="TextBox 12"/>
          <p:cNvSpPr txBox="1"/>
          <p:nvPr/>
        </p:nvSpPr>
        <p:spPr>
          <a:xfrm>
            <a:off x="9784080" y="3310128"/>
            <a:ext cx="4023360" cy="484632"/>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Événement</a:t>
            </a:r>
          </a:p>
        </p:txBody>
      </p:sp>
      <p:sp>
        <p:nvSpPr>
          <p:cNvPr id="14" name="Rounded Rectangle 13"/>
          <p:cNvSpPr/>
          <p:nvPr/>
        </p:nvSpPr>
        <p:spPr>
          <a:xfrm>
            <a:off x="9784080" y="4123944"/>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2952" y="4183380"/>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02</a:t>
            </a:r>
          </a:p>
        </p:txBody>
      </p:sp>
      <p:sp>
        <p:nvSpPr>
          <p:cNvPr id="16" name="TextBox 15"/>
          <p:cNvSpPr txBox="1"/>
          <p:nvPr/>
        </p:nvSpPr>
        <p:spPr>
          <a:xfrm>
            <a:off x="9784080" y="4562856"/>
            <a:ext cx="4023360" cy="484632"/>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Inscription</a:t>
            </a:r>
          </a:p>
        </p:txBody>
      </p:sp>
      <p:sp>
        <p:nvSpPr>
          <p:cNvPr id="17" name="Rounded Rectangle 16"/>
          <p:cNvSpPr/>
          <p:nvPr/>
        </p:nvSpPr>
        <p:spPr>
          <a:xfrm>
            <a:off x="9784080" y="537667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02952" y="543610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03</a:t>
            </a:r>
          </a:p>
        </p:txBody>
      </p:sp>
      <p:sp>
        <p:nvSpPr>
          <p:cNvPr id="19" name="TextBox 18"/>
          <p:cNvSpPr txBox="1"/>
          <p:nvPr/>
        </p:nvSpPr>
        <p:spPr>
          <a:xfrm>
            <a:off x="9784080" y="5815584"/>
            <a:ext cx="4023360" cy="484632"/>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Participants</a:t>
            </a:r>
          </a:p>
        </p:txBody>
      </p:sp>
      <p:sp>
        <p:nvSpPr>
          <p:cNvPr id="20" name="TextBox 19"/>
          <p:cNvSpPr txBox="1"/>
          <p:nvPr/>
        </p:nvSpPr>
        <p:spPr>
          <a:xfrm>
            <a:off x="9784080" y="7178040"/>
            <a:ext cx="4114800" cy="228600"/>
          </a:xfrm>
          <a:prstGeom prst="rect">
            <a:avLst/>
          </a:prstGeom>
          <a:noFill/>
        </p:spPr>
        <p:txBody>
          <a:bodyPr wrap="square" lIns="0" rIns="0" tIns="0" bIns="0">
            <a:spAutoFit/>
          </a:bodyPr>
          <a:lstStyle/>
          <a:p>
            <a:pPr algn="l">
              <a:spcAft>
                <a:spcPts val="400"/>
              </a:spcAft>
              <a:defRPr sz="1100" b="0">
                <a:solidFill>
                  <a:srgbClr val="5C6C65"/>
                </a:solidFill>
                <a:latin typeface="Arial"/>
              </a:defRPr>
            </a:pPr>
            <a:r>
              <a:t>Capture de secours · 15/09/2026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05 / DÉMONTRER ET VALIDER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FFFFFF"/>
                </a:solidFill>
                <a:latin typeface="Arial"/>
              </a:defRPr>
            </a:pPr>
            <a:r>
              <a:t>Valider ce qui a été réellement démontré</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Quatre critères, puis une décision explicite sur le périmètre présenté.</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23</a:t>
            </a:r>
          </a:p>
        </p:txBody>
      </p:sp>
      <p:sp>
        <p:nvSpPr>
          <p:cNvPr id="9" name="Rounded Rectangle 8"/>
          <p:cNvSpPr/>
          <p:nvPr/>
        </p:nvSpPr>
        <p:spPr>
          <a:xfrm>
            <a:off x="594360" y="2468880"/>
            <a:ext cx="6565392" cy="12435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633472"/>
            <a:ext cx="6126480" cy="393192"/>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Partenaire</a:t>
            </a:r>
          </a:p>
        </p:txBody>
      </p:sp>
      <p:sp>
        <p:nvSpPr>
          <p:cNvPr id="11" name="TextBox 10"/>
          <p:cNvSpPr txBox="1"/>
          <p:nvPr/>
        </p:nvSpPr>
        <p:spPr>
          <a:xfrm>
            <a:off x="804672" y="3200400"/>
            <a:ext cx="6126480" cy="393192"/>
          </a:xfrm>
          <a:prstGeom prst="rect">
            <a:avLst/>
          </a:prstGeom>
          <a:noFill/>
        </p:spPr>
        <p:txBody>
          <a:bodyPr wrap="square" lIns="0" rIns="0" tIns="0" bIns="0">
            <a:spAutoFit/>
          </a:bodyPr>
          <a:lstStyle/>
          <a:p>
            <a:pPr algn="l">
              <a:spcAft>
                <a:spcPts val="400"/>
              </a:spcAft>
              <a:defRPr sz="1700" b="0">
                <a:solidFill>
                  <a:srgbClr val="FFFFFF"/>
                </a:solidFill>
                <a:latin typeface="Arial"/>
              </a:defRPr>
            </a:pPr>
            <a:r>
              <a:t>Filtres cohérents et état de demande clair.</a:t>
            </a:r>
          </a:p>
        </p:txBody>
      </p:sp>
      <p:sp>
        <p:nvSpPr>
          <p:cNvPr id="12" name="Rounded Rectangle 11"/>
          <p:cNvSpPr/>
          <p:nvPr/>
        </p:nvSpPr>
        <p:spPr>
          <a:xfrm>
            <a:off x="7470648" y="2468880"/>
            <a:ext cx="6565392" cy="12435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2633472"/>
            <a:ext cx="6126480" cy="393192"/>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Inscription</a:t>
            </a:r>
          </a:p>
        </p:txBody>
      </p:sp>
      <p:sp>
        <p:nvSpPr>
          <p:cNvPr id="14" name="TextBox 13"/>
          <p:cNvSpPr txBox="1"/>
          <p:nvPr/>
        </p:nvSpPr>
        <p:spPr>
          <a:xfrm>
            <a:off x="7680960" y="3200400"/>
            <a:ext cx="6126480" cy="393192"/>
          </a:xfrm>
          <a:prstGeom prst="rect">
            <a:avLst/>
          </a:prstGeom>
          <a:noFill/>
        </p:spPr>
        <p:txBody>
          <a:bodyPr wrap="square" lIns="0" rIns="0" tIns="0" bIns="0">
            <a:spAutoFit/>
          </a:bodyPr>
          <a:lstStyle/>
          <a:p>
            <a:pPr algn="l">
              <a:spcAft>
                <a:spcPts val="400"/>
              </a:spcAft>
              <a:defRPr sz="1700" b="0">
                <a:solidFill>
                  <a:srgbClr val="FFFFFF"/>
                </a:solidFill>
                <a:latin typeface="Arial"/>
              </a:defRPr>
            </a:pPr>
            <a:r>
              <a:t>Confirmation et capacité respectée.</a:t>
            </a:r>
          </a:p>
        </p:txBody>
      </p:sp>
      <p:sp>
        <p:nvSpPr>
          <p:cNvPr id="15" name="Rounded Rectangle 14"/>
          <p:cNvSpPr/>
          <p:nvPr/>
        </p:nvSpPr>
        <p:spPr>
          <a:xfrm>
            <a:off x="594360" y="3931920"/>
            <a:ext cx="6565392" cy="12435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096512"/>
            <a:ext cx="6126480" cy="393192"/>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Organisation club</a:t>
            </a:r>
          </a:p>
        </p:txBody>
      </p:sp>
      <p:sp>
        <p:nvSpPr>
          <p:cNvPr id="17" name="TextBox 16"/>
          <p:cNvSpPr txBox="1"/>
          <p:nvPr/>
        </p:nvSpPr>
        <p:spPr>
          <a:xfrm>
            <a:off x="804672" y="4663440"/>
            <a:ext cx="6126480" cy="393192"/>
          </a:xfrm>
          <a:prstGeom prst="rect">
            <a:avLst/>
          </a:prstGeom>
          <a:noFill/>
        </p:spPr>
        <p:txBody>
          <a:bodyPr wrap="square" lIns="0" rIns="0" tIns="0" bIns="0">
            <a:spAutoFit/>
          </a:bodyPr>
          <a:lstStyle/>
          <a:p>
            <a:pPr algn="l">
              <a:spcAft>
                <a:spcPts val="400"/>
              </a:spcAft>
              <a:defRPr sz="1700" b="0">
                <a:solidFill>
                  <a:srgbClr val="FFFFFF"/>
                </a:solidFill>
                <a:latin typeface="Arial"/>
              </a:defRPr>
            </a:pPr>
            <a:r>
              <a:t>Participant visible et commandes autorisées.</a:t>
            </a:r>
          </a:p>
        </p:txBody>
      </p:sp>
      <p:sp>
        <p:nvSpPr>
          <p:cNvPr id="18" name="Rounded Rectangle 17"/>
          <p:cNvSpPr/>
          <p:nvPr/>
        </p:nvSpPr>
        <p:spPr>
          <a:xfrm>
            <a:off x="7470648" y="3931920"/>
            <a:ext cx="6565392" cy="12435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4096512"/>
            <a:ext cx="6126480" cy="393192"/>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Utilisation</a:t>
            </a:r>
          </a:p>
        </p:txBody>
      </p:sp>
      <p:sp>
        <p:nvSpPr>
          <p:cNvPr id="20" name="TextBox 19"/>
          <p:cNvSpPr txBox="1"/>
          <p:nvPr/>
        </p:nvSpPr>
        <p:spPr>
          <a:xfrm>
            <a:off x="7680960" y="4663440"/>
            <a:ext cx="6126480" cy="393192"/>
          </a:xfrm>
          <a:prstGeom prst="rect">
            <a:avLst/>
          </a:prstGeom>
          <a:noFill/>
        </p:spPr>
        <p:txBody>
          <a:bodyPr wrap="square" lIns="0" rIns="0" tIns="0" bIns="0">
            <a:spAutoFit/>
          </a:bodyPr>
          <a:lstStyle/>
          <a:p>
            <a:pPr algn="l">
              <a:spcAft>
                <a:spcPts val="400"/>
              </a:spcAft>
              <a:defRPr sz="1700" b="0">
                <a:solidFill>
                  <a:srgbClr val="FFFFFF"/>
                </a:solidFill>
                <a:latin typeface="Arial"/>
              </a:defRPr>
            </a:pPr>
            <a:r>
              <a:t>Commandes nommées et parcours au clavier.</a:t>
            </a:r>
          </a:p>
        </p:txBody>
      </p:sp>
      <p:sp>
        <p:nvSpPr>
          <p:cNvPr id="21" name="TextBox 20"/>
          <p:cNvSpPr txBox="1"/>
          <p:nvPr/>
        </p:nvSpPr>
        <p:spPr>
          <a:xfrm>
            <a:off x="731520" y="6035040"/>
            <a:ext cx="13167360" cy="530352"/>
          </a:xfrm>
          <a:prstGeom prst="rect">
            <a:avLst/>
          </a:prstGeom>
          <a:noFill/>
        </p:spPr>
        <p:txBody>
          <a:bodyPr wrap="square" lIns="0" rIns="0" tIns="0" bIns="0">
            <a:spAutoFit/>
          </a:bodyPr>
          <a:lstStyle/>
          <a:p>
            <a:pPr algn="l">
              <a:spcAft>
                <a:spcPts val="400"/>
              </a:spcAft>
              <a:defRPr sz="2900" b="1">
                <a:solidFill>
                  <a:srgbClr val="FFFFFF"/>
                </a:solidFill>
                <a:latin typeface="Arial"/>
              </a:defRPr>
            </a:pPr>
            <a:r>
              <a:t>Accepté  /  Accepté avec réserve  /  Refusé</a:t>
            </a:r>
          </a:p>
        </p:txBody>
      </p:sp>
      <p:sp>
        <p:nvSpPr>
          <p:cNvPr id="22" name="Rectangle 21"/>
          <p:cNvSpPr/>
          <p:nvPr/>
        </p:nvSpPr>
        <p:spPr>
          <a:xfrm>
            <a:off x="594360" y="6995160"/>
            <a:ext cx="50292" cy="384048"/>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D8F28B"/>
                </a:solidFill>
                <a:latin typeface="Arial"/>
              </a:defRPr>
            </a:pPr>
            <a:r>
              <a:t>Chaque réserve : une action, un responsable, une échéance. Transmission au Bloc 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MATRICE RACI</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Qui réalise ? Qui décide ?</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CP : chef de projet · DEV : développeur · QA : Camille · client fictif.</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24</a:t>
            </a:r>
          </a:p>
        </p:txBody>
      </p:sp>
      <p:graphicFrame>
        <p:nvGraphicFramePr>
          <p:cNvPr id="9" name="Table 8"/>
          <p:cNvGraphicFramePr>
            <a:graphicFrameLocks noGrp="1"/>
          </p:cNvGraphicFramePr>
          <p:nvPr/>
        </p:nvGraphicFramePr>
        <p:xfrm>
          <a:off x="594360" y="2377440"/>
          <a:ext cx="13441680" cy="4206240"/>
        </p:xfrm>
        <a:graphic>
          <a:graphicData uri="http://schemas.openxmlformats.org/drawingml/2006/table">
            <a:tbl>
              <a:tblPr firstRow="1" bandRow="1">
                <a:tableStyleId>{5C22544A-7EE6-4342-B048-85BDC9FD1C3A}</a:tableStyleId>
              </a:tblPr>
              <a:tblGrid>
                <a:gridCol w="6492240"/>
                <a:gridCol w="1737360"/>
                <a:gridCol w="1737360"/>
                <a:gridCol w="1737360"/>
                <a:gridCol w="1737360"/>
              </a:tblGrid>
              <a:tr h="525780">
                <a:tc>
                  <a:txBody>
                    <a:bodyPr/>
                    <a:lstStyle/>
                    <a:p>
                      <a:pPr>
                        <a:defRPr sz="1900" b="1">
                          <a:solidFill>
                            <a:srgbClr val="FFFFFF"/>
                          </a:solidFill>
                          <a:latin typeface="Arial"/>
                        </a:defRPr>
                      </a:pPr>
                      <a:r>
                        <a:t>Activité</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CP</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DEV</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QA</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Client</a:t>
                      </a:r>
                    </a:p>
                  </a:txBody>
                  <a:tcPr marL="137160" marR="109728" marT="64008" marB="54864" anchor="ctr">
                    <a:solidFill>
                      <a:srgbClr val="12332D"/>
                    </a:solidFill>
                    <a:lnL>
                      <a:noFill/>
                    </a:lnL>
                    <a:lnR>
                      <a:noFill/>
                    </a:lnR>
                    <a:lnT>
                      <a:noFill/>
                    </a:lnT>
                    <a:lnB>
                      <a:noFill/>
                    </a:lnB>
                  </a:tcPr>
                </a:tc>
              </a:tr>
              <a:tr h="525780">
                <a:tc>
                  <a:txBody>
                    <a:bodyPr/>
                    <a:lstStyle/>
                    <a:p>
                      <a:pPr>
                        <a:defRPr sz="1900" b="1">
                          <a:solidFill>
                            <a:srgbClr val="12332D"/>
                          </a:solidFill>
                          <a:latin typeface="Arial"/>
                        </a:defRPr>
                      </a:pPr>
                      <a:r>
                        <a:t>Périmètre et critères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A</a:t>
                      </a:r>
                    </a:p>
                  </a:txBody>
                  <a:tcPr marL="137160" marR="109728" marT="64008" marB="54864" anchor="ctr">
                    <a:solidFill>
                      <a:srgbClr val="FFFFFF"/>
                    </a:solidFill>
                    <a:lnL>
                      <a:noFill/>
                    </a:lnL>
                    <a:lnR>
                      <a:noFill/>
                    </a:lnR>
                    <a:lnT>
                      <a:noFill/>
                    </a:lnT>
                    <a:lnB>
                      <a:noFill/>
                    </a:lnB>
                  </a:tcPr>
                </a:tc>
              </a:tr>
              <a:tr h="525780">
                <a:tc>
                  <a:txBody>
                    <a:bodyPr/>
                    <a:lstStyle/>
                    <a:p>
                      <a:pPr>
                        <a:defRPr sz="1900" b="1">
                          <a:solidFill>
                            <a:srgbClr val="12332D"/>
                          </a:solidFill>
                          <a:latin typeface="Arial"/>
                        </a:defRPr>
                      </a:pPr>
                      <a:r>
                        <a:t>Planification et affectation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A/R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I</a:t>
                      </a:r>
                    </a:p>
                  </a:txBody>
                  <a:tcPr marL="137160" marR="109728" marT="64008" marB="54864" anchor="ctr">
                    <a:solidFill>
                      <a:srgbClr val="EBEFE6"/>
                    </a:solidFill>
                    <a:lnL>
                      <a:noFill/>
                    </a:lnL>
                    <a:lnR>
                      <a:noFill/>
                    </a:lnR>
                    <a:lnT>
                      <a:noFill/>
                    </a:lnT>
                    <a:lnB>
                      <a:noFill/>
                    </a:lnB>
                  </a:tcPr>
                </a:tc>
              </a:tr>
              <a:tr h="525780">
                <a:tc>
                  <a:txBody>
                    <a:bodyPr/>
                    <a:lstStyle/>
                    <a:p>
                      <a:pPr>
                        <a:defRPr sz="1900" b="1">
                          <a:solidFill>
                            <a:srgbClr val="12332D"/>
                          </a:solidFill>
                          <a:latin typeface="Arial"/>
                        </a:defRPr>
                      </a:pPr>
                      <a:r>
                        <a:t>Réalisation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A</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I</a:t>
                      </a:r>
                    </a:p>
                  </a:txBody>
                  <a:tcPr marL="137160" marR="109728" marT="64008" marB="54864" anchor="ctr">
                    <a:solidFill>
                      <a:srgbClr val="FFFFFF"/>
                    </a:solidFill>
                    <a:lnL>
                      <a:noFill/>
                    </a:lnL>
                    <a:lnR>
                      <a:noFill/>
                    </a:lnR>
                    <a:lnT>
                      <a:noFill/>
                    </a:lnT>
                    <a:lnB>
                      <a:noFill/>
                    </a:lnB>
                  </a:tcPr>
                </a:tc>
              </a:tr>
              <a:tr h="525780">
                <a:tc>
                  <a:txBody>
                    <a:bodyPr/>
                    <a:lstStyle/>
                    <a:p>
                      <a:pPr>
                        <a:defRPr sz="1900" b="1">
                          <a:solidFill>
                            <a:srgbClr val="12332D"/>
                          </a:solidFill>
                          <a:latin typeface="Arial"/>
                        </a:defRPr>
                      </a:pPr>
                      <a:r>
                        <a:t>Recette des parcours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A</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EBEFE6"/>
                    </a:solidFill>
                    <a:lnL>
                      <a:noFill/>
                    </a:lnL>
                    <a:lnR>
                      <a:noFill/>
                    </a:lnR>
                    <a:lnT>
                      <a:noFill/>
                    </a:lnT>
                    <a:lnB>
                      <a:noFill/>
                    </a:lnB>
                  </a:tcPr>
                </a:tc>
              </a:tr>
              <a:tr h="525780">
                <a:tc>
                  <a:txBody>
                    <a:bodyPr/>
                    <a:lstStyle/>
                    <a:p>
                      <a:pPr>
                        <a:defRPr sz="1900" b="1">
                          <a:solidFill>
                            <a:srgbClr val="12332D"/>
                          </a:solidFill>
                          <a:latin typeface="Arial"/>
                        </a:defRPr>
                      </a:pPr>
                      <a:r>
                        <a:t>Corrections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A</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I</a:t>
                      </a:r>
                    </a:p>
                  </a:txBody>
                  <a:tcPr marL="137160" marR="109728" marT="64008" marB="54864" anchor="ctr">
                    <a:solidFill>
                      <a:srgbClr val="FFFFFF"/>
                    </a:solidFill>
                    <a:lnL>
                      <a:noFill/>
                    </a:lnL>
                    <a:lnR>
                      <a:noFill/>
                    </a:lnR>
                    <a:lnT>
                      <a:noFill/>
                    </a:lnT>
                    <a:lnB>
                      <a:noFill/>
                    </a:lnB>
                  </a:tcPr>
                </a:tc>
              </a:tr>
              <a:tr h="525780">
                <a:tc>
                  <a:txBody>
                    <a:bodyPr/>
                    <a:lstStyle/>
                    <a:p>
                      <a:pPr>
                        <a:defRPr sz="1900" b="1">
                          <a:solidFill>
                            <a:srgbClr val="12332D"/>
                          </a:solidFill>
                          <a:latin typeface="Arial"/>
                        </a:defRPr>
                      </a:pPr>
                      <a:r>
                        <a:t>Arbitrage délai, coût, périmètre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A</a:t>
                      </a:r>
                    </a:p>
                  </a:txBody>
                  <a:tcPr marL="137160" marR="109728" marT="64008" marB="54864" anchor="ctr">
                    <a:solidFill>
                      <a:srgbClr val="EBEFE6"/>
                    </a:solidFill>
                    <a:lnL>
                      <a:noFill/>
                    </a:lnL>
                    <a:lnR>
                      <a:noFill/>
                    </a:lnR>
                    <a:lnT>
                      <a:noFill/>
                    </a:lnT>
                    <a:lnB>
                      <a:noFill/>
                    </a:lnB>
                  </a:tcPr>
                </a:tc>
              </a:tr>
              <a:tr h="525780">
                <a:tc>
                  <a:txBody>
                    <a:bodyPr/>
                    <a:lstStyle/>
                    <a:p>
                      <a:pPr>
                        <a:defRPr sz="1900" b="1">
                          <a:solidFill>
                            <a:srgbClr val="12332D"/>
                          </a:solidFill>
                          <a:latin typeface="Arial"/>
                        </a:defRPr>
                      </a:pPr>
                      <a:r>
                        <a:t>Acceptation de la démonstration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A</a:t>
                      </a:r>
                    </a:p>
                  </a:txBody>
                  <a:tcPr marL="137160" marR="109728" marT="64008" marB="54864" anchor="ctr">
                    <a:solidFill>
                      <a:srgbClr val="FFFFFF"/>
                    </a:solidFill>
                    <a:lnL>
                      <a:noFill/>
                    </a:lnL>
                    <a:lnR>
                      <a:noFill/>
                    </a:lnR>
                    <a:lnT>
                      <a:noFill/>
                    </a:lnT>
                    <a:lnB>
                      <a:noFill/>
                    </a:lnB>
                  </a:tcPr>
                </a:tc>
              </a:tr>
            </a:tbl>
          </a:graphicData>
        </a:graphic>
      </p:graphicFrame>
      <p:sp>
        <p:nvSpPr>
          <p:cNvPr id="10" name="Rectangle 9"/>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R : réalise · A : décide · C : consulté · I : informé.</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SENSIBILITÉ</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Quand le budget ou la capacité basculent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Variantes indépendantes : leurs coûts ne se cumulent pas.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25</a:t>
            </a:r>
          </a:p>
        </p:txBody>
      </p:sp>
      <p:graphicFrame>
        <p:nvGraphicFramePr>
          <p:cNvPr id="9" name="Table 8"/>
          <p:cNvGraphicFramePr>
            <a:graphicFrameLocks noGrp="1"/>
          </p:cNvGraphicFramePr>
          <p:nvPr/>
        </p:nvGraphicFramePr>
        <p:xfrm>
          <a:off x="594360" y="2468880"/>
          <a:ext cx="13441680" cy="4069080"/>
        </p:xfrm>
        <a:graphic>
          <a:graphicData uri="http://schemas.openxmlformats.org/drawingml/2006/table">
            <a:tbl>
              <a:tblPr firstRow="1" bandRow="1">
                <a:tableStyleId>{5C22544A-7EE6-4342-B048-85BDC9FD1C3A}</a:tableStyleId>
              </a:tblPr>
              <a:tblGrid>
                <a:gridCol w="3566160"/>
                <a:gridCol w="2834640"/>
                <a:gridCol w="2468880"/>
                <a:gridCol w="4572000"/>
              </a:tblGrid>
              <a:tr h="678180">
                <a:tc>
                  <a:txBody>
                    <a:bodyPr/>
                    <a:lstStyle/>
                    <a:p>
                      <a:pPr>
                        <a:defRPr sz="2000" b="1">
                          <a:solidFill>
                            <a:srgbClr val="FFFFFF"/>
                          </a:solidFill>
                          <a:latin typeface="Arial"/>
                        </a:defRPr>
                      </a:pPr>
                      <a:r>
                        <a:t>Hypothèse</a:t>
                      </a:r>
                    </a:p>
                  </a:txBody>
                  <a:tcPr marL="137160" marR="109728" marT="64008" marB="54864" anchor="ctr">
                    <a:solidFill>
                      <a:srgbClr val="12332D"/>
                    </a:solidFill>
                    <a:lnL>
                      <a:noFill/>
                    </a:lnL>
                    <a:lnR>
                      <a:noFill/>
                    </a:lnR>
                    <a:lnT>
                      <a:noFill/>
                    </a:lnT>
                    <a:lnB>
                      <a:noFill/>
                    </a:lnB>
                  </a:tcPr>
                </a:tc>
                <a:tc>
                  <a:txBody>
                    <a:bodyPr/>
                    <a:lstStyle/>
                    <a:p>
                      <a:pPr>
                        <a:defRPr sz="2000" b="1">
                          <a:solidFill>
                            <a:srgbClr val="FFFFFF"/>
                          </a:solidFill>
                          <a:latin typeface="Arial"/>
                        </a:defRPr>
                      </a:pPr>
                      <a:r>
                        <a:t>Prévision</a:t>
                      </a:r>
                    </a:p>
                  </a:txBody>
                  <a:tcPr marL="137160" marR="109728" marT="64008" marB="54864" anchor="ctr">
                    <a:solidFill>
                      <a:srgbClr val="12332D"/>
                    </a:solidFill>
                    <a:lnL>
                      <a:noFill/>
                    </a:lnL>
                    <a:lnR>
                      <a:noFill/>
                    </a:lnR>
                    <a:lnT>
                      <a:noFill/>
                    </a:lnT>
                    <a:lnB>
                      <a:noFill/>
                    </a:lnB>
                  </a:tcPr>
                </a:tc>
                <a:tc>
                  <a:txBody>
                    <a:bodyPr/>
                    <a:lstStyle/>
                    <a:p>
                      <a:pPr>
                        <a:defRPr sz="2000" b="1">
                          <a:solidFill>
                            <a:srgbClr val="FFFFFF"/>
                          </a:solidFill>
                          <a:latin typeface="Arial"/>
                        </a:defRPr>
                      </a:pPr>
                      <a:r>
                        <a:t>Marge</a:t>
                      </a:r>
                    </a:p>
                  </a:txBody>
                  <a:tcPr marL="137160" marR="109728" marT="64008" marB="54864" anchor="ctr">
                    <a:solidFill>
                      <a:srgbClr val="12332D"/>
                    </a:solidFill>
                    <a:lnL>
                      <a:noFill/>
                    </a:lnL>
                    <a:lnR>
                      <a:noFill/>
                    </a:lnR>
                    <a:lnT>
                      <a:noFill/>
                    </a:lnT>
                    <a:lnB>
                      <a:noFill/>
                    </a:lnB>
                  </a:tcPr>
                </a:tc>
                <a:tc>
                  <a:txBody>
                    <a:bodyPr/>
                    <a:lstStyle/>
                    <a:p>
                      <a:pPr>
                        <a:defRPr sz="2000" b="1">
                          <a:solidFill>
                            <a:srgbClr val="FFFFFF"/>
                          </a:solidFill>
                          <a:latin typeface="Arial"/>
                        </a:defRPr>
                      </a:pPr>
                      <a:r>
                        <a:t>Capacité</a:t>
                      </a:r>
                    </a:p>
                  </a:txBody>
                  <a:tcPr marL="137160" marR="109728" marT="64008" marB="54864" anchor="ctr">
                    <a:solidFill>
                      <a:srgbClr val="12332D"/>
                    </a:solidFill>
                    <a:lnL>
                      <a:noFill/>
                    </a:lnL>
                    <a:lnR>
                      <a:noFill/>
                    </a:lnR>
                    <a:lnT>
                      <a:noFill/>
                    </a:lnT>
                    <a:lnB>
                      <a:noFill/>
                    </a:lnB>
                  </a:tcPr>
                </a:tc>
              </a:tr>
              <a:tr h="678180">
                <a:tc>
                  <a:txBody>
                    <a:bodyPr/>
                    <a:lstStyle/>
                    <a:p>
                      <a:pPr>
                        <a:defRPr sz="2000" b="1">
                          <a:solidFill>
                            <a:srgbClr val="12332D"/>
                          </a:solidFill>
                          <a:latin typeface="Arial"/>
                        </a:defRPr>
                      </a:pPr>
                      <a:r>
                        <a:t>J10</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4 465 €</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232 €</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Respectée</a:t>
                      </a:r>
                    </a:p>
                  </a:txBody>
                  <a:tcPr marL="137160" marR="109728" marT="64008" marB="54864" anchor="ctr">
                    <a:solidFill>
                      <a:srgbClr val="FFFFFF"/>
                    </a:solidFill>
                    <a:lnL>
                      <a:noFill/>
                    </a:lnL>
                    <a:lnR>
                      <a:noFill/>
                    </a:lnR>
                    <a:lnT>
                      <a:noFill/>
                    </a:lnT>
                    <a:lnB>
                      <a:noFill/>
                    </a:lnB>
                  </a:tcPr>
                </a:tc>
              </a:tr>
              <a:tr h="678180">
                <a:tc>
                  <a:txBody>
                    <a:bodyPr/>
                    <a:lstStyle/>
                    <a:p>
                      <a:pPr>
                        <a:defRPr sz="2000" b="1">
                          <a:solidFill>
                            <a:srgbClr val="12332D"/>
                          </a:solidFill>
                          <a:latin typeface="Arial"/>
                        </a:defRPr>
                      </a:pPr>
                      <a:r>
                        <a:t>QA +6 h</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4 645 €</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52 €</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Respectée</a:t>
                      </a:r>
                    </a:p>
                  </a:txBody>
                  <a:tcPr marL="137160" marR="109728" marT="64008" marB="54864" anchor="ctr">
                    <a:solidFill>
                      <a:srgbClr val="EBEFE6"/>
                    </a:solidFill>
                    <a:lnL>
                      <a:noFill/>
                    </a:lnL>
                    <a:lnR>
                      <a:noFill/>
                    </a:lnR>
                    <a:lnT>
                      <a:noFill/>
                    </a:lnT>
                    <a:lnB>
                      <a:noFill/>
                    </a:lnB>
                  </a:tcPr>
                </a:tc>
              </a:tr>
              <a:tr h="678180">
                <a:tc>
                  <a:txBody>
                    <a:bodyPr/>
                    <a:lstStyle/>
                    <a:p>
                      <a:pPr>
                        <a:defRPr sz="2000" b="1">
                          <a:solidFill>
                            <a:srgbClr val="12332D"/>
                          </a:solidFill>
                          <a:latin typeface="Arial"/>
                        </a:defRPr>
                      </a:pPr>
                      <a:r>
                        <a:t>DEV +8 h</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4 745 €</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−48 €</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Respectée</a:t>
                      </a:r>
                    </a:p>
                  </a:txBody>
                  <a:tcPr marL="137160" marR="109728" marT="64008" marB="54864" anchor="ctr">
                    <a:solidFill>
                      <a:srgbClr val="FFFFFF"/>
                    </a:solidFill>
                    <a:lnL>
                      <a:noFill/>
                    </a:lnL>
                    <a:lnR>
                      <a:noFill/>
                    </a:lnR>
                    <a:lnT>
                      <a:noFill/>
                    </a:lnT>
                    <a:lnB>
                      <a:noFill/>
                    </a:lnB>
                  </a:tcPr>
                </a:tc>
              </a:tr>
              <a:tr h="678180">
                <a:tc>
                  <a:txBody>
                    <a:bodyPr/>
                    <a:lstStyle/>
                    <a:p>
                      <a:pPr>
                        <a:defRPr sz="2000" b="1">
                          <a:solidFill>
                            <a:srgbClr val="12332D"/>
                          </a:solidFill>
                          <a:latin typeface="Arial"/>
                        </a:defRPr>
                      </a:pPr>
                      <a:r>
                        <a:t>CP +2 h</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4 555 €</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142 €</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CP : 31 / 30 h</a:t>
                      </a:r>
                    </a:p>
                  </a:txBody>
                  <a:tcPr marL="137160" marR="109728" marT="64008" marB="54864" anchor="ctr">
                    <a:solidFill>
                      <a:srgbClr val="EBEFE6"/>
                    </a:solidFill>
                    <a:lnL>
                      <a:noFill/>
                    </a:lnL>
                    <a:lnR>
                      <a:noFill/>
                    </a:lnR>
                    <a:lnT>
                      <a:noFill/>
                    </a:lnT>
                    <a:lnB>
                      <a:noFill/>
                    </a:lnB>
                  </a:tcPr>
                </a:tc>
              </a:tr>
              <a:tr h="678180">
                <a:tc>
                  <a:txBody>
                    <a:bodyPr/>
                    <a:lstStyle/>
                    <a:p>
                      <a:pPr>
                        <a:defRPr sz="2000" b="1">
                          <a:solidFill>
                            <a:srgbClr val="12332D"/>
                          </a:solidFill>
                          <a:latin typeface="Arial"/>
                        </a:defRPr>
                      </a:pPr>
                      <a:r>
                        <a:t>Topos +16 h</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5 005 €</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−308 €</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DEV : 76 / 72 h</a:t>
                      </a:r>
                    </a:p>
                  </a:txBody>
                  <a:tcPr marL="137160" marR="109728" marT="64008" marB="54864" anchor="ctr">
                    <a:solidFill>
                      <a:srgbClr val="FFFFFF"/>
                    </a:solidFill>
                    <a:lnL>
                      <a:noFill/>
                    </a:lnL>
                    <a:lnR>
                      <a:noFill/>
                    </a:lnR>
                    <a:lnT>
                      <a:noFill/>
                    </a:lnT>
                    <a:lnB>
                      <a:noFill/>
                    </a:lnB>
                  </a:tcPr>
                </a:tc>
              </a:tr>
            </a:tbl>
          </a:graphicData>
        </a:graphic>
      </p:graphicFrame>
      <p:sp>
        <p:nvSpPr>
          <p:cNvPr id="10" name="Rectangle 9"/>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Une marge budgétaire positive ne garantit pas une capacité suffisante par métier.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DEMANDE AUX RH</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Préparer un renfort, sans l’engager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Fiche conditionnelle préparée par CP ; non envoyée, non activée.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26</a:t>
            </a:r>
          </a:p>
        </p:txBody>
      </p:sp>
      <p:graphicFrame>
        <p:nvGraphicFramePr>
          <p:cNvPr id="9" name="Table 8"/>
          <p:cNvGraphicFramePr>
            <a:graphicFrameLocks noGrp="1"/>
          </p:cNvGraphicFramePr>
          <p:nvPr/>
        </p:nvGraphicFramePr>
        <p:xfrm>
          <a:off x="594360" y="2377440"/>
          <a:ext cx="13441680" cy="4187952"/>
        </p:xfrm>
        <a:graphic>
          <a:graphicData uri="http://schemas.openxmlformats.org/drawingml/2006/table">
            <a:tbl>
              <a:tblPr firstRow="1" bandRow="1">
                <a:tableStyleId>{5C22544A-7EE6-4342-B048-85BDC9FD1C3A}</a:tableStyleId>
              </a:tblPr>
              <a:tblGrid>
                <a:gridCol w="3474720"/>
                <a:gridCol w="9966960"/>
              </a:tblGrid>
              <a:tr h="697992">
                <a:tc>
                  <a:txBody>
                    <a:bodyPr/>
                    <a:lstStyle/>
                    <a:p>
                      <a:pPr>
                        <a:defRPr sz="1900" b="1">
                          <a:solidFill>
                            <a:srgbClr val="FFFFFF"/>
                          </a:solidFill>
                          <a:latin typeface="Arial"/>
                        </a:defRPr>
                      </a:pPr>
                      <a:r>
                        <a:t>Point à transmettre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Besoin conditionnel</a:t>
                      </a:r>
                    </a:p>
                  </a:txBody>
                  <a:tcPr marL="137160" marR="109728" marT="64008" marB="54864" anchor="ctr">
                    <a:solidFill>
                      <a:srgbClr val="12332D"/>
                    </a:solidFill>
                    <a:lnL>
                      <a:noFill/>
                    </a:lnL>
                    <a:lnR>
                      <a:noFill/>
                    </a:lnR>
                    <a:lnT>
                      <a:noFill/>
                    </a:lnT>
                    <a:lnB>
                      <a:noFill/>
                    </a:lnB>
                  </a:tcPr>
                </a:tc>
              </a:tr>
              <a:tr h="697992">
                <a:tc>
                  <a:txBody>
                    <a:bodyPr/>
                    <a:lstStyle/>
                    <a:p>
                      <a:pPr>
                        <a:defRPr sz="1900" b="1">
                          <a:solidFill>
                            <a:srgbClr val="12332D"/>
                          </a:solidFill>
                          <a:latin typeface="Arial"/>
                        </a:defRPr>
                      </a:pPr>
                      <a:r>
                        <a:t>Déclencheur à J12</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Compétence critique indisponible après formation.</a:t>
                      </a:r>
                    </a:p>
                  </a:txBody>
                  <a:tcPr marL="137160" marR="109728" marT="64008" marB="54864" anchor="ctr">
                    <a:solidFill>
                      <a:srgbClr val="FFFFFF"/>
                    </a:solidFill>
                    <a:lnL>
                      <a:noFill/>
                    </a:lnL>
                    <a:lnR>
                      <a:noFill/>
                    </a:lnR>
                    <a:lnT>
                      <a:noFill/>
                    </a:lnT>
                    <a:lnB>
                      <a:noFill/>
                    </a:lnB>
                  </a:tcPr>
                </a:tc>
              </a:tr>
              <a:tr h="697992">
                <a:tc>
                  <a:txBody>
                    <a:bodyPr/>
                    <a:lstStyle/>
                    <a:p>
                      <a:pPr>
                        <a:defRPr sz="1900" b="1">
                          <a:solidFill>
                            <a:srgbClr val="12332D"/>
                          </a:solidFill>
                          <a:latin typeface="Arial"/>
                        </a:defRPr>
                      </a:pPr>
                      <a:r>
                        <a:t>Mission et disponibilité</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Renfort QA : 4 h à J12–J13 ; recette transmissible à Camille.</a:t>
                      </a:r>
                    </a:p>
                  </a:txBody>
                  <a:tcPr marL="137160" marR="109728" marT="64008" marB="54864" anchor="ctr">
                    <a:solidFill>
                      <a:srgbClr val="EBEFE6"/>
                    </a:solidFill>
                    <a:lnL>
                      <a:noFill/>
                    </a:lnL>
                    <a:lnR>
                      <a:noFill/>
                    </a:lnR>
                    <a:lnT>
                      <a:noFill/>
                    </a:lnT>
                    <a:lnB>
                      <a:noFill/>
                    </a:lnB>
                  </a:tcPr>
                </a:tc>
              </a:tr>
              <a:tr h="697992">
                <a:tc>
                  <a:txBody>
                    <a:bodyPr/>
                    <a:lstStyle/>
                    <a:p>
                      <a:pPr>
                        <a:defRPr sz="1900" b="1">
                          <a:solidFill>
                            <a:srgbClr val="12332D"/>
                          </a:solidFill>
                          <a:latin typeface="Arial"/>
                        </a:defRPr>
                      </a:pPr>
                      <a:r>
                        <a:t>Sélection et accueil</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Exercice accessible, disponibilité à confirmer ; accueil CP : 0,5 h.</a:t>
                      </a:r>
                    </a:p>
                  </a:txBody>
                  <a:tcPr marL="137160" marR="109728" marT="64008" marB="54864" anchor="ctr">
                    <a:solidFill>
                      <a:srgbClr val="FFFFFF"/>
                    </a:solidFill>
                    <a:lnL>
                      <a:noFill/>
                    </a:lnL>
                    <a:lnR>
                      <a:noFill/>
                    </a:lnR>
                    <a:lnT>
                      <a:noFill/>
                    </a:lnT>
                    <a:lnB>
                      <a:noFill/>
                    </a:lnB>
                  </a:tcPr>
                </a:tc>
              </a:tr>
              <a:tr h="697992">
                <a:tc>
                  <a:txBody>
                    <a:bodyPr/>
                    <a:lstStyle/>
                    <a:p>
                      <a:pPr>
                        <a:defRPr sz="1900" b="1">
                          <a:solidFill>
                            <a:srgbClr val="12332D"/>
                          </a:solidFill>
                          <a:latin typeface="Arial"/>
                        </a:defRPr>
                      </a:pPr>
                      <a:r>
                        <a:t>Coût supplémentaire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180 € de renfort + 22,50 € CP = 202,50 €.</a:t>
                      </a:r>
                    </a:p>
                  </a:txBody>
                  <a:tcPr marL="137160" marR="109728" marT="64008" marB="54864" anchor="ctr">
                    <a:solidFill>
                      <a:srgbClr val="EBEFE6"/>
                    </a:solidFill>
                    <a:lnL>
                      <a:noFill/>
                    </a:lnL>
                    <a:lnR>
                      <a:noFill/>
                    </a:lnR>
                    <a:lnT>
                      <a:noFill/>
                    </a:lnT>
                    <a:lnB>
                      <a:noFill/>
                    </a:lnB>
                  </a:tcPr>
                </a:tc>
              </a:tr>
              <a:tr h="697992">
                <a:tc>
                  <a:txBody>
                    <a:bodyPr/>
                    <a:lstStyle/>
                    <a:p>
                      <a:pPr>
                        <a:defRPr sz="1900" b="1">
                          <a:solidFill>
                            <a:srgbClr val="12332D"/>
                          </a:solidFill>
                          <a:latin typeface="Arial"/>
                        </a:defRPr>
                      </a:pPr>
                      <a:r>
                        <a:t>Arbitrage avant engagement</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Prévision : 4 667,50 € · marge : 29,50 € · CP : 29,5/30 h.</a:t>
                      </a:r>
                    </a:p>
                  </a:txBody>
                  <a:tcPr marL="137160" marR="109728" marT="64008" marB="54864" anchor="ctr">
                    <a:solidFill>
                      <a:srgbClr val="FFFFFF"/>
                    </a:solidFill>
                    <a:lnL>
                      <a:noFill/>
                    </a:lnL>
                    <a:lnR>
                      <a:noFill/>
                    </a:lnR>
                    <a:lnT>
                      <a:noFill/>
                    </a:lnT>
                    <a:lnB>
                      <a:noFill/>
                    </a:lnB>
                  </a:tcPr>
                </a:tc>
              </a:tr>
            </a:tbl>
          </a:graphicData>
        </a:graphic>
      </p:graphicFrame>
      <p:sp>
        <p:nvSpPr>
          <p:cNvPr id="10" name="Rectangle 9"/>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Décider sur le besoin, la disponibilité, le coût et l’accueil du renfort.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Spity — Piloter le projet | Bloc 3</dc:title>
  <dc:subject>Soutenance RNCP39583 — 30 minutes, démonstration incluse</dc:subject>
  <dc:creator>Dorian Joly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